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69" r:id="rId2"/>
    <p:sldMasterId id="2147483708" r:id="rId3"/>
    <p:sldMasterId id="2147483728" r:id="rId4"/>
    <p:sldMasterId id="2147483756" r:id="rId5"/>
    <p:sldMasterId id="2147483780" r:id="rId6"/>
  </p:sldMasterIdLst>
  <p:notesMasterIdLst>
    <p:notesMasterId r:id="rId65"/>
  </p:notesMasterIdLst>
  <p:handoutMasterIdLst>
    <p:handoutMasterId r:id="rId66"/>
  </p:handoutMasterIdLst>
  <p:sldIdLst>
    <p:sldId id="299" r:id="rId7"/>
    <p:sldId id="342" r:id="rId8"/>
    <p:sldId id="330" r:id="rId9"/>
    <p:sldId id="535" r:id="rId10"/>
    <p:sldId id="536" r:id="rId11"/>
    <p:sldId id="537" r:id="rId12"/>
    <p:sldId id="538" r:id="rId13"/>
    <p:sldId id="554" r:id="rId14"/>
    <p:sldId id="547" r:id="rId15"/>
    <p:sldId id="529" r:id="rId16"/>
    <p:sldId id="540" r:id="rId17"/>
    <p:sldId id="541" r:id="rId18"/>
    <p:sldId id="542" r:id="rId19"/>
    <p:sldId id="533" r:id="rId20"/>
    <p:sldId id="534" r:id="rId21"/>
    <p:sldId id="530" r:id="rId22"/>
    <p:sldId id="332" r:id="rId23"/>
    <p:sldId id="549" r:id="rId24"/>
    <p:sldId id="553" r:id="rId25"/>
    <p:sldId id="552" r:id="rId26"/>
    <p:sldId id="363" r:id="rId27"/>
    <p:sldId id="341" r:id="rId28"/>
    <p:sldId id="353" r:id="rId29"/>
    <p:sldId id="354" r:id="rId30"/>
    <p:sldId id="550" r:id="rId31"/>
    <p:sldId id="551" r:id="rId32"/>
    <p:sldId id="333" r:id="rId33"/>
    <p:sldId id="523" r:id="rId34"/>
    <p:sldId id="484" r:id="rId35"/>
    <p:sldId id="334" r:id="rId36"/>
    <p:sldId id="524" r:id="rId37"/>
    <p:sldId id="514" r:id="rId38"/>
    <p:sldId id="343" r:id="rId39"/>
    <p:sldId id="344" r:id="rId40"/>
    <p:sldId id="345" r:id="rId41"/>
    <p:sldId id="346" r:id="rId42"/>
    <p:sldId id="526" r:id="rId43"/>
    <p:sldId id="527" r:id="rId44"/>
    <p:sldId id="517" r:id="rId45"/>
    <p:sldId id="521" r:id="rId46"/>
    <p:sldId id="522" r:id="rId47"/>
    <p:sldId id="520" r:id="rId48"/>
    <p:sldId id="483" r:id="rId49"/>
    <p:sldId id="555" r:id="rId50"/>
    <p:sldId id="348" r:id="rId51"/>
    <p:sldId id="357" r:id="rId52"/>
    <p:sldId id="350" r:id="rId53"/>
    <p:sldId id="349" r:id="rId54"/>
    <p:sldId id="356" r:id="rId55"/>
    <p:sldId id="428" r:id="rId56"/>
    <p:sldId id="327" r:id="rId57"/>
    <p:sldId id="528" r:id="rId58"/>
    <p:sldId id="337" r:id="rId59"/>
    <p:sldId id="532" r:id="rId60"/>
    <p:sldId id="351" r:id="rId61"/>
    <p:sldId id="335" r:id="rId62"/>
    <p:sldId id="543" r:id="rId63"/>
    <p:sldId id="481" r:id="rId64"/>
  </p:sldIdLst>
  <p:sldSz cx="12192000" cy="6858000"/>
  <p:notesSz cx="6858000" cy="9144000"/>
  <p:embeddedFontLst>
    <p:embeddedFont>
      <p:font typeface="Cambria" panose="02040503050406030204" pitchFamily="18" charset="0"/>
      <p:regular r:id="rId67"/>
      <p:bold r:id="rId68"/>
      <p:italic r:id="rId69"/>
      <p:boldItalic r:id="rId70"/>
    </p:embeddedFont>
    <p:embeddedFont>
      <p:font typeface="Cambria Math" panose="02040503050406030204" pitchFamily="18" charset="0"/>
      <p:regular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AE2C"/>
    <a:srgbClr val="06B623"/>
    <a:srgbClr val="09F731"/>
    <a:srgbClr val="00FFFF"/>
    <a:srgbClr val="008FFA"/>
    <a:srgbClr val="66FFFF"/>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DB98E-AABF-4C94-A4C6-F9BA5E284C87}" v="3" dt="2025-10-07T22:09:28.286"/>
    <p1510:client id="{8185F2DE-E3D1-429E-98EE-645A86678DB5}" v="1" dt="2025-10-07T20:04:32.4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12" autoAdjust="0"/>
    <p:restoredTop sz="94660" autoAdjust="0"/>
  </p:normalViewPr>
  <p:slideViewPr>
    <p:cSldViewPr snapToGrid="0">
      <p:cViewPr varScale="1">
        <p:scale>
          <a:sx n="111" d="100"/>
          <a:sy n="111" d="100"/>
        </p:scale>
        <p:origin x="414" y="108"/>
      </p:cViewPr>
      <p:guideLst/>
    </p:cSldViewPr>
  </p:slideViewPr>
  <p:notesTextViewPr>
    <p:cViewPr>
      <p:scale>
        <a:sx n="3" d="2"/>
        <a:sy n="3" d="2"/>
      </p:scale>
      <p:origin x="0" y="0"/>
    </p:cViewPr>
  </p:notesTextViewPr>
  <p:sorterViewPr>
    <p:cViewPr varScale="1">
      <p:scale>
        <a:sx n="100" d="100"/>
        <a:sy n="100" d="100"/>
      </p:scale>
      <p:origin x="0" y="-2796"/>
    </p:cViewPr>
  </p:sorterViewPr>
  <p:notesViewPr>
    <p:cSldViewPr snapToGrid="0">
      <p:cViewPr varScale="1">
        <p:scale>
          <a:sx n="88" d="100"/>
          <a:sy n="88" d="100"/>
        </p:scale>
        <p:origin x="3822"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font" Target="fonts/font2.fntdata"/><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handoutMaster" Target="handoutMasters/handoutMaster1.xml"/><Relationship Id="rId74"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font" Target="fonts/font3.fntdata"/><Relationship Id="rId77" Type="http://schemas.microsoft.com/office/2015/10/relationships/revisionInfo" Target="revisionInfo.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font" Target="fonts/font1.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font" Target="fonts/font4.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notesMaster" Target="notesMasters/notesMaster1.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microsoft.com/office/2016/11/relationships/changesInfo" Target="changesInfos/changesInfo1.xml"/><Relationship Id="rId7" Type="http://schemas.openxmlformats.org/officeDocument/2006/relationships/slide" Target="slides/slide1.xml"/><Relationship Id="rId71" Type="http://schemas.openxmlformats.org/officeDocument/2006/relationships/font" Target="fonts/font5.fntdata"/><Relationship Id="rId2" Type="http://schemas.openxmlformats.org/officeDocument/2006/relationships/slideMaster" Target="slideMasters/slideMaster2.xml"/><Relationship Id="rId29"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enson, Jody" userId="f700768a-5749-4e0f-98d7-2b523cc7d418" providerId="ADAL" clId="{10B4469C-0FC3-4425-8CE8-13DF4A22882E}"/>
    <pc:docChg chg="modSld">
      <pc:chgData name="Swenson, Jody" userId="f700768a-5749-4e0f-98d7-2b523cc7d418" providerId="ADAL" clId="{10B4469C-0FC3-4425-8CE8-13DF4A22882E}" dt="2021-10-05T18:25:31.401" v="146" actId="20577"/>
      <pc:docMkLst>
        <pc:docMk/>
      </pc:docMkLst>
      <pc:sldChg chg="modSp modAnim">
        <pc:chgData name="Swenson, Jody" userId="f700768a-5749-4e0f-98d7-2b523cc7d418" providerId="ADAL" clId="{10B4469C-0FC3-4425-8CE8-13DF4A22882E}" dt="2021-09-10T19:52:11.821" v="52"/>
        <pc:sldMkLst>
          <pc:docMk/>
          <pc:sldMk cId="3656829277" sldId="342"/>
        </pc:sldMkLst>
      </pc:sldChg>
      <pc:sldChg chg="modSp mod modAnim">
        <pc:chgData name="Swenson, Jody" userId="f700768a-5749-4e0f-98d7-2b523cc7d418" providerId="ADAL" clId="{10B4469C-0FC3-4425-8CE8-13DF4A22882E}" dt="2021-10-05T18:05:46.226" v="109"/>
        <pc:sldMkLst>
          <pc:docMk/>
          <pc:sldMk cId="3822012294" sldId="343"/>
        </pc:sldMkLst>
      </pc:sldChg>
      <pc:sldChg chg="modSp">
        <pc:chgData name="Swenson, Jody" userId="f700768a-5749-4e0f-98d7-2b523cc7d418" providerId="ADAL" clId="{10B4469C-0FC3-4425-8CE8-13DF4A22882E}" dt="2021-10-05T18:15:29.228" v="118" actId="20577"/>
        <pc:sldMkLst>
          <pc:docMk/>
          <pc:sldMk cId="1999350880" sldId="347"/>
        </pc:sldMkLst>
      </pc:sldChg>
      <pc:sldChg chg="modSp mod">
        <pc:chgData name="Swenson, Jody" userId="f700768a-5749-4e0f-98d7-2b523cc7d418" providerId="ADAL" clId="{10B4469C-0FC3-4425-8CE8-13DF4A22882E}" dt="2021-09-21T21:27:57.515" v="60" actId="6549"/>
        <pc:sldMkLst>
          <pc:docMk/>
          <pc:sldMk cId="1945664844" sldId="480"/>
        </pc:sldMkLst>
      </pc:sldChg>
      <pc:sldChg chg="modSp mod">
        <pc:chgData name="Swenson, Jody" userId="f700768a-5749-4e0f-98d7-2b523cc7d418" providerId="ADAL" clId="{10B4469C-0FC3-4425-8CE8-13DF4A22882E}" dt="2021-10-05T18:25:31.401" v="146" actId="20577"/>
        <pc:sldMkLst>
          <pc:docMk/>
          <pc:sldMk cId="1193140518" sldId="481"/>
        </pc:sldMkLst>
      </pc:sldChg>
      <pc:sldChg chg="modSp modAnim">
        <pc:chgData name="Swenson, Jody" userId="f700768a-5749-4e0f-98d7-2b523cc7d418" providerId="ADAL" clId="{10B4469C-0FC3-4425-8CE8-13DF4A22882E}" dt="2021-09-10T19:54:19.887" v="55" actId="20577"/>
        <pc:sldMkLst>
          <pc:docMk/>
          <pc:sldMk cId="3952038980" sldId="521"/>
        </pc:sldMkLst>
      </pc:sldChg>
      <pc:sldChg chg="modSp modAnim">
        <pc:chgData name="Swenson, Jody" userId="f700768a-5749-4e0f-98d7-2b523cc7d418" providerId="ADAL" clId="{10B4469C-0FC3-4425-8CE8-13DF4A22882E}" dt="2021-09-28T21:15:14.889" v="88"/>
        <pc:sldMkLst>
          <pc:docMk/>
          <pc:sldMk cId="2867679410" sldId="523"/>
        </pc:sldMkLst>
      </pc:sldChg>
    </pc:docChg>
  </pc:docChgLst>
  <pc:docChgLst>
    <pc:chgData name="Swenson, Jody" userId="f700768a-5749-4e0f-98d7-2b523cc7d418" providerId="ADAL" clId="{10C7F594-E817-4B32-B2AA-41396A9A8563}"/>
    <pc:docChg chg="custSel addSld delSld modSld">
      <pc:chgData name="Swenson, Jody" userId="f700768a-5749-4e0f-98d7-2b523cc7d418" providerId="ADAL" clId="{10C7F594-E817-4B32-B2AA-41396A9A8563}" dt="2022-10-04T20:24:41.491" v="1085" actId="14100"/>
      <pc:docMkLst>
        <pc:docMk/>
      </pc:docMkLst>
      <pc:sldChg chg="modSp modAnim">
        <pc:chgData name="Swenson, Jody" userId="f700768a-5749-4e0f-98d7-2b523cc7d418" providerId="ADAL" clId="{10C7F594-E817-4B32-B2AA-41396A9A8563}" dt="2022-09-27T22:59:49.180" v="99"/>
        <pc:sldMkLst>
          <pc:docMk/>
          <pc:sldMk cId="4284446765" sldId="330"/>
        </pc:sldMkLst>
      </pc:sldChg>
      <pc:sldChg chg="delSp modSp mod delAnim modAnim">
        <pc:chgData name="Swenson, Jody" userId="f700768a-5749-4e0f-98d7-2b523cc7d418" providerId="ADAL" clId="{10C7F594-E817-4B32-B2AA-41396A9A8563}" dt="2022-10-04T01:06:55.663" v="856" actId="21"/>
        <pc:sldMkLst>
          <pc:docMk/>
          <pc:sldMk cId="315395191" sldId="332"/>
        </pc:sldMkLst>
      </pc:sldChg>
      <pc:sldChg chg="del">
        <pc:chgData name="Swenson, Jody" userId="f700768a-5749-4e0f-98d7-2b523cc7d418" providerId="ADAL" clId="{10C7F594-E817-4B32-B2AA-41396A9A8563}" dt="2022-10-04T01:06:42.996" v="855" actId="47"/>
        <pc:sldMkLst>
          <pc:docMk/>
          <pc:sldMk cId="2490052530" sldId="336"/>
        </pc:sldMkLst>
      </pc:sldChg>
      <pc:sldChg chg="modSp">
        <pc:chgData name="Swenson, Jody" userId="f700768a-5749-4e0f-98d7-2b523cc7d418" providerId="ADAL" clId="{10C7F594-E817-4B32-B2AA-41396A9A8563}" dt="2022-09-27T22:56:34.882" v="77" actId="20577"/>
        <pc:sldMkLst>
          <pc:docMk/>
          <pc:sldMk cId="2634384018" sldId="337"/>
        </pc:sldMkLst>
      </pc:sldChg>
      <pc:sldChg chg="del">
        <pc:chgData name="Swenson, Jody" userId="f700768a-5749-4e0f-98d7-2b523cc7d418" providerId="ADAL" clId="{10C7F594-E817-4B32-B2AA-41396A9A8563}" dt="2022-10-04T01:08:50.862" v="861" actId="47"/>
        <pc:sldMkLst>
          <pc:docMk/>
          <pc:sldMk cId="3778431852" sldId="340"/>
        </pc:sldMkLst>
      </pc:sldChg>
      <pc:sldChg chg="modSp modAnim">
        <pc:chgData name="Swenson, Jody" userId="f700768a-5749-4e0f-98d7-2b523cc7d418" providerId="ADAL" clId="{10C7F594-E817-4B32-B2AA-41396A9A8563}" dt="2022-09-27T23:30:13.981" v="185" actId="20577"/>
        <pc:sldMkLst>
          <pc:docMk/>
          <pc:sldMk cId="3046900099" sldId="341"/>
        </pc:sldMkLst>
      </pc:sldChg>
      <pc:sldChg chg="modSp mod modAnim">
        <pc:chgData name="Swenson, Jody" userId="f700768a-5749-4e0f-98d7-2b523cc7d418" providerId="ADAL" clId="{10C7F594-E817-4B32-B2AA-41396A9A8563}" dt="2022-09-27T22:55:28.177" v="75" actId="20577"/>
        <pc:sldMkLst>
          <pc:docMk/>
          <pc:sldMk cId="3656829277" sldId="342"/>
        </pc:sldMkLst>
      </pc:sldChg>
      <pc:sldChg chg="add">
        <pc:chgData name="Swenson, Jody" userId="f700768a-5749-4e0f-98d7-2b523cc7d418" providerId="ADAL" clId="{10C7F594-E817-4B32-B2AA-41396A9A8563}" dt="2022-10-04T01:08:47.642" v="860"/>
        <pc:sldMkLst>
          <pc:docMk/>
          <pc:sldMk cId="183864818" sldId="351"/>
        </pc:sldMkLst>
      </pc:sldChg>
      <pc:sldChg chg="del">
        <pc:chgData name="Swenson, Jody" userId="f700768a-5749-4e0f-98d7-2b523cc7d418" providerId="ADAL" clId="{10C7F594-E817-4B32-B2AA-41396A9A8563}" dt="2022-10-04T01:08:29.785" v="859" actId="2696"/>
        <pc:sldMkLst>
          <pc:docMk/>
          <pc:sldMk cId="1747751982" sldId="351"/>
        </pc:sldMkLst>
      </pc:sldChg>
      <pc:sldChg chg="modSp">
        <pc:chgData name="Swenson, Jody" userId="f700768a-5749-4e0f-98d7-2b523cc7d418" providerId="ADAL" clId="{10C7F594-E817-4B32-B2AA-41396A9A8563}" dt="2022-09-27T22:56:05.555" v="76" actId="20577"/>
        <pc:sldMkLst>
          <pc:docMk/>
          <pc:sldMk cId="564063558" sldId="354"/>
        </pc:sldMkLst>
      </pc:sldChg>
      <pc:sldChg chg="del">
        <pc:chgData name="Swenson, Jody" userId="f700768a-5749-4e0f-98d7-2b523cc7d418" providerId="ADAL" clId="{10C7F594-E817-4B32-B2AA-41396A9A8563}" dt="2022-09-27T23:04:56.858" v="101" actId="47"/>
        <pc:sldMkLst>
          <pc:docMk/>
          <pc:sldMk cId="1019500903" sldId="358"/>
        </pc:sldMkLst>
      </pc:sldChg>
      <pc:sldChg chg="modSp mod modAnim">
        <pc:chgData name="Swenson, Jody" userId="f700768a-5749-4e0f-98d7-2b523cc7d418" providerId="ADAL" clId="{10C7F594-E817-4B32-B2AA-41396A9A8563}" dt="2022-09-27T23:23:41.989" v="145"/>
        <pc:sldMkLst>
          <pc:docMk/>
          <pc:sldMk cId="2275477442" sldId="363"/>
        </pc:sldMkLst>
      </pc:sldChg>
      <pc:sldChg chg="modSp mod">
        <pc:chgData name="Swenson, Jody" userId="f700768a-5749-4e0f-98d7-2b523cc7d418" providerId="ADAL" clId="{10C7F594-E817-4B32-B2AA-41396A9A8563}" dt="2022-10-04T01:12:07.574" v="885" actId="20577"/>
        <pc:sldMkLst>
          <pc:docMk/>
          <pc:sldMk cId="1945664844" sldId="480"/>
        </pc:sldMkLst>
      </pc:sldChg>
      <pc:sldChg chg="modSp mod">
        <pc:chgData name="Swenson, Jody" userId="f700768a-5749-4e0f-98d7-2b523cc7d418" providerId="ADAL" clId="{10C7F594-E817-4B32-B2AA-41396A9A8563}" dt="2022-09-29T22:38:22.240" v="704" actId="1035"/>
        <pc:sldMkLst>
          <pc:docMk/>
          <pc:sldMk cId="1193140518" sldId="481"/>
        </pc:sldMkLst>
      </pc:sldChg>
      <pc:sldChg chg="modSp modAnim">
        <pc:chgData name="Swenson, Jody" userId="f700768a-5749-4e0f-98d7-2b523cc7d418" providerId="ADAL" clId="{10C7F594-E817-4B32-B2AA-41396A9A8563}" dt="2022-09-27T23:35:25.095" v="303"/>
        <pc:sldMkLst>
          <pc:docMk/>
          <pc:sldMk cId="3089632227" sldId="484"/>
        </pc:sldMkLst>
      </pc:sldChg>
      <pc:sldChg chg="modSp modAnim">
        <pc:chgData name="Swenson, Jody" userId="f700768a-5749-4e0f-98d7-2b523cc7d418" providerId="ADAL" clId="{10C7F594-E817-4B32-B2AA-41396A9A8563}" dt="2022-09-27T23:32:55.480" v="254" actId="20577"/>
        <pc:sldMkLst>
          <pc:docMk/>
          <pc:sldMk cId="2867679410" sldId="523"/>
        </pc:sldMkLst>
      </pc:sldChg>
      <pc:sldChg chg="modSp modAnim">
        <pc:chgData name="Swenson, Jody" userId="f700768a-5749-4e0f-98d7-2b523cc7d418" providerId="ADAL" clId="{10C7F594-E817-4B32-B2AA-41396A9A8563}" dt="2022-09-27T23:42:29.982" v="538" actId="20577"/>
        <pc:sldMkLst>
          <pc:docMk/>
          <pc:sldMk cId="2289654720" sldId="524"/>
        </pc:sldMkLst>
      </pc:sldChg>
      <pc:sldChg chg="modSp add">
        <pc:chgData name="Swenson, Jody" userId="f700768a-5749-4e0f-98d7-2b523cc7d418" providerId="ADAL" clId="{10C7F594-E817-4B32-B2AA-41396A9A8563}" dt="2022-09-27T23:05:34.073" v="102" actId="20577"/>
        <pc:sldMkLst>
          <pc:docMk/>
          <pc:sldMk cId="2524304489" sldId="528"/>
        </pc:sldMkLst>
      </pc:sldChg>
      <pc:sldChg chg="addSp delSp modSp add del mod">
        <pc:chgData name="Swenson, Jody" userId="f700768a-5749-4e0f-98d7-2b523cc7d418" providerId="ADAL" clId="{10C7F594-E817-4B32-B2AA-41396A9A8563}" dt="2022-10-04T20:24:41.491" v="1085" actId="14100"/>
        <pc:sldMkLst>
          <pc:docMk/>
          <pc:sldMk cId="3908477349" sldId="529"/>
        </pc:sldMkLst>
      </pc:sldChg>
      <pc:sldChg chg="addSp delSp modSp add mod delAnim modAnim">
        <pc:chgData name="Swenson, Jody" userId="f700768a-5749-4e0f-98d7-2b523cc7d418" providerId="ADAL" clId="{10C7F594-E817-4B32-B2AA-41396A9A8563}" dt="2022-10-04T20:22:09.827" v="1072"/>
        <pc:sldMkLst>
          <pc:docMk/>
          <pc:sldMk cId="1172195538" sldId="530"/>
        </pc:sldMkLst>
      </pc:sldChg>
      <pc:sldChg chg="addSp modSp add mod modAnim">
        <pc:chgData name="Swenson, Jody" userId="f700768a-5749-4e0f-98d7-2b523cc7d418" providerId="ADAL" clId="{10C7F594-E817-4B32-B2AA-41396A9A8563}" dt="2022-10-04T01:07:08.564" v="858" actId="1076"/>
        <pc:sldMkLst>
          <pc:docMk/>
          <pc:sldMk cId="2226245935" sldId="531"/>
        </pc:sldMkLst>
      </pc:sldChg>
      <pc:sldChg chg="addSp delSp modSp add mod">
        <pc:chgData name="Swenson, Jody" userId="f700768a-5749-4e0f-98d7-2b523cc7d418" providerId="ADAL" clId="{10C7F594-E817-4B32-B2AA-41396A9A8563}" dt="2022-10-04T16:06:39.625" v="963" actId="1076"/>
        <pc:sldMkLst>
          <pc:docMk/>
          <pc:sldMk cId="1893823519" sldId="532"/>
        </pc:sldMkLst>
      </pc:sldChg>
      <pc:sldChg chg="add">
        <pc:chgData name="Swenson, Jody" userId="f700768a-5749-4e0f-98d7-2b523cc7d418" providerId="ADAL" clId="{10C7F594-E817-4B32-B2AA-41396A9A8563}" dt="2022-10-04T20:17:36.396" v="965"/>
        <pc:sldMkLst>
          <pc:docMk/>
          <pc:sldMk cId="382542091" sldId="533"/>
        </pc:sldMkLst>
      </pc:sldChg>
      <pc:sldChg chg="add">
        <pc:chgData name="Swenson, Jody" userId="f700768a-5749-4e0f-98d7-2b523cc7d418" providerId="ADAL" clId="{10C7F594-E817-4B32-B2AA-41396A9A8563}" dt="2022-10-04T20:17:36.396" v="965"/>
        <pc:sldMkLst>
          <pc:docMk/>
          <pc:sldMk cId="1690047337" sldId="534"/>
        </pc:sldMkLst>
      </pc:sldChg>
    </pc:docChg>
  </pc:docChgLst>
  <pc:docChgLst>
    <pc:chgData name="Swenson, Jody" userId="f700768a-5749-4e0f-98d7-2b523cc7d418" providerId="ADAL" clId="{F01D5953-9925-4258-B9C9-D227B337818B}"/>
    <pc:docChg chg="undo custSel addSld delSld modSld">
      <pc:chgData name="Swenson, Jody" userId="f700768a-5749-4e0f-98d7-2b523cc7d418" providerId="ADAL" clId="{F01D5953-9925-4258-B9C9-D227B337818B}" dt="2020-08-14T22:39:17.169" v="1165" actId="6549"/>
      <pc:docMkLst>
        <pc:docMk/>
      </pc:docMkLst>
      <pc:sldChg chg="modSp add del">
        <pc:chgData name="Swenson, Jody" userId="f700768a-5749-4e0f-98d7-2b523cc7d418" providerId="ADAL" clId="{F01D5953-9925-4258-B9C9-D227B337818B}" dt="2020-08-14T22:39:01.293" v="1164" actId="1036"/>
        <pc:sldMkLst>
          <pc:docMk/>
          <pc:sldMk cId="798177373" sldId="333"/>
        </pc:sldMkLst>
      </pc:sldChg>
      <pc:sldChg chg="add del">
        <pc:chgData name="Swenson, Jody" userId="f700768a-5749-4e0f-98d7-2b523cc7d418" providerId="ADAL" clId="{F01D5953-9925-4258-B9C9-D227B337818B}" dt="2020-08-14T22:38:44.024" v="1163"/>
        <pc:sldMkLst>
          <pc:docMk/>
          <pc:sldMk cId="2094297406" sldId="334"/>
        </pc:sldMkLst>
      </pc:sldChg>
      <pc:sldChg chg="modSp modAnim">
        <pc:chgData name="Swenson, Jody" userId="f700768a-5749-4e0f-98d7-2b523cc7d418" providerId="ADAL" clId="{F01D5953-9925-4258-B9C9-D227B337818B}" dt="2020-08-14T21:31:48.130" v="1145"/>
        <pc:sldMkLst>
          <pc:docMk/>
          <pc:sldMk cId="564063558" sldId="354"/>
        </pc:sldMkLst>
      </pc:sldChg>
      <pc:sldChg chg="modSp">
        <pc:chgData name="Swenson, Jody" userId="f700768a-5749-4e0f-98d7-2b523cc7d418" providerId="ADAL" clId="{F01D5953-9925-4258-B9C9-D227B337818B}" dt="2020-08-14T21:42:20.035" v="1160" actId="20577"/>
        <pc:sldMkLst>
          <pc:docMk/>
          <pc:sldMk cId="1825798918" sldId="362"/>
        </pc:sldMkLst>
      </pc:sldChg>
      <pc:sldChg chg="modSp add">
        <pc:chgData name="Swenson, Jody" userId="f700768a-5749-4e0f-98d7-2b523cc7d418" providerId="ADAL" clId="{F01D5953-9925-4258-B9C9-D227B337818B}" dt="2020-06-09T22:08:43.257" v="1142" actId="207"/>
        <pc:sldMkLst>
          <pc:docMk/>
          <pc:sldMk cId="2372806092" sldId="428"/>
        </pc:sldMkLst>
      </pc:sldChg>
      <pc:sldChg chg="modSp del modAnim">
        <pc:chgData name="Swenson, Jody" userId="f700768a-5749-4e0f-98d7-2b523cc7d418" providerId="ADAL" clId="{F01D5953-9925-4258-B9C9-D227B337818B}" dt="2020-08-14T22:38:29.643" v="1162" actId="47"/>
        <pc:sldMkLst>
          <pc:docMk/>
          <pc:sldMk cId="664904999" sldId="482"/>
        </pc:sldMkLst>
      </pc:sldChg>
      <pc:sldChg chg="modSp add">
        <pc:chgData name="Swenson, Jody" userId="f700768a-5749-4e0f-98d7-2b523cc7d418" providerId="ADAL" clId="{F01D5953-9925-4258-B9C9-D227B337818B}" dt="2020-08-14T22:39:17.169" v="1165" actId="6549"/>
        <pc:sldMkLst>
          <pc:docMk/>
          <pc:sldMk cId="3089632227" sldId="484"/>
        </pc:sldMkLst>
      </pc:sldChg>
      <pc:sldChg chg="add">
        <pc:chgData name="Swenson, Jody" userId="f700768a-5749-4e0f-98d7-2b523cc7d418" providerId="ADAL" clId="{F01D5953-9925-4258-B9C9-D227B337818B}" dt="2020-08-14T22:38:44.024" v="1163"/>
        <pc:sldMkLst>
          <pc:docMk/>
          <pc:sldMk cId="2867679410" sldId="523"/>
        </pc:sldMkLst>
      </pc:sldChg>
    </pc:docChg>
  </pc:docChgLst>
  <pc:docChgLst>
    <pc:chgData name="Swenson, Jody" userId="f700768a-5749-4e0f-98d7-2b523cc7d418" providerId="ADAL" clId="{263A8B5E-AEA0-4EB0-863F-2C3616796833}"/>
    <pc:docChg chg="modSld">
      <pc:chgData name="Swenson, Jody" userId="f700768a-5749-4e0f-98d7-2b523cc7d418" providerId="ADAL" clId="{263A8B5E-AEA0-4EB0-863F-2C3616796833}" dt="2023-05-09T19:52:46.336" v="19" actId="20577"/>
      <pc:docMkLst>
        <pc:docMk/>
      </pc:docMkLst>
      <pc:sldChg chg="modSp">
        <pc:chgData name="Swenson, Jody" userId="f700768a-5749-4e0f-98d7-2b523cc7d418" providerId="ADAL" clId="{263A8B5E-AEA0-4EB0-863F-2C3616796833}" dt="2023-05-09T19:50:03.788" v="13" actId="20577"/>
        <pc:sldMkLst>
          <pc:docMk/>
          <pc:sldMk cId="798177373" sldId="333"/>
        </pc:sldMkLst>
      </pc:sldChg>
      <pc:sldChg chg="modSp mod">
        <pc:chgData name="Swenson, Jody" userId="f700768a-5749-4e0f-98d7-2b523cc7d418" providerId="ADAL" clId="{263A8B5E-AEA0-4EB0-863F-2C3616796833}" dt="2023-05-04T20:18:47.656" v="1" actId="6549"/>
        <pc:sldMkLst>
          <pc:docMk/>
          <pc:sldMk cId="1945664844" sldId="480"/>
        </pc:sldMkLst>
      </pc:sldChg>
      <pc:sldChg chg="modSp">
        <pc:chgData name="Swenson, Jody" userId="f700768a-5749-4e0f-98d7-2b523cc7d418" providerId="ADAL" clId="{263A8B5E-AEA0-4EB0-863F-2C3616796833}" dt="2023-05-09T19:52:46.336" v="19" actId="20577"/>
        <pc:sldMkLst>
          <pc:docMk/>
          <pc:sldMk cId="2289654720" sldId="524"/>
        </pc:sldMkLst>
      </pc:sldChg>
      <pc:sldChg chg="modSp mod">
        <pc:chgData name="Swenson, Jody" userId="f700768a-5749-4e0f-98d7-2b523cc7d418" providerId="ADAL" clId="{263A8B5E-AEA0-4EB0-863F-2C3616796833}" dt="2023-05-04T20:19:11.379" v="10" actId="1036"/>
        <pc:sldMkLst>
          <pc:docMk/>
          <pc:sldMk cId="3786739186" sldId="540"/>
        </pc:sldMkLst>
      </pc:sldChg>
      <pc:sldChg chg="modSp modAnim">
        <pc:chgData name="Swenson, Jody" userId="f700768a-5749-4e0f-98d7-2b523cc7d418" providerId="ADAL" clId="{263A8B5E-AEA0-4EB0-863F-2C3616796833}" dt="2023-05-09T19:45:27.574" v="12" actId="20577"/>
        <pc:sldMkLst>
          <pc:docMk/>
          <pc:sldMk cId="1948419639" sldId="551"/>
        </pc:sldMkLst>
      </pc:sldChg>
    </pc:docChg>
  </pc:docChgLst>
  <pc:docChgLst>
    <pc:chgData name="Swenson, Jody" userId="f700768a-5749-4e0f-98d7-2b523cc7d418" providerId="ADAL" clId="{3D4F6F65-E543-4230-ABAA-31CB75E911F7}"/>
    <pc:docChg chg="modSld">
      <pc:chgData name="Swenson, Jody" userId="f700768a-5749-4e0f-98d7-2b523cc7d418" providerId="ADAL" clId="{3D4F6F65-E543-4230-ABAA-31CB75E911F7}" dt="2025-10-07T22:09:28.286" v="18"/>
      <pc:docMkLst>
        <pc:docMk/>
      </pc:docMkLst>
      <pc:sldChg chg="modSp">
        <pc:chgData name="Swenson, Jody" userId="f700768a-5749-4e0f-98d7-2b523cc7d418" providerId="ADAL" clId="{3D4F6F65-E543-4230-ABAA-31CB75E911F7}" dt="2025-10-02T22:24:32.199" v="14" actId="20577"/>
        <pc:sldMkLst>
          <pc:docMk/>
          <pc:sldMk cId="1989969423" sldId="353"/>
        </pc:sldMkLst>
        <pc:spChg chg="mod">
          <ac:chgData name="Swenson, Jody" userId="f700768a-5749-4e0f-98d7-2b523cc7d418" providerId="ADAL" clId="{3D4F6F65-E543-4230-ABAA-31CB75E911F7}" dt="2025-10-02T22:24:32.199" v="14" actId="20577"/>
          <ac:spMkLst>
            <pc:docMk/>
            <pc:sldMk cId="1989969423" sldId="353"/>
            <ac:spMk id="4" creationId="{00000000-0000-0000-0000-000000000000}"/>
          </ac:spMkLst>
        </pc:spChg>
      </pc:sldChg>
      <pc:sldChg chg="modSp">
        <pc:chgData name="Swenson, Jody" userId="f700768a-5749-4e0f-98d7-2b523cc7d418" providerId="ADAL" clId="{3D4F6F65-E543-4230-ABAA-31CB75E911F7}" dt="2025-10-02T22:24:48.136" v="15" actId="20577"/>
        <pc:sldMkLst>
          <pc:docMk/>
          <pc:sldMk cId="564063558" sldId="354"/>
        </pc:sldMkLst>
        <pc:spChg chg="mod">
          <ac:chgData name="Swenson, Jody" userId="f700768a-5749-4e0f-98d7-2b523cc7d418" providerId="ADAL" clId="{3D4F6F65-E543-4230-ABAA-31CB75E911F7}" dt="2025-10-02T22:24:48.136" v="15" actId="20577"/>
          <ac:spMkLst>
            <pc:docMk/>
            <pc:sldMk cId="564063558" sldId="354"/>
            <ac:spMk id="4" creationId="{00000000-0000-0000-0000-000000000000}"/>
          </ac:spMkLst>
        </pc:spChg>
      </pc:sldChg>
      <pc:sldChg chg="modSp">
        <pc:chgData name="Swenson, Jody" userId="f700768a-5749-4e0f-98d7-2b523cc7d418" providerId="ADAL" clId="{3D4F6F65-E543-4230-ABAA-31CB75E911F7}" dt="2025-10-02T17:24:10.101" v="1" actId="20577"/>
        <pc:sldMkLst>
          <pc:docMk/>
          <pc:sldMk cId="1893634733" sldId="541"/>
        </pc:sldMkLst>
        <pc:spChg chg="mod">
          <ac:chgData name="Swenson, Jody" userId="f700768a-5749-4e0f-98d7-2b523cc7d418" providerId="ADAL" clId="{3D4F6F65-E543-4230-ABAA-31CB75E911F7}" dt="2025-10-02T17:24:10.101" v="1" actId="20577"/>
          <ac:spMkLst>
            <pc:docMk/>
            <pc:sldMk cId="1893634733" sldId="541"/>
            <ac:spMk id="17" creationId="{ECE20898-BC31-1637-608D-29165DA1D08A}"/>
          </ac:spMkLst>
        </pc:spChg>
      </pc:sldChg>
      <pc:sldChg chg="modAnim">
        <pc:chgData name="Swenson, Jody" userId="f700768a-5749-4e0f-98d7-2b523cc7d418" providerId="ADAL" clId="{3D4F6F65-E543-4230-ABAA-31CB75E911F7}" dt="2025-10-07T22:09:28.286" v="18"/>
        <pc:sldMkLst>
          <pc:docMk/>
          <pc:sldMk cId="3574667912" sldId="553"/>
        </pc:sldMkLst>
      </pc:sldChg>
    </pc:docChg>
  </pc:docChgLst>
  <pc:docChgLst>
    <pc:chgData name="Swenson, Jody" userId="f700768a-5749-4e0f-98d7-2b523cc7d418" providerId="ADAL" clId="{6714174C-0A02-4A59-8D3D-B40CFE8D5E3F}"/>
    <pc:docChg chg="undo custSel addSld delSld modSld sldOrd">
      <pc:chgData name="Swenson, Jody" userId="f700768a-5749-4e0f-98d7-2b523cc7d418" providerId="ADAL" clId="{6714174C-0A02-4A59-8D3D-B40CFE8D5E3F}" dt="2023-05-11T18:25:25.350" v="1082"/>
      <pc:docMkLst>
        <pc:docMk/>
      </pc:docMkLst>
      <pc:sldChg chg="modSp mod modAnim">
        <pc:chgData name="Swenson, Jody" userId="f700768a-5749-4e0f-98d7-2b523cc7d418" providerId="ADAL" clId="{6714174C-0A02-4A59-8D3D-B40CFE8D5E3F}" dt="2023-05-04T17:11:11.421" v="622" actId="14100"/>
        <pc:sldMkLst>
          <pc:docMk/>
          <pc:sldMk cId="4284446765" sldId="330"/>
        </pc:sldMkLst>
      </pc:sldChg>
      <pc:sldChg chg="del">
        <pc:chgData name="Swenson, Jody" userId="f700768a-5749-4e0f-98d7-2b523cc7d418" providerId="ADAL" clId="{6714174C-0A02-4A59-8D3D-B40CFE8D5E3F}" dt="2023-04-12T20:30:56.773" v="1" actId="47"/>
        <pc:sldMkLst>
          <pc:docMk/>
          <pc:sldMk cId="898354492" sldId="331"/>
        </pc:sldMkLst>
      </pc:sldChg>
      <pc:sldChg chg="delSp modSp mod ord delAnim">
        <pc:chgData name="Swenson, Jody" userId="f700768a-5749-4e0f-98d7-2b523cc7d418" providerId="ADAL" clId="{6714174C-0A02-4A59-8D3D-B40CFE8D5E3F}" dt="2023-05-05T20:11:01.286" v="985"/>
        <pc:sldMkLst>
          <pc:docMk/>
          <pc:sldMk cId="315395191" sldId="332"/>
        </pc:sldMkLst>
      </pc:sldChg>
      <pc:sldChg chg="modSp mod modAnim">
        <pc:chgData name="Swenson, Jody" userId="f700768a-5749-4e0f-98d7-2b523cc7d418" providerId="ADAL" clId="{6714174C-0A02-4A59-8D3D-B40CFE8D5E3F}" dt="2023-05-05T19:16:27.529" v="782" actId="20577"/>
        <pc:sldMkLst>
          <pc:docMk/>
          <pc:sldMk cId="798177373" sldId="333"/>
        </pc:sldMkLst>
      </pc:sldChg>
      <pc:sldChg chg="modSp modAnim">
        <pc:chgData name="Swenson, Jody" userId="f700768a-5749-4e0f-98d7-2b523cc7d418" providerId="ADAL" clId="{6714174C-0A02-4A59-8D3D-B40CFE8D5E3F}" dt="2023-05-05T19:58:31.368" v="968"/>
        <pc:sldMkLst>
          <pc:docMk/>
          <pc:sldMk cId="2094297406" sldId="334"/>
        </pc:sldMkLst>
      </pc:sldChg>
      <pc:sldChg chg="modSp modAnim">
        <pc:chgData name="Swenson, Jody" userId="f700768a-5749-4e0f-98d7-2b523cc7d418" providerId="ADAL" clId="{6714174C-0A02-4A59-8D3D-B40CFE8D5E3F}" dt="2023-05-04T21:08:36.475" v="649"/>
        <pc:sldMkLst>
          <pc:docMk/>
          <pc:sldMk cId="1340873565" sldId="339"/>
        </pc:sldMkLst>
      </pc:sldChg>
      <pc:sldChg chg="addSp modSp mod modAnim">
        <pc:chgData name="Swenson, Jody" userId="f700768a-5749-4e0f-98d7-2b523cc7d418" providerId="ADAL" clId="{6714174C-0A02-4A59-8D3D-B40CFE8D5E3F}" dt="2023-05-09T22:10:52.005" v="1054" actId="1076"/>
        <pc:sldMkLst>
          <pc:docMk/>
          <pc:sldMk cId="3046900099" sldId="341"/>
        </pc:sldMkLst>
      </pc:sldChg>
      <pc:sldChg chg="modSp modAnim">
        <pc:chgData name="Swenson, Jody" userId="f700768a-5749-4e0f-98d7-2b523cc7d418" providerId="ADAL" clId="{6714174C-0A02-4A59-8D3D-B40CFE8D5E3F}" dt="2023-05-11T18:05:09.932" v="1066" actId="20577"/>
        <pc:sldMkLst>
          <pc:docMk/>
          <pc:sldMk cId="331967760" sldId="344"/>
        </pc:sldMkLst>
      </pc:sldChg>
      <pc:sldChg chg="del">
        <pc:chgData name="Swenson, Jody" userId="f700768a-5749-4e0f-98d7-2b523cc7d418" providerId="ADAL" clId="{6714174C-0A02-4A59-8D3D-B40CFE8D5E3F}" dt="2023-05-04T17:19:40.581" v="624" actId="47"/>
        <pc:sldMkLst>
          <pc:docMk/>
          <pc:sldMk cId="282735017" sldId="352"/>
        </pc:sldMkLst>
      </pc:sldChg>
      <pc:sldChg chg="addSp delSp modSp del mod delAnim modAnim">
        <pc:chgData name="Swenson, Jody" userId="f700768a-5749-4e0f-98d7-2b523cc7d418" providerId="ADAL" clId="{6714174C-0A02-4A59-8D3D-B40CFE8D5E3F}" dt="2023-05-05T03:04:55.079" v="717" actId="47"/>
        <pc:sldMkLst>
          <pc:docMk/>
          <pc:sldMk cId="1825798918" sldId="362"/>
        </pc:sldMkLst>
      </pc:sldChg>
      <pc:sldChg chg="modSp del mod">
        <pc:chgData name="Swenson, Jody" userId="f700768a-5749-4e0f-98d7-2b523cc7d418" providerId="ADAL" clId="{6714174C-0A02-4A59-8D3D-B40CFE8D5E3F}" dt="2023-05-05T20:00:42.506" v="969" actId="47"/>
        <pc:sldMkLst>
          <pc:docMk/>
          <pc:sldMk cId="1945664844" sldId="480"/>
        </pc:sldMkLst>
      </pc:sldChg>
      <pc:sldChg chg="modSp mod ord">
        <pc:chgData name="Swenson, Jody" userId="f700768a-5749-4e0f-98d7-2b523cc7d418" providerId="ADAL" clId="{6714174C-0A02-4A59-8D3D-B40CFE8D5E3F}" dt="2023-05-04T21:58:23.098" v="713" actId="20577"/>
        <pc:sldMkLst>
          <pc:docMk/>
          <pc:sldMk cId="1193140518" sldId="481"/>
        </pc:sldMkLst>
      </pc:sldChg>
      <pc:sldChg chg="modSp mod modAnim">
        <pc:chgData name="Swenson, Jody" userId="f700768a-5749-4e0f-98d7-2b523cc7d418" providerId="ADAL" clId="{6714174C-0A02-4A59-8D3D-B40CFE8D5E3F}" dt="2023-05-05T19:52:56.964" v="921"/>
        <pc:sldMkLst>
          <pc:docMk/>
          <pc:sldMk cId="3089632227" sldId="484"/>
        </pc:sldMkLst>
      </pc:sldChg>
      <pc:sldChg chg="modSp del modAnim">
        <pc:chgData name="Swenson, Jody" userId="f700768a-5749-4e0f-98d7-2b523cc7d418" providerId="ADAL" clId="{6714174C-0A02-4A59-8D3D-B40CFE8D5E3F}" dt="2023-05-05T20:00:50.776" v="970" actId="47"/>
        <pc:sldMkLst>
          <pc:docMk/>
          <pc:sldMk cId="2561601922" sldId="515"/>
        </pc:sldMkLst>
      </pc:sldChg>
      <pc:sldChg chg="del">
        <pc:chgData name="Swenson, Jody" userId="f700768a-5749-4e0f-98d7-2b523cc7d418" providerId="ADAL" clId="{6714174C-0A02-4A59-8D3D-B40CFE8D5E3F}" dt="2023-05-05T20:00:54.613" v="971" actId="47"/>
        <pc:sldMkLst>
          <pc:docMk/>
          <pc:sldMk cId="1694895866" sldId="516"/>
        </pc:sldMkLst>
      </pc:sldChg>
      <pc:sldChg chg="modAnim">
        <pc:chgData name="Swenson, Jody" userId="f700768a-5749-4e0f-98d7-2b523cc7d418" providerId="ADAL" clId="{6714174C-0A02-4A59-8D3D-B40CFE8D5E3F}" dt="2023-05-11T18:24:19.658" v="1080"/>
        <pc:sldMkLst>
          <pc:docMk/>
          <pc:sldMk cId="1513674437" sldId="517"/>
        </pc:sldMkLst>
      </pc:sldChg>
      <pc:sldChg chg="modAnim">
        <pc:chgData name="Swenson, Jody" userId="f700768a-5749-4e0f-98d7-2b523cc7d418" providerId="ADAL" clId="{6714174C-0A02-4A59-8D3D-B40CFE8D5E3F}" dt="2023-05-11T18:25:25.350" v="1082"/>
        <pc:sldMkLst>
          <pc:docMk/>
          <pc:sldMk cId="1970317332" sldId="520"/>
        </pc:sldMkLst>
      </pc:sldChg>
      <pc:sldChg chg="modSp mod">
        <pc:chgData name="Swenson, Jody" userId="f700768a-5749-4e0f-98d7-2b523cc7d418" providerId="ADAL" clId="{6714174C-0A02-4A59-8D3D-B40CFE8D5E3F}" dt="2023-05-05T19:43:05.712" v="906" actId="1036"/>
        <pc:sldMkLst>
          <pc:docMk/>
          <pc:sldMk cId="2867679410" sldId="523"/>
        </pc:sldMkLst>
      </pc:sldChg>
      <pc:sldChg chg="modSp mod modAnim">
        <pc:chgData name="Swenson, Jody" userId="f700768a-5749-4e0f-98d7-2b523cc7d418" providerId="ADAL" clId="{6714174C-0A02-4A59-8D3D-B40CFE8D5E3F}" dt="2023-05-11T18:20:19.830" v="1078" actId="14100"/>
        <pc:sldMkLst>
          <pc:docMk/>
          <pc:sldMk cId="870186159" sldId="526"/>
        </pc:sldMkLst>
      </pc:sldChg>
      <pc:sldChg chg="ord">
        <pc:chgData name="Swenson, Jody" userId="f700768a-5749-4e0f-98d7-2b523cc7d418" providerId="ADAL" clId="{6714174C-0A02-4A59-8D3D-B40CFE8D5E3F}" dt="2023-04-13T00:20:31.894" v="4"/>
        <pc:sldMkLst>
          <pc:docMk/>
          <pc:sldMk cId="2524304489" sldId="528"/>
        </pc:sldMkLst>
      </pc:sldChg>
      <pc:sldChg chg="addSp delSp modSp mod ord">
        <pc:chgData name="Swenson, Jody" userId="f700768a-5749-4e0f-98d7-2b523cc7d418" providerId="ADAL" clId="{6714174C-0A02-4A59-8D3D-B40CFE8D5E3F}" dt="2023-05-04T17:02:08.980" v="599"/>
        <pc:sldMkLst>
          <pc:docMk/>
          <pc:sldMk cId="3908477349" sldId="529"/>
        </pc:sldMkLst>
      </pc:sldChg>
      <pc:sldChg chg="delSp modSp del mod ord delAnim">
        <pc:chgData name="Swenson, Jody" userId="f700768a-5749-4e0f-98d7-2b523cc7d418" providerId="ADAL" clId="{6714174C-0A02-4A59-8D3D-B40CFE8D5E3F}" dt="2023-05-04T17:58:14.764" v="629" actId="47"/>
        <pc:sldMkLst>
          <pc:docMk/>
          <pc:sldMk cId="2226245935" sldId="531"/>
        </pc:sldMkLst>
      </pc:sldChg>
      <pc:sldChg chg="modSp mod">
        <pc:chgData name="Swenson, Jody" userId="f700768a-5749-4e0f-98d7-2b523cc7d418" providerId="ADAL" clId="{6714174C-0A02-4A59-8D3D-B40CFE8D5E3F}" dt="2023-05-05T20:10:08.623" v="979" actId="1035"/>
        <pc:sldMkLst>
          <pc:docMk/>
          <pc:sldMk cId="1690047337" sldId="534"/>
        </pc:sldMkLst>
      </pc:sldChg>
      <pc:sldChg chg="addSp delSp modSp add mod modAnim">
        <pc:chgData name="Swenson, Jody" userId="f700768a-5749-4e0f-98d7-2b523cc7d418" providerId="ADAL" clId="{6714174C-0A02-4A59-8D3D-B40CFE8D5E3F}" dt="2023-05-04T21:05:32.563" v="642"/>
        <pc:sldMkLst>
          <pc:docMk/>
          <pc:sldMk cId="1904419628" sldId="535"/>
        </pc:sldMkLst>
      </pc:sldChg>
      <pc:sldChg chg="modSp add mod modAnim">
        <pc:chgData name="Swenson, Jody" userId="f700768a-5749-4e0f-98d7-2b523cc7d418" providerId="ADAL" clId="{6714174C-0A02-4A59-8D3D-B40CFE8D5E3F}" dt="2023-04-13T00:22:26.419" v="14"/>
        <pc:sldMkLst>
          <pc:docMk/>
          <pc:sldMk cId="4020905655" sldId="536"/>
        </pc:sldMkLst>
      </pc:sldChg>
      <pc:sldChg chg="modSp add modAnim">
        <pc:chgData name="Swenson, Jody" userId="f700768a-5749-4e0f-98d7-2b523cc7d418" providerId="ADAL" clId="{6714174C-0A02-4A59-8D3D-B40CFE8D5E3F}" dt="2023-05-03T23:16:40.599" v="461"/>
        <pc:sldMkLst>
          <pc:docMk/>
          <pc:sldMk cId="2328976900" sldId="537"/>
        </pc:sldMkLst>
      </pc:sldChg>
      <pc:sldChg chg="modSp add mod modAnim">
        <pc:chgData name="Swenson, Jody" userId="f700768a-5749-4e0f-98d7-2b523cc7d418" providerId="ADAL" clId="{6714174C-0A02-4A59-8D3D-B40CFE8D5E3F}" dt="2023-04-13T00:29:22.240" v="21"/>
        <pc:sldMkLst>
          <pc:docMk/>
          <pc:sldMk cId="1886213086" sldId="538"/>
        </pc:sldMkLst>
      </pc:sldChg>
      <pc:sldChg chg="modSp add del mod modAnim">
        <pc:chgData name="Swenson, Jody" userId="f700768a-5749-4e0f-98d7-2b523cc7d418" providerId="ADAL" clId="{6714174C-0A02-4A59-8D3D-B40CFE8D5E3F}" dt="2023-05-04T18:01:30.899" v="637" actId="47"/>
        <pc:sldMkLst>
          <pc:docMk/>
          <pc:sldMk cId="1387826047" sldId="539"/>
        </pc:sldMkLst>
      </pc:sldChg>
      <pc:sldChg chg="add">
        <pc:chgData name="Swenson, Jody" userId="f700768a-5749-4e0f-98d7-2b523cc7d418" providerId="ADAL" clId="{6714174C-0A02-4A59-8D3D-B40CFE8D5E3F}" dt="2023-05-03T23:44:21.486" v="594"/>
        <pc:sldMkLst>
          <pc:docMk/>
          <pc:sldMk cId="3786739186" sldId="540"/>
        </pc:sldMkLst>
      </pc:sldChg>
      <pc:sldChg chg="add del">
        <pc:chgData name="Swenson, Jody" userId="f700768a-5749-4e0f-98d7-2b523cc7d418" providerId="ADAL" clId="{6714174C-0A02-4A59-8D3D-B40CFE8D5E3F}" dt="2023-05-03T23:44:13.696" v="593" actId="2696"/>
        <pc:sldMkLst>
          <pc:docMk/>
          <pc:sldMk cId="4242532109" sldId="540"/>
        </pc:sldMkLst>
      </pc:sldChg>
      <pc:sldChg chg="add">
        <pc:chgData name="Swenson, Jody" userId="f700768a-5749-4e0f-98d7-2b523cc7d418" providerId="ADAL" clId="{6714174C-0A02-4A59-8D3D-B40CFE8D5E3F}" dt="2023-05-03T23:44:21.486" v="594"/>
        <pc:sldMkLst>
          <pc:docMk/>
          <pc:sldMk cId="1893634733" sldId="541"/>
        </pc:sldMkLst>
      </pc:sldChg>
      <pc:sldChg chg="addSp delSp modSp add del mod modAnim">
        <pc:chgData name="Swenson, Jody" userId="f700768a-5749-4e0f-98d7-2b523cc7d418" providerId="ADAL" clId="{6714174C-0A02-4A59-8D3D-B40CFE8D5E3F}" dt="2023-05-03T23:44:13.696" v="593" actId="2696"/>
        <pc:sldMkLst>
          <pc:docMk/>
          <pc:sldMk cId="3378224935" sldId="541"/>
        </pc:sldMkLst>
      </pc:sldChg>
      <pc:sldChg chg="addSp modSp add mod modAnim">
        <pc:chgData name="Swenson, Jody" userId="f700768a-5749-4e0f-98d7-2b523cc7d418" providerId="ADAL" clId="{6714174C-0A02-4A59-8D3D-B40CFE8D5E3F}" dt="2023-05-03T23:45:18.135" v="597" actId="1076"/>
        <pc:sldMkLst>
          <pc:docMk/>
          <pc:sldMk cId="2345558504" sldId="542"/>
        </pc:sldMkLst>
      </pc:sldChg>
      <pc:sldChg chg="addSp delSp modSp add del mod delAnim modAnim">
        <pc:chgData name="Swenson, Jody" userId="f700768a-5749-4e0f-98d7-2b523cc7d418" providerId="ADAL" clId="{6714174C-0A02-4A59-8D3D-B40CFE8D5E3F}" dt="2023-05-03T23:44:13.696" v="593" actId="2696"/>
        <pc:sldMkLst>
          <pc:docMk/>
          <pc:sldMk cId="3189462391" sldId="542"/>
        </pc:sldMkLst>
      </pc:sldChg>
      <pc:sldChg chg="add">
        <pc:chgData name="Swenson, Jody" userId="f700768a-5749-4e0f-98d7-2b523cc7d418" providerId="ADAL" clId="{6714174C-0A02-4A59-8D3D-B40CFE8D5E3F}" dt="2023-05-03T23:41:02.316" v="516"/>
        <pc:sldMkLst>
          <pc:docMk/>
          <pc:sldMk cId="1657031747" sldId="543"/>
        </pc:sldMkLst>
      </pc:sldChg>
      <pc:sldChg chg="add del">
        <pc:chgData name="Swenson, Jody" userId="f700768a-5749-4e0f-98d7-2b523cc7d418" providerId="ADAL" clId="{6714174C-0A02-4A59-8D3D-B40CFE8D5E3F}" dt="2023-05-04T18:01:01.651" v="636" actId="47"/>
        <pc:sldMkLst>
          <pc:docMk/>
          <pc:sldMk cId="2649387742" sldId="544"/>
        </pc:sldMkLst>
      </pc:sldChg>
      <pc:sldChg chg="modSp add del mod">
        <pc:chgData name="Swenson, Jody" userId="f700768a-5749-4e0f-98d7-2b523cc7d418" providerId="ADAL" clId="{6714174C-0A02-4A59-8D3D-B40CFE8D5E3F}" dt="2023-05-05T02:41:45.274" v="715" actId="47"/>
        <pc:sldMkLst>
          <pc:docMk/>
          <pc:sldMk cId="604118445" sldId="545"/>
        </pc:sldMkLst>
      </pc:sldChg>
      <pc:sldChg chg="add">
        <pc:chgData name="Swenson, Jody" userId="f700768a-5749-4e0f-98d7-2b523cc7d418" providerId="ADAL" clId="{6714174C-0A02-4A59-8D3D-B40CFE8D5E3F}" dt="2023-05-04T18:00:41.892" v="635"/>
        <pc:sldMkLst>
          <pc:docMk/>
          <pc:sldMk cId="785455264" sldId="546"/>
        </pc:sldMkLst>
      </pc:sldChg>
      <pc:sldChg chg="add">
        <pc:chgData name="Swenson, Jody" userId="f700768a-5749-4e0f-98d7-2b523cc7d418" providerId="ADAL" clId="{6714174C-0A02-4A59-8D3D-B40CFE8D5E3F}" dt="2023-05-05T02:41:40.189" v="714"/>
        <pc:sldMkLst>
          <pc:docMk/>
          <pc:sldMk cId="1581752477" sldId="547"/>
        </pc:sldMkLst>
      </pc:sldChg>
      <pc:sldChg chg="add del">
        <pc:chgData name="Swenson, Jody" userId="f700768a-5749-4e0f-98d7-2b523cc7d418" providerId="ADAL" clId="{6714174C-0A02-4A59-8D3D-B40CFE8D5E3F}" dt="2023-05-05T18:25:14.732" v="721" actId="47"/>
        <pc:sldMkLst>
          <pc:docMk/>
          <pc:sldMk cId="3833069944" sldId="548"/>
        </pc:sldMkLst>
      </pc:sldChg>
      <pc:sldChg chg="add">
        <pc:chgData name="Swenson, Jody" userId="f700768a-5749-4e0f-98d7-2b523cc7d418" providerId="ADAL" clId="{6714174C-0A02-4A59-8D3D-B40CFE8D5E3F}" dt="2023-05-05T18:25:10.459" v="720"/>
        <pc:sldMkLst>
          <pc:docMk/>
          <pc:sldMk cId="3249716817" sldId="549"/>
        </pc:sldMkLst>
      </pc:sldChg>
      <pc:sldChg chg="modSp add mod">
        <pc:chgData name="Swenson, Jody" userId="f700768a-5749-4e0f-98d7-2b523cc7d418" providerId="ADAL" clId="{6714174C-0A02-4A59-8D3D-B40CFE8D5E3F}" dt="2023-05-05T19:42:07.918" v="904" actId="255"/>
        <pc:sldMkLst>
          <pc:docMk/>
          <pc:sldMk cId="2985802035" sldId="550"/>
        </pc:sldMkLst>
      </pc:sldChg>
      <pc:sldChg chg="addSp modSp add mod modAnim">
        <pc:chgData name="Swenson, Jody" userId="f700768a-5749-4e0f-98d7-2b523cc7d418" providerId="ADAL" clId="{6714174C-0A02-4A59-8D3D-B40CFE8D5E3F}" dt="2023-05-05T19:41:12.565" v="898"/>
        <pc:sldMkLst>
          <pc:docMk/>
          <pc:sldMk cId="1948419639" sldId="551"/>
        </pc:sldMkLst>
      </pc:sldChg>
      <pc:sldChg chg="modSp add mod">
        <pc:chgData name="Swenson, Jody" userId="f700768a-5749-4e0f-98d7-2b523cc7d418" providerId="ADAL" clId="{6714174C-0A02-4A59-8D3D-B40CFE8D5E3F}" dt="2023-05-05T20:16:54.666" v="1052" actId="1037"/>
        <pc:sldMkLst>
          <pc:docMk/>
          <pc:sldMk cId="3294912112" sldId="552"/>
        </pc:sldMkLst>
      </pc:sldChg>
      <pc:sldChg chg="add del">
        <pc:chgData name="Swenson, Jody" userId="f700768a-5749-4e0f-98d7-2b523cc7d418" providerId="ADAL" clId="{6714174C-0A02-4A59-8D3D-B40CFE8D5E3F}" dt="2023-05-05T19:15:32.802" v="779"/>
        <pc:sldMkLst>
          <pc:docMk/>
          <pc:sldMk cId="3577595911" sldId="552"/>
        </pc:sldMkLst>
      </pc:sldChg>
      <pc:sldChg chg="add del">
        <pc:chgData name="Swenson, Jody" userId="f700768a-5749-4e0f-98d7-2b523cc7d418" providerId="ADAL" clId="{6714174C-0A02-4A59-8D3D-B40CFE8D5E3F}" dt="2023-05-05T19:15:32.802" v="779"/>
        <pc:sldMkLst>
          <pc:docMk/>
          <pc:sldMk cId="2639598817" sldId="553"/>
        </pc:sldMkLst>
      </pc:sldChg>
    </pc:docChg>
  </pc:docChgLst>
  <pc:docChgLst>
    <pc:chgData name="Jody Swenson" userId="f700768a-5749-4e0f-98d7-2b523cc7d418" providerId="ADAL" clId="{B1132B83-56D7-459D-9E7D-74B3BB444CB7}"/>
    <pc:docChg chg="modSld">
      <pc:chgData name="Jody Swenson" userId="f700768a-5749-4e0f-98d7-2b523cc7d418" providerId="ADAL" clId="{B1132B83-56D7-459D-9E7D-74B3BB444CB7}" dt="2021-05-06T21:10:39.987" v="20" actId="20577"/>
      <pc:docMkLst>
        <pc:docMk/>
      </pc:docMkLst>
      <pc:sldChg chg="modSp">
        <pc:chgData name="Jody Swenson" userId="f700768a-5749-4e0f-98d7-2b523cc7d418" providerId="ADAL" clId="{B1132B83-56D7-459D-9E7D-74B3BB444CB7}" dt="2021-05-06T21:10:39.987" v="20" actId="20577"/>
        <pc:sldMkLst>
          <pc:docMk/>
          <pc:sldMk cId="282735017" sldId="352"/>
        </pc:sldMkLst>
      </pc:sldChg>
    </pc:docChg>
  </pc:docChgLst>
  <pc:docChgLst>
    <pc:chgData name="Swenson, Jody" userId="f700768a-5749-4e0f-98d7-2b523cc7d418" providerId="ADAL" clId="{78BF04D9-3BD6-45A7-B9F3-03B130CEFA3D}"/>
    <pc:docChg chg="custSel addSld modSld">
      <pc:chgData name="Swenson, Jody" userId="f700768a-5749-4e0f-98d7-2b523cc7d418" providerId="ADAL" clId="{78BF04D9-3BD6-45A7-B9F3-03B130CEFA3D}" dt="2021-05-10T22:32:37.590" v="957"/>
      <pc:docMkLst>
        <pc:docMk/>
      </pc:docMkLst>
      <pc:sldChg chg="addSp modSp mod modAnim">
        <pc:chgData name="Swenson, Jody" userId="f700768a-5749-4e0f-98d7-2b523cc7d418" providerId="ADAL" clId="{78BF04D9-3BD6-45A7-B9F3-03B130CEFA3D}" dt="2021-05-04T23:53:11.908" v="385" actId="1076"/>
        <pc:sldMkLst>
          <pc:docMk/>
          <pc:sldMk cId="315395191" sldId="332"/>
        </pc:sldMkLst>
      </pc:sldChg>
      <pc:sldChg chg="addSp delSp modSp mod delAnim modAnim">
        <pc:chgData name="Swenson, Jody" userId="f700768a-5749-4e0f-98d7-2b523cc7d418" providerId="ADAL" clId="{78BF04D9-3BD6-45A7-B9F3-03B130CEFA3D}" dt="2021-05-06T22:44:02.245" v="645" actId="21"/>
        <pc:sldMkLst>
          <pc:docMk/>
          <pc:sldMk cId="3157609191" sldId="345"/>
        </pc:sldMkLst>
      </pc:sldChg>
      <pc:sldChg chg="addSp delSp modSp mod delAnim modAnim">
        <pc:chgData name="Swenson, Jody" userId="f700768a-5749-4e0f-98d7-2b523cc7d418" providerId="ADAL" clId="{78BF04D9-3BD6-45A7-B9F3-03B130CEFA3D}" dt="2021-05-06T22:44:28.418" v="647" actId="1076"/>
        <pc:sldMkLst>
          <pc:docMk/>
          <pc:sldMk cId="1999350880" sldId="347"/>
        </pc:sldMkLst>
      </pc:sldChg>
      <pc:sldChg chg="modSp modAnim">
        <pc:chgData name="Swenson, Jody" userId="f700768a-5749-4e0f-98d7-2b523cc7d418" providerId="ADAL" clId="{78BF04D9-3BD6-45A7-B9F3-03B130CEFA3D}" dt="2021-05-04T23:46:31.417" v="379"/>
        <pc:sldMkLst>
          <pc:docMk/>
          <pc:sldMk cId="564063558" sldId="354"/>
        </pc:sldMkLst>
      </pc:sldChg>
      <pc:sldChg chg="addSp modSp mod modAnim">
        <pc:chgData name="Swenson, Jody" userId="f700768a-5749-4e0f-98d7-2b523cc7d418" providerId="ADAL" clId="{78BF04D9-3BD6-45A7-B9F3-03B130CEFA3D}" dt="2021-05-04T23:32:55.154" v="98"/>
        <pc:sldMkLst>
          <pc:docMk/>
          <pc:sldMk cId="2275477442" sldId="363"/>
        </pc:sldMkLst>
      </pc:sldChg>
      <pc:sldChg chg="modSp">
        <pc:chgData name="Swenson, Jody" userId="f700768a-5749-4e0f-98d7-2b523cc7d418" providerId="ADAL" clId="{78BF04D9-3BD6-45A7-B9F3-03B130CEFA3D}" dt="2021-05-04T23:49:31.885" v="382" actId="20577"/>
        <pc:sldMkLst>
          <pc:docMk/>
          <pc:sldMk cId="3089632227" sldId="484"/>
        </pc:sldMkLst>
      </pc:sldChg>
      <pc:sldChg chg="addSp delSp modSp mod">
        <pc:chgData name="Swenson, Jody" userId="f700768a-5749-4e0f-98d7-2b523cc7d418" providerId="ADAL" clId="{78BF04D9-3BD6-45A7-B9F3-03B130CEFA3D}" dt="2021-04-23T18:33:19.614" v="63" actId="1037"/>
        <pc:sldMkLst>
          <pc:docMk/>
          <pc:sldMk cId="2229682675" sldId="514"/>
        </pc:sldMkLst>
      </pc:sldChg>
      <pc:sldChg chg="addSp delSp modSp mod delAnim modAnim">
        <pc:chgData name="Swenson, Jody" userId="f700768a-5749-4e0f-98d7-2b523cc7d418" providerId="ADAL" clId="{78BF04D9-3BD6-45A7-B9F3-03B130CEFA3D}" dt="2021-05-04T23:51:55.298" v="383" actId="21"/>
        <pc:sldMkLst>
          <pc:docMk/>
          <pc:sldMk cId="1694895866" sldId="516"/>
        </pc:sldMkLst>
      </pc:sldChg>
      <pc:sldChg chg="modSp mod modAnim">
        <pc:chgData name="Swenson, Jody" userId="f700768a-5749-4e0f-98d7-2b523cc7d418" providerId="ADAL" clId="{78BF04D9-3BD6-45A7-B9F3-03B130CEFA3D}" dt="2021-05-06T22:54:27.394" v="705"/>
        <pc:sldMkLst>
          <pc:docMk/>
          <pc:sldMk cId="3952038980" sldId="521"/>
        </pc:sldMkLst>
      </pc:sldChg>
      <pc:sldChg chg="modSp">
        <pc:chgData name="Swenson, Jody" userId="f700768a-5749-4e0f-98d7-2b523cc7d418" providerId="ADAL" clId="{78BF04D9-3BD6-45A7-B9F3-03B130CEFA3D}" dt="2021-05-04T23:48:27.381" v="380" actId="20577"/>
        <pc:sldMkLst>
          <pc:docMk/>
          <pc:sldMk cId="2867679410" sldId="523"/>
        </pc:sldMkLst>
      </pc:sldChg>
      <pc:sldChg chg="modSp add mod modAnim">
        <pc:chgData name="Swenson, Jody" userId="f700768a-5749-4e0f-98d7-2b523cc7d418" providerId="ADAL" clId="{78BF04D9-3BD6-45A7-B9F3-03B130CEFA3D}" dt="2021-05-06T04:04:12.027" v="642"/>
        <pc:sldMkLst>
          <pc:docMk/>
          <pc:sldMk cId="2289654720" sldId="524"/>
        </pc:sldMkLst>
      </pc:sldChg>
      <pc:sldChg chg="addSp modSp add mod modAnim">
        <pc:chgData name="Swenson, Jody" userId="f700768a-5749-4e0f-98d7-2b523cc7d418" providerId="ADAL" clId="{78BF04D9-3BD6-45A7-B9F3-03B130CEFA3D}" dt="2021-05-10T22:32:37.590" v="957"/>
        <pc:sldMkLst>
          <pc:docMk/>
          <pc:sldMk cId="1017346624" sldId="525"/>
        </pc:sldMkLst>
      </pc:sldChg>
    </pc:docChg>
  </pc:docChgLst>
  <pc:docChgLst>
    <pc:chgData name="Swenson, Jody" userId="f700768a-5749-4e0f-98d7-2b523cc7d418" providerId="ADAL" clId="{C437C988-78D6-4C11-809E-7579A092307A}"/>
    <pc:docChg chg="modSld">
      <pc:chgData name="Swenson, Jody" userId="f700768a-5749-4e0f-98d7-2b523cc7d418" providerId="ADAL" clId="{C437C988-78D6-4C11-809E-7579A092307A}" dt="2025-10-07T20:04:32.495" v="0" actId="20577"/>
      <pc:docMkLst>
        <pc:docMk/>
      </pc:docMkLst>
      <pc:sldChg chg="modSp modAnim">
        <pc:chgData name="Swenson, Jody" userId="f700768a-5749-4e0f-98d7-2b523cc7d418" providerId="ADAL" clId="{C437C988-78D6-4C11-809E-7579A092307A}" dt="2025-10-07T20:04:32.495" v="0" actId="20577"/>
        <pc:sldMkLst>
          <pc:docMk/>
          <pc:sldMk cId="3574667912" sldId="553"/>
        </pc:sldMkLst>
        <pc:spChg chg="mod">
          <ac:chgData name="Swenson, Jody" userId="f700768a-5749-4e0f-98d7-2b523cc7d418" providerId="ADAL" clId="{C437C988-78D6-4C11-809E-7579A092307A}" dt="2025-10-07T20:04:32.495" v="0" actId="20577"/>
          <ac:spMkLst>
            <pc:docMk/>
            <pc:sldMk cId="3574667912" sldId="553"/>
            <ac:spMk id="4" creationId="{00000000-0000-0000-0000-000000000000}"/>
          </ac:spMkLst>
        </pc:spChg>
      </pc:sldChg>
    </pc:docChg>
  </pc:docChgLst>
  <pc:docChgLst>
    <pc:chgData name="Swenson, Jody" userId="f700768a-5749-4e0f-98d7-2b523cc7d418" providerId="ADAL" clId="{DAD9F195-8175-49C6-A57B-CAAFE5C92DC0}"/>
    <pc:docChg chg="delSld">
      <pc:chgData name="Swenson, Jody" userId="f700768a-5749-4e0f-98d7-2b523cc7d418" providerId="ADAL" clId="{DAD9F195-8175-49C6-A57B-CAAFE5C92DC0}" dt="2021-03-09T01:48:50.919" v="0" actId="47"/>
      <pc:docMkLst>
        <pc:docMk/>
      </pc:docMkLst>
      <pc:sldChg chg="del">
        <pc:chgData name="Swenson, Jody" userId="f700768a-5749-4e0f-98d7-2b523cc7d418" providerId="ADAL" clId="{DAD9F195-8175-49C6-A57B-CAAFE5C92DC0}" dt="2021-03-09T01:48:50.919" v="0" actId="47"/>
        <pc:sldMkLst>
          <pc:docMk/>
          <pc:sldMk cId="858473112" sldId="329"/>
        </pc:sldMkLst>
      </pc:sldChg>
      <pc:sldChg chg="del">
        <pc:chgData name="Swenson, Jody" userId="f700768a-5749-4e0f-98d7-2b523cc7d418" providerId="ADAL" clId="{DAD9F195-8175-49C6-A57B-CAAFE5C92DC0}" dt="2021-03-09T01:48:50.919" v="0" actId="47"/>
        <pc:sldMkLst>
          <pc:docMk/>
          <pc:sldMk cId="2914246854" sldId="360"/>
        </pc:sldMkLst>
      </pc:sldChg>
      <pc:sldChg chg="del">
        <pc:chgData name="Swenson, Jody" userId="f700768a-5749-4e0f-98d7-2b523cc7d418" providerId="ADAL" clId="{DAD9F195-8175-49C6-A57B-CAAFE5C92DC0}" dt="2021-03-09T01:48:50.919" v="0" actId="47"/>
        <pc:sldMkLst>
          <pc:docMk/>
          <pc:sldMk cId="230772104" sldId="361"/>
        </pc:sldMkLst>
      </pc:sldChg>
    </pc:docChg>
  </pc:docChgLst>
  <pc:docChgLst>
    <pc:chgData name="Swenson, Jody" userId="f700768a-5749-4e0f-98d7-2b523cc7d418" providerId="ADAL" clId="{FCBAEA13-C5D5-4AE5-8515-53C632FDC93F}"/>
    <pc:docChg chg="addSld delSld modSld">
      <pc:chgData name="Swenson, Jody" userId="f700768a-5749-4e0f-98d7-2b523cc7d418" providerId="ADAL" clId="{FCBAEA13-C5D5-4AE5-8515-53C632FDC93F}" dt="2024-08-30T00:34:16.882" v="149" actId="1038"/>
      <pc:docMkLst>
        <pc:docMk/>
      </pc:docMkLst>
      <pc:sldChg chg="del">
        <pc:chgData name="Swenson, Jody" userId="f700768a-5749-4e0f-98d7-2b523cc7d418" providerId="ADAL" clId="{FCBAEA13-C5D5-4AE5-8515-53C632FDC93F}" dt="2024-08-30T00:17:45.099" v="27" actId="47"/>
        <pc:sldMkLst>
          <pc:docMk/>
          <pc:sldMk cId="1340873565" sldId="339"/>
        </pc:sldMkLst>
      </pc:sldChg>
      <pc:sldChg chg="modSp mod modAnim">
        <pc:chgData name="Swenson, Jody" userId="f700768a-5749-4e0f-98d7-2b523cc7d418" providerId="ADAL" clId="{FCBAEA13-C5D5-4AE5-8515-53C632FDC93F}" dt="2024-08-30T00:34:16.882" v="149" actId="1038"/>
        <pc:sldMkLst>
          <pc:docMk/>
          <pc:sldMk cId="331967760" sldId="344"/>
        </pc:sldMkLst>
      </pc:sldChg>
      <pc:sldChg chg="modSp">
        <pc:chgData name="Swenson, Jody" userId="f700768a-5749-4e0f-98d7-2b523cc7d418" providerId="ADAL" clId="{FCBAEA13-C5D5-4AE5-8515-53C632FDC93F}" dt="2024-08-29T23:48:05.878" v="25" actId="20577"/>
        <pc:sldMkLst>
          <pc:docMk/>
          <pc:sldMk cId="3157609191" sldId="345"/>
        </pc:sldMkLst>
      </pc:sldChg>
      <pc:sldChg chg="add">
        <pc:chgData name="Swenson, Jody" userId="f700768a-5749-4e0f-98d7-2b523cc7d418" providerId="ADAL" clId="{FCBAEA13-C5D5-4AE5-8515-53C632FDC93F}" dt="2024-08-30T00:17:37.447" v="26"/>
        <pc:sldMkLst>
          <pc:docMk/>
          <pc:sldMk cId="3574667912" sldId="553"/>
        </pc:sldMkLst>
      </pc:sldChg>
    </pc:docChg>
  </pc:docChgLst>
  <pc:docChgLst>
    <pc:chgData name="Swenson, Jody" userId="f700768a-5749-4e0f-98d7-2b523cc7d418" providerId="ADAL" clId="{7E1FF58D-C638-4E39-A314-10F043CDAAA6}"/>
    <pc:docChg chg="modSld">
      <pc:chgData name="Swenson, Jody" userId="f700768a-5749-4e0f-98d7-2b523cc7d418" providerId="ADAL" clId="{7E1FF58D-C638-4E39-A314-10F043CDAAA6}" dt="2021-09-30T20:05:31.450" v="2" actId="20577"/>
      <pc:docMkLst>
        <pc:docMk/>
      </pc:docMkLst>
      <pc:sldChg chg="modSp modAnim">
        <pc:chgData name="Swenson, Jody" userId="f700768a-5749-4e0f-98d7-2b523cc7d418" providerId="ADAL" clId="{7E1FF58D-C638-4E39-A314-10F043CDAAA6}" dt="2021-09-30T19:29:45.436" v="1" actId="20577"/>
        <pc:sldMkLst>
          <pc:docMk/>
          <pc:sldMk cId="1340873565" sldId="339"/>
        </pc:sldMkLst>
      </pc:sldChg>
      <pc:sldChg chg="modSp mod">
        <pc:chgData name="Swenson, Jody" userId="f700768a-5749-4e0f-98d7-2b523cc7d418" providerId="ADAL" clId="{7E1FF58D-C638-4E39-A314-10F043CDAAA6}" dt="2021-09-30T20:05:31.450" v="2" actId="20577"/>
        <pc:sldMkLst>
          <pc:docMk/>
          <pc:sldMk cId="1945664844" sldId="480"/>
        </pc:sldMkLst>
      </pc:sldChg>
    </pc:docChg>
  </pc:docChgLst>
  <pc:docChgLst>
    <pc:chgData name="Swenson, Jody" userId="f700768a-5749-4e0f-98d7-2b523cc7d418" providerId="ADAL" clId="{0D460D9F-28C3-4100-A34E-1A156B7D7FE0}"/>
    <pc:docChg chg="undo custSel modSld sldOrd">
      <pc:chgData name="Swenson, Jody" userId="f700768a-5749-4e0f-98d7-2b523cc7d418" providerId="ADAL" clId="{0D460D9F-28C3-4100-A34E-1A156B7D7FE0}" dt="2023-10-05T21:32:49.342" v="57" actId="20578"/>
      <pc:docMkLst>
        <pc:docMk/>
      </pc:docMkLst>
      <pc:sldChg chg="modSp">
        <pc:chgData name="Swenson, Jody" userId="f700768a-5749-4e0f-98d7-2b523cc7d418" providerId="ADAL" clId="{0D460D9F-28C3-4100-A34E-1A156B7D7FE0}" dt="2023-10-03T21:44:45.675" v="53" actId="113"/>
        <pc:sldMkLst>
          <pc:docMk/>
          <pc:sldMk cId="564063558" sldId="354"/>
        </pc:sldMkLst>
      </pc:sldChg>
      <pc:sldChg chg="modSp">
        <pc:chgData name="Swenson, Jody" userId="f700768a-5749-4e0f-98d7-2b523cc7d418" providerId="ADAL" clId="{0D460D9F-28C3-4100-A34E-1A156B7D7FE0}" dt="2023-10-03T21:52:14.474" v="54" actId="20577"/>
        <pc:sldMkLst>
          <pc:docMk/>
          <pc:sldMk cId="2289654720" sldId="524"/>
        </pc:sldMkLst>
      </pc:sldChg>
      <pc:sldChg chg="modSp mod">
        <pc:chgData name="Swenson, Jody" userId="f700768a-5749-4e0f-98d7-2b523cc7d418" providerId="ADAL" clId="{0D460D9F-28C3-4100-A34E-1A156B7D7FE0}" dt="2023-09-28T22:25:17.443" v="35" actId="14100"/>
        <pc:sldMkLst>
          <pc:docMk/>
          <pc:sldMk cId="1172195538" sldId="530"/>
        </pc:sldMkLst>
      </pc:sldChg>
      <pc:sldChg chg="ord">
        <pc:chgData name="Swenson, Jody" userId="f700768a-5749-4e0f-98d7-2b523cc7d418" providerId="ADAL" clId="{0D460D9F-28C3-4100-A34E-1A156B7D7FE0}" dt="2023-10-05T21:32:49.342" v="57" actId="20578"/>
        <pc:sldMkLst>
          <pc:docMk/>
          <pc:sldMk cId="1893823519" sldId="532"/>
        </pc:sldMkLst>
      </pc:sldChg>
      <pc:sldChg chg="modSp mod">
        <pc:chgData name="Swenson, Jody" userId="f700768a-5749-4e0f-98d7-2b523cc7d418" providerId="ADAL" clId="{0D460D9F-28C3-4100-A34E-1A156B7D7FE0}" dt="2023-10-03T21:32:11.743" v="41" actId="14100"/>
        <pc:sldMkLst>
          <pc:docMk/>
          <pc:sldMk cId="1690047337" sldId="534"/>
        </pc:sldMkLst>
      </pc:sldChg>
      <pc:sldChg chg="modSp">
        <pc:chgData name="Swenson, Jody" userId="f700768a-5749-4e0f-98d7-2b523cc7d418" providerId="ADAL" clId="{0D460D9F-28C3-4100-A34E-1A156B7D7FE0}" dt="2023-09-28T22:23:52.654" v="30" actId="20577"/>
        <pc:sldMkLst>
          <pc:docMk/>
          <pc:sldMk cId="2345558504" sldId="542"/>
        </pc:sldMkLst>
      </pc:sldChg>
      <pc:sldChg chg="modSp modAnim">
        <pc:chgData name="Swenson, Jody" userId="f700768a-5749-4e0f-98d7-2b523cc7d418" providerId="ADAL" clId="{0D460D9F-28C3-4100-A34E-1A156B7D7FE0}" dt="2023-10-03T21:35:37.241" v="52"/>
        <pc:sldMkLst>
          <pc:docMk/>
          <pc:sldMk cId="3249716817" sldId="549"/>
        </pc:sldMkLst>
      </pc:sldChg>
    </pc:docChg>
  </pc:docChgLst>
  <pc:docChgLst>
    <pc:chgData name="Jody" userId="f700768a-5749-4e0f-98d7-2b523cc7d418" providerId="ADAL" clId="{F94F88AF-95BC-4DC1-8B1A-6FDCD88A5C85}"/>
    <pc:docChg chg="modSld">
      <pc:chgData name="Jody" userId="f700768a-5749-4e0f-98d7-2b523cc7d418" providerId="ADAL" clId="{F94F88AF-95BC-4DC1-8B1A-6FDCD88A5C85}" dt="2022-09-29T19:57:20.599" v="0" actId="20577"/>
      <pc:docMkLst>
        <pc:docMk/>
      </pc:docMkLst>
      <pc:sldChg chg="modSp">
        <pc:chgData name="Jody" userId="f700768a-5749-4e0f-98d7-2b523cc7d418" providerId="ADAL" clId="{F94F88AF-95BC-4DC1-8B1A-6FDCD88A5C85}" dt="2022-09-29T19:57:20.599" v="0" actId="20577"/>
        <pc:sldMkLst>
          <pc:docMk/>
          <pc:sldMk cId="2289654720" sldId="524"/>
        </pc:sldMkLst>
      </pc:sldChg>
    </pc:docChg>
  </pc:docChgLst>
  <pc:docChgLst>
    <pc:chgData name="Swenson, Jody" userId="f700768a-5749-4e0f-98d7-2b523cc7d418" providerId="ADAL" clId="{9F692926-E412-47F8-9A6B-346C84E087BB}"/>
    <pc:docChg chg="addSld delSld modSld">
      <pc:chgData name="Swenson, Jody" userId="f700768a-5749-4e0f-98d7-2b523cc7d418" providerId="ADAL" clId="{9F692926-E412-47F8-9A6B-346C84E087BB}" dt="2024-10-03T21:43:45.643" v="215"/>
      <pc:docMkLst>
        <pc:docMk/>
      </pc:docMkLst>
      <pc:sldChg chg="modAnim">
        <pc:chgData name="Swenson, Jody" userId="f700768a-5749-4e0f-98d7-2b523cc7d418" providerId="ADAL" clId="{9F692926-E412-47F8-9A6B-346C84E087BB}" dt="2024-10-03T21:35:13.450" v="116"/>
        <pc:sldMkLst>
          <pc:docMk/>
          <pc:sldMk cId="798177373" sldId="333"/>
        </pc:sldMkLst>
      </pc:sldChg>
      <pc:sldChg chg="addSp modSp mod modAnim">
        <pc:chgData name="Swenson, Jody" userId="f700768a-5749-4e0f-98d7-2b523cc7d418" providerId="ADAL" clId="{9F692926-E412-47F8-9A6B-346C84E087BB}" dt="2024-10-03T21:27:30.402" v="104"/>
        <pc:sldMkLst>
          <pc:docMk/>
          <pc:sldMk cId="1893634733" sldId="541"/>
        </pc:sldMkLst>
      </pc:sldChg>
      <pc:sldChg chg="addSp modSp mod modAnim">
        <pc:chgData name="Swenson, Jody" userId="f700768a-5749-4e0f-98d7-2b523cc7d418" providerId="ADAL" clId="{9F692926-E412-47F8-9A6B-346C84E087BB}" dt="2024-10-03T21:38:44.657" v="125"/>
        <pc:sldMkLst>
          <pc:docMk/>
          <pc:sldMk cId="2345558504" sldId="542"/>
        </pc:sldMkLst>
      </pc:sldChg>
      <pc:sldChg chg="del">
        <pc:chgData name="Swenson, Jody" userId="f700768a-5749-4e0f-98d7-2b523cc7d418" providerId="ADAL" clId="{9F692926-E412-47F8-9A6B-346C84E087BB}" dt="2024-10-01T21:37:18.016" v="1" actId="47"/>
        <pc:sldMkLst>
          <pc:docMk/>
          <pc:sldMk cId="785455264" sldId="546"/>
        </pc:sldMkLst>
      </pc:sldChg>
      <pc:sldChg chg="modSp mod modAnim">
        <pc:chgData name="Swenson, Jody" userId="f700768a-5749-4e0f-98d7-2b523cc7d418" providerId="ADAL" clId="{9F692926-E412-47F8-9A6B-346C84E087BB}" dt="2024-10-03T21:43:45.643" v="215"/>
        <pc:sldMkLst>
          <pc:docMk/>
          <pc:sldMk cId="1948419639" sldId="551"/>
        </pc:sldMkLst>
      </pc:sldChg>
      <pc:sldChg chg="add">
        <pc:chgData name="Swenson, Jody" userId="f700768a-5749-4e0f-98d7-2b523cc7d418" providerId="ADAL" clId="{9F692926-E412-47F8-9A6B-346C84E087BB}" dt="2024-10-01T21:37:12.243" v="0"/>
        <pc:sldMkLst>
          <pc:docMk/>
          <pc:sldMk cId="2120421946" sldId="554"/>
        </pc:sldMkLst>
      </pc:sldChg>
    </pc:docChg>
  </pc:docChgLst>
  <pc:docChgLst>
    <pc:chgData name="Swenson, Jody" userId="f700768a-5749-4e0f-98d7-2b523cc7d418" providerId="ADAL" clId="{08AFD2B4-9214-4AA2-8E15-51C095DF21DA}"/>
    <pc:docChg chg="modSld">
      <pc:chgData name="Swenson, Jody" userId="f700768a-5749-4e0f-98d7-2b523cc7d418" providerId="ADAL" clId="{08AFD2B4-9214-4AA2-8E15-51C095DF21DA}" dt="2020-09-29T21:40:14.054" v="9" actId="20577"/>
      <pc:docMkLst>
        <pc:docMk/>
      </pc:docMkLst>
      <pc:sldChg chg="modSp">
        <pc:chgData name="Swenson, Jody" userId="f700768a-5749-4e0f-98d7-2b523cc7d418" providerId="ADAL" clId="{08AFD2B4-9214-4AA2-8E15-51C095DF21DA}" dt="2020-09-29T21:38:48.259" v="1" actId="20577"/>
        <pc:sldMkLst>
          <pc:docMk/>
          <pc:sldMk cId="1340873565" sldId="339"/>
        </pc:sldMkLst>
      </pc:sldChg>
      <pc:sldChg chg="modSp">
        <pc:chgData name="Swenson, Jody" userId="f700768a-5749-4e0f-98d7-2b523cc7d418" providerId="ADAL" clId="{08AFD2B4-9214-4AA2-8E15-51C095DF21DA}" dt="2020-09-29T21:40:14.054" v="9" actId="20577"/>
        <pc:sldMkLst>
          <pc:docMk/>
          <pc:sldMk cId="3046900099" sldId="341"/>
        </pc:sldMkLst>
      </pc:sldChg>
      <pc:sldChg chg="modSp">
        <pc:chgData name="Swenson, Jody" userId="f700768a-5749-4e0f-98d7-2b523cc7d418" providerId="ADAL" clId="{08AFD2B4-9214-4AA2-8E15-51C095DF21DA}" dt="2020-09-29T21:40:02.693" v="7" actId="20577"/>
        <pc:sldMkLst>
          <pc:docMk/>
          <pc:sldMk cId="2275477442" sldId="363"/>
        </pc:sldMkLst>
      </pc:sldChg>
    </pc:docChg>
  </pc:docChgLst>
  <pc:docChgLst>
    <pc:chgData name="Swenson, Jody" userId="f700768a-5749-4e0f-98d7-2b523cc7d418" providerId="ADAL" clId="{F11F1C97-8464-4CA7-903D-618B1E9A0591}"/>
    <pc:docChg chg="custSel addSld delSld modSld">
      <pc:chgData name="Swenson, Jody" userId="f700768a-5749-4e0f-98d7-2b523cc7d418" providerId="ADAL" clId="{F11F1C97-8464-4CA7-903D-618B1E9A0591}" dt="2022-05-20T02:06:39.689" v="177" actId="47"/>
      <pc:docMkLst>
        <pc:docMk/>
      </pc:docMkLst>
      <pc:sldChg chg="modSp modAnim">
        <pc:chgData name="Swenson, Jody" userId="f700768a-5749-4e0f-98d7-2b523cc7d418" providerId="ADAL" clId="{F11F1C97-8464-4CA7-903D-618B1E9A0591}" dt="2022-05-03T21:16:30.636" v="88"/>
        <pc:sldMkLst>
          <pc:docMk/>
          <pc:sldMk cId="4284446765" sldId="330"/>
        </pc:sldMkLst>
      </pc:sldChg>
      <pc:sldChg chg="modSp modAnim">
        <pc:chgData name="Swenson, Jody" userId="f700768a-5749-4e0f-98d7-2b523cc7d418" providerId="ADAL" clId="{F11F1C97-8464-4CA7-903D-618B1E9A0591}" dt="2022-05-03T21:30:55.665" v="146"/>
        <pc:sldMkLst>
          <pc:docMk/>
          <pc:sldMk cId="798177373" sldId="333"/>
        </pc:sldMkLst>
      </pc:sldChg>
      <pc:sldChg chg="modSp mod">
        <pc:chgData name="Swenson, Jody" userId="f700768a-5749-4e0f-98d7-2b523cc7d418" providerId="ADAL" clId="{F11F1C97-8464-4CA7-903D-618B1E9A0591}" dt="2022-05-03T21:19:41.328" v="94" actId="20577"/>
        <pc:sldMkLst>
          <pc:docMk/>
          <pc:sldMk cId="2490052530" sldId="336"/>
        </pc:sldMkLst>
      </pc:sldChg>
      <pc:sldChg chg="modAnim">
        <pc:chgData name="Swenson, Jody" userId="f700768a-5749-4e0f-98d7-2b523cc7d418" providerId="ADAL" clId="{F11F1C97-8464-4CA7-903D-618B1E9A0591}" dt="2022-05-03T21:22:26.318" v="102"/>
        <pc:sldMkLst>
          <pc:docMk/>
          <pc:sldMk cId="1340873565" sldId="339"/>
        </pc:sldMkLst>
      </pc:sldChg>
      <pc:sldChg chg="addSp delSp modSp mod">
        <pc:chgData name="Swenson, Jody" userId="f700768a-5749-4e0f-98d7-2b523cc7d418" providerId="ADAL" clId="{F11F1C97-8464-4CA7-903D-618B1E9A0591}" dt="2022-05-05T22:05:54.860" v="161" actId="1035"/>
        <pc:sldMkLst>
          <pc:docMk/>
          <pc:sldMk cId="3157609191" sldId="345"/>
        </pc:sldMkLst>
      </pc:sldChg>
      <pc:sldChg chg="modSp del mod">
        <pc:chgData name="Swenson, Jody" userId="f700768a-5749-4e0f-98d7-2b523cc7d418" providerId="ADAL" clId="{F11F1C97-8464-4CA7-903D-618B1E9A0591}" dt="2022-05-20T02:06:39.689" v="177" actId="47"/>
        <pc:sldMkLst>
          <pc:docMk/>
          <pc:sldMk cId="1999350880" sldId="347"/>
        </pc:sldMkLst>
      </pc:sldChg>
      <pc:sldChg chg="modSp modAnim">
        <pc:chgData name="Swenson, Jody" userId="f700768a-5749-4e0f-98d7-2b523cc7d418" providerId="ADAL" clId="{F11F1C97-8464-4CA7-903D-618B1E9A0591}" dt="2022-05-03T21:21:44.694" v="99"/>
        <pc:sldMkLst>
          <pc:docMk/>
          <pc:sldMk cId="1747751982" sldId="351"/>
        </pc:sldMkLst>
      </pc:sldChg>
      <pc:sldChg chg="modSp">
        <pc:chgData name="Swenson, Jody" userId="f700768a-5749-4e0f-98d7-2b523cc7d418" providerId="ADAL" clId="{F11F1C97-8464-4CA7-903D-618B1E9A0591}" dt="2022-05-03T21:17:53.286" v="92" actId="20577"/>
        <pc:sldMkLst>
          <pc:docMk/>
          <pc:sldMk cId="282735017" sldId="352"/>
        </pc:sldMkLst>
      </pc:sldChg>
      <pc:sldChg chg="modSp modAnim">
        <pc:chgData name="Swenson, Jody" userId="f700768a-5749-4e0f-98d7-2b523cc7d418" providerId="ADAL" clId="{F11F1C97-8464-4CA7-903D-618B1E9A0591}" dt="2022-05-03T21:24:57.263" v="106"/>
        <pc:sldMkLst>
          <pc:docMk/>
          <pc:sldMk cId="1989969423" sldId="353"/>
        </pc:sldMkLst>
      </pc:sldChg>
      <pc:sldChg chg="modSp modAnim">
        <pc:chgData name="Swenson, Jody" userId="f700768a-5749-4e0f-98d7-2b523cc7d418" providerId="ADAL" clId="{F11F1C97-8464-4CA7-903D-618B1E9A0591}" dt="2022-05-03T21:21:01.608" v="96"/>
        <pc:sldMkLst>
          <pc:docMk/>
          <pc:sldMk cId="1825798918" sldId="362"/>
        </pc:sldMkLst>
      </pc:sldChg>
      <pc:sldChg chg="modSp mod">
        <pc:chgData name="Swenson, Jody" userId="f700768a-5749-4e0f-98d7-2b523cc7d418" providerId="ADAL" clId="{F11F1C97-8464-4CA7-903D-618B1E9A0591}" dt="2022-04-24T00:24:44.748" v="6" actId="1076"/>
        <pc:sldMkLst>
          <pc:docMk/>
          <pc:sldMk cId="1945664844" sldId="480"/>
        </pc:sldMkLst>
      </pc:sldChg>
      <pc:sldChg chg="modSp mod">
        <pc:chgData name="Swenson, Jody" userId="f700768a-5749-4e0f-98d7-2b523cc7d418" providerId="ADAL" clId="{F11F1C97-8464-4CA7-903D-618B1E9A0591}" dt="2022-05-05T22:08:41.564" v="163" actId="1076"/>
        <pc:sldMkLst>
          <pc:docMk/>
          <pc:sldMk cId="1193140518" sldId="481"/>
        </pc:sldMkLst>
      </pc:sldChg>
      <pc:sldChg chg="modSp mod">
        <pc:chgData name="Swenson, Jody" userId="f700768a-5749-4e0f-98d7-2b523cc7d418" providerId="ADAL" clId="{F11F1C97-8464-4CA7-903D-618B1E9A0591}" dt="2022-04-24T00:46:09.090" v="83" actId="1037"/>
        <pc:sldMkLst>
          <pc:docMk/>
          <pc:sldMk cId="2229682675" sldId="514"/>
        </pc:sldMkLst>
      </pc:sldChg>
      <pc:sldChg chg="modSp">
        <pc:chgData name="Swenson, Jody" userId="f700768a-5749-4e0f-98d7-2b523cc7d418" providerId="ADAL" clId="{F11F1C97-8464-4CA7-903D-618B1E9A0591}" dt="2022-05-05T18:11:54.491" v="147" actId="20577"/>
        <pc:sldMkLst>
          <pc:docMk/>
          <pc:sldMk cId="2561601922" sldId="515"/>
        </pc:sldMkLst>
      </pc:sldChg>
      <pc:sldChg chg="modSp">
        <pc:chgData name="Swenson, Jody" userId="f700768a-5749-4e0f-98d7-2b523cc7d418" providerId="ADAL" clId="{F11F1C97-8464-4CA7-903D-618B1E9A0591}" dt="2022-05-05T18:26:26.006" v="149" actId="20577"/>
        <pc:sldMkLst>
          <pc:docMk/>
          <pc:sldMk cId="1694895866" sldId="516"/>
        </pc:sldMkLst>
      </pc:sldChg>
      <pc:sldChg chg="addSp delSp modSp mod">
        <pc:chgData name="Swenson, Jody" userId="f700768a-5749-4e0f-98d7-2b523cc7d418" providerId="ADAL" clId="{F11F1C97-8464-4CA7-903D-618B1E9A0591}" dt="2022-05-10T17:12:59.315" v="174" actId="962"/>
        <pc:sldMkLst>
          <pc:docMk/>
          <pc:sldMk cId="1017346624" sldId="525"/>
        </pc:sldMkLst>
      </pc:sldChg>
      <pc:sldChg chg="add">
        <pc:chgData name="Swenson, Jody" userId="f700768a-5749-4e0f-98d7-2b523cc7d418" providerId="ADAL" clId="{F11F1C97-8464-4CA7-903D-618B1E9A0591}" dt="2022-05-20T02:06:36.348" v="176"/>
        <pc:sldMkLst>
          <pc:docMk/>
          <pc:sldMk cId="870186159" sldId="526"/>
        </pc:sldMkLst>
      </pc:sldChg>
      <pc:sldChg chg="add">
        <pc:chgData name="Swenson, Jody" userId="f700768a-5749-4e0f-98d7-2b523cc7d418" providerId="ADAL" clId="{F11F1C97-8464-4CA7-903D-618B1E9A0591}" dt="2022-05-20T02:06:36.348" v="176"/>
        <pc:sldMkLst>
          <pc:docMk/>
          <pc:sldMk cId="2457860575" sldId="527"/>
        </pc:sldMkLst>
      </pc:sldChg>
    </pc:docChg>
  </pc:docChgLst>
  <pc:docChgLst>
    <pc:chgData name="Swenson, Jody" userId="f700768a-5749-4e0f-98d7-2b523cc7d418" providerId="ADAL" clId="{87884652-667B-4431-986B-0C66D01CE165}"/>
    <pc:docChg chg="addSld delSld modSld">
      <pc:chgData name="Swenson, Jody" userId="f700768a-5749-4e0f-98d7-2b523cc7d418" providerId="ADAL" clId="{87884652-667B-4431-986B-0C66D01CE165}" dt="2025-05-13T21:17:16.085" v="129" actId="1036"/>
      <pc:docMkLst>
        <pc:docMk/>
      </pc:docMkLst>
      <pc:sldChg chg="modSp mod">
        <pc:chgData name="Swenson, Jody" userId="f700768a-5749-4e0f-98d7-2b523cc7d418" providerId="ADAL" clId="{87884652-667B-4431-986B-0C66D01CE165}" dt="2025-05-13T21:16:51.972" v="124" actId="1037"/>
        <pc:sldMkLst>
          <pc:docMk/>
          <pc:sldMk cId="1970317332" sldId="520"/>
        </pc:sldMkLst>
      </pc:sldChg>
      <pc:sldChg chg="addSp modSp mod modAnim">
        <pc:chgData name="Swenson, Jody" userId="f700768a-5749-4e0f-98d7-2b523cc7d418" providerId="ADAL" clId="{87884652-667B-4431-986B-0C66D01CE165}" dt="2025-05-13T21:15:41.598" v="87"/>
        <pc:sldMkLst>
          <pc:docMk/>
          <pc:sldMk cId="224524573" sldId="522"/>
        </pc:sldMkLst>
      </pc:sldChg>
      <pc:sldChg chg="modSp del modAnim">
        <pc:chgData name="Swenson, Jody" userId="f700768a-5749-4e0f-98d7-2b523cc7d418" providerId="ADAL" clId="{87884652-667B-4431-986B-0C66D01CE165}" dt="2025-05-13T21:08:53.081" v="45" actId="47"/>
        <pc:sldMkLst>
          <pc:docMk/>
          <pc:sldMk cId="1017346624" sldId="525"/>
        </pc:sldMkLst>
      </pc:sldChg>
      <pc:sldChg chg="modSp mod">
        <pc:chgData name="Swenson, Jody" userId="f700768a-5749-4e0f-98d7-2b523cc7d418" providerId="ADAL" clId="{87884652-667B-4431-986B-0C66D01CE165}" dt="2025-05-06T21:32:25.193" v="22" actId="1037"/>
        <pc:sldMkLst>
          <pc:docMk/>
          <pc:sldMk cId="1893634733" sldId="541"/>
        </pc:sldMkLst>
      </pc:sldChg>
      <pc:sldChg chg="modSp">
        <pc:chgData name="Swenson, Jody" userId="f700768a-5749-4e0f-98d7-2b523cc7d418" providerId="ADAL" clId="{87884652-667B-4431-986B-0C66D01CE165}" dt="2025-05-06T21:27:42.386" v="1" actId="20577"/>
        <pc:sldMkLst>
          <pc:docMk/>
          <pc:sldMk cId="1581752477" sldId="547"/>
        </pc:sldMkLst>
      </pc:sldChg>
      <pc:sldChg chg="modSp add mod">
        <pc:chgData name="Swenson, Jody" userId="f700768a-5749-4e0f-98d7-2b523cc7d418" providerId="ADAL" clId="{87884652-667B-4431-986B-0C66D01CE165}" dt="2025-05-13T21:17:16.085" v="129" actId="1036"/>
        <pc:sldMkLst>
          <pc:docMk/>
          <pc:sldMk cId="3545828459" sldId="555"/>
        </pc:sldMkLst>
      </pc:sldChg>
    </pc:docChg>
  </pc:docChgLst>
  <pc:docChgLst>
    <pc:chgData name="Swenson, Jody" userId="f700768a-5749-4e0f-98d7-2b523cc7d418" providerId="ADAL" clId="{CA8AE645-F701-43AF-90DC-97DD22310232}"/>
    <pc:docChg chg="modSld">
      <pc:chgData name="Swenson, Jody" userId="f700768a-5749-4e0f-98d7-2b523cc7d418" providerId="ADAL" clId="{CA8AE645-F701-43AF-90DC-97DD22310232}" dt="2024-10-08T19:49:16.941" v="0" actId="20577"/>
      <pc:docMkLst>
        <pc:docMk/>
      </pc:docMkLst>
      <pc:sldChg chg="modSp">
        <pc:chgData name="Swenson, Jody" userId="f700768a-5749-4e0f-98d7-2b523cc7d418" providerId="ADAL" clId="{CA8AE645-F701-43AF-90DC-97DD22310232}" dt="2024-10-08T19:49:16.941" v="0" actId="20577"/>
        <pc:sldMkLst>
          <pc:docMk/>
          <pc:sldMk cId="1948419639" sldId="55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72EBD5-B57F-4748-89CA-12A536AA2D6A}" type="slidenum">
              <a:rPr lang="en-US" smtClean="0"/>
              <a:t>‹#›</a:t>
            </a:fld>
            <a:endParaRPr lang="en-US"/>
          </a:p>
        </p:txBody>
      </p:sp>
    </p:spTree>
    <p:extLst>
      <p:ext uri="{BB962C8B-B14F-4D97-AF65-F5344CB8AC3E}">
        <p14:creationId xmlns:p14="http://schemas.microsoft.com/office/powerpoint/2010/main" val="138240077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03T21:59:56.555"/>
    </inkml:context>
    <inkml:brush xml:id="br0">
      <inkml:brushProperty name="width" value="0.4" units="cm"/>
      <inkml:brushProperty name="height" value="0.8" units="cm"/>
      <inkml:brushProperty name="color" value="#FF8517"/>
      <inkml:brushProperty name="tip" value="rectangle"/>
      <inkml:brushProperty name="rasterOp" value="maskPen"/>
      <inkml:brushProperty name="ignorePressure" value="1"/>
    </inkml:brush>
  </inkml:definitions>
  <inkml:trace contextRef="#ctx0" brushRef="#br0">27 1,'-3'3,"0"1,0 0,1 0,0 0,0 0,0 0,0 1,0-1,1 1,0-1,0 1,0-1,1 7,-2 68,3-55,-1 8,-1 3,2-1,1 1,12 58,42 86,-46-148,4 17,11 69,-8-32,7 84,-4-66,-11-54,1-1,18 48,-18-61,-1-1,-2 2,-1-1,-2 1,-1 0,-3 51,1-64,1 0,9 38,0 1,-2-9,22 70,-1-7,43 150,0 0,-1-2,-2 27,-55-242,3-1,42 82,12 30,25 58,-10-13,-78-184,-1-7,0-1,0 0,1 0,1 0,0-1,14 12,-11-9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04T00:00:47.159"/>
    </inkml:context>
    <inkml:brush xml:id="br0">
      <inkml:brushProperty name="width" value="0.3" units="cm"/>
      <inkml:brushProperty name="height" value="0.6" units="cm"/>
      <inkml:brushProperty name="color" value="#B2B2B2"/>
      <inkml:brushProperty name="tip" value="rectangle"/>
      <inkml:brushProperty name="rasterOp" value="maskPen"/>
      <inkml:brushProperty name="ignorePressure" value="1"/>
    </inkml:brush>
  </inkml:definitions>
  <inkml:trace contextRef="#ctx0" brushRef="#br0">2 5056,'0'-42,"-1"-7,2-1,12-75,10-51,3-23,-5 61,-14 60,-6 54,1 1,6-32,15-77,22-125,-37 208,-5 26,2-1,0 1,11-26,-10 29,0-1,5-29,5-24,72-235,-4 63,-10 50,-25 74,-3-36,-7 19,3-23,-31 108,27-74,-25 86,12-58,1-8,-1 15,-15 48,22-53,70-175,9 9,-86 199,90-218,-73 193,-26 59,-1-1,10-35,-12 31,24-46,-29 63,-1 0,0-1,-1 1,5-40,-8 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03T22:01:16.296"/>
    </inkml:context>
    <inkml:brush xml:id="br0">
      <inkml:brushProperty name="width" value="0.4" units="cm"/>
      <inkml:brushProperty name="height" value="0.8" units="cm"/>
      <inkml:brushProperty name="color" value="#A2D762"/>
      <inkml:brushProperty name="tip" value="rectangle"/>
      <inkml:brushProperty name="rasterOp" value="maskPen"/>
      <inkml:brushProperty name="ignorePressure" value="1"/>
    </inkml:brush>
  </inkml:definitions>
  <inkml:trace contextRef="#ctx0" brushRef="#br0">59 0,'1'16,"1"-1,1 1,5 17,0 4,20 113,-17-91,-7-38,-1-1,2 25,-2-12,2 1,1-1,2 0,22 58,5 24,-27-84,-1-5,-1 0,-1 0,-1 0,0 32,-6 61,4 125,9-179,-6-47,-2-1,2 28,7 47,-7-66,2 49,-5-40,1-1,8 36,-8-57,2 32,-2 1,-2 61,-3-63,3 0,10 76,-3-58,-2 0,-4 1,-5 64,0-6,4-53,17 106,-11-100,-3 0,-7 81,1-28,2 1282,-2-1386,0 1,-7 29,-4 40,0 8,2-33,-19 97,13-88,-27 96,18-81,-8 16,-7 28,19-48,-6 40,20-88,-24 68,4-15,21-73,0-4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03T22:01:33.648"/>
    </inkml:context>
    <inkml:brush xml:id="br0">
      <inkml:brushProperty name="width" value="0.4" units="cm"/>
      <inkml:brushProperty name="height" value="0.8" units="cm"/>
      <inkml:brushProperty name="color" value="#D9AEFF"/>
      <inkml:brushProperty name="tip" value="rectangle"/>
      <inkml:brushProperty name="rasterOp" value="maskPen"/>
      <inkml:brushProperty name="ignorePressure" value="1"/>
    </inkml:brush>
  </inkml:definitions>
  <inkml:trace contextRef="#ctx0" brushRef="#br0">51 0,'1'1,"0"-1,0 1,0-1,0 1,0 0,0-1,0 1,0 0,0 0,0 0,0-1,0 1,-1 0,1 0,0 0,-1 0,1 1,-1-1,1 0,0 1,11 31,-9-24,4 11,-2 0,5 31,0 1,-6-25,-1 0,-1 0,-2 47,-1-46,1 0,1 0,7 39,47 184,-45-209,-2-1,-1 1,-3 1,0 45,-5-47,0-7,1 1,1 0,2-1,9 39,-6-44,3 57,1 7,1 25,-9-78,9 44,-6-45,2 57,-6-57,10 53,-1 13,-9-76,2 0,7 36,-3-24,-2 1,-2-1,-2 1,-5 48,2 7,2 919,-2-988,-9 53,6-53,-3 53,7 1,-15 102,11-132,2 1,6 64,-1-55,-5 64,-2-95,-14 52,12-57,1 0,-5 50,10 52,2-79,-2 0,-13 89,9-105,2 0,0 33,3-36,-2 0,-9 53,6-58,2 0,-1 33,4-40,-1 1,-1-1,0 0,-1 0,-2 0,-6 20,-2-11,-2-1,-31 46,25-43,-22 43,38-61,0 0,1 0,0 1,0-1,1 1,1 0,-2 23,4 35,0-49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04T00:21:42.908"/>
    </inkml:context>
    <inkml:brush xml:id="br0">
      <inkml:brushProperty name="width" value="0.3" units="cm"/>
      <inkml:brushProperty name="height" value="0.6" units="cm"/>
      <inkml:brushProperty name="color" value="#FF8517"/>
      <inkml:brushProperty name="tip" value="rectangle"/>
      <inkml:brushProperty name="rasterOp" value="maskPen"/>
      <inkml:brushProperty name="ignorePressure" value="1"/>
    </inkml:brush>
  </inkml:definitions>
  <inkml:trace contextRef="#ctx0" brushRef="#br0">1 0,'0'5,"1"-1,0 0,0 0,0 0,1 1,-1-1,1 0,0-1,0 1,0 0,1 0,4 4,41 43,-34-37,344 348,-274-265,41 43,164 174,-142-163,37 23,-79-71,-21-20,231 190,-181-144,-115-112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DC20-05B4-4B58-AE71-FD5AB53FA393}"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ED805-E3C2-4102-B651-F9A8542A7155}" type="slidenum">
              <a:rPr lang="en-US" smtClean="0"/>
              <a:t>‹#›</a:t>
            </a:fld>
            <a:endParaRPr lang="en-US"/>
          </a:p>
        </p:txBody>
      </p:sp>
    </p:spTree>
    <p:extLst>
      <p:ext uri="{BB962C8B-B14F-4D97-AF65-F5344CB8AC3E}">
        <p14:creationId xmlns:p14="http://schemas.microsoft.com/office/powerpoint/2010/main" val="1568204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m7e.eecs.umich.edu/ulaby_modules_choice.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m7e.eecs.umich.edu/ulaby_modules_choice.html"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em7e.eecs.umich.edu/ulaby_modules_choice.html"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10/7/2025 4:08 PM</a:t>
            </a:fld>
            <a:endParaRPr lang="en-US" dirty="0">
              <a:solidFill>
                <a:prstClr val="black"/>
              </a:solidFill>
            </a:endParaRPr>
          </a:p>
        </p:txBody>
      </p:sp>
      <p:sp>
        <p:nvSpPr>
          <p:cNvPr id="6" name="Footer Placeholder 5"/>
          <p:cNvSpPr>
            <a:spLocks noGrp="1"/>
          </p:cNvSpPr>
          <p:nvPr>
            <p:ph type="ftr" sz="quarter" idx="12"/>
          </p:nvPr>
        </p:nvSpPr>
        <p:spPr>
          <a:xfrm>
            <a:off x="0" y="8685213"/>
            <a:ext cx="6172200" cy="457200"/>
          </a:xfrm>
        </p:spPr>
        <p:txBody>
          <a:bodyPr/>
          <a:lstStyle/>
          <a:p>
            <a:r>
              <a:rPr lang="en-US" sz="500" dirty="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rPr>
            </a:br>
            <a:r>
              <a:rPr lang="en-US" sz="500" dirty="0">
                <a:solidFill>
                  <a:srgbClr val="000000"/>
                </a:solidFill>
              </a:rPr>
              <a:t>MICROSOFT MAKES NO WARRANTIES, EXPRESS, IMPLIED OR STATUTORY, AS TO THE INFORMATION IN THIS PRESENTATION.</a:t>
            </a:r>
          </a:p>
          <a:p>
            <a:endParaRPr lang="en-US" sz="500" dirty="0">
              <a:solidFill>
                <a:prstClr val="black"/>
              </a:solidFill>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353014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 to web </a:t>
            </a:r>
            <a:r>
              <a:rPr lang="en-US" sz="1200" u="sng" kern="1200" dirty="0">
                <a:solidFill>
                  <a:schemeClr val="tx1"/>
                </a:solidFill>
                <a:effectLst/>
                <a:latin typeface="+mn-lt"/>
                <a:ea typeface="+mn-ea"/>
                <a:cs typeface="+mn-cs"/>
                <a:hlinkClick r:id="rId3"/>
              </a:rPr>
              <a:t>Fundamentals of Applied Electromagnetics</a:t>
            </a:r>
            <a:r>
              <a:rPr lang="en-US" sz="1200" kern="1200" dirty="0">
                <a:solidFill>
                  <a:schemeClr val="tx1"/>
                </a:solidFill>
                <a:effectLst/>
                <a:latin typeface="+mn-lt"/>
                <a:ea typeface="+mn-ea"/>
                <a:cs typeface="+mn-cs"/>
              </a:rPr>
              <a:t>  to download Interactive Modules available for the </a:t>
            </a:r>
            <a:r>
              <a:rPr lang="en-US" sz="1200" kern="1200" dirty="0" err="1">
                <a:solidFill>
                  <a:schemeClr val="tx1"/>
                </a:solidFill>
                <a:effectLst/>
                <a:latin typeface="+mn-lt"/>
                <a:ea typeface="+mn-ea"/>
                <a:cs typeface="+mn-cs"/>
              </a:rPr>
              <a:t>Ulaby</a:t>
            </a:r>
            <a:r>
              <a:rPr lang="en-US" sz="1200" kern="1200" dirty="0">
                <a:solidFill>
                  <a:schemeClr val="tx1"/>
                </a:solidFill>
                <a:effectLst/>
                <a:latin typeface="+mn-lt"/>
                <a:ea typeface="+mn-ea"/>
                <a:cs typeface="+mn-cs"/>
              </a:rPr>
              <a:t> – Fundamentals of Applied Electromagnetics text. Windows 10 has Java security issues that can be fixed as follows:</a:t>
            </a:r>
          </a:p>
          <a:p>
            <a:r>
              <a:rPr lang="en-US" dirty="0"/>
              <a:t>Java</a:t>
            </a:r>
            <a:r>
              <a:rPr lang="en-US" sz="1200" kern="1200" dirty="0">
                <a:solidFill>
                  <a:schemeClr val="tx1"/>
                </a:solidFill>
                <a:effectLst/>
                <a:latin typeface="+mn-lt"/>
                <a:ea typeface="+mn-ea"/>
                <a:cs typeface="+mn-cs"/>
              </a:rPr>
              <a:t> →</a:t>
            </a:r>
            <a:r>
              <a:rPr lang="en-US" dirty="0"/>
              <a:t> Java Security </a:t>
            </a:r>
            <a:r>
              <a:rPr lang="en-US" sz="1200" kern="1200" dirty="0">
                <a:solidFill>
                  <a:schemeClr val="tx1"/>
                </a:solidFill>
                <a:effectLst/>
                <a:latin typeface="+mn-lt"/>
                <a:ea typeface="+mn-ea"/>
                <a:cs typeface="+mn-cs"/>
              </a:rPr>
              <a:t>→</a:t>
            </a:r>
            <a:r>
              <a:rPr lang="en-US" dirty="0"/>
              <a:t> See Security Tab </a:t>
            </a:r>
            <a:r>
              <a:rPr lang="en-US" sz="1200" kern="1200" dirty="0">
                <a:solidFill>
                  <a:schemeClr val="tx1"/>
                </a:solidFill>
                <a:effectLst/>
                <a:latin typeface="+mn-lt"/>
                <a:ea typeface="+mn-ea"/>
                <a:cs typeface="+mn-cs"/>
              </a:rPr>
              <a:t>→</a:t>
            </a:r>
            <a:r>
              <a:rPr lang="en-US" dirty="0"/>
              <a:t> Exception Site List.   Add the following to the Exception Site List:    </a:t>
            </a:r>
            <a:r>
              <a:rPr lang="en-US" sz="1200" kern="1200" dirty="0">
                <a:solidFill>
                  <a:schemeClr val="tx1"/>
                </a:solidFill>
                <a:effectLst/>
                <a:latin typeface="+mn-lt"/>
                <a:ea typeface="+mn-ea"/>
                <a:cs typeface="+mn-cs"/>
              </a:rPr>
              <a:t>http://em7e.eecs.umich.edu.</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BED805-E3C2-4102-B651-F9A8542A71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1456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D115C9-E24C-4512-AA8B-319BB49F77B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663851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 to web </a:t>
            </a:r>
            <a:r>
              <a:rPr lang="en-US" sz="1200" u="sng" kern="1200" dirty="0">
                <a:solidFill>
                  <a:schemeClr val="tx1"/>
                </a:solidFill>
                <a:effectLst/>
                <a:latin typeface="+mn-lt"/>
                <a:ea typeface="+mn-ea"/>
                <a:cs typeface="+mn-cs"/>
                <a:hlinkClick r:id="rId3"/>
              </a:rPr>
              <a:t>Fundamentals of Applied Electromagnetics</a:t>
            </a:r>
            <a:r>
              <a:rPr lang="en-US" sz="1200" kern="1200" dirty="0">
                <a:solidFill>
                  <a:schemeClr val="tx1"/>
                </a:solidFill>
                <a:effectLst/>
                <a:latin typeface="+mn-lt"/>
                <a:ea typeface="+mn-ea"/>
                <a:cs typeface="+mn-cs"/>
              </a:rPr>
              <a:t>  to download Interactive Modules available for the </a:t>
            </a:r>
            <a:r>
              <a:rPr lang="en-US" sz="1200" kern="1200" dirty="0" err="1">
                <a:solidFill>
                  <a:schemeClr val="tx1"/>
                </a:solidFill>
                <a:effectLst/>
                <a:latin typeface="+mn-lt"/>
                <a:ea typeface="+mn-ea"/>
                <a:cs typeface="+mn-cs"/>
              </a:rPr>
              <a:t>Ulaby</a:t>
            </a:r>
            <a:r>
              <a:rPr lang="en-US" sz="1200" kern="1200" dirty="0">
                <a:solidFill>
                  <a:schemeClr val="tx1"/>
                </a:solidFill>
                <a:effectLst/>
                <a:latin typeface="+mn-lt"/>
                <a:ea typeface="+mn-ea"/>
                <a:cs typeface="+mn-cs"/>
              </a:rPr>
              <a:t> – Fundamentals of Applied Electromagnetics text. Windows 10 has Java security issues that can be fixed as follows:</a:t>
            </a:r>
          </a:p>
          <a:p>
            <a:r>
              <a:rPr lang="en-US" dirty="0"/>
              <a:t>Java</a:t>
            </a:r>
            <a:r>
              <a:rPr lang="en-US" sz="1200" kern="1200" dirty="0">
                <a:solidFill>
                  <a:schemeClr val="tx1"/>
                </a:solidFill>
                <a:effectLst/>
                <a:latin typeface="+mn-lt"/>
                <a:ea typeface="+mn-ea"/>
                <a:cs typeface="+mn-cs"/>
              </a:rPr>
              <a:t> →</a:t>
            </a:r>
            <a:r>
              <a:rPr lang="en-US" dirty="0"/>
              <a:t> Java Security </a:t>
            </a:r>
            <a:r>
              <a:rPr lang="en-US" sz="1200" kern="1200" dirty="0">
                <a:solidFill>
                  <a:schemeClr val="tx1"/>
                </a:solidFill>
                <a:effectLst/>
                <a:latin typeface="+mn-lt"/>
                <a:ea typeface="+mn-ea"/>
                <a:cs typeface="+mn-cs"/>
              </a:rPr>
              <a:t>→</a:t>
            </a:r>
            <a:r>
              <a:rPr lang="en-US" dirty="0"/>
              <a:t> See Security Tab </a:t>
            </a:r>
            <a:r>
              <a:rPr lang="en-US" sz="1200" kern="1200" dirty="0">
                <a:solidFill>
                  <a:schemeClr val="tx1"/>
                </a:solidFill>
                <a:effectLst/>
                <a:latin typeface="+mn-lt"/>
                <a:ea typeface="+mn-ea"/>
                <a:cs typeface="+mn-cs"/>
              </a:rPr>
              <a:t>→</a:t>
            </a:r>
            <a:r>
              <a:rPr lang="en-US" dirty="0"/>
              <a:t> Exception Site List.   Add the following to the Exception Site List:    </a:t>
            </a:r>
            <a:r>
              <a:rPr lang="en-US" sz="1200" kern="1200" dirty="0">
                <a:solidFill>
                  <a:schemeClr val="tx1"/>
                </a:solidFill>
                <a:effectLst/>
                <a:latin typeface="+mn-lt"/>
                <a:ea typeface="+mn-ea"/>
                <a:cs typeface="+mn-cs"/>
              </a:rPr>
              <a:t>http://em7e.eecs.umich.edu.</a:t>
            </a:r>
          </a:p>
          <a:p>
            <a:endParaRPr lang="en-US" dirty="0"/>
          </a:p>
        </p:txBody>
      </p:sp>
      <p:sp>
        <p:nvSpPr>
          <p:cNvPr id="4" name="Slide Number Placeholder 3"/>
          <p:cNvSpPr>
            <a:spLocks noGrp="1"/>
          </p:cNvSpPr>
          <p:nvPr>
            <p:ph type="sldNum" sz="quarter" idx="10"/>
          </p:nvPr>
        </p:nvSpPr>
        <p:spPr/>
        <p:txBody>
          <a:bodyPr/>
          <a:lstStyle/>
          <a:p>
            <a:fld id="{33BED805-E3C2-4102-B651-F9A8542A7155}" type="slidenum">
              <a:rPr lang="en-US" smtClean="0"/>
              <a:t>43</a:t>
            </a:fld>
            <a:endParaRPr lang="en-US"/>
          </a:p>
        </p:txBody>
      </p:sp>
    </p:spTree>
    <p:extLst>
      <p:ext uri="{BB962C8B-B14F-4D97-AF65-F5344CB8AC3E}">
        <p14:creationId xmlns:p14="http://schemas.microsoft.com/office/powerpoint/2010/main" val="690299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BED805-E3C2-4102-B651-F9A8542A71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6097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 to web </a:t>
            </a:r>
            <a:r>
              <a:rPr lang="en-US" sz="1200" u="sng" kern="1200" dirty="0">
                <a:solidFill>
                  <a:schemeClr val="tx1"/>
                </a:solidFill>
                <a:effectLst/>
                <a:latin typeface="+mn-lt"/>
                <a:ea typeface="+mn-ea"/>
                <a:cs typeface="+mn-cs"/>
                <a:hlinkClick r:id="rId3"/>
              </a:rPr>
              <a:t>Fundamentals of Applied Electromagnetics</a:t>
            </a:r>
            <a:r>
              <a:rPr lang="en-US" sz="1200" kern="1200" dirty="0">
                <a:solidFill>
                  <a:schemeClr val="tx1"/>
                </a:solidFill>
                <a:effectLst/>
                <a:latin typeface="+mn-lt"/>
                <a:ea typeface="+mn-ea"/>
                <a:cs typeface="+mn-cs"/>
              </a:rPr>
              <a:t>  to download Interactive Modules available for the </a:t>
            </a:r>
            <a:r>
              <a:rPr lang="en-US" sz="1200" kern="1200" dirty="0" err="1">
                <a:solidFill>
                  <a:schemeClr val="tx1"/>
                </a:solidFill>
                <a:effectLst/>
                <a:latin typeface="+mn-lt"/>
                <a:ea typeface="+mn-ea"/>
                <a:cs typeface="+mn-cs"/>
              </a:rPr>
              <a:t>Ulaby</a:t>
            </a:r>
            <a:r>
              <a:rPr lang="en-US" sz="1200" kern="1200" dirty="0">
                <a:solidFill>
                  <a:schemeClr val="tx1"/>
                </a:solidFill>
                <a:effectLst/>
                <a:latin typeface="+mn-lt"/>
                <a:ea typeface="+mn-ea"/>
                <a:cs typeface="+mn-cs"/>
              </a:rPr>
              <a:t> – Fundamentals of Applied Electromagnetics text. Windows 10 has Java security issues that can be fixed as follows:</a:t>
            </a:r>
          </a:p>
          <a:p>
            <a:r>
              <a:rPr lang="en-US" dirty="0"/>
              <a:t>Java</a:t>
            </a:r>
            <a:r>
              <a:rPr lang="en-US" sz="1200" kern="1200" dirty="0">
                <a:solidFill>
                  <a:schemeClr val="tx1"/>
                </a:solidFill>
                <a:effectLst/>
                <a:latin typeface="+mn-lt"/>
                <a:ea typeface="+mn-ea"/>
                <a:cs typeface="+mn-cs"/>
              </a:rPr>
              <a:t> →</a:t>
            </a:r>
            <a:r>
              <a:rPr lang="en-US" dirty="0"/>
              <a:t> Java Security </a:t>
            </a:r>
            <a:r>
              <a:rPr lang="en-US" sz="1200" kern="1200" dirty="0">
                <a:solidFill>
                  <a:schemeClr val="tx1"/>
                </a:solidFill>
                <a:effectLst/>
                <a:latin typeface="+mn-lt"/>
                <a:ea typeface="+mn-ea"/>
                <a:cs typeface="+mn-cs"/>
              </a:rPr>
              <a:t>→</a:t>
            </a:r>
            <a:r>
              <a:rPr lang="en-US" dirty="0"/>
              <a:t> See Security Tab </a:t>
            </a:r>
            <a:r>
              <a:rPr lang="en-US" sz="1200" kern="1200" dirty="0">
                <a:solidFill>
                  <a:schemeClr val="tx1"/>
                </a:solidFill>
                <a:effectLst/>
                <a:latin typeface="+mn-lt"/>
                <a:ea typeface="+mn-ea"/>
                <a:cs typeface="+mn-cs"/>
              </a:rPr>
              <a:t>→</a:t>
            </a:r>
            <a:r>
              <a:rPr lang="en-US" dirty="0"/>
              <a:t> Exception Site List.   Add the following to the Exception Site List:    </a:t>
            </a:r>
            <a:r>
              <a:rPr lang="en-US" sz="1200" kern="1200" dirty="0">
                <a:solidFill>
                  <a:schemeClr val="tx1"/>
                </a:solidFill>
                <a:effectLst/>
                <a:latin typeface="+mn-lt"/>
                <a:ea typeface="+mn-ea"/>
                <a:cs typeface="+mn-cs"/>
              </a:rPr>
              <a:t>http://em7e.eecs.umich.edu.</a:t>
            </a:r>
          </a:p>
          <a:p>
            <a:endParaRPr lang="en-US" dirty="0"/>
          </a:p>
        </p:txBody>
      </p:sp>
      <p:sp>
        <p:nvSpPr>
          <p:cNvPr id="4" name="Slide Number Placeholder 3"/>
          <p:cNvSpPr>
            <a:spLocks noGrp="1"/>
          </p:cNvSpPr>
          <p:nvPr>
            <p:ph type="sldNum" sz="quarter" idx="10"/>
          </p:nvPr>
        </p:nvSpPr>
        <p:spPr/>
        <p:txBody>
          <a:bodyPr/>
          <a:lstStyle/>
          <a:p>
            <a:fld id="{33BED805-E3C2-4102-B651-F9A8542A7155}" type="slidenum">
              <a:rPr lang="en-US" smtClean="0"/>
              <a:t>58</a:t>
            </a:fld>
            <a:endParaRPr lang="en-US"/>
          </a:p>
        </p:txBody>
      </p:sp>
    </p:spTree>
    <p:extLst>
      <p:ext uri="{BB962C8B-B14F-4D97-AF65-F5344CB8AC3E}">
        <p14:creationId xmlns:p14="http://schemas.microsoft.com/office/powerpoint/2010/main" val="2474086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517609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ndar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6320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7582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p:spPr>
        <p:txBody>
          <a:bodyPr/>
          <a:lstStyle>
            <a:lvl1pPr algn="l">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42388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oom for navigation">
    <p:spTree>
      <p:nvGrpSpPr>
        <p:cNvPr id="1" name=""/>
        <p:cNvGrpSpPr/>
        <p:nvPr/>
      </p:nvGrpSpPr>
      <p:grpSpPr>
        <a:xfrm>
          <a:off x="0" y="0"/>
          <a:ext cx="0" cy="0"/>
          <a:chOff x="0" y="0"/>
          <a:chExt cx="0" cy="0"/>
        </a:xfrm>
      </p:grpSpPr>
      <p:sp>
        <p:nvSpPr>
          <p:cNvPr id="6" name="Rectangle 5"/>
          <p:cNvSpPr/>
          <p:nvPr/>
        </p:nvSpPr>
        <p:spPr>
          <a:xfrm>
            <a:off x="8839200" y="990600"/>
            <a:ext cx="3352800" cy="5562600"/>
          </a:xfrm>
          <a:prstGeom prst="rect">
            <a:avLst/>
          </a:prstGeom>
          <a:gradFill>
            <a:gsLst>
              <a:gs pos="0">
                <a:srgbClr val="747879">
                  <a:alpha val="0"/>
                </a:srgbClr>
              </a:gs>
              <a:gs pos="44000">
                <a:schemeClr val="bg2">
                  <a:alpha val="3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03200" y="1143000"/>
            <a:ext cx="9448800" cy="5410200"/>
          </a:xfrm>
        </p:spPr>
        <p:txBody>
          <a:bodyPr>
            <a:normAutofit/>
          </a:bodyPr>
          <a:lstStyle>
            <a:lvl1pPr>
              <a:defRPr sz="2400">
                <a:solidFill>
                  <a:schemeClr val="bg1"/>
                </a:solidFill>
              </a:defRPr>
            </a:lvl1pPr>
            <a:lvl2pPr>
              <a:buFont typeface="Arial" pitchFamily="34" charset="0"/>
              <a:buChar char="•"/>
              <a:defRPr sz="20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p:txBody>
          <a:bodyPr/>
          <a:lstStyle>
            <a:lvl1pPr>
              <a:defRPr>
                <a:latin typeface="Cambria Math" panose="02040503050406030204" pitchFamily="18" charset="0"/>
              </a:defRPr>
            </a:lvl1pPr>
          </a:lstStyle>
          <a:p>
            <a:pPr>
              <a:defRPr/>
            </a:pPr>
            <a:endParaRPr lang="en-US" dirty="0">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33175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Pr>
        <a:blipFill dpi="0" rotWithShape="1">
          <a:blip r:embed="rId2" cstate="print">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0" y="0"/>
            <a:ext cx="12192000" cy="3886200"/>
          </a:xfrm>
          <a:prstGeom prst="rect">
            <a:avLst/>
          </a:prstGeom>
          <a:solidFill>
            <a:schemeClr val="bg1"/>
          </a:solidFill>
          <a:ln w="38100">
            <a:solidFill>
              <a:schemeClr val="bg2"/>
            </a:solidFill>
          </a:ln>
          <a:effectLst>
            <a:outerShdw blurRad="482600" dist="50800" dir="5400000" algn="ctr" rotWithShape="0">
              <a:schemeClr val="bg2"/>
            </a:outerShdw>
          </a:effectLst>
          <a:scene3d>
            <a:camera prst="orthographicFront"/>
            <a:lightRig rig="threePt" dir="t"/>
          </a:scene3d>
          <a:sp3d>
            <a:bevelT w="177800" h="177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a:xfrm>
            <a:off x="0" y="0"/>
            <a:ext cx="12192000" cy="1143000"/>
          </a:xfrm>
          <a:noFill/>
          <a:ln w="38100">
            <a:noFill/>
          </a:ln>
          <a:effectLst>
            <a:outerShdw blurRad="50800" dist="12700" dir="2700000" algn="tl" rotWithShape="0">
              <a:prstClr val="black">
                <a:alpha val="40000"/>
              </a:prstClr>
            </a:outerShdw>
          </a:effectLst>
          <a:scene3d>
            <a:camera prst="orthographicFront"/>
            <a:lightRig rig="threePt" dir="t"/>
          </a:scene3d>
          <a:sp3d prstMaterial="matte">
            <a:bevelT w="177800" h="146050"/>
          </a:sp3d>
        </p:spPr>
        <p:txBody>
          <a:bodyPr>
            <a:normAutofit/>
          </a:bodyPr>
          <a:lstStyle>
            <a:lvl1pPr>
              <a:defRPr sz="4400">
                <a:effectLst/>
              </a:defRPr>
            </a:lvl1pPr>
          </a:lstStyle>
          <a:p>
            <a:r>
              <a:rPr lang="en-US"/>
              <a:t>Click to edit Master title style</a:t>
            </a:r>
            <a:endParaRPr lang="en-US" dirty="0"/>
          </a:p>
        </p:txBody>
      </p:sp>
      <p:sp>
        <p:nvSpPr>
          <p:cNvPr id="4" name="Footer Placeholder 3"/>
          <p:cNvSpPr>
            <a:spLocks noGrp="1"/>
          </p:cNvSpPr>
          <p:nvPr>
            <p:ph type="ftr" sz="quarter" idx="10"/>
          </p:nvPr>
        </p:nvSpPr>
        <p:spPr>
          <a:xfrm>
            <a:off x="6604000" y="6553200"/>
            <a:ext cx="5588000" cy="304800"/>
          </a:xfrm>
        </p:spPr>
        <p:txBody>
          <a:bodyPr/>
          <a:lstStyle>
            <a:lvl1pPr>
              <a:defRPr>
                <a:solidFill>
                  <a:schemeClr val="bg1"/>
                </a:solidFill>
                <a:effectLst>
                  <a:outerShdw blurRad="38100" dist="38100" dir="2700000" algn="tl">
                    <a:srgbClr val="000000">
                      <a:alpha val="43137"/>
                    </a:srgbClr>
                  </a:outerShdw>
                </a:effectLst>
                <a:latin typeface="Cambria Math" panose="02040503050406030204" pitchFamily="18" charset="0"/>
              </a:defRPr>
            </a:lvl1pPr>
          </a:lstStyle>
          <a:p>
            <a:pPr>
              <a:defRPr/>
            </a:pPr>
            <a:endParaRPr lang="en-US" dirty="0">
              <a:solidFill>
                <a:srgbClr val="FFFFFF"/>
              </a:solidFill>
            </a:endParaRPr>
          </a:p>
        </p:txBody>
      </p:sp>
      <p:sp>
        <p:nvSpPr>
          <p:cNvPr id="7" name="Text Placeholder 6"/>
          <p:cNvSpPr>
            <a:spLocks noGrp="1"/>
          </p:cNvSpPr>
          <p:nvPr>
            <p:ph type="body" sz="quarter" idx="11"/>
          </p:nvPr>
        </p:nvSpPr>
        <p:spPr>
          <a:xfrm>
            <a:off x="1320800" y="990600"/>
            <a:ext cx="9550400" cy="685800"/>
          </a:xfrm>
        </p:spPr>
        <p:txBody>
          <a:bodyPr/>
          <a:lstStyle>
            <a:lvl1pPr marL="0" indent="0" algn="just">
              <a:buFontTx/>
              <a:buNone/>
              <a:defRPr sz="1800">
                <a:solidFill>
                  <a:schemeClr val="accent1">
                    <a:lumMod val="75000"/>
                  </a:schemeClr>
                </a:solidFill>
              </a:defRPr>
            </a:lvl1pPr>
            <a:lvl2pPr>
              <a:buFontTx/>
              <a:buNone/>
              <a:defRPr sz="1800">
                <a:solidFill>
                  <a:schemeClr val="accent1">
                    <a:lumMod val="75000"/>
                  </a:schemeClr>
                </a:solidFill>
              </a:defRPr>
            </a:lvl2pPr>
            <a:lvl3pPr>
              <a:buFontTx/>
              <a:buNone/>
              <a:defRPr sz="1800">
                <a:solidFill>
                  <a:schemeClr val="accent1">
                    <a:lumMod val="75000"/>
                  </a:schemeClr>
                </a:solidFill>
              </a:defRPr>
            </a:lvl3pPr>
            <a:lvl4pPr>
              <a:buFontTx/>
              <a:buNone/>
              <a:defRPr sz="1800">
                <a:solidFill>
                  <a:schemeClr val="accent1">
                    <a:lumMod val="75000"/>
                  </a:schemeClr>
                </a:solidFill>
              </a:defRPr>
            </a:lvl4pPr>
            <a:lvl5pPr>
              <a:buNone/>
              <a:defRPr/>
            </a:lvl5pPr>
          </a:lstStyle>
          <a:p>
            <a:pPr lvl="0"/>
            <a:r>
              <a:rPr lang="en-US"/>
              <a:t>Click to edit Master text styles</a:t>
            </a:r>
          </a:p>
        </p:txBody>
      </p:sp>
      <p:sp>
        <p:nvSpPr>
          <p:cNvPr id="11" name="Rectangle 10"/>
          <p:cNvSpPr/>
          <p:nvPr/>
        </p:nvSpPr>
        <p:spPr>
          <a:xfrm>
            <a:off x="1320800" y="1676400"/>
            <a:ext cx="4673600" cy="2057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9" name="Text Placeholder 8"/>
          <p:cNvSpPr>
            <a:spLocks noGrp="1"/>
          </p:cNvSpPr>
          <p:nvPr>
            <p:ph type="body" sz="quarter" idx="12"/>
          </p:nvPr>
        </p:nvSpPr>
        <p:spPr>
          <a:xfrm>
            <a:off x="1320800" y="2057400"/>
            <a:ext cx="4673600" cy="1600200"/>
          </a:xfrm>
        </p:spPr>
        <p:txBody>
          <a:bodyPr>
            <a:normAutofit/>
          </a:bodyPr>
          <a:lstStyle>
            <a:lvl1pPr marL="233363" indent="-233363">
              <a:defRPr sz="1800">
                <a:solidFill>
                  <a:schemeClr val="tx1"/>
                </a:solidFill>
              </a:defRPr>
            </a:lvl1pPr>
            <a:lvl2pPr marL="457200" indent="-223838">
              <a:defRPr sz="1600">
                <a:solidFill>
                  <a:schemeClr val="tx1"/>
                </a:solidFill>
              </a:defRPr>
            </a:lvl2pPr>
            <a:lvl3pPr marL="233363" indent="-233363">
              <a:defRPr sz="1800">
                <a:solidFill>
                  <a:schemeClr val="bg2">
                    <a:lumMod val="50000"/>
                    <a:lumOff val="50000"/>
                  </a:schemeClr>
                </a:solidFill>
              </a:defRPr>
            </a:lvl3pPr>
            <a:lvl4pPr marL="233363" indent="-233363">
              <a:defRPr sz="1800">
                <a:solidFill>
                  <a:schemeClr val="bg2">
                    <a:lumMod val="50000"/>
                    <a:lumOff val="50000"/>
                  </a:schemeClr>
                </a:solidFill>
              </a:defRPr>
            </a:lvl4pPr>
            <a:lvl5pPr marL="233363" indent="-233363">
              <a:defRPr sz="1800">
                <a:solidFill>
                  <a:schemeClr val="bg2">
                    <a:lumMod val="50000"/>
                    <a:lumOff val="50000"/>
                  </a:schemeClr>
                </a:solidFill>
              </a:defRPr>
            </a:lvl5pPr>
          </a:lstStyle>
          <a:p>
            <a:pPr lvl="0"/>
            <a:r>
              <a:rPr lang="en-US"/>
              <a:t>Click to edit Master text styles</a:t>
            </a:r>
          </a:p>
          <a:p>
            <a:pPr lvl="1"/>
            <a:r>
              <a:rPr lang="en-US"/>
              <a:t>Second level</a:t>
            </a:r>
          </a:p>
        </p:txBody>
      </p:sp>
      <p:sp>
        <p:nvSpPr>
          <p:cNvPr id="12" name="TextBox 11"/>
          <p:cNvSpPr txBox="1"/>
          <p:nvPr/>
        </p:nvSpPr>
        <p:spPr>
          <a:xfrm>
            <a:off x="1320800" y="1676400"/>
            <a:ext cx="4673600" cy="400110"/>
          </a:xfrm>
          <a:prstGeom prst="rect">
            <a:avLst/>
          </a:prstGeom>
          <a:noFill/>
        </p:spPr>
        <p:txBody>
          <a:bodyPr wrap="square" rtlCol="0">
            <a:spAutoFit/>
          </a:bodyPr>
          <a:lstStyle/>
          <a:p>
            <a:pPr algn="ctr" fontAlgn="base">
              <a:spcBef>
                <a:spcPct val="0"/>
              </a:spcBef>
              <a:spcAft>
                <a:spcPct val="0"/>
              </a:spcAft>
            </a:pPr>
            <a:r>
              <a:rPr lang="en-US" sz="2000" dirty="0">
                <a:solidFill>
                  <a:srgbClr val="283D5E"/>
                </a:solidFill>
                <a:latin typeface="Cambria Math" panose="02040503050406030204" pitchFamily="18" charset="0"/>
              </a:rPr>
              <a:t>Schedule</a:t>
            </a:r>
            <a:endParaRPr lang="en-US" sz="1800" dirty="0">
              <a:solidFill>
                <a:srgbClr val="283D5E"/>
              </a:solidFill>
              <a:latin typeface="Cambria Math" panose="02040503050406030204" pitchFamily="18" charset="0"/>
            </a:endParaRPr>
          </a:p>
        </p:txBody>
      </p:sp>
      <p:cxnSp>
        <p:nvCxnSpPr>
          <p:cNvPr id="13" name="Straight Connector 12"/>
          <p:cNvCxnSpPr/>
          <p:nvPr/>
        </p:nvCxnSpPr>
        <p:spPr>
          <a:xfrm rot="10800000" flipV="1">
            <a:off x="1320800" y="2057397"/>
            <a:ext cx="4673600" cy="3"/>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97600" y="1676400"/>
            <a:ext cx="4673600" cy="2057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17" name="Text Placeholder 8"/>
          <p:cNvSpPr>
            <a:spLocks noGrp="1"/>
          </p:cNvSpPr>
          <p:nvPr>
            <p:ph type="body" sz="quarter" idx="13"/>
          </p:nvPr>
        </p:nvSpPr>
        <p:spPr>
          <a:xfrm>
            <a:off x="6197600" y="2057400"/>
            <a:ext cx="4673600" cy="1600200"/>
          </a:xfrm>
        </p:spPr>
        <p:txBody>
          <a:bodyPr>
            <a:normAutofit/>
          </a:bodyPr>
          <a:lstStyle>
            <a:lvl1pPr marL="233363" indent="-233363">
              <a:defRPr sz="1800">
                <a:solidFill>
                  <a:schemeClr val="tx1"/>
                </a:solidFill>
              </a:defRPr>
            </a:lvl1pPr>
            <a:lvl2pPr marL="457200" indent="-223838">
              <a:defRPr sz="1600">
                <a:solidFill>
                  <a:schemeClr val="tx1"/>
                </a:solidFill>
              </a:defRPr>
            </a:lvl2pPr>
            <a:lvl3pPr marL="233363" indent="-233363">
              <a:defRPr sz="1800">
                <a:solidFill>
                  <a:schemeClr val="bg2">
                    <a:lumMod val="50000"/>
                    <a:lumOff val="50000"/>
                  </a:schemeClr>
                </a:solidFill>
              </a:defRPr>
            </a:lvl3pPr>
            <a:lvl4pPr marL="233363" indent="-233363">
              <a:defRPr sz="1800">
                <a:solidFill>
                  <a:schemeClr val="bg2">
                    <a:lumMod val="50000"/>
                    <a:lumOff val="50000"/>
                  </a:schemeClr>
                </a:solidFill>
              </a:defRPr>
            </a:lvl4pPr>
            <a:lvl5pPr marL="233363" indent="-233363">
              <a:defRPr sz="1800">
                <a:solidFill>
                  <a:schemeClr val="bg2">
                    <a:lumMod val="50000"/>
                    <a:lumOff val="50000"/>
                  </a:schemeClr>
                </a:solidFill>
              </a:defRPr>
            </a:lvl5pPr>
          </a:lstStyle>
          <a:p>
            <a:pPr lvl="0"/>
            <a:r>
              <a:rPr lang="en-US"/>
              <a:t>Click to edit Master text styles</a:t>
            </a:r>
          </a:p>
          <a:p>
            <a:pPr lvl="1"/>
            <a:r>
              <a:rPr lang="en-US"/>
              <a:t>Second level</a:t>
            </a:r>
          </a:p>
        </p:txBody>
      </p:sp>
      <p:sp>
        <p:nvSpPr>
          <p:cNvPr id="18" name="TextBox 17"/>
          <p:cNvSpPr txBox="1"/>
          <p:nvPr/>
        </p:nvSpPr>
        <p:spPr>
          <a:xfrm>
            <a:off x="6197600" y="1676400"/>
            <a:ext cx="4673600" cy="400110"/>
          </a:xfrm>
          <a:prstGeom prst="rect">
            <a:avLst/>
          </a:prstGeom>
          <a:noFill/>
        </p:spPr>
        <p:txBody>
          <a:bodyPr wrap="square" rtlCol="0">
            <a:spAutoFit/>
          </a:bodyPr>
          <a:lstStyle/>
          <a:p>
            <a:pPr algn="ctr" fontAlgn="base">
              <a:spcBef>
                <a:spcPct val="0"/>
              </a:spcBef>
              <a:spcAft>
                <a:spcPct val="0"/>
              </a:spcAft>
            </a:pPr>
            <a:r>
              <a:rPr lang="en-US" sz="2000" dirty="0">
                <a:solidFill>
                  <a:srgbClr val="283D5E"/>
                </a:solidFill>
                <a:latin typeface="Cambria Math" panose="02040503050406030204" pitchFamily="18" charset="0"/>
              </a:rPr>
              <a:t>Pre-class</a:t>
            </a:r>
            <a:endParaRPr lang="en-US" sz="1800" dirty="0">
              <a:solidFill>
                <a:srgbClr val="283D5E"/>
              </a:solidFill>
              <a:latin typeface="Cambria Math" panose="02040503050406030204" pitchFamily="18" charset="0"/>
            </a:endParaRPr>
          </a:p>
        </p:txBody>
      </p:sp>
      <p:cxnSp>
        <p:nvCxnSpPr>
          <p:cNvPr id="19" name="Straight Connector 18"/>
          <p:cNvCxnSpPr/>
          <p:nvPr/>
        </p:nvCxnSpPr>
        <p:spPr>
          <a:xfrm rot="10800000" flipV="1">
            <a:off x="6197600" y="2057397"/>
            <a:ext cx="4673600" cy="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1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1" grpId="0" animBg="1"/>
      <p:bldP spid="9" grpId="0" build="p">
        <p:tmplLst>
          <p:tmpl lvl="1">
            <p:tnLst>
              <p:par>
                <p:cTn presetID="1"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P spid="12" grpId="0"/>
      <p:bldP spid="16" grpId="0" animBg="1"/>
      <p:bldP spid="17" grpId="0" build="p">
        <p:tmplLst>
          <p:tmpl lvl="1">
            <p:tnLst>
              <p:par>
                <p:cTn presetID="1"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ubtitle">
    <p:bg>
      <p:bgPr>
        <a:blipFill dpi="0" rotWithShape="1">
          <a:blip r:embed="rId2" cstate="print">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0" y="1371600"/>
            <a:ext cx="12192000" cy="4191000"/>
          </a:xfrm>
          <a:prstGeom prst="rect">
            <a:avLst/>
          </a:prstGeom>
          <a:solidFill>
            <a:schemeClr val="bg1"/>
          </a:solidFill>
          <a:ln w="38100">
            <a:solidFill>
              <a:schemeClr val="bg2"/>
            </a:solidFill>
          </a:ln>
          <a:effectLst>
            <a:outerShdw blurRad="482600" dist="50800" dir="5400000" algn="ctr" rotWithShape="0">
              <a:schemeClr val="bg2"/>
            </a:outerShdw>
          </a:effectLst>
          <a:scene3d>
            <a:camera prst="orthographicFront"/>
            <a:lightRig rig="threePt" dir="t"/>
          </a:scene3d>
          <a:sp3d>
            <a:bevelT w="177800" h="177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a:xfrm>
            <a:off x="3454400" y="2057400"/>
            <a:ext cx="8229600" cy="838200"/>
          </a:xfrm>
          <a:noFill/>
          <a:ln w="38100">
            <a:noFill/>
          </a:ln>
          <a:effectLst>
            <a:outerShdw blurRad="50800" dist="12700" dir="2700000" algn="tl" rotWithShape="0">
              <a:prstClr val="black">
                <a:alpha val="40000"/>
              </a:prstClr>
            </a:outerShdw>
          </a:effectLst>
          <a:scene3d>
            <a:camera prst="orthographicFront"/>
            <a:lightRig rig="threePt" dir="t"/>
          </a:scene3d>
          <a:sp3d prstMaterial="matte">
            <a:bevelT w="177800" h="146050"/>
          </a:sp3d>
        </p:spPr>
        <p:txBody>
          <a:bodyPr>
            <a:normAutofit/>
          </a:bodyPr>
          <a:lstStyle>
            <a:lvl1pPr>
              <a:defRPr sz="3200">
                <a:effectLst/>
              </a:defRPr>
            </a:lvl1pPr>
          </a:lstStyle>
          <a:p>
            <a:r>
              <a:rPr lang="en-US"/>
              <a:t>Click to edit Master title style</a:t>
            </a:r>
            <a:endParaRPr lang="en-US" dirty="0"/>
          </a:p>
        </p:txBody>
      </p:sp>
      <p:sp>
        <p:nvSpPr>
          <p:cNvPr id="4" name="Footer Placeholder 3"/>
          <p:cNvSpPr>
            <a:spLocks noGrp="1"/>
          </p:cNvSpPr>
          <p:nvPr>
            <p:ph type="ftr" sz="quarter" idx="10"/>
          </p:nvPr>
        </p:nvSpPr>
        <p:spPr>
          <a:xfrm>
            <a:off x="6604000" y="6553200"/>
            <a:ext cx="5588000" cy="304800"/>
          </a:xfrm>
        </p:spPr>
        <p:txBody>
          <a:bodyPr/>
          <a:lstStyle>
            <a:lvl1pPr>
              <a:defRPr>
                <a:solidFill>
                  <a:schemeClr val="bg1"/>
                </a:solidFill>
                <a:effectLst>
                  <a:outerShdw blurRad="38100" dist="38100" dir="2700000" algn="tl">
                    <a:srgbClr val="000000">
                      <a:alpha val="43137"/>
                    </a:srgbClr>
                  </a:outerShdw>
                </a:effectLst>
                <a:latin typeface="Cambria Math" panose="02040503050406030204" pitchFamily="18" charset="0"/>
              </a:defRPr>
            </a:lvl1pPr>
          </a:lstStyle>
          <a:p>
            <a:pPr>
              <a:defRPr/>
            </a:pPr>
            <a:endParaRPr lang="en-US" dirty="0">
              <a:solidFill>
                <a:srgbClr val="FFFFFF"/>
              </a:solidFill>
            </a:endParaRPr>
          </a:p>
        </p:txBody>
      </p:sp>
      <p:sp>
        <p:nvSpPr>
          <p:cNvPr id="7" name="Text Placeholder 6"/>
          <p:cNvSpPr>
            <a:spLocks noGrp="1"/>
          </p:cNvSpPr>
          <p:nvPr>
            <p:ph type="body" sz="quarter" idx="11"/>
          </p:nvPr>
        </p:nvSpPr>
        <p:spPr>
          <a:xfrm>
            <a:off x="3454400" y="2895600"/>
            <a:ext cx="8229600" cy="1676400"/>
          </a:xfrm>
        </p:spPr>
        <p:txBody>
          <a:bodyPr/>
          <a:lstStyle>
            <a:lvl1pPr marL="0" indent="0" algn="just">
              <a:buFontTx/>
              <a:buNone/>
              <a:defRPr sz="1800">
                <a:solidFill>
                  <a:schemeClr val="accent1">
                    <a:lumMod val="75000"/>
                  </a:schemeClr>
                </a:solidFill>
              </a:defRPr>
            </a:lvl1pPr>
            <a:lvl2pPr>
              <a:buFontTx/>
              <a:buNone/>
              <a:defRPr sz="1800">
                <a:solidFill>
                  <a:schemeClr val="accent1">
                    <a:lumMod val="75000"/>
                  </a:schemeClr>
                </a:solidFill>
              </a:defRPr>
            </a:lvl2pPr>
            <a:lvl3pPr>
              <a:buFontTx/>
              <a:buNone/>
              <a:defRPr sz="1800">
                <a:solidFill>
                  <a:schemeClr val="accent1">
                    <a:lumMod val="75000"/>
                  </a:schemeClr>
                </a:solidFill>
              </a:defRPr>
            </a:lvl3pPr>
            <a:lvl4pPr>
              <a:buFontTx/>
              <a:buNone/>
              <a:defRPr sz="1800">
                <a:solidFill>
                  <a:schemeClr val="accent1">
                    <a:lumMod val="75000"/>
                  </a:schemeClr>
                </a:solidFill>
              </a:defRPr>
            </a:lvl4pPr>
            <a:lvl5pPr>
              <a:buNone/>
              <a:defRPr/>
            </a:lvl5pPr>
          </a:lstStyle>
          <a:p>
            <a:pPr lvl="0"/>
            <a:r>
              <a:rPr lang="en-US"/>
              <a:t>Click to edit Master text styles</a:t>
            </a:r>
          </a:p>
        </p:txBody>
      </p:sp>
      <p:sp>
        <p:nvSpPr>
          <p:cNvPr id="6" name="Rectangle 5"/>
          <p:cNvSpPr/>
          <p:nvPr/>
        </p:nvSpPr>
        <p:spPr>
          <a:xfrm>
            <a:off x="203200" y="1524000"/>
            <a:ext cx="2743200" cy="38862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8" name="TextBox 7"/>
          <p:cNvSpPr txBox="1"/>
          <p:nvPr/>
        </p:nvSpPr>
        <p:spPr>
          <a:xfrm>
            <a:off x="203200" y="1524000"/>
            <a:ext cx="2743200" cy="400110"/>
          </a:xfrm>
          <a:prstGeom prst="rect">
            <a:avLst/>
          </a:prstGeom>
          <a:noFill/>
        </p:spPr>
        <p:txBody>
          <a:bodyPr wrap="square" rtlCol="0">
            <a:spAutoFit/>
          </a:bodyPr>
          <a:lstStyle/>
          <a:p>
            <a:pPr fontAlgn="base">
              <a:spcBef>
                <a:spcPct val="0"/>
              </a:spcBef>
              <a:spcAft>
                <a:spcPct val="0"/>
              </a:spcAft>
            </a:pPr>
            <a:r>
              <a:rPr lang="en-US" sz="2000" dirty="0">
                <a:solidFill>
                  <a:srgbClr val="283D5E"/>
                </a:solidFill>
                <a:latin typeface="Cambria Math" panose="02040503050406030204" pitchFamily="18" charset="0"/>
              </a:rPr>
              <a:t>Topics</a:t>
            </a:r>
            <a:endParaRPr lang="en-US" sz="1800" dirty="0">
              <a:solidFill>
                <a:srgbClr val="283D5E"/>
              </a:solidFill>
              <a:latin typeface="Cambria Math" panose="02040503050406030204" pitchFamily="18" charset="0"/>
            </a:endParaRPr>
          </a:p>
        </p:txBody>
      </p:sp>
      <p:cxnSp>
        <p:nvCxnSpPr>
          <p:cNvPr id="9" name="Straight Connector 8"/>
          <p:cNvCxnSpPr/>
          <p:nvPr/>
        </p:nvCxnSpPr>
        <p:spPr>
          <a:xfrm rot="10800000">
            <a:off x="203200" y="1905000"/>
            <a:ext cx="2743200" cy="158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2"/>
          </p:nvPr>
        </p:nvSpPr>
        <p:spPr>
          <a:xfrm>
            <a:off x="304800" y="1981200"/>
            <a:ext cx="2540000" cy="3352800"/>
          </a:xfrm>
        </p:spPr>
        <p:txBody>
          <a:bodyPr/>
          <a:lstStyle>
            <a:lvl1pPr marL="287338" indent="-287338">
              <a:buNone/>
              <a:defRPr sz="1400">
                <a:solidFill>
                  <a:schemeClr val="accent1">
                    <a:lumMod val="50000"/>
                  </a:schemeClr>
                </a:solidFill>
              </a:defRPr>
            </a:lvl1pPr>
            <a:lvl2pPr marL="287338" indent="-169863">
              <a:spcBef>
                <a:spcPts val="0"/>
              </a:spcBef>
              <a:defRPr sz="1200">
                <a:solidFill>
                  <a:schemeClr val="accent1">
                    <a:lumMod val="50000"/>
                  </a:schemeClr>
                </a:solidFill>
              </a:defRPr>
            </a:lvl2pPr>
            <a:lvl3pPr>
              <a:defRPr sz="1100">
                <a:solidFill>
                  <a:schemeClr val="accent1">
                    <a:lumMod val="50000"/>
                  </a:schemeClr>
                </a:solidFill>
              </a:defRPr>
            </a:lvl3pPr>
            <a:lvl4pPr>
              <a:defRPr sz="1200">
                <a:solidFill>
                  <a:schemeClr val="accent1">
                    <a:lumMod val="50000"/>
                  </a:schemeClr>
                </a:solidFill>
              </a:defRPr>
            </a:lvl4pPr>
            <a:lvl5pPr>
              <a:defRPr>
                <a:solidFill>
                  <a:schemeClr val="accent1">
                    <a:lumMod val="50000"/>
                  </a:schemeClr>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6118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ubSection">
    <p:bg>
      <p:bgPr>
        <a:blipFill dpi="0" rotWithShape="1">
          <a:blip r:embed="rId2" cstate="print">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0" y="1371600"/>
            <a:ext cx="9144000" cy="4191000"/>
          </a:xfrm>
          <a:prstGeom prst="rect">
            <a:avLst/>
          </a:prstGeom>
          <a:solidFill>
            <a:schemeClr val="bg1"/>
          </a:solidFill>
          <a:ln w="38100">
            <a:solidFill>
              <a:schemeClr val="bg2"/>
            </a:solidFill>
          </a:ln>
          <a:effectLst>
            <a:outerShdw blurRad="482600" dist="50800" dir="5400000" algn="ctr" rotWithShape="0">
              <a:schemeClr val="bg2"/>
            </a:outerShdw>
          </a:effectLst>
          <a:scene3d>
            <a:camera prst="orthographicFront"/>
            <a:lightRig rig="threePt" dir="t"/>
          </a:scene3d>
          <a:sp3d>
            <a:bevelT w="177800" h="177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1"/>
          <p:cNvSpPr>
            <a:spLocks noGrp="1"/>
          </p:cNvSpPr>
          <p:nvPr>
            <p:ph type="title"/>
          </p:nvPr>
        </p:nvSpPr>
        <p:spPr>
          <a:xfrm>
            <a:off x="3454400" y="2057400"/>
            <a:ext cx="5384800" cy="838200"/>
          </a:xfrm>
          <a:noFill/>
          <a:ln w="38100">
            <a:noFill/>
          </a:ln>
          <a:effectLst>
            <a:outerShdw blurRad="50800" dist="12700" dir="2700000" algn="tl" rotWithShape="0">
              <a:prstClr val="black">
                <a:alpha val="40000"/>
              </a:prstClr>
            </a:outerShdw>
          </a:effectLst>
          <a:scene3d>
            <a:camera prst="orthographicFront"/>
            <a:lightRig rig="threePt" dir="t"/>
          </a:scene3d>
          <a:sp3d prstMaterial="matte">
            <a:bevelT w="177800" h="146050"/>
          </a:sp3d>
        </p:spPr>
        <p:txBody>
          <a:bodyPr>
            <a:noAutofit/>
          </a:bodyPr>
          <a:lstStyle>
            <a:lvl1pPr>
              <a:defRPr sz="2400">
                <a:effectLst/>
              </a:defRPr>
            </a:lvl1pPr>
          </a:lstStyle>
          <a:p>
            <a:r>
              <a:rPr lang="en-US"/>
              <a:t>Click to edit Master title style</a:t>
            </a:r>
            <a:endParaRPr lang="en-US" dirty="0"/>
          </a:p>
        </p:txBody>
      </p:sp>
      <p:sp>
        <p:nvSpPr>
          <p:cNvPr id="4" name="Footer Placeholder 3"/>
          <p:cNvSpPr>
            <a:spLocks noGrp="1"/>
          </p:cNvSpPr>
          <p:nvPr>
            <p:ph type="ftr" sz="quarter" idx="10"/>
          </p:nvPr>
        </p:nvSpPr>
        <p:spPr>
          <a:xfrm>
            <a:off x="6604000" y="6553200"/>
            <a:ext cx="5588000" cy="304800"/>
          </a:xfrm>
        </p:spPr>
        <p:txBody>
          <a:bodyPr/>
          <a:lstStyle>
            <a:lvl1pPr>
              <a:defRPr>
                <a:solidFill>
                  <a:schemeClr val="bg1"/>
                </a:solidFill>
                <a:effectLst>
                  <a:outerShdw blurRad="38100" dist="38100" dir="2700000" algn="tl">
                    <a:srgbClr val="000000">
                      <a:alpha val="43137"/>
                    </a:srgbClr>
                  </a:outerShdw>
                </a:effectLst>
                <a:latin typeface="Cambria Math" panose="02040503050406030204" pitchFamily="18" charset="0"/>
              </a:defRPr>
            </a:lvl1pPr>
          </a:lstStyle>
          <a:p>
            <a:pPr>
              <a:defRPr/>
            </a:pPr>
            <a:endParaRPr lang="en-US" dirty="0">
              <a:solidFill>
                <a:srgbClr val="FFFFFF"/>
              </a:solidFill>
            </a:endParaRPr>
          </a:p>
        </p:txBody>
      </p:sp>
      <p:sp>
        <p:nvSpPr>
          <p:cNvPr id="7" name="Text Placeholder 6"/>
          <p:cNvSpPr>
            <a:spLocks noGrp="1"/>
          </p:cNvSpPr>
          <p:nvPr>
            <p:ph type="body" sz="quarter" idx="11"/>
          </p:nvPr>
        </p:nvSpPr>
        <p:spPr>
          <a:xfrm>
            <a:off x="3454400" y="2895600"/>
            <a:ext cx="5384800" cy="1676400"/>
          </a:xfrm>
        </p:spPr>
        <p:txBody>
          <a:bodyPr/>
          <a:lstStyle>
            <a:lvl1pPr marL="0" indent="0" algn="just">
              <a:buFontTx/>
              <a:buNone/>
              <a:defRPr sz="1800">
                <a:solidFill>
                  <a:schemeClr val="accent1">
                    <a:lumMod val="75000"/>
                  </a:schemeClr>
                </a:solidFill>
              </a:defRPr>
            </a:lvl1pPr>
            <a:lvl2pPr>
              <a:buFontTx/>
              <a:buNone/>
              <a:defRPr sz="1800">
                <a:solidFill>
                  <a:schemeClr val="accent1">
                    <a:lumMod val="75000"/>
                  </a:schemeClr>
                </a:solidFill>
              </a:defRPr>
            </a:lvl2pPr>
            <a:lvl3pPr>
              <a:buFontTx/>
              <a:buNone/>
              <a:defRPr sz="1800">
                <a:solidFill>
                  <a:schemeClr val="accent1">
                    <a:lumMod val="75000"/>
                  </a:schemeClr>
                </a:solidFill>
              </a:defRPr>
            </a:lvl3pPr>
            <a:lvl4pPr>
              <a:buFontTx/>
              <a:buNone/>
              <a:defRPr sz="1800">
                <a:solidFill>
                  <a:schemeClr val="accent1">
                    <a:lumMod val="75000"/>
                  </a:schemeClr>
                </a:solidFill>
              </a:defRPr>
            </a:lvl4pPr>
            <a:lvl5pPr>
              <a:buNone/>
              <a:defRPr/>
            </a:lvl5pPr>
          </a:lstStyle>
          <a:p>
            <a:pPr lvl="0"/>
            <a:r>
              <a:rPr lang="en-US"/>
              <a:t>Click to edit Master text styles</a:t>
            </a:r>
          </a:p>
        </p:txBody>
      </p:sp>
      <p:sp>
        <p:nvSpPr>
          <p:cNvPr id="6" name="Rectangle 5"/>
          <p:cNvSpPr/>
          <p:nvPr/>
        </p:nvSpPr>
        <p:spPr>
          <a:xfrm>
            <a:off x="203200" y="1524000"/>
            <a:ext cx="2743200" cy="38862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endParaRPr lang="en-US" sz="1800" dirty="0">
              <a:solidFill>
                <a:srgbClr val="283D5E"/>
              </a:solidFill>
              <a:latin typeface="Cambria Math" panose="02040503050406030204" pitchFamily="18" charset="0"/>
            </a:endParaRPr>
          </a:p>
        </p:txBody>
      </p:sp>
      <p:sp>
        <p:nvSpPr>
          <p:cNvPr id="8" name="TextBox 7"/>
          <p:cNvSpPr txBox="1"/>
          <p:nvPr/>
        </p:nvSpPr>
        <p:spPr>
          <a:xfrm>
            <a:off x="203200" y="1524000"/>
            <a:ext cx="2743200" cy="400110"/>
          </a:xfrm>
          <a:prstGeom prst="rect">
            <a:avLst/>
          </a:prstGeom>
          <a:noFill/>
        </p:spPr>
        <p:txBody>
          <a:bodyPr wrap="square" rtlCol="0">
            <a:spAutoFit/>
          </a:bodyPr>
          <a:lstStyle/>
          <a:p>
            <a:pPr fontAlgn="base">
              <a:spcBef>
                <a:spcPct val="0"/>
              </a:spcBef>
              <a:spcAft>
                <a:spcPct val="0"/>
              </a:spcAft>
            </a:pPr>
            <a:r>
              <a:rPr lang="en-US" sz="2000" dirty="0">
                <a:solidFill>
                  <a:srgbClr val="283D5E"/>
                </a:solidFill>
                <a:latin typeface="Cambria Math" panose="02040503050406030204" pitchFamily="18" charset="0"/>
              </a:rPr>
              <a:t>Topics</a:t>
            </a:r>
            <a:endParaRPr lang="en-US" sz="1800" dirty="0">
              <a:solidFill>
                <a:srgbClr val="283D5E"/>
              </a:solidFill>
              <a:latin typeface="Cambria Math" panose="02040503050406030204" pitchFamily="18" charset="0"/>
            </a:endParaRPr>
          </a:p>
        </p:txBody>
      </p:sp>
      <p:cxnSp>
        <p:nvCxnSpPr>
          <p:cNvPr id="9" name="Straight Connector 8"/>
          <p:cNvCxnSpPr/>
          <p:nvPr/>
        </p:nvCxnSpPr>
        <p:spPr>
          <a:xfrm rot="10800000">
            <a:off x="203200" y="1905000"/>
            <a:ext cx="2743200" cy="158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2"/>
          </p:nvPr>
        </p:nvSpPr>
        <p:spPr>
          <a:xfrm>
            <a:off x="304800" y="1981200"/>
            <a:ext cx="2540000" cy="3352800"/>
          </a:xfrm>
        </p:spPr>
        <p:txBody>
          <a:bodyPr/>
          <a:lstStyle>
            <a:lvl1pPr marL="287338" indent="-287338">
              <a:buNone/>
              <a:defRPr sz="1400">
                <a:solidFill>
                  <a:schemeClr val="accent1">
                    <a:lumMod val="50000"/>
                  </a:schemeClr>
                </a:solidFill>
              </a:defRPr>
            </a:lvl1pPr>
            <a:lvl2pPr marL="287338" indent="-169863">
              <a:spcBef>
                <a:spcPts val="0"/>
              </a:spcBef>
              <a:defRPr sz="1200">
                <a:solidFill>
                  <a:schemeClr val="accent1">
                    <a:lumMod val="50000"/>
                  </a:schemeClr>
                </a:solidFill>
              </a:defRPr>
            </a:lvl2pPr>
            <a:lvl3pPr>
              <a:defRPr sz="1100">
                <a:solidFill>
                  <a:schemeClr val="accent1">
                    <a:lumMod val="50000"/>
                  </a:schemeClr>
                </a:solidFill>
              </a:defRPr>
            </a:lvl3pPr>
            <a:lvl4pPr>
              <a:defRPr sz="1200">
                <a:solidFill>
                  <a:schemeClr val="accent1">
                    <a:lumMod val="50000"/>
                  </a:schemeClr>
                </a:solidFill>
              </a:defRPr>
            </a:lvl4pPr>
            <a:lvl5pPr>
              <a:defRPr>
                <a:solidFill>
                  <a:schemeClr val="accent1">
                    <a:lumMod val="50000"/>
                  </a:schemeClr>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6309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99619393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260488104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513635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2644398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94902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6608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356152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83514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90464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107955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81461757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919158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3917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54279617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384434926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844705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594877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8905981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835551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4042744"/>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2031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690309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013310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99266256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59640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5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18863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16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03405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90316431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224357211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269353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357676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779684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359183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530686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5473576"/>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83092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383694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9298639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871253079"/>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0" i="1" u="none" strike="noStrike" kern="0" cap="none" spc="-150"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dirty="0"/>
              <a:t>click to…</a:t>
            </a:r>
          </a:p>
        </p:txBody>
      </p:sp>
    </p:spTree>
    <p:extLst>
      <p:ext uri="{BB962C8B-B14F-4D97-AF65-F5344CB8AC3E}">
        <p14:creationId xmlns:p14="http://schemas.microsoft.com/office/powerpoint/2010/main" val="423746360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47384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08927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97148064"/>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387328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94214011"/>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07705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36678"/>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1472277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140405198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7" y="762002"/>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1200">
                <a:solidFill>
                  <a:schemeClr val="bg1"/>
                </a:solidFill>
              </a:defRPr>
            </a:lvl1pPr>
            <a:lvl2pPr>
              <a:buNone/>
              <a:defRPr sz="1200">
                <a:solidFill>
                  <a:schemeClr val="bg1"/>
                </a:solidFill>
              </a:defRPr>
            </a:lvl2pPr>
            <a:lvl3pPr>
              <a:buNone/>
              <a:defRPr sz="1200">
                <a:solidFill>
                  <a:schemeClr val="bg1"/>
                </a:solidFill>
              </a:defRPr>
            </a:lvl3pPr>
            <a:lvl4pPr>
              <a:buNone/>
              <a:defRPr sz="1200">
                <a:solidFill>
                  <a:schemeClr val="bg1"/>
                </a:solidFill>
              </a:defRPr>
            </a:lvl4pPr>
            <a:lvl5pPr>
              <a:buNone/>
              <a:defRPr sz="12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014273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34493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9" y="1905003"/>
            <a:ext cx="10242551" cy="1523495"/>
          </a:xfrm>
        </p:spPr>
        <p:txBody>
          <a:bodyPr>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973667" y="4344991"/>
            <a:ext cx="10242551"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990983408"/>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825273" y="4344991"/>
            <a:ext cx="9390944" cy="461665"/>
          </a:xfrm>
        </p:spPr>
        <p:txBody>
          <a:bodyPr>
            <a:noAutofit/>
          </a:bodyPr>
          <a:lstStyle>
            <a:lvl1pPr marL="0" indent="0" algn="l">
              <a:lnSpc>
                <a:spcPct val="90000"/>
              </a:lnSpc>
              <a:spcBef>
                <a:spcPts val="0"/>
              </a:spcBef>
              <a:buNone/>
              <a:defRPr>
                <a:solidFill>
                  <a:schemeClr val="tx1">
                    <a:tint val="75000"/>
                  </a:schemeClr>
                </a:solidFill>
              </a:defRPr>
            </a:lvl1pPr>
            <a:lvl2pPr marL="342887" indent="0" algn="ctr">
              <a:buNone/>
              <a:defRPr>
                <a:solidFill>
                  <a:schemeClr val="tx1">
                    <a:tint val="75000"/>
                  </a:schemeClr>
                </a:solidFill>
              </a:defRPr>
            </a:lvl2pPr>
            <a:lvl3pPr marL="685772" indent="0" algn="ctr">
              <a:buNone/>
              <a:defRPr>
                <a:solidFill>
                  <a:schemeClr val="tx1">
                    <a:tint val="75000"/>
                  </a:schemeClr>
                </a:solidFill>
              </a:defRPr>
            </a:lvl3pPr>
            <a:lvl4pPr marL="1028659" indent="0" algn="ctr">
              <a:buNone/>
              <a:defRPr>
                <a:solidFill>
                  <a:schemeClr val="tx1">
                    <a:tint val="75000"/>
                  </a:schemeClr>
                </a:solidFill>
              </a:defRPr>
            </a:lvl4pPr>
            <a:lvl5pPr marL="1371545" indent="0" algn="ctr">
              <a:buNone/>
              <a:defRPr>
                <a:solidFill>
                  <a:schemeClr val="tx1">
                    <a:tint val="75000"/>
                  </a:schemeClr>
                </a:solidFill>
              </a:defRPr>
            </a:lvl5pPr>
            <a:lvl6pPr marL="1714432" indent="0" algn="ctr">
              <a:buNone/>
              <a:defRPr>
                <a:solidFill>
                  <a:schemeClr val="tx1">
                    <a:tint val="75000"/>
                  </a:schemeClr>
                </a:solidFill>
              </a:defRPr>
            </a:lvl6pPr>
            <a:lvl7pPr marL="2057318" indent="0" algn="ctr">
              <a:buNone/>
              <a:defRPr>
                <a:solidFill>
                  <a:schemeClr val="tx1">
                    <a:tint val="75000"/>
                  </a:schemeClr>
                </a:solidFill>
              </a:defRPr>
            </a:lvl7pPr>
            <a:lvl8pPr marL="2400204" indent="0" algn="ctr">
              <a:buNone/>
              <a:defRPr>
                <a:solidFill>
                  <a:schemeClr val="tx1">
                    <a:tint val="75000"/>
                  </a:schemeClr>
                </a:solidFill>
              </a:defRPr>
            </a:lvl8pPr>
            <a:lvl9pPr marL="2743091"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500" b="0" i="1" u="none" strike="noStrike" kern="0" cap="none" spc="-113" normalizeH="0" baseline="0" noProof="0" dirty="0" smtClean="0">
                <a:ln w="3175">
                  <a:noFill/>
                </a:ln>
                <a:gradFill flip="none" rotWithShape="1">
                  <a:gsLst>
                    <a:gs pos="0">
                      <a:schemeClr val="tx1">
                        <a:lumMod val="65000"/>
                      </a:schemeClr>
                    </a:gs>
                    <a:gs pos="50000">
                      <a:schemeClr val="tx1"/>
                    </a:gs>
                  </a:gsLst>
                  <a:lin ang="5400000" scaled="1"/>
                  <a:tileRect/>
                </a:gradFill>
                <a:effectLst>
                  <a:outerShdw blurRad="50800" dist="38100" dir="2700000" algn="tl" rotWithShape="0">
                    <a:prstClr val="black">
                      <a:alpha val="40000"/>
                    </a:prstClr>
                  </a:outerShdw>
                  <a:reflection blurRad="6350" stA="55000" endA="300" endPos="45500" dir="5400000" sy="-100000" algn="bl" rotWithShape="0"/>
                </a:effectLst>
                <a:uLnTx/>
                <a:uFillTx/>
                <a:latin typeface="+mn-lt"/>
                <a:ea typeface="+mn-ea"/>
                <a:cs typeface="Arial" charset="0"/>
              </a:defRPr>
            </a:lvl1pPr>
          </a:lstStyle>
          <a:p>
            <a:pPr lvl="0"/>
            <a:r>
              <a:rPr lang="en-US"/>
              <a:t>click to…</a:t>
            </a:r>
          </a:p>
        </p:txBody>
      </p:sp>
    </p:spTree>
    <p:extLst>
      <p:ext uri="{BB962C8B-B14F-4D97-AF65-F5344CB8AC3E}">
        <p14:creationId xmlns:p14="http://schemas.microsoft.com/office/powerpoint/2010/main" val="3051162076"/>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08000" y="1411553"/>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22610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6"/>
            <a:ext cx="11176000"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544549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4"/>
            <a:ext cx="5486400" cy="1306512"/>
          </a:xfrm>
        </p:spPr>
        <p:txBody>
          <a:bodyPr/>
          <a:lstStyle>
            <a:lvl1pPr marL="254982" indent="-254982">
              <a:lnSpc>
                <a:spcPct val="90000"/>
              </a:lnSpc>
              <a:defRPr sz="2100"/>
            </a:lvl1pPr>
            <a:lvl2pPr marL="505004" indent="-244068">
              <a:lnSpc>
                <a:spcPct val="90000"/>
              </a:lnSpc>
              <a:defRPr sz="1800"/>
            </a:lvl2pPr>
            <a:lvl3pPr marL="715339" indent="-216288">
              <a:lnSpc>
                <a:spcPct val="90000"/>
              </a:lnSpc>
              <a:defRPr sz="1500"/>
            </a:lvl3pPr>
            <a:lvl4pPr marL="920714" indent="-205375">
              <a:lnSpc>
                <a:spcPct val="90000"/>
              </a:lnSpc>
              <a:defRPr sz="1350"/>
            </a:lvl4pPr>
            <a:lvl5pPr marL="1137002" indent="-21033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11554"/>
            <a:ext cx="5486400" cy="1306512"/>
          </a:xfrm>
        </p:spPr>
        <p:txBody>
          <a:bodyPr/>
          <a:lstStyle>
            <a:lvl1pPr marL="260936" indent="-260936">
              <a:lnSpc>
                <a:spcPct val="90000"/>
              </a:lnSpc>
              <a:defRPr sz="2100"/>
            </a:lvl1pPr>
            <a:lvl2pPr marL="505004" indent="-254982">
              <a:lnSpc>
                <a:spcPct val="90000"/>
              </a:lnSpc>
              <a:defRPr sz="1800"/>
            </a:lvl2pPr>
            <a:lvl3pPr marL="721292" indent="-227202">
              <a:lnSpc>
                <a:spcPct val="90000"/>
              </a:lnSpc>
              <a:defRPr sz="1500"/>
            </a:lvl3pPr>
            <a:lvl4pPr marL="920714" indent="-199422">
              <a:lnSpc>
                <a:spcPct val="90000"/>
              </a:lnSpc>
              <a:defRPr sz="1350"/>
            </a:lvl4pPr>
            <a:lvl5pPr marL="1137002" indent="-205375">
              <a:lnSpc>
                <a:spcPct val="90000"/>
              </a:lnSpc>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427703"/>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844366"/>
            <a:ext cx="5486400"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153008"/>
          </a:xfrm>
        </p:spPr>
        <p:txBody>
          <a:bodyPr/>
          <a:lstStyle>
            <a:lvl1pPr marL="211328" indent="-211328">
              <a:defRPr sz="1725"/>
            </a:lvl1pPr>
            <a:lvl2pPr marL="421664" indent="-199422">
              <a:defRPr sz="1500"/>
            </a:lvl2pPr>
            <a:lvl3pPr marL="610172" indent="-182555">
              <a:defRPr sz="1350"/>
            </a:lvl3pPr>
            <a:lvl4pPr marL="787766" indent="-171642">
              <a:defRPr sz="1275"/>
            </a:lvl4pPr>
            <a:lvl5pPr marL="959408" indent="-154775">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4643" y="1844366"/>
            <a:ext cx="5489359" cy="259686"/>
          </a:xfrm>
        </p:spPr>
        <p:txBody>
          <a:bodyPr anchor="b"/>
          <a:lstStyle>
            <a:lvl1pPr marL="0" indent="0">
              <a:lnSpc>
                <a:spcPct val="90000"/>
              </a:lnSpc>
              <a:spcBef>
                <a:spcPts val="0"/>
              </a:spcBef>
              <a:buNone/>
              <a:defRPr sz="1875" b="1"/>
            </a:lvl1pPr>
            <a:lvl2pPr marL="342887" indent="0">
              <a:buNone/>
              <a:defRPr sz="1500" b="1"/>
            </a:lvl2pPr>
            <a:lvl3pPr marL="685772" indent="0">
              <a:buNone/>
              <a:defRPr sz="1350" b="1"/>
            </a:lvl3pPr>
            <a:lvl4pPr marL="1028659" indent="0">
              <a:buNone/>
              <a:defRPr sz="1200" b="1"/>
            </a:lvl4pPr>
            <a:lvl5pPr marL="1371545" indent="0">
              <a:buNone/>
              <a:defRPr sz="1200" b="1"/>
            </a:lvl5pPr>
            <a:lvl6pPr marL="1714432" indent="0">
              <a:buNone/>
              <a:defRPr sz="1200" b="1"/>
            </a:lvl6pPr>
            <a:lvl7pPr marL="2057318" indent="0">
              <a:buNone/>
              <a:defRPr sz="1200" b="1"/>
            </a:lvl7pPr>
            <a:lvl8pPr marL="2400204" indent="0">
              <a:buNone/>
              <a:defRPr sz="1200" b="1"/>
            </a:lvl8pPr>
            <a:lvl9pPr marL="274309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153008"/>
          </a:xfrm>
        </p:spPr>
        <p:txBody>
          <a:bodyPr/>
          <a:lstStyle>
            <a:lvl1pPr marL="222241" indent="-222241">
              <a:defRPr sz="1725"/>
            </a:lvl1pPr>
            <a:lvl2pPr marL="427616" indent="-205375">
              <a:defRPr sz="1500"/>
            </a:lvl2pPr>
            <a:lvl3pPr marL="616124" indent="-183548">
              <a:defRPr sz="1350"/>
            </a:lvl3pPr>
            <a:lvl4pPr marL="787766" indent="-177595">
              <a:defRPr sz="1275"/>
            </a:lvl4pPr>
            <a:lvl5pPr marL="959408" indent="-165689">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592209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757878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80905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62214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553223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p>
        </p:txBody>
      </p:sp>
      <p:sp>
        <p:nvSpPr>
          <p:cNvPr id="6" name="Text Placeholder 5"/>
          <p:cNvSpPr>
            <a:spLocks noGrp="1"/>
          </p:cNvSpPr>
          <p:nvPr>
            <p:ph type="body" sz="quarter" idx="10"/>
          </p:nvPr>
        </p:nvSpPr>
        <p:spPr bwMode="white">
          <a:xfrm>
            <a:off x="508000" y="1411554"/>
            <a:ext cx="11176000" cy="1601977"/>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76023166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FFFFFF"/>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1926880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836454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9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solidFill>
                <a:srgbClr val="CACFD1">
                  <a:lumMod val="75000"/>
                </a:srgbClr>
              </a:solidFill>
            </a:endParaRPr>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25475526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4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a:xfrm>
            <a:off x="6739468" y="762004"/>
            <a:ext cx="5249333" cy="152399"/>
          </a:xfrm>
          <a:prstGeom prst="rect">
            <a:avLst/>
          </a:prstGeom>
        </p:spPr>
        <p:txBody>
          <a:bodyPr/>
          <a:lstStyle>
            <a:lvl1pPr algn="l">
              <a:defRPr/>
            </a:lvl1pPr>
          </a:lstStyle>
          <a:p>
            <a:pPr>
              <a:defRPr/>
            </a:pPr>
            <a:endParaRPr lang="en-US"/>
          </a:p>
        </p:txBody>
      </p:sp>
      <p:sp>
        <p:nvSpPr>
          <p:cNvPr id="8" name="Text Placeholder 7"/>
          <p:cNvSpPr>
            <a:spLocks noGrp="1"/>
          </p:cNvSpPr>
          <p:nvPr>
            <p:ph type="body" sz="quarter" idx="12"/>
          </p:nvPr>
        </p:nvSpPr>
        <p:spPr>
          <a:xfrm>
            <a:off x="0" y="6600498"/>
            <a:ext cx="12192000" cy="304800"/>
          </a:xfrm>
        </p:spPr>
        <p:txBody>
          <a:bodyPr>
            <a:noAutofit/>
          </a:bodyPr>
          <a:lstStyle>
            <a:lvl1pPr>
              <a:buNone/>
              <a:defRPr sz="900">
                <a:solidFill>
                  <a:schemeClr val="bg1"/>
                </a:solidFill>
              </a:defRPr>
            </a:lvl1pPr>
            <a:lvl2pPr>
              <a:buNone/>
              <a:defRPr sz="900">
                <a:solidFill>
                  <a:schemeClr val="bg1"/>
                </a:solidFill>
              </a:defRPr>
            </a:lvl2pPr>
            <a:lvl3pPr>
              <a:buNone/>
              <a:defRPr sz="900">
                <a:solidFill>
                  <a:schemeClr val="bg1"/>
                </a:solidFill>
              </a:defRPr>
            </a:lvl3pPr>
            <a:lvl4pPr>
              <a:buNone/>
              <a:defRPr sz="900">
                <a:solidFill>
                  <a:schemeClr val="bg1"/>
                </a:solidFill>
              </a:defRPr>
            </a:lvl4pPr>
            <a:lvl5pP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2860344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46805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gif"/><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image" Target="../media/image6.png"/><Relationship Id="rId2" Type="http://schemas.openxmlformats.org/officeDocument/2006/relationships/slideLayout" Target="../slideLayouts/slideLayout10.xml"/><Relationship Id="rId16"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image" Target="../media/image4.jpe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image" Target="../media/image6.pn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5.png"/><Relationship Id="rId2" Type="http://schemas.openxmlformats.org/officeDocument/2006/relationships/slideLayout" Target="../slideLayouts/slideLayout23.xml"/><Relationship Id="rId16" Type="http://schemas.openxmlformats.org/officeDocument/2006/relationships/image" Target="../media/image4.jpeg"/><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3.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6.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image" Target="../media/image6.png"/><Relationship Id="rId2" Type="http://schemas.openxmlformats.org/officeDocument/2006/relationships/slideLayout" Target="../slideLayouts/slideLayout48.xml"/><Relationship Id="rId16" Type="http://schemas.openxmlformats.org/officeDocument/2006/relationships/image" Target="../media/image5.png"/><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image" Target="../media/image4.jpeg"/><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image" Target="../media/image4.jpeg"/><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theme" Target="../theme/theme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image" Target="../media/image6.png"/><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image" Target="../media/image5.png"/><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cstate="print">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0"/>
            <a:ext cx="12192000" cy="990600"/>
          </a:xfrm>
          <a:prstGeom prst="rect">
            <a:avLst/>
          </a:prstGeom>
          <a:gradFill>
            <a:gsLst>
              <a:gs pos="0">
                <a:schemeClr val="bg1"/>
              </a:gs>
              <a:gs pos="31000">
                <a:schemeClr val="bg1"/>
              </a:gs>
              <a:gs pos="100000">
                <a:schemeClr val="bg1">
                  <a:lumMod val="85000"/>
                </a:schemeClr>
              </a:gs>
            </a:gsLst>
            <a:lin ang="0" scaled="0"/>
          </a:gradFill>
          <a:ln w="38100">
            <a:solidFill>
              <a:schemeClr val="bg2"/>
            </a:solidFill>
          </a:ln>
          <a:effectLst>
            <a:outerShdw blurRad="279400" dist="88900" dir="5400000" algn="ctr" rotWithShape="0">
              <a:schemeClr val="bg2">
                <a:alpha val="85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
        <p:nvSpPr>
          <p:cNvPr id="2" name="Title Placeholder 1"/>
          <p:cNvSpPr>
            <a:spLocks noGrp="1"/>
          </p:cNvSpPr>
          <p:nvPr>
            <p:ph type="title"/>
          </p:nvPr>
        </p:nvSpPr>
        <p:spPr>
          <a:xfrm>
            <a:off x="3048000" y="228600"/>
            <a:ext cx="8940800" cy="533400"/>
          </a:xfrm>
          <a:prstGeom prst="rect">
            <a:avLst/>
          </a:prstGeom>
          <a:noFill/>
          <a:ln w="3175">
            <a:noFill/>
            <a:prstDash val="solid"/>
          </a:ln>
          <a:effectLst/>
        </p:spPr>
        <p:style>
          <a:lnRef idx="1">
            <a:schemeClr val="accent4"/>
          </a:lnRef>
          <a:fillRef idx="2">
            <a:schemeClr val="accent4"/>
          </a:fillRef>
          <a:effectRef idx="1">
            <a:schemeClr val="accent4"/>
          </a:effectRef>
          <a:fontRef idx="none"/>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3200" y="1143000"/>
            <a:ext cx="11785600" cy="5410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6908800" y="762002"/>
            <a:ext cx="5080000" cy="152399"/>
          </a:xfrm>
          <a:prstGeom prst="rect">
            <a:avLst/>
          </a:prstGeom>
        </p:spPr>
        <p:txBody>
          <a:bodyPr vert="horz" lIns="91440" tIns="45720" rIns="91440" bIns="45720" rtlCol="0" anchor="ctr"/>
          <a:lstStyle>
            <a:lvl1pPr algn="r">
              <a:defRPr sz="1200">
                <a:solidFill>
                  <a:schemeClr val="accent1">
                    <a:lumMod val="75000"/>
                  </a:schemeClr>
                </a:solidFill>
                <a:effectLst/>
              </a:defRPr>
            </a:lvl1pPr>
          </a:lstStyle>
          <a:p>
            <a:pPr fontAlgn="base">
              <a:spcBef>
                <a:spcPct val="0"/>
              </a:spcBef>
              <a:spcAft>
                <a:spcPct val="0"/>
              </a:spcAft>
              <a:defRPr/>
            </a:pPr>
            <a:endParaRPr lang="en-US">
              <a:solidFill>
                <a:srgbClr val="CACFD1">
                  <a:lumMod val="75000"/>
                </a:srgbClr>
              </a:solidFill>
              <a:latin typeface="Arial" charset="0"/>
            </a:endParaRPr>
          </a:p>
        </p:txBody>
      </p:sp>
      <p:pic>
        <p:nvPicPr>
          <p:cNvPr id="7" name="Picture 6" descr="Text logo Large.gif"/>
          <p:cNvPicPr>
            <a:picLocks noChangeAspect="1"/>
          </p:cNvPicPr>
          <p:nvPr/>
        </p:nvPicPr>
        <p:blipFill>
          <a:blip r:embed="rId11" cstate="print"/>
          <a:stretch>
            <a:fillRect/>
          </a:stretch>
        </p:blipFill>
        <p:spPr>
          <a:xfrm>
            <a:off x="101600" y="45826"/>
            <a:ext cx="2835349" cy="868574"/>
          </a:xfrm>
          <a:prstGeom prst="rect">
            <a:avLst/>
          </a:prstGeom>
        </p:spPr>
      </p:pic>
      <p:sp>
        <p:nvSpPr>
          <p:cNvPr id="9" name="Rectangle 8"/>
          <p:cNvSpPr/>
          <p:nvPr/>
        </p:nvSpPr>
        <p:spPr>
          <a:xfrm>
            <a:off x="0" y="6553200"/>
            <a:ext cx="12192000" cy="304800"/>
          </a:xfrm>
          <a:prstGeom prst="rect">
            <a:avLst/>
          </a:prstGeom>
          <a:gradFill>
            <a:gsLst>
              <a:gs pos="100000">
                <a:schemeClr val="bg1">
                  <a:alpha val="0"/>
                </a:schemeClr>
              </a:gs>
              <a:gs pos="60000">
                <a:schemeClr val="bg2">
                  <a:alpha val="30000"/>
                </a:schemeClr>
              </a:gs>
              <a:gs pos="0">
                <a:schemeClr val="bg2">
                  <a:alpha val="3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dirty="0">
              <a:solidFill>
                <a:srgbClr val="FFFFFF"/>
              </a:solidFill>
              <a:latin typeface="Cambria Math" panose="02040503050406030204" pitchFamily="18" charset="0"/>
            </a:endParaRPr>
          </a:p>
        </p:txBody>
      </p:sp>
    </p:spTree>
    <p:extLst>
      <p:ext uri="{BB962C8B-B14F-4D97-AF65-F5344CB8AC3E}">
        <p14:creationId xmlns:p14="http://schemas.microsoft.com/office/powerpoint/2010/main" val="33452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lvl1pPr algn="l" defTabSz="914400" rtl="0" eaLnBrk="1" latinLnBrk="0" hangingPunct="1">
        <a:spcBef>
          <a:spcPct val="0"/>
        </a:spcBef>
        <a:buNone/>
        <a:tabLst/>
        <a:defRPr sz="3600" kern="1200">
          <a:solidFill>
            <a:schemeClr val="tx1"/>
          </a:solidFill>
          <a:latin typeface="Cambria Math" panose="02040503050406030204" pitchFamily="18" charset="0"/>
          <a:ea typeface="+mj-ea"/>
          <a:cs typeface="+mj-cs"/>
        </a:defRPr>
      </a:lvl1pPr>
    </p:titleStyle>
    <p:bodyStyle>
      <a:lvl1pPr marL="342900" indent="-342900" algn="l" defTabSz="914400" rtl="0" eaLnBrk="1" latinLnBrk="0" hangingPunct="1">
        <a:spcBef>
          <a:spcPts val="1200"/>
        </a:spcBef>
        <a:buFont typeface="Arial" pitchFamily="34" charset="0"/>
        <a:buChar char="•"/>
        <a:defRPr sz="2400" kern="1200">
          <a:solidFill>
            <a:schemeClr val="bg1"/>
          </a:solidFill>
          <a:latin typeface="Cambria Math" panose="02040503050406030204" pitchFamily="18" charset="0"/>
          <a:ea typeface="+mn-ea"/>
          <a:cs typeface="+mn-cs"/>
        </a:defRPr>
      </a:lvl1pPr>
      <a:lvl2pPr marL="742950" indent="-285750" algn="l" defTabSz="914400" rtl="0" eaLnBrk="1" latinLnBrk="0" hangingPunct="1">
        <a:spcBef>
          <a:spcPts val="600"/>
        </a:spcBef>
        <a:buFont typeface="Arial" pitchFamily="34" charset="0"/>
        <a:buChar char="•"/>
        <a:defRPr sz="2000" kern="1200">
          <a:solidFill>
            <a:schemeClr val="bg1"/>
          </a:solidFill>
          <a:latin typeface="Cambria Math" panose="02040503050406030204" pitchFamily="18" charset="0"/>
          <a:ea typeface="+mn-ea"/>
          <a:cs typeface="+mn-cs"/>
        </a:defRPr>
      </a:lvl2pPr>
      <a:lvl3pPr marL="1143000" indent="4763" algn="l" defTabSz="914400" rtl="0" eaLnBrk="1" latinLnBrk="0" hangingPunct="1">
        <a:spcBef>
          <a:spcPct val="20000"/>
        </a:spcBef>
        <a:buFont typeface="Arial" pitchFamily="34" charset="0"/>
        <a:buNone/>
        <a:defRPr sz="1800" kern="1200">
          <a:solidFill>
            <a:schemeClr val="bg1"/>
          </a:solidFill>
          <a:latin typeface="Courier New" pitchFamily="49" charset="0"/>
          <a:ea typeface="+mn-ea"/>
          <a:cs typeface="Courier New" pitchFamily="49"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3533790"/>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7" r:id="rId12"/>
    <p:sldLayoutId id="2147483693" r:id="rId13"/>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9841849"/>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2" r:id="rId12"/>
    <p:sldLayoutId id="2147483723" r:id="rId13"/>
    <p:sldLayoutId id="2147483727" r:id="rId14"/>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7"/>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8"/>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8"/>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0666949"/>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4"/>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5"/>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5"/>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5"/>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5"/>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89"/>
            <a:ext cx="11176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5577983"/>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9" r:id="rId12"/>
    <p:sldLayoutId id="2147483776" r:id="rId13"/>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230190"/>
            <a:ext cx="11176000" cy="498598"/>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08000" y="1412878"/>
            <a:ext cx="11176000" cy="160197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0606012"/>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Lst>
  <p:transition>
    <p:fade/>
  </p:transition>
  <p:txStyles>
    <p:titleStyle>
      <a:lvl1pPr algn="l" defTabSz="685772" rtl="0" eaLnBrk="1" latinLnBrk="0" hangingPunct="1">
        <a:lnSpc>
          <a:spcPct val="90000"/>
        </a:lnSpc>
        <a:spcBef>
          <a:spcPct val="0"/>
        </a:spcBef>
        <a:buNone/>
        <a:defRPr lang="en-US" sz="3600" b="0" kern="1200" cap="none" spc="-113"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97656" indent="-297656" algn="l" defTabSz="685772" rtl="0" eaLnBrk="1" latinLnBrk="0" hangingPunct="1">
        <a:lnSpc>
          <a:spcPct val="90000"/>
        </a:lnSpc>
        <a:spcBef>
          <a:spcPct val="20000"/>
        </a:spcBef>
        <a:buFontTx/>
        <a:buBlip>
          <a:blip r:embed="rId19"/>
        </a:buBlip>
        <a:defRPr sz="2400" kern="1200">
          <a:solidFill>
            <a:schemeClr val="tx1"/>
          </a:solidFill>
          <a:latin typeface="+mn-lt"/>
          <a:ea typeface="+mn-ea"/>
          <a:cs typeface="+mn-cs"/>
        </a:defRPr>
      </a:lvl1pPr>
      <a:lvl2pPr marL="685800" indent="-297656" algn="l" defTabSz="685772" rtl="0" eaLnBrk="1" latinLnBrk="0" hangingPunct="1">
        <a:lnSpc>
          <a:spcPct val="90000"/>
        </a:lnSpc>
        <a:spcBef>
          <a:spcPct val="20000"/>
        </a:spcBef>
        <a:buFontTx/>
        <a:buBlip>
          <a:blip r:embed="rId20"/>
        </a:buBlip>
        <a:defRPr sz="2100" kern="1200">
          <a:solidFill>
            <a:schemeClr val="tx1"/>
          </a:solidFill>
          <a:latin typeface="+mn-lt"/>
          <a:ea typeface="+mn-ea"/>
          <a:cs typeface="+mn-cs"/>
        </a:defRPr>
      </a:lvl2pPr>
      <a:lvl3pPr marL="944166" indent="-258366" algn="l" defTabSz="685772" rtl="0" eaLnBrk="1" latinLnBrk="0" hangingPunct="1">
        <a:lnSpc>
          <a:spcPct val="90000"/>
        </a:lnSpc>
        <a:spcBef>
          <a:spcPct val="20000"/>
        </a:spcBef>
        <a:buFontTx/>
        <a:buBlip>
          <a:blip r:embed="rId20"/>
        </a:buBlip>
        <a:defRPr sz="1800" kern="1200">
          <a:solidFill>
            <a:schemeClr val="tx1"/>
          </a:solidFill>
          <a:latin typeface="+mn-lt"/>
          <a:ea typeface="+mn-ea"/>
          <a:cs typeface="+mn-cs"/>
        </a:defRPr>
      </a:lvl3pPr>
      <a:lvl4pPr marL="1203722" indent="-259556" algn="l" defTabSz="685772" rtl="0" eaLnBrk="1" latinLnBrk="0" hangingPunct="1">
        <a:lnSpc>
          <a:spcPct val="90000"/>
        </a:lnSpc>
        <a:spcBef>
          <a:spcPct val="20000"/>
        </a:spcBef>
        <a:buFontTx/>
        <a:buBlip>
          <a:blip r:embed="rId20"/>
        </a:buBlip>
        <a:defRPr sz="1800" kern="1200">
          <a:solidFill>
            <a:schemeClr val="tx1"/>
          </a:solidFill>
          <a:latin typeface="+mn-lt"/>
          <a:ea typeface="+mn-ea"/>
          <a:cs typeface="+mn-cs"/>
        </a:defRPr>
      </a:lvl4pPr>
      <a:lvl5pPr marL="1456135" indent="-252413" algn="l" defTabSz="685772" rtl="0" eaLnBrk="1" latinLnBrk="0" hangingPunct="1">
        <a:lnSpc>
          <a:spcPct val="90000"/>
        </a:lnSpc>
        <a:spcBef>
          <a:spcPct val="20000"/>
        </a:spcBef>
        <a:buFontTx/>
        <a:buBlip>
          <a:blip r:embed="rId20"/>
        </a:buBlip>
        <a:defRPr sz="1800" kern="1200">
          <a:solidFill>
            <a:schemeClr val="tx1"/>
          </a:solidFill>
          <a:latin typeface="+mn-lt"/>
          <a:ea typeface="+mn-ea"/>
          <a:cs typeface="+mn-cs"/>
        </a:defRPr>
      </a:lvl5pPr>
      <a:lvl6pPr marL="188587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61"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47"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34" indent="-171443" algn="l" defTabSz="68577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2" rtl="0" eaLnBrk="1" latinLnBrk="0" hangingPunct="1">
        <a:defRPr sz="1350" kern="1200">
          <a:solidFill>
            <a:schemeClr val="tx1"/>
          </a:solidFill>
          <a:latin typeface="+mn-lt"/>
          <a:ea typeface="+mn-ea"/>
          <a:cs typeface="+mn-cs"/>
        </a:defRPr>
      </a:lvl1pPr>
      <a:lvl2pPr marL="342887" algn="l" defTabSz="685772" rtl="0" eaLnBrk="1" latinLnBrk="0" hangingPunct="1">
        <a:defRPr sz="1350" kern="1200">
          <a:solidFill>
            <a:schemeClr val="tx1"/>
          </a:solidFill>
          <a:latin typeface="+mn-lt"/>
          <a:ea typeface="+mn-ea"/>
          <a:cs typeface="+mn-cs"/>
        </a:defRPr>
      </a:lvl2pPr>
      <a:lvl3pPr marL="685772" algn="l" defTabSz="685772" rtl="0" eaLnBrk="1" latinLnBrk="0" hangingPunct="1">
        <a:defRPr sz="1350" kern="1200">
          <a:solidFill>
            <a:schemeClr val="tx1"/>
          </a:solidFill>
          <a:latin typeface="+mn-lt"/>
          <a:ea typeface="+mn-ea"/>
          <a:cs typeface="+mn-cs"/>
        </a:defRPr>
      </a:lvl3pPr>
      <a:lvl4pPr marL="1028659" algn="l" defTabSz="685772" rtl="0" eaLnBrk="1" latinLnBrk="0" hangingPunct="1">
        <a:defRPr sz="1350" kern="1200">
          <a:solidFill>
            <a:schemeClr val="tx1"/>
          </a:solidFill>
          <a:latin typeface="+mn-lt"/>
          <a:ea typeface="+mn-ea"/>
          <a:cs typeface="+mn-cs"/>
        </a:defRPr>
      </a:lvl4pPr>
      <a:lvl5pPr marL="1371545" algn="l" defTabSz="685772" rtl="0" eaLnBrk="1" latinLnBrk="0" hangingPunct="1">
        <a:defRPr sz="1350" kern="1200">
          <a:solidFill>
            <a:schemeClr val="tx1"/>
          </a:solidFill>
          <a:latin typeface="+mn-lt"/>
          <a:ea typeface="+mn-ea"/>
          <a:cs typeface="+mn-cs"/>
        </a:defRPr>
      </a:lvl5pPr>
      <a:lvl6pPr marL="1714432" algn="l" defTabSz="685772" rtl="0" eaLnBrk="1" latinLnBrk="0" hangingPunct="1">
        <a:defRPr sz="1350" kern="1200">
          <a:solidFill>
            <a:schemeClr val="tx1"/>
          </a:solidFill>
          <a:latin typeface="+mn-lt"/>
          <a:ea typeface="+mn-ea"/>
          <a:cs typeface="+mn-cs"/>
        </a:defRPr>
      </a:lvl6pPr>
      <a:lvl7pPr marL="2057318" algn="l" defTabSz="685772" rtl="0" eaLnBrk="1" latinLnBrk="0" hangingPunct="1">
        <a:defRPr sz="1350" kern="1200">
          <a:solidFill>
            <a:schemeClr val="tx1"/>
          </a:solidFill>
          <a:latin typeface="+mn-lt"/>
          <a:ea typeface="+mn-ea"/>
          <a:cs typeface="+mn-cs"/>
        </a:defRPr>
      </a:lvl7pPr>
      <a:lvl8pPr marL="2400204" algn="l" defTabSz="685772" rtl="0" eaLnBrk="1" latinLnBrk="0" hangingPunct="1">
        <a:defRPr sz="1350" kern="1200">
          <a:solidFill>
            <a:schemeClr val="tx1"/>
          </a:solidFill>
          <a:latin typeface="+mn-lt"/>
          <a:ea typeface="+mn-ea"/>
          <a:cs typeface="+mn-cs"/>
        </a:defRPr>
      </a:lvl8pPr>
      <a:lvl9pPr marL="2743091" algn="l" defTabSz="685772"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3" Type="http://schemas.openxmlformats.org/officeDocument/2006/relationships/image" Target="../media/image182.png"/><Relationship Id="rId3" Type="http://schemas.openxmlformats.org/officeDocument/2006/relationships/image" Target="../media/image21.png"/><Relationship Id="rId7" Type="http://schemas.openxmlformats.org/officeDocument/2006/relationships/customXml" Target="../ink/ink2.xml"/><Relationship Id="rId12" Type="http://schemas.openxmlformats.org/officeDocument/2006/relationships/image" Target="../media/image27.png"/><Relationship Id="rId2" Type="http://schemas.openxmlformats.org/officeDocument/2006/relationships/image" Target="../media/image4.jpeg"/><Relationship Id="rId1" Type="http://schemas.openxmlformats.org/officeDocument/2006/relationships/slideLayout" Target="../slideLayouts/slideLayout18.xml"/><Relationship Id="rId6" Type="http://schemas.openxmlformats.org/officeDocument/2006/relationships/image" Target="../media/image190.png"/><Relationship Id="rId4" Type="http://schemas.openxmlformats.org/officeDocument/2006/relationships/customXml" Target="../ink/ink1.xml"/><Relationship Id="rId1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hyperlink" Target="https://em8e.eecs.umich.edu/jsmodules/ulaby_modules.html" TargetMode="External"/><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8.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80.PNG"/><Relationship Id="rId1" Type="http://schemas.openxmlformats.org/officeDocument/2006/relationships/slideLayout" Target="../slideLayouts/slideLayout18.xml"/><Relationship Id="rId6" Type="http://schemas.openxmlformats.org/officeDocument/2006/relationships/image" Target="../media/image30.png"/><Relationship Id="rId5" Type="http://schemas.openxmlformats.org/officeDocument/2006/relationships/image" Target="../media/image100.png"/><Relationship Id="rId4" Type="http://schemas.openxmlformats.org/officeDocument/2006/relationships/image" Target="../media/image90.PNG"/></Relationships>
</file>

<file path=ppt/slides/_rels/slide14.xml.rels><?xml version="1.0" encoding="UTF-8" standalone="yes"?>
<Relationships xmlns="http://schemas.openxmlformats.org/package/2006/relationships"><Relationship Id="rId8" Type="http://schemas.openxmlformats.org/officeDocument/2006/relationships/image" Target="../media/image251.png"/><Relationship Id="rId3" Type="http://schemas.openxmlformats.org/officeDocument/2006/relationships/image" Target="../media/image21.png"/><Relationship Id="rId2" Type="http://schemas.openxmlformats.org/officeDocument/2006/relationships/image" Target="../media/image4.jpeg"/><Relationship Id="rId1" Type="http://schemas.openxmlformats.org/officeDocument/2006/relationships/slideLayout" Target="../slideLayouts/slideLayout18.xml"/><Relationship Id="rId11" Type="http://schemas.openxmlformats.org/officeDocument/2006/relationships/image" Target="../media/image281.png"/><Relationship Id="rId10" Type="http://schemas.openxmlformats.org/officeDocument/2006/relationships/image" Target="../media/image261.png"/><Relationship Id="rId4" Type="http://schemas.openxmlformats.org/officeDocument/2006/relationships/customXml" Target="../ink/ink3.xml"/><Relationship Id="rId9" Type="http://schemas.openxmlformats.org/officeDocument/2006/relationships/customXml" Target="../ink/ink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jpeg"/><Relationship Id="rId1" Type="http://schemas.openxmlformats.org/officeDocument/2006/relationships/slideLayout" Target="../slideLayouts/slideLayout18.xml"/><Relationship Id="rId5" Type="http://schemas.openxmlformats.org/officeDocument/2006/relationships/image" Target="../media/image300.png"/><Relationship Id="rId4" Type="http://schemas.openxmlformats.org/officeDocument/2006/relationships/image" Target="../media/image290.png"/></Relationships>
</file>

<file path=ppt/slides/_rels/slide16.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image" Target="../media/image280.png"/><Relationship Id="rId2" Type="http://schemas.openxmlformats.org/officeDocument/2006/relationships/image" Target="../media/image4.jpeg"/><Relationship Id="rId1" Type="http://schemas.openxmlformats.org/officeDocument/2006/relationships/slideLayout" Target="../slideLayouts/slideLayout18.xml"/><Relationship Id="rId5" Type="http://schemas.openxmlformats.org/officeDocument/2006/relationships/customXml" Target="../ink/ink5.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1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2.jp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3.xml"/><Relationship Id="rId1" Type="http://schemas.openxmlformats.org/officeDocument/2006/relationships/slideLayout" Target="../slideLayouts/slideLayout60.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0.png"/><Relationship Id="rId1" Type="http://schemas.openxmlformats.org/officeDocument/2006/relationships/slideLayout" Target="../slideLayouts/slideLayout18.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4.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6.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7.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8.png"/><Relationship Id="rId1" Type="http://schemas.openxmlformats.org/officeDocument/2006/relationships/slideLayout" Target="../slideLayouts/slideLayout18.xml"/><Relationship Id="rId5" Type="http://schemas.openxmlformats.org/officeDocument/2006/relationships/image" Target="../media/image47.jpg"/><Relationship Id="rId4" Type="http://schemas.openxmlformats.org/officeDocument/2006/relationships/image" Target="../media/image56.jpg"/></Relationships>
</file>

<file path=ppt/slides/_rels/slide3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59.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91.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10.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8.xml"/><Relationship Id="rId5" Type="http://schemas.openxmlformats.org/officeDocument/2006/relationships/image" Target="../media/image371.png"/><Relationship Id="rId4" Type="http://schemas.openxmlformats.org/officeDocument/2006/relationships/image" Target="../media/image64.jpg"/></Relationships>
</file>

<file path=ppt/slides/_rels/slide3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5.png"/><Relationship Id="rId1" Type="http://schemas.openxmlformats.org/officeDocument/2006/relationships/slideLayout" Target="../slideLayouts/slideLayout18.xml"/><Relationship Id="rId6" Type="http://schemas.openxmlformats.org/officeDocument/2006/relationships/image" Target="../media/image66.PNG"/><Relationship Id="rId5" Type="http://schemas.openxmlformats.org/officeDocument/2006/relationships/image" Target="../media/image370.png"/></Relationships>
</file>

<file path=ppt/slides/_rels/slide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481.PNG"/><Relationship Id="rId1" Type="http://schemas.openxmlformats.org/officeDocument/2006/relationships/slideLayout" Target="../slideLayouts/slideLayout18.xml"/><Relationship Id="rId4" Type="http://schemas.openxmlformats.org/officeDocument/2006/relationships/image" Target="../media/image69.png"/></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551.png"/><Relationship Id="rId2" Type="http://schemas.openxmlformats.org/officeDocument/2006/relationships/image" Target="../media/image68.jpg"/><Relationship Id="rId1" Type="http://schemas.openxmlformats.org/officeDocument/2006/relationships/slideLayout" Target="../slideLayouts/slideLayout18.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520.png"/></Relationships>
</file>

<file path=ppt/slides/_rels/slide3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550.png"/><Relationship Id="rId1" Type="http://schemas.openxmlformats.org/officeDocument/2006/relationships/slideLayout" Target="../slideLayouts/slideLayout18.xml"/><Relationship Id="rId4" Type="http://schemas.openxmlformats.org/officeDocument/2006/relationships/image" Target="../media/image74.png"/></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510.png"/><Relationship Id="rId1" Type="http://schemas.openxmlformats.org/officeDocument/2006/relationships/slideLayout" Target="../slideLayouts/slideLayout18.xml"/><Relationship Id="rId4" Type="http://schemas.openxmlformats.org/officeDocument/2006/relationships/image" Target="../media/image75.png"/></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18.xml"/><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620.png"/><Relationship Id="rId1" Type="http://schemas.openxmlformats.org/officeDocument/2006/relationships/slideLayout" Target="../slideLayouts/slideLayout18.xml"/><Relationship Id="rId4" Type="http://schemas.openxmlformats.org/officeDocument/2006/relationships/image" Target="../media/image79.png"/></Relationships>
</file>

<file path=ppt/slides/_rels/slide43.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84.PNG"/><Relationship Id="rId4" Type="http://schemas.openxmlformats.org/officeDocument/2006/relationships/image" Target="../media/image83.png"/></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430.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441.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471.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440.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20.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50.pn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70.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200.png"/><Relationship Id="rId7" Type="http://schemas.openxmlformats.org/officeDocument/2006/relationships/image" Target="../media/image220.png"/><Relationship Id="rId2" Type="http://schemas.openxmlformats.org/officeDocument/2006/relationships/image" Target="../media/image150.png"/><Relationship Id="rId1" Type="http://schemas.openxmlformats.org/officeDocument/2006/relationships/slideLayout" Target="../slideLayouts/slideLayout18.xml"/><Relationship Id="rId6" Type="http://schemas.openxmlformats.org/officeDocument/2006/relationships/image" Target="../media/image210.png"/><Relationship Id="rId5" Type="http://schemas.openxmlformats.org/officeDocument/2006/relationships/image" Target="../media/image151.png"/><Relationship Id="rId4" Type="http://schemas.openxmlformats.org/officeDocument/2006/relationships/image" Target="../media/image32.jpg"/><Relationship Id="rId9" Type="http://schemas.openxmlformats.org/officeDocument/2006/relationships/image" Target="../media/image240.png"/></Relationships>
</file>

<file path=ppt/slides/_rels/slide58.xml.rels><?xml version="1.0" encoding="UTF-8" standalone="yes"?>
<Relationships xmlns="http://schemas.openxmlformats.org/package/2006/relationships"><Relationship Id="rId3" Type="http://schemas.openxmlformats.org/officeDocument/2006/relationships/hyperlink" Target="http://em7e.eecs.umich.edu/ulaby_modules_choice.html" TargetMode="External"/><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91.PNG"/><Relationship Id="rId5" Type="http://schemas.openxmlformats.org/officeDocument/2006/relationships/image" Target="../media/image89.PNG"/><Relationship Id="rId4" Type="http://schemas.openxmlformats.org/officeDocument/2006/relationships/hyperlink" Target="https://content.byui.edu/file/d49ae7a7-4f72-4228-8693-0739af2de96d/1/Ulaby%20Java%20Applets/Transient%20Response%20mod2_10_webstart.jnl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3914" y="1018906"/>
            <a:ext cx="10242551" cy="1523495"/>
          </a:xfrm>
        </p:spPr>
        <p:txBody>
          <a:bodyPr/>
          <a:lstStyle/>
          <a:p>
            <a:r>
              <a:rPr lang="en-US" dirty="0"/>
              <a:t>ECEN 390</a:t>
            </a:r>
            <a:br>
              <a:rPr lang="en-US" dirty="0"/>
            </a:br>
            <a:r>
              <a:rPr lang="en-US" dirty="0"/>
              <a:t>Electromagnetics</a:t>
            </a:r>
          </a:p>
        </p:txBody>
      </p:sp>
      <p:sp>
        <p:nvSpPr>
          <p:cNvPr id="4" name="Rectangle 3"/>
          <p:cNvSpPr/>
          <p:nvPr/>
        </p:nvSpPr>
        <p:spPr>
          <a:xfrm>
            <a:off x="793914" y="3220184"/>
            <a:ext cx="4931383" cy="707886"/>
          </a:xfrm>
          <a:prstGeom prst="rect">
            <a:avLst/>
          </a:prstGeom>
        </p:spPr>
        <p:txBody>
          <a:bodyPr wrap="square">
            <a:spAutoFit/>
          </a:bodyPr>
          <a:lstStyle/>
          <a:p>
            <a:r>
              <a:rPr lang="en-US" sz="4000" spc="-15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cs typeface="Arial" charset="0"/>
              </a:rPr>
              <a:t>Transmission Lines 2</a:t>
            </a:r>
            <a:endParaRPr lang="en-US" sz="4000" dirty="0"/>
          </a:p>
        </p:txBody>
      </p:sp>
    </p:spTree>
    <p:extLst>
      <p:ext uri="{BB962C8B-B14F-4D97-AF65-F5344CB8AC3E}">
        <p14:creationId xmlns:p14="http://schemas.microsoft.com/office/powerpoint/2010/main" val="7654850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283123" y="-57510"/>
            <a:ext cx="4830535" cy="553998"/>
          </a:xfrm>
        </p:spPr>
        <p:txBody>
          <a:bodyPr/>
          <a:lstStyle/>
          <a:p>
            <a:pPr algn="ctr"/>
            <a:r>
              <a:rPr lang="en-US" sz="4000" dirty="0"/>
              <a:t>Impedance Matching</a:t>
            </a:r>
          </a:p>
        </p:txBody>
      </p:sp>
      <mc:AlternateContent xmlns:mc="http://schemas.openxmlformats.org/markup-compatibility/2006" xmlns:a14="http://schemas.microsoft.com/office/drawing/2010/main">
        <mc:Choice Requires="a14">
          <p:sp>
            <p:nvSpPr>
              <p:cNvPr id="4" name="Rectangle 3"/>
              <p:cNvSpPr/>
              <p:nvPr/>
            </p:nvSpPr>
            <p:spPr>
              <a:xfrm>
                <a:off x="107005" y="547535"/>
                <a:ext cx="12003932" cy="623254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285750">
                  <a:buFont typeface="Arial" panose="020B0604020202020204" pitchFamily="34" charset="0"/>
                  <a:buChar char="•"/>
                  <a:defRPr/>
                </a:pPr>
                <a14:m>
                  <m:oMath xmlns:m="http://schemas.openxmlformats.org/officeDocument/2006/math">
                    <m:r>
                      <m:rPr>
                        <m:sty m:val="p"/>
                      </m:rPr>
                      <a:rPr lang="en-US" smtClean="0">
                        <a:solidFill>
                          <a:srgbClr val="000000"/>
                        </a:solidFill>
                        <a:latin typeface="Cambria Math" panose="02040503050406030204" pitchFamily="18" charset="0"/>
                        <a:ea typeface="Cambria Math" panose="02040503050406030204" pitchFamily="18" charset="0"/>
                      </a:rPr>
                      <m:t>With</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matching</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network</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at</m:t>
                    </m:r>
                    <m:r>
                      <a:rPr lang="en-US" smtClean="0">
                        <a:solidFill>
                          <a:srgbClr val="000000"/>
                        </a:solidFill>
                        <a:latin typeface="Cambria Math" panose="02040503050406030204" pitchFamily="18" charset="0"/>
                        <a:ea typeface="Cambria Math" panose="02040503050406030204" pitchFamily="18" charset="0"/>
                      </a:rPr>
                      <m:t> </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MM</m:t>
                        </m:r>
                      </m:e>
                      <m:sup>
                        <m:r>
                          <a:rPr lang="en-US">
                            <a:solidFill>
                              <a:srgbClr val="000000"/>
                            </a:solidFill>
                            <a:latin typeface="Cambria Math" panose="02040503050406030204" pitchFamily="18" charset="0"/>
                            <a:ea typeface="Cambria Math" panose="02040503050406030204" pitchFamily="18" charset="0"/>
                          </a:rPr>
                          <m:t>′</m:t>
                        </m:r>
                      </m:sup>
                    </m:sSup>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for</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the</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feedline</m:t>
                    </m:r>
                    <m:r>
                      <a:rPr lang="en-US">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i="1">
                            <a:solidFill>
                              <a:srgbClr val="000000"/>
                            </a:solidFill>
                            <a:latin typeface="Cambria Math" panose="02040503050406030204" pitchFamily="18" charset="0"/>
                            <a:ea typeface="Cambria Math" panose="02040503050406030204" pitchFamily="18" charset="0"/>
                          </a:rPr>
                          <m:t>Γ</m:t>
                        </m:r>
                      </m:e>
                      <m:sub>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MM</m:t>
                            </m:r>
                          </m:e>
                          <m:sup>
                            <m:r>
                              <a:rPr lang="en-US">
                                <a:solidFill>
                                  <a:srgbClr val="000000"/>
                                </a:solidFill>
                                <a:latin typeface="Cambria Math" panose="02040503050406030204" pitchFamily="18" charset="0"/>
                                <a:ea typeface="Cambria Math" panose="02040503050406030204" pitchFamily="18" charset="0"/>
                              </a:rPr>
                              <m:t>′</m:t>
                            </m:r>
                          </m:sup>
                        </m:sSup>
                      </m:sub>
                    </m:sSub>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b="0" i="0" smtClean="0">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b="0" i="0" smtClean="0">
                                <a:solidFill>
                                  <a:srgbClr val="000000"/>
                                </a:solidFill>
                                <a:latin typeface="Cambria Math" panose="02040503050406030204" pitchFamily="18" charset="0"/>
                                <a:ea typeface="Cambria Math" panose="02040503050406030204" pitchFamily="18" charset="0"/>
                              </a:rPr>
                              <m:t>0</m:t>
                            </m:r>
                          </m:sub>
                        </m:sSub>
                      </m:den>
                    </m:f>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and</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want</m:t>
                    </m:r>
                    <m:r>
                      <a:rPr lang="en-US">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oMath>
                </a14:m>
                <a:r>
                  <a:rPr lang="en-US" dirty="0">
                    <a:solidFill>
                      <a:srgbClr val="000000"/>
                    </a:solidFill>
                    <a:latin typeface="Cambria Math" panose="02040503050406030204" pitchFamily="18" charset="0"/>
                    <a:cs typeface="Times New Roman" panose="02020603050405020304" pitchFamily="18" charset="0"/>
                  </a:rPr>
                  <a:t>.</a:t>
                </a:r>
              </a:p>
              <a:p>
                <a:pPr marL="285750" lvl="0" indent="-285750">
                  <a:buFont typeface="Arial" panose="020B0604020202020204" pitchFamily="34" charset="0"/>
                  <a:buChar char="•"/>
                  <a:defRPr/>
                </a:pPr>
                <a:endParaRPr lang="en-US" dirty="0">
                  <a:solidFill>
                    <a:srgbClr val="000000"/>
                  </a:solidFill>
                  <a:latin typeface="Cambria Math" panose="02040503050406030204" pitchFamily="18" charset="0"/>
                  <a:cs typeface="Times New Roman" panose="02020603050405020304" pitchFamily="18" charset="0"/>
                </a:endParaRPr>
              </a:p>
              <a:p>
                <a:pPr marL="285750" lvl="0" indent="-285750">
                  <a:buFont typeface="Arial" panose="020B0604020202020204" pitchFamily="34" charset="0"/>
                  <a:buChar char="•"/>
                  <a:defRPr/>
                </a:pPr>
                <a14:m>
                  <m:oMath xmlns:m="http://schemas.openxmlformats.org/officeDocument/2006/math">
                    <m:r>
                      <m:rPr>
                        <m:sty m:val="p"/>
                      </m:rPr>
                      <a:rPr lang="en-US" smtClean="0">
                        <a:solidFill>
                          <a:srgbClr val="000000"/>
                        </a:solidFill>
                        <a:latin typeface="Cambria Math" panose="02040503050406030204" pitchFamily="18" charset="0"/>
                        <a:ea typeface="Cambria Math" panose="02040503050406030204" pitchFamily="18" charset="0"/>
                      </a:rPr>
                      <m:t>F</m:t>
                    </m:r>
                    <m:r>
                      <m:rPr>
                        <m:sty m:val="p"/>
                      </m:rPr>
                      <a:rPr lang="en-US" b="0" i="0" smtClean="0">
                        <a:solidFill>
                          <a:srgbClr val="000000"/>
                        </a:solidFill>
                        <a:latin typeface="Cambria Math" panose="02040503050406030204" pitchFamily="18" charset="0"/>
                        <a:ea typeface="Cambria Math" panose="02040503050406030204" pitchFamily="18" charset="0"/>
                      </a:rPr>
                      <m:t>or</m:t>
                    </m:r>
                    <m:r>
                      <a:rPr lang="en-US">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r>
                      <a:rPr lang="en-US" b="0" i="1" smtClean="0">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i="1">
                            <a:solidFill>
                              <a:srgbClr val="000000"/>
                            </a:solidFill>
                            <a:latin typeface="Cambria Math" panose="02040503050406030204" pitchFamily="18" charset="0"/>
                            <a:ea typeface="Cambria Math" panose="02040503050406030204" pitchFamily="18" charset="0"/>
                          </a:rPr>
                          <m:t>Γ</m:t>
                        </m:r>
                      </m:e>
                      <m:sub>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MM</m:t>
                            </m:r>
                          </m:e>
                          <m:sup>
                            <m:r>
                              <a:rPr lang="en-US">
                                <a:solidFill>
                                  <a:srgbClr val="000000"/>
                                </a:solidFill>
                                <a:latin typeface="Cambria Math" panose="02040503050406030204" pitchFamily="18" charset="0"/>
                                <a:ea typeface="Cambria Math" panose="02040503050406030204" pitchFamily="18" charset="0"/>
                              </a:rPr>
                              <m:t>′</m:t>
                            </m:r>
                          </m:sup>
                        </m:sSup>
                      </m:sub>
                    </m:sSub>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den>
                    </m:f>
                    <m:r>
                      <a:rPr lang="en-US" b="0" i="1" smtClean="0">
                        <a:solidFill>
                          <a:srgbClr val="000000"/>
                        </a:solidFill>
                        <a:latin typeface="Cambria Math" panose="02040503050406030204" pitchFamily="18" charset="0"/>
                        <a:ea typeface="Cambria Math" panose="02040503050406030204" pitchFamily="18" charset="0"/>
                      </a:rPr>
                      <m:t>. </m:t>
                    </m:r>
                  </m:oMath>
                </a14:m>
                <a:endParaRPr lang="en-US" dirty="0">
                  <a:solidFill>
                    <a:srgbClr val="000000"/>
                  </a:solidFill>
                  <a:latin typeface="Cambria Math" panose="02040503050406030204" pitchFamily="18" charset="0"/>
                  <a:cs typeface="Times New Roman" panose="02020603050405020304" pitchFamily="18" charset="0"/>
                </a:endParaRPr>
              </a:p>
              <a:p>
                <a:pPr marL="285750" lvl="0" indent="-285750">
                  <a:buFont typeface="Arial" panose="020B0604020202020204" pitchFamily="34" charset="0"/>
                  <a:buChar char="•"/>
                  <a:defRPr/>
                </a:pPr>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defRPr/>
                </a:pPr>
                <a14:m>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rPr>
                      <m:t>Characteristic</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impedance</m:t>
                    </m:r>
                    <m:r>
                      <a:rPr lang="en-US">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r>
                      <a:rPr lang="en-US" i="1">
                        <a:solidFill>
                          <a:srgbClr val="000000"/>
                        </a:solidFill>
                        <a:latin typeface="Cambria Math" panose="02040503050406030204" pitchFamily="18" charset="0"/>
                        <a:ea typeface="Cambria Math" panose="020405030504060302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f>
                          <m:fPr>
                            <m:ctrlPr>
                              <a:rPr lang="en-US" i="1">
                                <a:solidFill>
                                  <a:srgbClr val="000000"/>
                                </a:solidFill>
                                <a:latin typeface="Cambria Math" panose="02040503050406030204" pitchFamily="18" charset="0"/>
                                <a:cs typeface="Times New Roman" panose="02020603050405020304" pitchFamily="18" charset="0"/>
                              </a:rPr>
                            </m:ctrlPr>
                          </m:fPr>
                          <m:num>
                            <m:sSup>
                              <m:sSupPr>
                                <m:ctrlP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m:t>
                                </m:r>
                              </m:e>
                              <m:sup>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p>
                          </m:num>
                          <m:den>
                            <m:sSup>
                              <m:sSupPr>
                                <m:ctrlP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m:t>
                                </m:r>
                              </m:e>
                              <m:sup>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p>
                          </m:den>
                        </m:f>
                      </m:e>
                    </m:rad>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for</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a</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lossless</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transmission</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line</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at</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oMath>
                </a14:m>
                <a:endParaRPr lang="en-US"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a:p>
                <a:pPr>
                  <a:defRPr/>
                </a:pPr>
                <a14:m>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mid</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frequencies</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and</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above</m:t>
                    </m:r>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meaning</m:t>
                    </m:r>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r>
                      <a:rPr lang="en-US">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has</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no</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imaginary</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part</m:t>
                    </m:r>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a:solidFill>
                      <a:srgbClr val="000000"/>
                    </a:solidFill>
                    <a:latin typeface="Cambria Math" panose="02040503050406030204" pitchFamily="18" charset="0"/>
                    <a:cs typeface="Times New Roman" panose="02020603050405020304" pitchFamily="18" charset="0"/>
                  </a:rPr>
                  <a:t>Consequently, </a:t>
                </a:r>
              </a:p>
              <a:p>
                <a:pPr>
                  <a:defRPr/>
                </a:pPr>
                <a:r>
                  <a:rPr lang="en-US" dirty="0">
                    <a:solidFill>
                      <a:srgbClr val="000000"/>
                    </a:solidFill>
                    <a:latin typeface="Cambria Math" panose="02040503050406030204" pitchFamily="18" charset="0"/>
                    <a:cs typeface="Times New Roman" panose="02020603050405020304" pitchFamily="18" charset="0"/>
                  </a:rPr>
                  <a:t>need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in</m:t>
                        </m:r>
                      </m:sub>
                    </m:sSub>
                  </m:oMath>
                </a14:m>
                <a:r>
                  <a:rPr lang="en-US" dirty="0">
                    <a:solidFill>
                      <a:srgbClr val="000000"/>
                    </a:solidFill>
                    <a:latin typeface="Cambria Math" panose="02040503050406030204" pitchFamily="18" charset="0"/>
                    <a:cs typeface="Times New Roman" panose="02020603050405020304" pitchFamily="18" charset="0"/>
                  </a:rPr>
                  <a:t> = R + j0 for typical impedance matching network.</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With the matching network approach, reflections are eliminated </a:t>
                </a:r>
              </a:p>
              <a:p>
                <a:r>
                  <a:rPr lang="en-US" dirty="0">
                    <a:solidFill>
                      <a:srgbClr val="000000"/>
                    </a:solidFill>
                    <a:latin typeface="Cambria Math" panose="02040503050406030204" pitchFamily="18" charset="0"/>
                    <a:ea typeface="Cambria Math" panose="02040503050406030204" pitchFamily="18" charset="0"/>
                  </a:rPr>
                  <a:t>from the feedline, i.e., from the generator terminals to MM’, but not </a:t>
                </a:r>
              </a:p>
              <a:p>
                <a:r>
                  <a:rPr lang="en-US" dirty="0">
                    <a:solidFill>
                      <a:srgbClr val="000000"/>
                    </a:solidFill>
                    <a:latin typeface="Cambria Math" panose="02040503050406030204" pitchFamily="18" charset="0"/>
                    <a:ea typeface="Cambria Math" panose="02040503050406030204" pitchFamily="18" charset="0"/>
                  </a:rPr>
                  <a:t>necessarily from the load to the input of the matching network, </a:t>
                </a:r>
              </a:p>
              <a:p>
                <a:r>
                  <a:rPr lang="en-US" dirty="0">
                    <a:solidFill>
                      <a:srgbClr val="000000"/>
                    </a:solidFill>
                    <a:latin typeface="Cambria Math" panose="02040503050406030204" pitchFamily="18" charset="0"/>
                    <a:ea typeface="Cambria Math" panose="02040503050406030204" pitchFamily="18" charset="0"/>
                  </a:rPr>
                  <a:t>i.e., from AA’ to MM’ in the adjacent figures.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Smith Chart aids in impedance matching network calculations.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547535"/>
                <a:ext cx="12003932" cy="6232540"/>
              </a:xfrm>
              <a:prstGeom prst="rect">
                <a:avLst/>
              </a:prstGeom>
              <a:blipFill>
                <a:blip r:embed="rId2"/>
                <a:stretch>
                  <a:fillRect l="-25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98C22BD-9201-4F4A-B439-FCCDE44D0F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4721" y="611916"/>
            <a:ext cx="3540764" cy="1490111"/>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17444" y="2989356"/>
            <a:ext cx="5118040" cy="3500398"/>
          </a:xfrm>
          <a:prstGeom prst="rect">
            <a:avLst/>
          </a:prstGeom>
        </p:spPr>
      </p:pic>
    </p:spTree>
    <p:extLst>
      <p:ext uri="{BB962C8B-B14F-4D97-AF65-F5344CB8AC3E}">
        <p14:creationId xmlns:p14="http://schemas.microsoft.com/office/powerpoint/2010/main" val="3656829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 calcmode="lin" valueType="num">
                                      <p:cBhvr additive="base">
                                        <p:cTn id="1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anim calcmode="lin" valueType="num">
                                      <p:cBhvr additive="base">
                                        <p:cTn id="2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anim calcmode="lin" valueType="num">
                                      <p:cBhvr additive="base">
                                        <p:cTn id="3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anim calcmode="lin" valueType="num">
                                      <p:cBhvr additive="base">
                                        <p:cTn id="3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anim calcmode="lin" valueType="num">
                                      <p:cBhvr additive="base">
                                        <p:cTn id="3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15" end="15"/>
                                            </p:txEl>
                                          </p:spTgt>
                                        </p:tgtEl>
                                        <p:attrNameLst>
                                          <p:attrName>style.visibility</p:attrName>
                                        </p:attrNameLst>
                                      </p:cBhvr>
                                      <p:to>
                                        <p:strVal val="visible"/>
                                      </p:to>
                                    </p:set>
                                    <p:anim calcmode="lin" valueType="num">
                                      <p:cBhvr additive="base">
                                        <p:cTn id="43"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618565" y="-38656"/>
            <a:ext cx="9914964" cy="553998"/>
          </a:xfrm>
        </p:spPr>
        <p:txBody>
          <a:bodyPr/>
          <a:lstStyle/>
          <a:p>
            <a:pPr algn="ctr"/>
            <a:r>
              <a:rPr lang="en-US" sz="4000" dirty="0"/>
              <a:t>Voltage Reflection Coefficients Plane</a:t>
            </a:r>
          </a:p>
        </p:txBody>
      </p:sp>
      <mc:AlternateContent xmlns:mc="http://schemas.openxmlformats.org/markup-compatibility/2006" xmlns:a14="http://schemas.microsoft.com/office/drawing/2010/main">
        <mc:Choice Requires="a14">
          <p:sp>
            <p:nvSpPr>
              <p:cNvPr id="4" name="Rectangle 3"/>
              <p:cNvSpPr/>
              <p:nvPr/>
            </p:nvSpPr>
            <p:spPr>
              <a:xfrm>
                <a:off x="207991" y="585987"/>
                <a:ext cx="11801615" cy="617367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14:m>
                  <m:oMath xmlns:m="http://schemas.openxmlformats.org/officeDocument/2006/math">
                    <m:r>
                      <a:rPr lang="en-US"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m:t>
                    </m:r>
                    <m:r>
                      <m:rPr>
                        <m:sty m:val="p"/>
                      </m:rPr>
                      <a:rPr lang="en-US">
                        <a:solidFill>
                          <a:srgbClr val="000000"/>
                        </a:solidFill>
                        <a:latin typeface="Cambria Math" panose="02040503050406030204" pitchFamily="18" charset="0"/>
                        <a:ea typeface="Cambria Math" panose="02040503050406030204" pitchFamily="18" charset="0"/>
                      </a:rPr>
                      <m:t>eflection</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coefficient</m:t>
                    </m:r>
                    <m:r>
                      <a:rPr lang="en-US" b="0" i="1" smtClean="0">
                        <a:solidFill>
                          <a:srgbClr val="000000"/>
                        </a:solidFill>
                        <a:latin typeface="Cambria Math" panose="02040503050406030204" pitchFamily="18" charset="0"/>
                        <a:ea typeface="Cambria Math" panose="02040503050406030204" pitchFamily="18" charset="0"/>
                      </a:rPr>
                      <m:t>:</m:t>
                    </m:r>
                    <m:r>
                      <m:rPr>
                        <m:sty m:val="p"/>
                      </m:rPr>
                      <a:rPr lang="el-GR" i="1">
                        <a:solidFill>
                          <a:srgbClr val="000000"/>
                        </a:solidFill>
                        <a:latin typeface="Cambria Math" panose="02040503050406030204" pitchFamily="18" charset="0"/>
                        <a:ea typeface="Cambria Math" panose="02040503050406030204" pitchFamily="18" charset="0"/>
                      </a:rPr>
                      <m:t>Γ</m:t>
                    </m:r>
                    <m:r>
                      <a:rPr lang="en-US">
                        <a:solidFill>
                          <a:srgbClr val="000000"/>
                        </a:solidFill>
                        <a:latin typeface="Cambria Math" panose="02040503050406030204" pitchFamily="18" charset="0"/>
                        <a:ea typeface="Cambria Math" panose="02040503050406030204" pitchFamily="18" charset="0"/>
                      </a:rPr>
                      <m:t>=</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i</m:t>
                        </m:r>
                      </m:sub>
                    </m:sSub>
                    <m:r>
                      <a:rPr lang="en-US" i="1">
                        <a:solidFill>
                          <a:srgbClr val="000000"/>
                        </a:solidFill>
                        <a:latin typeface="Cambria Math" panose="02040503050406030204" pitchFamily="18" charset="0"/>
                        <a:ea typeface="Cambria Math" panose="02040503050406030204" pitchFamily="18" charset="0"/>
                      </a:rPr>
                      <m:t>=</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sup>
                    </m:sSup>
                    <m:r>
                      <a:rPr lang="en-US">
                        <a:solidFill>
                          <a:srgbClr val="000000"/>
                        </a:solidFill>
                        <a:latin typeface="Cambria Math" panose="02040503050406030204" pitchFamily="18" charset="0"/>
                        <a:ea typeface="Cambria Math" panose="02040503050406030204" pitchFamily="18" charset="0"/>
                      </a:rPr>
                      <m:t>.</m:t>
                    </m:r>
                    <m:r>
                      <m:rPr>
                        <m:nor/>
                      </m:rPr>
                      <a:rPr lang="en-US" i="1"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Complex</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Polar</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form</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displayed</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on</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a</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Complex</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Polar</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Plot</m:t>
                    </m:r>
                    <m:r>
                      <m:rPr>
                        <m:nor/>
                      </m:rPr>
                      <a:rPr lang="en-US" dirty="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lvl="1"/>
                <a14:m>
                  <m:oMathPara xmlns:m="http://schemas.openxmlformats.org/officeDocument/2006/math">
                    <m:oMathParaPr>
                      <m:jc m:val="left"/>
                    </m:oMathParaPr>
                    <m:oMath xmlns:m="http://schemas.openxmlformats.org/officeDocument/2006/math">
                      <m:r>
                        <m:rPr>
                          <m:sty m:val="p"/>
                        </m:rPr>
                        <a:rPr lang="el-GR" i="1">
                          <a:solidFill>
                            <a:srgbClr val="000000"/>
                          </a:solidFill>
                          <a:latin typeface="Cambria Math" panose="02040503050406030204" pitchFamily="18" charset="0"/>
                          <a:ea typeface="Cambria Math" panose="02040503050406030204" pitchFamily="18" charset="0"/>
                        </a:rPr>
                        <m:t>Γ</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0</m:t>
                              </m:r>
                            </m:sub>
                            <m:sup>
                              <m:r>
                                <a:rPr lang="en-US">
                                  <a:solidFill>
                                    <a:srgbClr val="000000"/>
                                  </a:solidFill>
                                  <a:latin typeface="Cambria Math" panose="02040503050406030204" pitchFamily="18" charset="0"/>
                                  <a:ea typeface="Cambria Math" panose="02040503050406030204" pitchFamily="18" charset="0"/>
                                </a:rPr>
                                <m:t>−</m:t>
                              </m:r>
                            </m:sup>
                          </m:sSubSup>
                        </m:num>
                        <m:den>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0</m:t>
                              </m:r>
                            </m:sub>
                            <m:sup>
                              <m:r>
                                <a:rPr lang="en-US">
                                  <a:solidFill>
                                    <a:srgbClr val="000000"/>
                                  </a:solidFill>
                                  <a:latin typeface="Cambria Math" panose="02040503050406030204" pitchFamily="18" charset="0"/>
                                  <a:ea typeface="Cambria Math" panose="02040503050406030204" pitchFamily="18" charset="0"/>
                                </a:rPr>
                                <m:t>+</m:t>
                              </m:r>
                            </m:sup>
                          </m:sSubSup>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den>
                      </m:f>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where</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den>
                      </m:f>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num>
                        <m:den>
                          <m:r>
                            <a:rPr lang="en-US" b="0" i="1" smtClean="0">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den>
                      </m:f>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14:m>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Normalized</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Impedance</m:t>
                    </m:r>
                    <m:r>
                      <a:rPr lang="en-US" b="0" i="1"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sup>
                    </m:sSup>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i="0">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jx</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m:t>
                    </m:r>
                    <m:r>
                      <m:rPr>
                        <m:nor/>
                      </m:rPr>
                      <a:rPr lang="en-US" dirty="0">
                        <a:solidFill>
                          <a:srgbClr val="000000"/>
                        </a:solidFill>
                        <a:latin typeface="Cambria Math" panose="02040503050406030204" pitchFamily="18" charset="0"/>
                        <a:ea typeface="Cambria Math" panose="02040503050406030204" pitchFamily="18" charset="0"/>
                      </a:rPr>
                      <m:t> </m:t>
                    </m:r>
                  </m:oMath>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Smith Chart is a graphical way to design impedance-matching circuits</a:t>
                </a:r>
              </a:p>
              <a:p>
                <a:pPr>
                  <a:spcAft>
                    <a:spcPts val="1800"/>
                  </a:spcAft>
                </a:pPr>
                <a:r>
                  <a:rPr lang="en-US" dirty="0">
                    <a:solidFill>
                      <a:srgbClr val="000000"/>
                    </a:solidFill>
                    <a:latin typeface="Cambria Math" panose="02040503050406030204" pitchFamily="18" charset="0"/>
                    <a:ea typeface="Cambria Math" panose="02040503050406030204" pitchFamily="18" charset="0"/>
                  </a:rPr>
                  <a:t> for ac steady-state. </a:t>
                </a: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Constant </a:t>
                </a:r>
                <a14:m>
                  <m:oMath xmlns:m="http://schemas.openxmlformats.org/officeDocument/2006/math">
                    <m:d>
                      <m:dPr>
                        <m:begChr m:val="|"/>
                        <m:endChr m:val="|"/>
                        <m:ctrlPr>
                          <a:rPr lang="en-US" i="1">
                            <a:solidFill>
                              <a:srgbClr val="000000"/>
                            </a:solidFill>
                            <a:latin typeface="Cambria Math" panose="02040503050406030204" pitchFamily="18" charset="0"/>
                            <a:cs typeface="Times New Roman" panose="020206030504050203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oMath>
                </a14:m>
                <a:r>
                  <a:rPr lang="en-US" dirty="0">
                    <a:solidFill>
                      <a:srgbClr val="000000"/>
                    </a:solidFill>
                    <a:latin typeface="Cambria Math" panose="02040503050406030204" pitchFamily="18" charset="0"/>
                    <a:ea typeface="Cambria Math" panose="02040503050406030204" pitchFamily="18" charset="0"/>
                  </a:rPr>
                  <a:t> values are circles around the origin on Smith Charts.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cs typeface="Times New Roman" panose="02020603050405020304" pitchFamily="18" charset="0"/>
                  </a:rPr>
                  <a:t>Magnitude of the reflection coefficient, i.e., </a:t>
                </a:r>
                <a14:m>
                  <m:oMath xmlns:m="http://schemas.openxmlformats.org/officeDocument/2006/math">
                    <m:d>
                      <m:dPr>
                        <m:begChr m:val="|"/>
                        <m:endChr m:val="|"/>
                        <m:ctrlPr>
                          <a:rPr lang="en-US" i="1">
                            <a:solidFill>
                              <a:srgbClr val="000000"/>
                            </a:solidFill>
                            <a:latin typeface="Cambria Math" panose="02040503050406030204" pitchFamily="18" charset="0"/>
                            <a:cs typeface="Times New Roman" panose="020206030504050203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b="0" i="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endParaRPr lang="en-US" b="0" i="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14:m>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Unit</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circle</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on</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Smith</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Chart</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corresponds</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to</m:t>
                    </m:r>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d>
                      <m:dPr>
                        <m:begChr m:val="|"/>
                        <m:endChr m:val="|"/>
                        <m:ctrlPr>
                          <a:rPr lang="en-US" i="1">
                            <a:solidFill>
                              <a:srgbClr val="000000"/>
                            </a:solidFill>
                            <a:latin typeface="Cambria Math" panose="02040503050406030204" pitchFamily="18" charset="0"/>
                            <a:cs typeface="Times New Roman" panose="020206030504050203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r>
                      <a:rPr lang="en-US" b="0" i="1" smtClean="0">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i</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e</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maximum</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magnitude</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of</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reflections</m:t>
                    </m:r>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on</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a</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passive</m:t>
                    </m:r>
                    <m: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line</m:t>
                    </m:r>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Point A in polar plot:</a:t>
                </a:r>
                <a:r>
                  <a:rPr lang="en-US" dirty="0">
                    <a:solidFill>
                      <a:srgbClr val="000000"/>
                    </a:solidFill>
                    <a:ea typeface="Cambria Math" panose="02040503050406030204" pitchFamily="18" charset="0"/>
                  </a:rPr>
                  <a:t> </a:t>
                </a:r>
                <a14:m>
                  <m:oMath xmlns:m="http://schemas.openxmlformats.org/officeDocument/2006/math">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A</m:t>
                        </m:r>
                      </m:sub>
                    </m:sSub>
                    <m:r>
                      <a:rPr lang="en-US">
                        <a:solidFill>
                          <a:srgbClr val="000000"/>
                        </a:solidFill>
                        <a:latin typeface="Cambria Math" panose="02040503050406030204" pitchFamily="18" charset="0"/>
                        <a:ea typeface="Cambria Math" panose="02040503050406030204" pitchFamily="18" charset="0"/>
                      </a:rPr>
                      <m:t>=0.3+</m:t>
                    </m:r>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0.4=0.5</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53˚</m:t>
                        </m:r>
                      </m:sup>
                    </m:sSup>
                    <m:r>
                      <a:rPr lang="en-US">
                        <a:solidFill>
                          <a:srgbClr val="000000"/>
                        </a:solidFill>
                        <a:latin typeface="Cambria Math" panose="02040503050406030204" pitchFamily="18" charset="0"/>
                        <a:ea typeface="Cambria Math" panose="02040503050406030204" pitchFamily="18" charset="0"/>
                      </a:rPr>
                      <m:t>.</m:t>
                    </m:r>
                    <m:r>
                      <m:rPr>
                        <m:nor/>
                      </m:rPr>
                      <a:rPr lang="en-US" b="0" i="0" smtClean="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Point</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B</m:t>
                    </m:r>
                    <m:r>
                      <m:rPr>
                        <m:nor/>
                      </m:rPr>
                      <a:rPr lang="en-US" dirty="0">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B</m:t>
                        </m:r>
                      </m:sub>
                    </m:sSub>
                    <m:r>
                      <a:rPr lang="en-US">
                        <a:solidFill>
                          <a:srgbClr val="000000"/>
                        </a:solidFill>
                        <a:latin typeface="Cambria Math" panose="02040503050406030204" pitchFamily="18" charset="0"/>
                        <a:ea typeface="Cambria Math" panose="02040503050406030204" pitchFamily="18" charset="0"/>
                      </a:rPr>
                      <m:t>=−0.5−</m:t>
                    </m:r>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0.2=0.54</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202˚</m:t>
                        </m:r>
                      </m:sup>
                    </m:sSup>
                    <m:r>
                      <a:rPr lang="en-US">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cs typeface="Times New Roman" panose="02020603050405020304" pitchFamily="18" charset="0"/>
                </a:endParaRPr>
              </a:p>
              <a:p>
                <a:pPr marL="285750" indent="-285750">
                  <a:spcAft>
                    <a:spcPts val="1800"/>
                  </a:spcAft>
                  <a:buFont typeface="Arial" panose="020B0604020202020204" pitchFamily="34" charset="0"/>
                  <a:buChar char="•"/>
                </a:pPr>
                <a14:m>
                  <m:oMath xmlns:m="http://schemas.openxmlformats.org/officeDocument/2006/math">
                    <m:r>
                      <m:rPr>
                        <m:nor/>
                      </m:rPr>
                      <a:rPr lang="en-US" dirty="0">
                        <a:solidFill>
                          <a:srgbClr val="000000"/>
                        </a:solidFill>
                        <a:latin typeface="Cambria Math" panose="02040503050406030204" pitchFamily="18" charset="0"/>
                        <a:ea typeface="Cambria Math" panose="02040503050406030204" pitchFamily="18" charset="0"/>
                      </a:rPr>
                      <m:t>Point</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C</m:t>
                    </m:r>
                    <m:r>
                      <m:rPr>
                        <m:nor/>
                      </m:rPr>
                      <a:rPr lang="en-US" dirty="0">
                        <a:solidFill>
                          <a:srgbClr val="000000"/>
                        </a:solidFill>
                        <a:latin typeface="Cambria Math" panose="02040503050406030204" pitchFamily="18" charset="0"/>
                        <a:ea typeface="Cambria Math" panose="02040503050406030204" pitchFamily="18" charset="0"/>
                      </a:rPr>
                      <m:t>:</m:t>
                    </m:r>
                    <m:r>
                      <a:rPr lang="en-US" i="1" dirty="0">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C</m:t>
                        </m:r>
                      </m:sub>
                    </m:sSub>
                    <m:r>
                      <a:rPr lang="en-US">
                        <a:solidFill>
                          <a:srgbClr val="000000"/>
                        </a:solidFill>
                        <a:latin typeface="Cambria Math" panose="02040503050406030204" pitchFamily="18" charset="0"/>
                        <a:ea typeface="Cambria Math" panose="02040503050406030204" pitchFamily="18" charset="0"/>
                      </a:rPr>
                      <m:t>=1.0+</m:t>
                    </m:r>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0.0=</m:t>
                    </m:r>
                    <m:r>
                      <a:rPr lang="en-US" i="1">
                        <a:solidFill>
                          <a:srgbClr val="000000"/>
                        </a:solidFill>
                        <a:latin typeface="Cambria Math" panose="02040503050406030204" pitchFamily="18" charset="0"/>
                        <a:ea typeface="Cambria Math" panose="02040503050406030204" pitchFamily="18" charset="0"/>
                      </a:rPr>
                      <m:t>1.0</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0˚</m:t>
                        </m:r>
                      </m:sup>
                    </m:sSup>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Open</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circuit</m:t>
                    </m:r>
                    <m:r>
                      <a:rPr lang="en-US">
                        <a:solidFill>
                          <a:srgbClr val="000000"/>
                        </a:solidFill>
                        <a:latin typeface="Cambria Math" panose="02040503050406030204" pitchFamily="18" charset="0"/>
                        <a:ea typeface="Cambria Math" panose="02040503050406030204" pitchFamily="18" charset="0"/>
                      </a:rPr>
                      <m:t>)</m:t>
                    </m:r>
                    <m:r>
                      <m:rPr>
                        <m:nor/>
                      </m:rPr>
                      <a:rPr lang="en-US" b="0" i="0" smtClean="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Point</m:t>
                    </m:r>
                    <m:r>
                      <m:rPr>
                        <m:nor/>
                      </m:rPr>
                      <a:rPr lang="en-US" dirty="0">
                        <a:solidFill>
                          <a:srgbClr val="000000"/>
                        </a:solidFill>
                        <a:latin typeface="Cambria Math" panose="02040503050406030204" pitchFamily="18" charset="0"/>
                        <a:ea typeface="Cambria Math" panose="02040503050406030204" pitchFamily="18" charset="0"/>
                      </a:rPr>
                      <m:t> </m:t>
                    </m:r>
                    <m:r>
                      <m:rPr>
                        <m:nor/>
                      </m:rPr>
                      <a:rPr lang="en-US" dirty="0">
                        <a:solidFill>
                          <a:srgbClr val="000000"/>
                        </a:solidFill>
                        <a:latin typeface="Cambria Math" panose="02040503050406030204" pitchFamily="18" charset="0"/>
                        <a:ea typeface="Cambria Math" panose="02040503050406030204" pitchFamily="18" charset="0"/>
                      </a:rPr>
                      <m:t>D</m:t>
                    </m:r>
                    <m:r>
                      <m:rPr>
                        <m:nor/>
                      </m:rPr>
                      <a:rPr lang="en-US" dirty="0">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a:solidFill>
                          <a:srgbClr val="000000"/>
                        </a:solidFill>
                        <a:latin typeface="Cambria Math" panose="02040503050406030204" pitchFamily="18" charset="0"/>
                        <a:ea typeface="Cambria Math" panose="02040503050406030204" pitchFamily="18" charset="0"/>
                      </a:rPr>
                      <m:t>=−1.0+</m:t>
                    </m:r>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0.0=</m:t>
                    </m:r>
                    <m:r>
                      <a:rPr lang="en-US" i="1">
                        <a:solidFill>
                          <a:srgbClr val="000000"/>
                        </a:solidFill>
                        <a:latin typeface="Cambria Math" panose="02040503050406030204" pitchFamily="18" charset="0"/>
                        <a:ea typeface="Cambria Math" panose="02040503050406030204" pitchFamily="18" charset="0"/>
                      </a:rPr>
                      <m:t>1.0</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180˚</m:t>
                        </m:r>
                      </m:sup>
                    </m:sSup>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Short</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circuit</m:t>
                    </m:r>
                    <m:r>
                      <a:rPr lang="en-US">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cs typeface="Times New Roman" panose="02020603050405020304" pitchFamily="18" charset="0"/>
                  </a:rPr>
                  <a:t>Notice that points C and D have inverse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cs typeface="Times New Roman" panose="02020603050405020304" pitchFamily="18" charset="0"/>
                  </a:rPr>
                  <a:t> values, with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cs typeface="Times New Roman" panose="02020603050405020304" pitchFamily="18" charset="0"/>
                  </a:rPr>
                  <a:t> = 0 for point C and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cs typeface="Times New Roman" panose="02020603050405020304" pitchFamily="18" charset="0"/>
                  </a:rPr>
                  <a:t> = ∞ for point D. Impedance associated with point D equals 1/</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cs typeface="Times New Roman" panose="02020603050405020304" pitchFamily="18" charset="0"/>
                  </a:rPr>
                  <a:t> of the impedance associated with point C.</a:t>
                </a:r>
              </a:p>
            </p:txBody>
          </p:sp>
        </mc:Choice>
        <mc:Fallback xmlns="">
          <p:sp>
            <p:nvSpPr>
              <p:cNvPr id="4" name="Rectangle 3"/>
              <p:cNvSpPr>
                <a:spLocks noRot="1" noChangeAspect="1" noMove="1" noResize="1" noEditPoints="1" noAdjustHandles="1" noChangeArrowheads="1" noChangeShapeType="1" noTextEdit="1"/>
              </p:cNvSpPr>
              <p:nvPr/>
            </p:nvSpPr>
            <p:spPr>
              <a:xfrm>
                <a:off x="207991" y="585987"/>
                <a:ext cx="11801615" cy="6173678"/>
              </a:xfrm>
              <a:prstGeom prst="rect">
                <a:avLst/>
              </a:prstGeom>
              <a:blipFill>
                <a:blip r:embed="rId2"/>
                <a:stretch>
                  <a:fillRect l="-103"/>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9936" y="988434"/>
            <a:ext cx="4180108" cy="3422202"/>
          </a:xfrm>
          <a:prstGeom prst="rect">
            <a:avLst/>
          </a:prstGeom>
        </p:spPr>
      </p:pic>
    </p:spTree>
    <p:extLst>
      <p:ext uri="{BB962C8B-B14F-4D97-AF65-F5344CB8AC3E}">
        <p14:creationId xmlns:p14="http://schemas.microsoft.com/office/powerpoint/2010/main" val="4284446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anim calcmode="lin" valueType="num">
                                      <p:cBhvr additive="base">
                                        <p:cTn id="1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anim calcmode="lin" valueType="num">
                                      <p:cBhvr additive="base">
                                        <p:cTn id="15"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4" end="14"/>
                                            </p:txEl>
                                          </p:spTgt>
                                        </p:tgtEl>
                                        <p:attrNameLst>
                                          <p:attrName>style.visibility</p:attrName>
                                        </p:attrNameLst>
                                      </p:cBhvr>
                                      <p:to>
                                        <p:strVal val="visible"/>
                                      </p:to>
                                    </p:set>
                                    <p:anim calcmode="lin" valueType="num">
                                      <p:cBhvr additive="base">
                                        <p:cTn id="21"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16" end="16"/>
                                            </p:txEl>
                                          </p:spTgt>
                                        </p:tgtEl>
                                        <p:attrNameLst>
                                          <p:attrName>style.visibility</p:attrName>
                                        </p:attrNameLst>
                                      </p:cBhvr>
                                      <p:to>
                                        <p:strVal val="visible"/>
                                      </p:to>
                                    </p:set>
                                    <p:anim calcmode="lin" valueType="num">
                                      <p:cBhvr additive="base">
                                        <p:cTn id="25"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6" end="1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17" end="17"/>
                                            </p:txEl>
                                          </p:spTgt>
                                        </p:tgtEl>
                                        <p:attrNameLst>
                                          <p:attrName>style.visibility</p:attrName>
                                        </p:attrNameLst>
                                      </p:cBhvr>
                                      <p:to>
                                        <p:strVal val="visible"/>
                                      </p:to>
                                    </p:set>
                                    <p:anim calcmode="lin" valueType="num">
                                      <p:cBhvr additive="base">
                                        <p:cTn id="29"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60822" y="-41190"/>
            <a:ext cx="6236043"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110299" y="573007"/>
                <a:ext cx="11982846" cy="615444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nor/>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eliminate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complex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denominator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multiply both numerator and denominator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by the complex conjugate of the denominator</a:t>
                </a:r>
                <a: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en>
                      </m:f>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part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Imaginary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part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These equations imply that many different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combinations result for any given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or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Locus of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points for a given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value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correspond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circles</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(red) in the Complex Reflection Coefficient Plane.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Locus of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points for a given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value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correspond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circles</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(blue) in the Complex Reflection Coefficient Plane.</a:t>
                </a:r>
              </a:p>
            </p:txBody>
          </p:sp>
        </mc:Choice>
        <mc:Fallback xmlns="">
          <p:sp>
            <p:nvSpPr>
              <p:cNvPr id="4" name="Rectangle 3"/>
              <p:cNvSpPr>
                <a:spLocks noRot="1" noChangeAspect="1" noMove="1" noResize="1" noEditPoints="1" noAdjustHandles="1" noChangeArrowheads="1" noChangeShapeType="1" noTextEdit="1"/>
              </p:cNvSpPr>
              <p:nvPr/>
            </p:nvSpPr>
            <p:spPr>
              <a:xfrm>
                <a:off x="110299" y="573007"/>
                <a:ext cx="11982846" cy="6154442"/>
              </a:xfrm>
              <a:prstGeom prst="rect">
                <a:avLst/>
              </a:prstGeom>
              <a:blipFill>
                <a:blip r:embed="rId2"/>
                <a:stretch>
                  <a:fillRect l="-203"/>
                </a:stretch>
              </a:blipFill>
            </p:spPr>
            <p:txBody>
              <a:bodyPr/>
              <a:lstStyle/>
              <a:p>
                <a:r>
                  <a:rPr lang="en-US">
                    <a:noFill/>
                  </a:rPr>
                  <a:t> </a:t>
                </a:r>
              </a:p>
            </p:txBody>
          </p:sp>
        </mc:Fallback>
      </mc:AlternateContent>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59331" y="643365"/>
            <a:ext cx="2789420" cy="3006980"/>
          </a:xfrm>
          <a:prstGeom prst="rect">
            <a:avLst/>
          </a:prstGeom>
        </p:spPr>
      </p:pic>
    </p:spTree>
    <p:extLst>
      <p:ext uri="{BB962C8B-B14F-4D97-AF65-F5344CB8AC3E}">
        <p14:creationId xmlns:p14="http://schemas.microsoft.com/office/powerpoint/2010/main" val="19044196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 calcmode="lin" valueType="num">
                                      <p:cBhvr additive="base">
                                        <p:cTn id="1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anim calcmode="lin" valueType="num">
                                      <p:cBhvr additive="base">
                                        <p:cTn id="1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anim calcmode="lin" valueType="num">
                                      <p:cBhvr additive="base">
                                        <p:cTn id="2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anim calcmode="lin" valueType="num">
                                      <p:cBhvr additive="base">
                                        <p:cTn id="29"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anim calcmode="lin" valueType="num">
                                      <p:cBhvr additive="base">
                                        <p:cTn id="3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anim calcmode="lin" valueType="num">
                                      <p:cBhvr additive="base">
                                        <p:cTn id="39"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60822" y="-41190"/>
            <a:ext cx="6236043"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125510" y="539703"/>
                <a:ext cx="11923057" cy="61956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part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Completing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square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accomplished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adding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factor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half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squared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Completing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square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So</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Circles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25510" y="539703"/>
                <a:ext cx="11923057" cy="6195607"/>
              </a:xfrm>
              <a:prstGeom prst="rect">
                <a:avLst/>
              </a:prstGeom>
              <a:blipFill>
                <a:blip r:embed="rId2"/>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715AF98-922F-296D-BF07-7D799CA47C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96864" y="3230635"/>
            <a:ext cx="2864265" cy="3087662"/>
          </a:xfrm>
          <a:prstGeom prst="rect">
            <a:avLst/>
          </a:prstGeom>
        </p:spPr>
      </p:pic>
    </p:spTree>
    <p:extLst>
      <p:ext uri="{BB962C8B-B14F-4D97-AF65-F5344CB8AC3E}">
        <p14:creationId xmlns:p14="http://schemas.microsoft.com/office/powerpoint/2010/main" val="4020905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 calcmode="lin" valueType="num">
                                      <p:cBhvr additive="base">
                                        <p:cTn id="1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anim calcmode="lin" valueType="num">
                                      <p:cBhvr additive="base">
                                        <p:cTn id="2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 calcmode="lin" valueType="num">
                                      <p:cBhvr additive="base">
                                        <p:cTn id="2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anim calcmode="lin" valueType="num">
                                      <p:cBhvr additive="base">
                                        <p:cTn id="3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842054" y="-13941"/>
            <a:ext cx="5716433"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118537" y="572609"/>
                <a:ext cx="11981099" cy="611885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center"/>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Standard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Center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k</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center"/>
                    </m:oMathParaPr>
                    <m:oMath xmlns:m="http://schemas.openxmlformats.org/officeDocument/2006/math">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Circles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terms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variables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each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value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center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radius</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Since at the center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 the center of all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(red) circles is on the real axis.</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0.5,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.33</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0.67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=0.5,</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0.5.</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1.5,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2,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=0.6</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which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point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center of each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is along the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(real) axis and shifts to the right with shrinking radius as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increases.</a:t>
                </a:r>
              </a:p>
            </p:txBody>
          </p:sp>
        </mc:Choice>
        <mc:Fallback xmlns="">
          <p:sp>
            <p:nvSpPr>
              <p:cNvPr id="4" name="Rectangle 3"/>
              <p:cNvSpPr>
                <a:spLocks noRot="1" noChangeAspect="1" noMove="1" noResize="1" noEditPoints="1" noAdjustHandles="1" noChangeArrowheads="1" noChangeShapeType="1" noTextEdit="1"/>
              </p:cNvSpPr>
              <p:nvPr/>
            </p:nvSpPr>
            <p:spPr>
              <a:xfrm>
                <a:off x="118537" y="572609"/>
                <a:ext cx="11981099" cy="6118855"/>
              </a:xfrm>
              <a:prstGeom prst="rect">
                <a:avLst/>
              </a:prstGeom>
              <a:blipFill>
                <a:blip r:embed="rId2"/>
                <a:stretch>
                  <a:fillRect l="-101" b="-99"/>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30F469DF-3EBF-FA6E-4C75-7F650A78BC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8672" y="2525954"/>
            <a:ext cx="2789420" cy="3006980"/>
          </a:xfrm>
          <a:prstGeom prst="rect">
            <a:avLst/>
          </a:prstGeom>
        </p:spPr>
      </p:pic>
    </p:spTree>
    <p:extLst>
      <p:ext uri="{BB962C8B-B14F-4D97-AF65-F5344CB8AC3E}">
        <p14:creationId xmlns:p14="http://schemas.microsoft.com/office/powerpoint/2010/main" val="2328976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 calcmode="lin" valueType="num">
                                      <p:cBhvr additive="base">
                                        <p:cTn id="1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 calcmode="lin" valueType="num">
                                      <p:cBhvr additive="base">
                                        <p:cTn id="1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 calcmode="lin" valueType="num">
                                      <p:cBhvr additive="base">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 calcmode="lin" valueType="num">
                                      <p:cBhvr additive="base">
                                        <p:cTn id="2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 calcmode="lin" valueType="num">
                                      <p:cBhvr additive="base">
                                        <p:cTn id="3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anim calcmode="lin" valueType="num">
                                      <p:cBhvr additive="base">
                                        <p:cTn id="3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60822" y="-41190"/>
            <a:ext cx="6236043"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104577" y="617831"/>
                <a:ext cx="11982846" cy="525438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Imaginary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part</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Completing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squares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accomplished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adding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factor</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1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Completing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squares</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So</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−1</m:t>
                              </m:r>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Blue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04577" y="617831"/>
                <a:ext cx="11982846" cy="5254387"/>
              </a:xfrm>
              <a:prstGeom prst="rect">
                <a:avLst/>
              </a:prstGeom>
              <a:blipFill>
                <a:blip r:embed="rId2"/>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DFA232C-3C45-459F-8CE8-0EBD59A1B5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76447" y="2373553"/>
            <a:ext cx="3021293" cy="3256938"/>
          </a:xfrm>
          <a:prstGeom prst="rect">
            <a:avLst/>
          </a:prstGeom>
        </p:spPr>
      </p:pic>
    </p:spTree>
    <p:extLst>
      <p:ext uri="{BB962C8B-B14F-4D97-AF65-F5344CB8AC3E}">
        <p14:creationId xmlns:p14="http://schemas.microsoft.com/office/powerpoint/2010/main" val="1886213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 calcmode="lin" valueType="num">
                                      <p:cBhvr additive="base">
                                        <p:cTn id="1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 calcmode="lin" valueType="num">
                                      <p:cBhvr additive="base">
                                        <p:cTn id="1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 calcmode="lin" valueType="num">
                                      <p:cBhvr additive="base">
                                        <p:cTn id="2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 calcmode="lin" valueType="num">
                                      <p:cBhvr additive="base">
                                        <p:cTn id="2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842054" y="-13941"/>
            <a:ext cx="5716433"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118537" y="608469"/>
                <a:ext cx="11981099" cy="617220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Standard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Center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Imaginary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part</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Blue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Circles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terms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variables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each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value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center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which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horizontal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line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0.5,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1.5,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0.67</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0.67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2,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0.5</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 the center is located at </a:t>
                </a: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has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radius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which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point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center of each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is located on the vertical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line with decreasing radius for increasing magnitude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x</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118537" y="608469"/>
                <a:ext cx="11981099" cy="6172202"/>
              </a:xfrm>
              <a:prstGeom prst="rect">
                <a:avLst/>
              </a:prstGeom>
              <a:blipFill>
                <a:blip r:embed="rId2"/>
                <a:stretch>
                  <a:fillRect l="-101" b="-9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6408F237-A099-97E3-57DE-21A5E227BD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39835" y="3694570"/>
            <a:ext cx="2530762" cy="2728148"/>
          </a:xfrm>
          <a:prstGeom prst="rect">
            <a:avLst/>
          </a:prstGeom>
        </p:spPr>
      </p:pic>
      <p:grpSp>
        <p:nvGrpSpPr>
          <p:cNvPr id="9" name="Group 8">
            <a:extLst>
              <a:ext uri="{FF2B5EF4-FFF2-40B4-BE49-F238E27FC236}">
                <a16:creationId xmlns:a16="http://schemas.microsoft.com/office/drawing/2014/main" id="{A89B8098-F3B0-9592-3596-08D73C3DFBD6}"/>
              </a:ext>
            </a:extLst>
          </p:cNvPr>
          <p:cNvGrpSpPr/>
          <p:nvPr/>
        </p:nvGrpSpPr>
        <p:grpSpPr>
          <a:xfrm>
            <a:off x="11321285" y="3523534"/>
            <a:ext cx="662168" cy="2637115"/>
            <a:chOff x="11321285" y="3523534"/>
            <a:chExt cx="662168" cy="2637115"/>
          </a:xfrm>
        </p:grpSpPr>
        <p:cxnSp>
          <p:nvCxnSpPr>
            <p:cNvPr id="6" name="Straight Connector 5">
              <a:extLst>
                <a:ext uri="{FF2B5EF4-FFF2-40B4-BE49-F238E27FC236}">
                  <a16:creationId xmlns:a16="http://schemas.microsoft.com/office/drawing/2014/main" id="{D9D55750-6EFA-9F46-FEEF-816B4C0E8FCF}"/>
                </a:ext>
              </a:extLst>
            </p:cNvPr>
            <p:cNvCxnSpPr>
              <a:cxnSpLocks/>
            </p:cNvCxnSpPr>
            <p:nvPr/>
          </p:nvCxnSpPr>
          <p:spPr>
            <a:xfrm>
              <a:off x="11665527" y="3999340"/>
              <a:ext cx="0" cy="2161309"/>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840AA7-A9BD-9D75-C161-918794D3F68E}"/>
                    </a:ext>
                  </a:extLst>
                </p:cNvPr>
                <p:cNvSpPr txBox="1"/>
                <p:nvPr/>
              </p:nvSpPr>
              <p:spPr>
                <a:xfrm>
                  <a:off x="11321285" y="3523534"/>
                  <a:ext cx="6621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2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2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2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2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1 </m:t>
                        </m:r>
                      </m:oMath>
                    </m:oMathPara>
                  </a14:m>
                  <a:endParaRPr kumimoji="0" lang="en-US" sz="12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2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Line</m:t>
                        </m:r>
                      </m:oMath>
                    </m:oMathPara>
                  </a14:m>
                  <a:endParaRPr kumimoji="0" lang="en-US" sz="12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8" name="TextBox 7">
                  <a:extLst>
                    <a:ext uri="{FF2B5EF4-FFF2-40B4-BE49-F238E27FC236}">
                      <a16:creationId xmlns:a16="http://schemas.microsoft.com/office/drawing/2014/main" id="{DF840AA7-A9BD-9D75-C161-918794D3F68E}"/>
                    </a:ext>
                  </a:extLst>
                </p:cNvPr>
                <p:cNvSpPr txBox="1">
                  <a:spLocks noRot="1" noChangeAspect="1" noMove="1" noResize="1" noEditPoints="1" noAdjustHandles="1" noChangeArrowheads="1" noChangeShapeType="1" noTextEdit="1"/>
                </p:cNvSpPr>
                <p:nvPr/>
              </p:nvSpPr>
              <p:spPr>
                <a:xfrm>
                  <a:off x="11321285" y="3523534"/>
                  <a:ext cx="662168" cy="461665"/>
                </a:xfrm>
                <a:prstGeom prst="rect">
                  <a:avLst/>
                </a:prstGeom>
                <a:blipFill>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1204219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 calcmode="lin" valueType="num">
                                      <p:cBhvr additive="base">
                                        <p:cTn id="3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 calcmode="lin" valueType="num">
                                      <p:cBhvr additive="base">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 calcmode="lin" valueType="num">
                                      <p:cBhvr additive="base">
                                        <p:cTn id="4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anim calcmode="lin" valueType="num">
                                      <p:cBhvr additive="base">
                                        <p:cTn id="4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883243" y="10772"/>
            <a:ext cx="5428735"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19" name="Rectangle 18"/>
              <p:cNvSpPr/>
              <p:nvPr/>
            </p:nvSpPr>
            <p:spPr>
              <a:xfrm>
                <a:off x="66809" y="720098"/>
                <a:ext cx="12072026" cy="579357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There are four values for each point on a Smith chart, two values corresponding to the complex reflection coefficient </a:t>
                </a:r>
                <a14:m>
                  <m:oMath xmlns:m="http://schemas.openxmlformats.org/officeDocument/2006/math">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two values corresponding to the normalized impedance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jx</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Constant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values result in circles around the origin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on Smith Charts. Also, since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VSWR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Cambria" panose="02040503050406030204"/>
                    <a:cs typeface="Times New Roman" panose="02020603050405020304" pitchFamily="18" charset="0"/>
                  </a:rPr>
                  <a:t>a</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Times New Roman" panose="02020603050405020304" pitchFamily="18" charset="0"/>
                  </a:rPr>
                  <a:t> given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corresponds to a given VSWR circle, referred to as SWR circle on Smith Charts.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 complete 360˚ traversal of a SWR circle corresponds 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traversing a d</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istance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along a transmission line of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Therefore, a 180˚ traversal around a SWR circle corresponds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traversing a distance along a transmission line of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Rotating clockwise along a SWR circle is referred to as moving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Wavelength Towards Generator (WTG). Rotating counter-clockwise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along a SWR circle is referred to as moving Wavelength Towards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Load  (WTL).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Both WTG and WTL scales are distance scales in terms of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used to determine required transmission line lengths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impedance matching.</a:t>
                </a:r>
              </a:p>
            </p:txBody>
          </p:sp>
        </mc:Choice>
        <mc:Fallback xmlns="">
          <p:sp>
            <p:nvSpPr>
              <p:cNvPr id="19" name="Rectangle 18"/>
              <p:cNvSpPr>
                <a:spLocks noRot="1" noChangeAspect="1" noMove="1" noResize="1" noEditPoints="1" noAdjustHandles="1" noChangeArrowheads="1" noChangeShapeType="1" noTextEdit="1"/>
              </p:cNvSpPr>
              <p:nvPr/>
            </p:nvSpPr>
            <p:spPr>
              <a:xfrm>
                <a:off x="66809" y="720098"/>
                <a:ext cx="12072026" cy="5793574"/>
              </a:xfrm>
              <a:prstGeom prst="rect">
                <a:avLst/>
              </a:prstGeom>
              <a:blipFill>
                <a:blip r:embed="rId2"/>
                <a:stretch>
                  <a:fillRect l="-251" t="-208" b="-104"/>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6726" y="2574989"/>
            <a:ext cx="5153247" cy="3555418"/>
          </a:xfrm>
          <a:prstGeom prst="rect">
            <a:avLst/>
          </a:prstGeom>
        </p:spPr>
      </p:pic>
      <p:sp>
        <p:nvSpPr>
          <p:cNvPr id="4" name="Oval 3">
            <a:extLst>
              <a:ext uri="{FF2B5EF4-FFF2-40B4-BE49-F238E27FC236}">
                <a16:creationId xmlns:a16="http://schemas.microsoft.com/office/drawing/2014/main" id="{87598104-3A77-3D79-43F4-C76A65257126}"/>
              </a:ext>
            </a:extLst>
          </p:cNvPr>
          <p:cNvSpPr/>
          <p:nvPr/>
        </p:nvSpPr>
        <p:spPr bwMode="auto">
          <a:xfrm>
            <a:off x="8597153" y="3567976"/>
            <a:ext cx="1322446" cy="1311947"/>
          </a:xfrm>
          <a:prstGeom prst="ellipse">
            <a:avLst/>
          </a:prstGeom>
          <a:noFill/>
          <a:ln>
            <a:solidFill>
              <a:schemeClr val="bg1"/>
            </a:solidFill>
            <a:headEnd type="none" w="med" len="med"/>
            <a:tailEnd type="none" w="med" len="med"/>
          </a:ln>
          <a:effectLst/>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7" name="TextBox 6">
            <a:extLst>
              <a:ext uri="{FF2B5EF4-FFF2-40B4-BE49-F238E27FC236}">
                <a16:creationId xmlns:a16="http://schemas.microsoft.com/office/drawing/2014/main" id="{FD0B2215-D826-BC87-B3D8-A6B6FCFC7033}"/>
              </a:ext>
            </a:extLst>
          </p:cNvPr>
          <p:cNvSpPr txBox="1"/>
          <p:nvPr/>
        </p:nvSpPr>
        <p:spPr>
          <a:xfrm>
            <a:off x="8779297" y="2831160"/>
            <a:ext cx="12681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SWR Circle</a:t>
            </a:r>
          </a:p>
        </p:txBody>
      </p:sp>
      <p:cxnSp>
        <p:nvCxnSpPr>
          <p:cNvPr id="9" name="Straight Arrow Connector 8">
            <a:extLst>
              <a:ext uri="{FF2B5EF4-FFF2-40B4-BE49-F238E27FC236}">
                <a16:creationId xmlns:a16="http://schemas.microsoft.com/office/drawing/2014/main" id="{1519C4FB-6F43-D35E-00DE-E43C3692B8D2}"/>
              </a:ext>
            </a:extLst>
          </p:cNvPr>
          <p:cNvCxnSpPr/>
          <p:nvPr/>
        </p:nvCxnSpPr>
        <p:spPr>
          <a:xfrm>
            <a:off x="9264289" y="3201556"/>
            <a:ext cx="0" cy="311828"/>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7524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 calcmode="lin" valueType="num">
                                      <p:cBhvr additive="base">
                                        <p:cTn id="7"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xEl>
                                              <p:pRg st="3" end="3"/>
                                            </p:txEl>
                                          </p:spTgt>
                                        </p:tgtEl>
                                        <p:attrNameLst>
                                          <p:attrName>style.visibility</p:attrName>
                                        </p:attrNameLst>
                                      </p:cBhvr>
                                      <p:to>
                                        <p:strVal val="visible"/>
                                      </p:to>
                                    </p:set>
                                    <p:anim calcmode="lin" valueType="num">
                                      <p:cBhvr additive="base">
                                        <p:cTn id="11"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
                                            <p:txEl>
                                              <p:pRg st="5" end="5"/>
                                            </p:txEl>
                                          </p:spTgt>
                                        </p:tgtEl>
                                        <p:attrNameLst>
                                          <p:attrName>style.visibility</p:attrName>
                                        </p:attrNameLst>
                                      </p:cBhvr>
                                      <p:to>
                                        <p:strVal val="visible"/>
                                      </p:to>
                                    </p:set>
                                    <p:anim calcmode="lin" valueType="num">
                                      <p:cBhvr additive="base">
                                        <p:cTn id="31" dur="500" fill="hold"/>
                                        <p:tgtEl>
                                          <p:spTgt spid="1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
                                            <p:txEl>
                                              <p:pRg st="6" end="6"/>
                                            </p:txEl>
                                          </p:spTgt>
                                        </p:tgtEl>
                                        <p:attrNameLst>
                                          <p:attrName>style.visibility</p:attrName>
                                        </p:attrNameLst>
                                      </p:cBhvr>
                                      <p:to>
                                        <p:strVal val="visible"/>
                                      </p:to>
                                    </p:set>
                                    <p:anim calcmode="lin" valueType="num">
                                      <p:cBhvr additive="base">
                                        <p:cTn id="35"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9">
                                            <p:txEl>
                                              <p:pRg st="8" end="8"/>
                                            </p:txEl>
                                          </p:spTgt>
                                        </p:tgtEl>
                                        <p:attrNameLst>
                                          <p:attrName>style.visibility</p:attrName>
                                        </p:attrNameLst>
                                      </p:cBhvr>
                                      <p:to>
                                        <p:strVal val="visible"/>
                                      </p:to>
                                    </p:set>
                                    <p:anim calcmode="lin" valueType="num">
                                      <p:cBhvr additive="base">
                                        <p:cTn id="39" dur="500" fill="hold"/>
                                        <p:tgtEl>
                                          <p:spTgt spid="1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9">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9">
                                            <p:txEl>
                                              <p:pRg st="9" end="9"/>
                                            </p:txEl>
                                          </p:spTgt>
                                        </p:tgtEl>
                                        <p:attrNameLst>
                                          <p:attrName>style.visibility</p:attrName>
                                        </p:attrNameLst>
                                      </p:cBhvr>
                                      <p:to>
                                        <p:strVal val="visible"/>
                                      </p:to>
                                    </p:set>
                                    <p:anim calcmode="lin" valueType="num">
                                      <p:cBhvr additive="base">
                                        <p:cTn id="43" dur="500" fill="hold"/>
                                        <p:tgtEl>
                                          <p:spTgt spid="19">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9">
                                            <p:txEl>
                                              <p:pRg st="11" end="11"/>
                                            </p:txEl>
                                          </p:spTgt>
                                        </p:tgtEl>
                                        <p:attrNameLst>
                                          <p:attrName>style.visibility</p:attrName>
                                        </p:attrNameLst>
                                      </p:cBhvr>
                                      <p:to>
                                        <p:strVal val="visible"/>
                                      </p:to>
                                    </p:set>
                                    <p:anim calcmode="lin" valueType="num">
                                      <p:cBhvr additive="base">
                                        <p:cTn id="49" dur="500" fill="hold"/>
                                        <p:tgtEl>
                                          <p:spTgt spid="19">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
                                            <p:txEl>
                                              <p:pRg st="11" end="1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9">
                                            <p:txEl>
                                              <p:pRg st="12" end="12"/>
                                            </p:txEl>
                                          </p:spTgt>
                                        </p:tgtEl>
                                        <p:attrNameLst>
                                          <p:attrName>style.visibility</p:attrName>
                                        </p:attrNameLst>
                                      </p:cBhvr>
                                      <p:to>
                                        <p:strVal val="visible"/>
                                      </p:to>
                                    </p:set>
                                    <p:anim calcmode="lin" valueType="num">
                                      <p:cBhvr additive="base">
                                        <p:cTn id="53" dur="500" fill="hold"/>
                                        <p:tgtEl>
                                          <p:spTgt spid="19">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9">
                                            <p:txEl>
                                              <p:pRg st="12" end="12"/>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9">
                                            <p:txEl>
                                              <p:pRg st="13" end="13"/>
                                            </p:txEl>
                                          </p:spTgt>
                                        </p:tgtEl>
                                        <p:attrNameLst>
                                          <p:attrName>style.visibility</p:attrName>
                                        </p:attrNameLst>
                                      </p:cBhvr>
                                      <p:to>
                                        <p:strVal val="visible"/>
                                      </p:to>
                                    </p:set>
                                    <p:anim calcmode="lin" valueType="num">
                                      <p:cBhvr additive="base">
                                        <p:cTn id="57" dur="500" fill="hold"/>
                                        <p:tgtEl>
                                          <p:spTgt spid="19">
                                            <p:txEl>
                                              <p:pRg st="13" end="1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9">
                                            <p:txEl>
                                              <p:pRg st="13" end="13"/>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9">
                                            <p:txEl>
                                              <p:pRg st="14" end="14"/>
                                            </p:txEl>
                                          </p:spTgt>
                                        </p:tgtEl>
                                        <p:attrNameLst>
                                          <p:attrName>style.visibility</p:attrName>
                                        </p:attrNameLst>
                                      </p:cBhvr>
                                      <p:to>
                                        <p:strVal val="visible"/>
                                      </p:to>
                                    </p:set>
                                    <p:anim calcmode="lin" valueType="num">
                                      <p:cBhvr additive="base">
                                        <p:cTn id="61" dur="500" fill="hold"/>
                                        <p:tgtEl>
                                          <p:spTgt spid="19">
                                            <p:txEl>
                                              <p:pRg st="14" end="1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9">
                                            <p:txEl>
                                              <p:pRg st="14" end="1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9">
                                            <p:txEl>
                                              <p:pRg st="16" end="16"/>
                                            </p:txEl>
                                          </p:spTgt>
                                        </p:tgtEl>
                                        <p:attrNameLst>
                                          <p:attrName>style.visibility</p:attrName>
                                        </p:attrNameLst>
                                      </p:cBhvr>
                                      <p:to>
                                        <p:strVal val="visible"/>
                                      </p:to>
                                    </p:set>
                                    <p:anim calcmode="lin" valueType="num">
                                      <p:cBhvr additive="base">
                                        <p:cTn id="65" dur="500" fill="hold"/>
                                        <p:tgtEl>
                                          <p:spTgt spid="19">
                                            <p:txEl>
                                              <p:pRg st="16" end="16"/>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9">
                                            <p:txEl>
                                              <p:pRg st="16" end="16"/>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9">
                                            <p:txEl>
                                              <p:pRg st="17" end="17"/>
                                            </p:txEl>
                                          </p:spTgt>
                                        </p:tgtEl>
                                        <p:attrNameLst>
                                          <p:attrName>style.visibility</p:attrName>
                                        </p:attrNameLst>
                                      </p:cBhvr>
                                      <p:to>
                                        <p:strVal val="visible"/>
                                      </p:to>
                                    </p:set>
                                    <p:anim calcmode="lin" valueType="num">
                                      <p:cBhvr additive="base">
                                        <p:cTn id="69" dur="500" fill="hold"/>
                                        <p:tgtEl>
                                          <p:spTgt spid="19">
                                            <p:txEl>
                                              <p:pRg st="17" end="17"/>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9">
                                            <p:txEl>
                                              <p:pRg st="17" end="17"/>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9">
                                            <p:txEl>
                                              <p:pRg st="18" end="18"/>
                                            </p:txEl>
                                          </p:spTgt>
                                        </p:tgtEl>
                                        <p:attrNameLst>
                                          <p:attrName>style.visibility</p:attrName>
                                        </p:attrNameLst>
                                      </p:cBhvr>
                                      <p:to>
                                        <p:strVal val="visible"/>
                                      </p:to>
                                    </p:set>
                                    <p:anim calcmode="lin" valueType="num">
                                      <p:cBhvr additive="base">
                                        <p:cTn id="73" dur="500" fill="hold"/>
                                        <p:tgtEl>
                                          <p:spTgt spid="19">
                                            <p:txEl>
                                              <p:pRg st="18" end="1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9">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p:cNvSpPr/>
          <p:nvPr/>
        </p:nvSpPr>
        <p:spPr>
          <a:xfrm>
            <a:off x="152811" y="577574"/>
            <a:ext cx="11886378"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p:txBody>
      </p:sp>
      <p:sp>
        <p:nvSpPr>
          <p:cNvPr id="2" name="Even and Odd Functions (Symmetry)"/>
          <p:cNvSpPr>
            <a:spLocks noGrp="1"/>
          </p:cNvSpPr>
          <p:nvPr>
            <p:ph type="title"/>
          </p:nvPr>
        </p:nvSpPr>
        <p:spPr>
          <a:xfrm>
            <a:off x="1657350" y="-8325"/>
            <a:ext cx="8619052" cy="553998"/>
          </a:xfrm>
        </p:spPr>
        <p:txBody>
          <a:bodyPr/>
          <a:lstStyle/>
          <a:p>
            <a:pPr algn="ctr"/>
            <a:r>
              <a:rPr lang="en-US" sz="4000" dirty="0"/>
              <a:t>Smith Chart – WTG and WTL Outer Circles</a:t>
            </a:r>
          </a:p>
        </p:txBody>
      </p:sp>
      <p:pic>
        <p:nvPicPr>
          <p:cNvPr id="5" name="Picture 4">
            <a:extLst>
              <a:ext uri="{FF2B5EF4-FFF2-40B4-BE49-F238E27FC236}">
                <a16:creationId xmlns:a16="http://schemas.microsoft.com/office/drawing/2014/main" id="{C60E8D82-1282-B20A-1B31-07271D39144D}"/>
              </a:ext>
            </a:extLst>
          </p:cNvPr>
          <p:cNvPicPr>
            <a:picLocks noChangeAspect="1"/>
          </p:cNvPicPr>
          <p:nvPr/>
        </p:nvPicPr>
        <p:blipFill rotWithShape="1">
          <a:blip r:embed="rId3"/>
          <a:srcRect r="49254"/>
          <a:stretch/>
        </p:blipFill>
        <p:spPr>
          <a:xfrm>
            <a:off x="981242" y="1383447"/>
            <a:ext cx="5264437" cy="4412865"/>
          </a:xfrm>
          <a:prstGeom prst="rect">
            <a:avLst/>
          </a:prstGeom>
        </p:spPr>
      </p:pic>
      <p:sp>
        <p:nvSpPr>
          <p:cNvPr id="8" name="TextBox 7">
            <a:extLst>
              <a:ext uri="{FF2B5EF4-FFF2-40B4-BE49-F238E27FC236}">
                <a16:creationId xmlns:a16="http://schemas.microsoft.com/office/drawing/2014/main" id="{852886A3-7394-8017-1B7B-9EF7B4525755}"/>
              </a:ext>
            </a:extLst>
          </p:cNvPr>
          <p:cNvSpPr txBox="1"/>
          <p:nvPr/>
        </p:nvSpPr>
        <p:spPr>
          <a:xfrm>
            <a:off x="168713" y="606208"/>
            <a:ext cx="5264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Wavelength Toward Generator(WTG) in terms of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p:txBody>
      </p:sp>
      <p:sp>
        <p:nvSpPr>
          <p:cNvPr id="9" name="TextBox 8">
            <a:extLst>
              <a:ext uri="{FF2B5EF4-FFF2-40B4-BE49-F238E27FC236}">
                <a16:creationId xmlns:a16="http://schemas.microsoft.com/office/drawing/2014/main" id="{5267DCF2-6A5F-3CB6-EA4E-84DE8FFD2D15}"/>
              </a:ext>
            </a:extLst>
          </p:cNvPr>
          <p:cNvSpPr txBox="1"/>
          <p:nvPr/>
        </p:nvSpPr>
        <p:spPr>
          <a:xfrm>
            <a:off x="290779" y="6249676"/>
            <a:ext cx="477162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Wavelength Toward Load (WTL) in terms of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AlternateContent xmlns:mc="http://schemas.openxmlformats.org/markup-compatibility/2006" xmlns:p14="http://schemas.microsoft.com/office/powerpoint/2010/main">
        <mc:Choice Requires="p14">
          <p:contentPart p14:bwMode="auto" r:id="rId4">
            <p14:nvContentPartPr>
              <p14:cNvPr id="26" name="Ink 25">
                <a:extLst>
                  <a:ext uri="{FF2B5EF4-FFF2-40B4-BE49-F238E27FC236}">
                    <a16:creationId xmlns:a16="http://schemas.microsoft.com/office/drawing/2014/main" id="{06723E60-2E6F-124A-72FF-0F3586040DB6}"/>
                  </a:ext>
                </a:extLst>
              </p14:cNvPr>
              <p14:cNvContentPartPr/>
              <p14:nvPr/>
            </p14:nvContentPartPr>
            <p14:xfrm>
              <a:off x="1357560" y="4183312"/>
              <a:ext cx="396360" cy="1482480"/>
            </p14:xfrm>
          </p:contentPart>
        </mc:Choice>
        <mc:Fallback xmlns="">
          <p:pic>
            <p:nvPicPr>
              <p:cNvPr id="26" name="Ink 25">
                <a:extLst>
                  <a:ext uri="{FF2B5EF4-FFF2-40B4-BE49-F238E27FC236}">
                    <a16:creationId xmlns:a16="http://schemas.microsoft.com/office/drawing/2014/main" id="{06723E60-2E6F-124A-72FF-0F3586040DB6}"/>
                  </a:ext>
                </a:extLst>
              </p:cNvPr>
              <p:cNvPicPr/>
              <p:nvPr/>
            </p:nvPicPr>
            <p:blipFill>
              <a:blip r:embed="rId6"/>
              <a:stretch>
                <a:fillRect/>
              </a:stretch>
            </p:blipFill>
            <p:spPr>
              <a:xfrm>
                <a:off x="1285560" y="4039672"/>
                <a:ext cx="540000" cy="1770120"/>
              </a:xfrm>
              <a:prstGeom prst="rect">
                <a:avLst/>
              </a:prstGeom>
            </p:spPr>
          </p:pic>
        </mc:Fallback>
      </mc:AlternateContent>
      <p:sp>
        <p:nvSpPr>
          <p:cNvPr id="32" name="TextBox 31">
            <a:extLst>
              <a:ext uri="{FF2B5EF4-FFF2-40B4-BE49-F238E27FC236}">
                <a16:creationId xmlns:a16="http://schemas.microsoft.com/office/drawing/2014/main" id="{D7656A9B-5254-8E79-1C12-0557E8A3A89D}"/>
              </a:ext>
            </a:extLst>
          </p:cNvPr>
          <p:cNvSpPr txBox="1"/>
          <p:nvPr/>
        </p:nvSpPr>
        <p:spPr>
          <a:xfrm>
            <a:off x="645620" y="3517506"/>
            <a:ext cx="4251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0</a:t>
            </a:r>
            <a:r>
              <a:rPr kumimoji="0" lang="el-GR" sz="1800" b="0" i="0" u="none" strike="noStrike" kern="1200" cap="none" spc="0" normalizeH="0" baseline="0" noProof="0" dirty="0">
                <a:ln>
                  <a:noFill/>
                </a:ln>
                <a:solidFill>
                  <a:srgbClr val="000000"/>
                </a:solidFill>
                <a:effectLst/>
                <a:uLnTx/>
                <a:uFillTx/>
                <a:latin typeface="Cambria" panose="02040503050406030204"/>
                <a:ea typeface="+mn-ea"/>
                <a:cs typeface="+mn-cs"/>
              </a:rPr>
              <a:t>λ</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cxnSp>
        <p:nvCxnSpPr>
          <p:cNvPr id="34" name="Straight Connector 33">
            <a:extLst>
              <a:ext uri="{FF2B5EF4-FFF2-40B4-BE49-F238E27FC236}">
                <a16:creationId xmlns:a16="http://schemas.microsoft.com/office/drawing/2014/main" id="{9334C56C-B263-86CC-8CC4-406F3CFE57D3}"/>
              </a:ext>
            </a:extLst>
          </p:cNvPr>
          <p:cNvCxnSpPr>
            <a:cxnSpLocks/>
          </p:cNvCxnSpPr>
          <p:nvPr/>
        </p:nvCxnSpPr>
        <p:spPr>
          <a:xfrm>
            <a:off x="1018482" y="3712612"/>
            <a:ext cx="52672"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8622629C-9FC5-5006-18AD-57AB63BABB87}"/>
              </a:ext>
            </a:extLst>
          </p:cNvPr>
          <p:cNvCxnSpPr>
            <a:cxnSpLocks/>
          </p:cNvCxnSpPr>
          <p:nvPr/>
        </p:nvCxnSpPr>
        <p:spPr>
          <a:xfrm flipV="1">
            <a:off x="1720002" y="931600"/>
            <a:ext cx="188310" cy="424447"/>
          </a:xfrm>
          <a:prstGeom prst="straightConnector1">
            <a:avLst/>
          </a:prstGeom>
          <a:ln w="47625">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ABA547A-5D11-D1B5-B8B8-B5BB7EA0B67E}"/>
              </a:ext>
            </a:extLst>
          </p:cNvPr>
          <p:cNvCxnSpPr>
            <a:cxnSpLocks/>
          </p:cNvCxnSpPr>
          <p:nvPr/>
        </p:nvCxnSpPr>
        <p:spPr>
          <a:xfrm>
            <a:off x="1804343" y="5844115"/>
            <a:ext cx="270947" cy="407677"/>
          </a:xfrm>
          <a:prstGeom prst="straightConnector1">
            <a:avLst/>
          </a:prstGeom>
          <a:ln w="4762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7">
            <p14:nvContentPartPr>
              <p14:cNvPr id="77" name="Ink 76">
                <a:extLst>
                  <a:ext uri="{FF2B5EF4-FFF2-40B4-BE49-F238E27FC236}">
                    <a16:creationId xmlns:a16="http://schemas.microsoft.com/office/drawing/2014/main" id="{57911DFD-EC5D-72BB-6D66-61A05E621DC0}"/>
                  </a:ext>
                </a:extLst>
              </p14:cNvPr>
              <p14:cNvContentPartPr/>
              <p14:nvPr/>
            </p14:nvContentPartPr>
            <p14:xfrm>
              <a:off x="1160139" y="1487223"/>
              <a:ext cx="501120" cy="1820520"/>
            </p14:xfrm>
          </p:contentPart>
        </mc:Choice>
        <mc:Fallback xmlns="">
          <p:pic>
            <p:nvPicPr>
              <p:cNvPr id="77" name="Ink 76">
                <a:extLst>
                  <a:ext uri="{FF2B5EF4-FFF2-40B4-BE49-F238E27FC236}">
                    <a16:creationId xmlns:a16="http://schemas.microsoft.com/office/drawing/2014/main" id="{57911DFD-EC5D-72BB-6D66-61A05E621DC0}"/>
                  </a:ext>
                </a:extLst>
              </p:cNvPr>
              <p:cNvPicPr/>
              <p:nvPr/>
            </p:nvPicPr>
            <p:blipFill>
              <a:blip r:embed="rId12"/>
              <a:stretch>
                <a:fillRect/>
              </a:stretch>
            </p:blipFill>
            <p:spPr>
              <a:xfrm>
                <a:off x="1106499" y="1379223"/>
                <a:ext cx="608760" cy="2036160"/>
              </a:xfrm>
              <a:prstGeom prst="rect">
                <a:avLst/>
              </a:prstGeom>
            </p:spPr>
          </p:pic>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83414BC-CD6F-76C3-DEEB-E1057B367D26}"/>
                  </a:ext>
                </a:extLst>
              </p:cNvPr>
              <p:cNvSpPr txBox="1"/>
              <p:nvPr/>
            </p:nvSpPr>
            <p:spPr>
              <a:xfrm>
                <a:off x="6424576" y="895321"/>
                <a:ext cx="5265672" cy="9549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Z</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0</m:t>
                          </m:r>
                        </m:sub>
                      </m:sSub>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Times New Roman" panose="02020603050405020304" pitchFamily="18"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tan</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βl</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βl</m:t>
                              </m:r>
                            </m:e>
                          </m:d>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length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line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10" name="TextBox 9">
                <a:extLst>
                  <a:ext uri="{FF2B5EF4-FFF2-40B4-BE49-F238E27FC236}">
                    <a16:creationId xmlns:a16="http://schemas.microsoft.com/office/drawing/2014/main" id="{D83414BC-CD6F-76C3-DEEB-E1057B367D26}"/>
                  </a:ext>
                </a:extLst>
              </p:cNvPr>
              <p:cNvSpPr txBox="1">
                <a:spLocks noRot="1" noChangeAspect="1" noMove="1" noResize="1" noEditPoints="1" noAdjustHandles="1" noChangeArrowheads="1" noChangeShapeType="1" noTextEdit="1"/>
              </p:cNvSpPr>
              <p:nvPr/>
            </p:nvSpPr>
            <p:spPr>
              <a:xfrm>
                <a:off x="6424576" y="895321"/>
                <a:ext cx="5265672" cy="954941"/>
              </a:xfrm>
              <a:prstGeom prst="rect">
                <a:avLst/>
              </a:prstGeom>
              <a:blipFill>
                <a:blip r:embed="rId1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1E2A15C-7830-0F59-207E-4203CD46643C}"/>
              </a:ext>
            </a:extLst>
          </p:cNvPr>
          <p:cNvPicPr>
            <a:picLocks noChangeAspect="1"/>
          </p:cNvPicPr>
          <p:nvPr/>
        </p:nvPicPr>
        <p:blipFill>
          <a:blip r:embed="rId14"/>
          <a:stretch>
            <a:fillRect/>
          </a:stretch>
        </p:blipFill>
        <p:spPr>
          <a:xfrm>
            <a:off x="7055256" y="2227489"/>
            <a:ext cx="4782217" cy="2886478"/>
          </a:xfrm>
          <a:prstGeom prst="rect">
            <a:avLst/>
          </a:prstGeom>
        </p:spPr>
      </p:pic>
    </p:spTree>
    <p:extLst>
      <p:ext uri="{BB962C8B-B14F-4D97-AF65-F5344CB8AC3E}">
        <p14:creationId xmlns:p14="http://schemas.microsoft.com/office/powerpoint/2010/main" val="3908477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fill="hold"/>
                                        <p:tgtEl>
                                          <p:spTgt spid="51"/>
                                        </p:tgtEl>
                                        <p:attrNameLst>
                                          <p:attrName>ppt_x</p:attrName>
                                        </p:attrNameLst>
                                      </p:cBhvr>
                                      <p:tavLst>
                                        <p:tav tm="0">
                                          <p:val>
                                            <p:strVal val="#ppt_x"/>
                                          </p:val>
                                        </p:tav>
                                        <p:tav tm="100000">
                                          <p:val>
                                            <p:strVal val="#ppt_x"/>
                                          </p:val>
                                        </p:tav>
                                      </p:tavLst>
                                    </p:anim>
                                    <p:anim calcmode="lin" valueType="num">
                                      <p:cBhvr additive="base">
                                        <p:cTn id="26" dur="500" fill="hold"/>
                                        <p:tgtEl>
                                          <p:spTgt spid="5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80601" y="0"/>
            <a:ext cx="6702158" cy="553998"/>
          </a:xfrm>
        </p:spPr>
        <p:txBody>
          <a:bodyPr/>
          <a:lstStyle/>
          <a:p>
            <a:pPr algn="ctr"/>
            <a:r>
              <a:rPr lang="en-US" sz="4000" dirty="0"/>
              <a:t>Interactive Smith Chart</a:t>
            </a:r>
          </a:p>
        </p:txBody>
      </p:sp>
      <p:sp>
        <p:nvSpPr>
          <p:cNvPr id="5" name="Rectangle 4"/>
          <p:cNvSpPr/>
          <p:nvPr/>
        </p:nvSpPr>
        <p:spPr>
          <a:xfrm>
            <a:off x="121938" y="623974"/>
            <a:ext cx="11819485"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Go to </a:t>
            </a:r>
            <a:r>
              <a:rPr kumimoji="0" lang="en-US" sz="1800" b="0" i="0" u="sng"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hlinkClick r:id="rId3"/>
              </a:rPr>
              <a:t>Applied Electromagnetics 8E Textbook Website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to run the Interactive </a:t>
            </a: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Modules</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located under Student Resources. Choose module 2.6 – Interactive Smith Chart for this activity.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Interactive Smith Chart provides Impedance and Admittance information, along with distances along the transmission line in terms of λ.</a:t>
            </a:r>
          </a:p>
        </p:txBody>
      </p:sp>
      <p:pic>
        <p:nvPicPr>
          <p:cNvPr id="6" name="Picture 5">
            <a:extLst>
              <a:ext uri="{FF2B5EF4-FFF2-40B4-BE49-F238E27FC236}">
                <a16:creationId xmlns:a16="http://schemas.microsoft.com/office/drawing/2014/main" id="{B8E3AB52-41A4-49B5-9908-7EA40929E6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734" y="2677714"/>
            <a:ext cx="5563264" cy="4153395"/>
          </a:xfrm>
          <a:prstGeom prst="rect">
            <a:avLst/>
          </a:prstGeom>
        </p:spPr>
      </p:pic>
      <p:pic>
        <p:nvPicPr>
          <p:cNvPr id="9" name="Picture 8">
            <a:extLst>
              <a:ext uri="{FF2B5EF4-FFF2-40B4-BE49-F238E27FC236}">
                <a16:creationId xmlns:a16="http://schemas.microsoft.com/office/drawing/2014/main" id="{0208BE8B-D3CF-4AE9-98FC-FF28C04E94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6785" y="2668749"/>
            <a:ext cx="5573792" cy="4153395"/>
          </a:xfrm>
          <a:prstGeom prst="rect">
            <a:avLst/>
          </a:prstGeom>
        </p:spPr>
      </p:pic>
    </p:spTree>
    <p:extLst>
      <p:ext uri="{BB962C8B-B14F-4D97-AF65-F5344CB8AC3E}">
        <p14:creationId xmlns:p14="http://schemas.microsoft.com/office/powerpoint/2010/main" val="378673918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910380" y="-41190"/>
            <a:ext cx="5374012" cy="553998"/>
          </a:xfrm>
        </p:spPr>
        <p:txBody>
          <a:bodyPr/>
          <a:lstStyle/>
          <a:p>
            <a:pPr algn="ctr"/>
            <a:r>
              <a:rPr lang="en-US" sz="4000" dirty="0"/>
              <a:t>Smith Chart Example 1</a:t>
            </a:r>
          </a:p>
        </p:txBody>
      </p:sp>
      <p:sp>
        <p:nvSpPr>
          <p:cNvPr id="4" name="Rectangle 3"/>
          <p:cNvSpPr/>
          <p:nvPr/>
        </p:nvSpPr>
        <p:spPr>
          <a:xfrm>
            <a:off x="125510" y="539703"/>
            <a:ext cx="11923057"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Using a Smith Chart, d</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etermine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 the adjacent circuit, given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60 + j40.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p:txBody>
      </p:sp>
      <p:pic>
        <p:nvPicPr>
          <p:cNvPr id="8" name="Picture 7">
            <a:extLst>
              <a:ext uri="{FF2B5EF4-FFF2-40B4-BE49-F238E27FC236}">
                <a16:creationId xmlns:a16="http://schemas.microsoft.com/office/drawing/2014/main" id="{AF64CF89-CD8E-2391-FC33-53150D335DBD}"/>
              </a:ext>
            </a:extLst>
          </p:cNvPr>
          <p:cNvPicPr>
            <a:picLocks noChangeAspect="1"/>
          </p:cNvPicPr>
          <p:nvPr/>
        </p:nvPicPr>
        <p:blipFill>
          <a:blip r:embed="rId2"/>
          <a:stretch>
            <a:fillRect/>
          </a:stretch>
        </p:blipFill>
        <p:spPr>
          <a:xfrm>
            <a:off x="8414795" y="589505"/>
            <a:ext cx="3541174" cy="2057322"/>
          </a:xfrm>
          <a:prstGeom prst="rect">
            <a:avLst/>
          </a:prstGeom>
        </p:spPr>
      </p:pic>
      <p:pic>
        <p:nvPicPr>
          <p:cNvPr id="10" name="Picture 9">
            <a:extLst>
              <a:ext uri="{FF2B5EF4-FFF2-40B4-BE49-F238E27FC236}">
                <a16:creationId xmlns:a16="http://schemas.microsoft.com/office/drawing/2014/main" id="{B8DA8334-78A2-EB59-FD13-A7B59B51D55C}"/>
              </a:ext>
            </a:extLst>
          </p:cNvPr>
          <p:cNvPicPr>
            <a:picLocks noChangeAspect="1"/>
          </p:cNvPicPr>
          <p:nvPr/>
        </p:nvPicPr>
        <p:blipFill>
          <a:blip r:embed="rId3"/>
          <a:stretch>
            <a:fillRect/>
          </a:stretch>
        </p:blipFill>
        <p:spPr>
          <a:xfrm>
            <a:off x="210284" y="1395141"/>
            <a:ext cx="7174364" cy="513619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B4385F9-64A7-EFD0-E60F-D4DF4282B91B}"/>
                  </a:ext>
                </a:extLst>
              </p:cNvPr>
              <p:cNvSpPr txBox="1"/>
              <p:nvPr/>
            </p:nvSpPr>
            <p:spPr>
              <a:xfrm>
                <a:off x="7972804" y="4416630"/>
                <a:ext cx="31382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=0.2</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797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640</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12" name="TextBox 11">
                <a:extLst>
                  <a:ext uri="{FF2B5EF4-FFF2-40B4-BE49-F238E27FC236}">
                    <a16:creationId xmlns:a16="http://schemas.microsoft.com/office/drawing/2014/main" id="{4B4385F9-64A7-EFD0-E60F-D4DF4282B91B}"/>
                  </a:ext>
                </a:extLst>
              </p:cNvPr>
              <p:cNvSpPr txBox="1">
                <a:spLocks noRot="1" noChangeAspect="1" noMove="1" noResize="1" noEditPoints="1" noAdjustHandles="1" noChangeArrowheads="1" noChangeShapeType="1" noTextEdit="1"/>
              </p:cNvSpPr>
              <p:nvPr/>
            </p:nvSpPr>
            <p:spPr>
              <a:xfrm>
                <a:off x="7972804" y="4416630"/>
                <a:ext cx="3138231" cy="369332"/>
              </a:xfrm>
              <a:prstGeom prst="rect">
                <a:avLst/>
              </a:prstGeom>
              <a:blipFill>
                <a:blip r:embed="rId4"/>
                <a:stretch>
                  <a:fillRect b="-15000"/>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0FAF274C-8912-C6B7-C355-D22AAFA509C1}"/>
              </a:ext>
            </a:extLst>
          </p:cNvPr>
          <p:cNvCxnSpPr>
            <a:cxnSpLocks/>
          </p:cNvCxnSpPr>
          <p:nvPr/>
        </p:nvCxnSpPr>
        <p:spPr>
          <a:xfrm flipH="1" flipV="1">
            <a:off x="5874589" y="4296605"/>
            <a:ext cx="2098215" cy="844309"/>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CE20898-BC31-1637-608D-29165DA1D08A}"/>
                  </a:ext>
                </a:extLst>
              </p:cNvPr>
              <p:cNvSpPr txBox="1"/>
              <p:nvPr/>
            </p:nvSpPr>
            <p:spPr>
              <a:xfrm>
                <a:off x="7469422" y="5423466"/>
                <a:ext cx="4404539"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0.2</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79</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0.640</m:t>
                        </m:r>
                      </m:e>
                    </m:d>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50 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39.8 - j32.0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17" name="TextBox 16">
                <a:extLst>
                  <a:ext uri="{FF2B5EF4-FFF2-40B4-BE49-F238E27FC236}">
                    <a16:creationId xmlns:a16="http://schemas.microsoft.com/office/drawing/2014/main" id="{ECE20898-BC31-1637-608D-29165DA1D08A}"/>
                  </a:ext>
                </a:extLst>
              </p:cNvPr>
              <p:cNvSpPr txBox="1">
                <a:spLocks noRot="1" noChangeAspect="1" noMove="1" noResize="1" noEditPoints="1" noAdjustHandles="1" noChangeArrowheads="1" noChangeShapeType="1" noTextEdit="1"/>
              </p:cNvSpPr>
              <p:nvPr/>
            </p:nvSpPr>
            <p:spPr>
              <a:xfrm>
                <a:off x="7469422" y="5423466"/>
                <a:ext cx="4404539" cy="923330"/>
              </a:xfrm>
              <a:prstGeom prst="rect">
                <a:avLst/>
              </a:prstGeom>
              <a:blipFill>
                <a:blip r:embed="rId5"/>
                <a:stretch>
                  <a:fillRect t="-4636" r="-277" b="-9272"/>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24E75DC8-7E37-D304-9F72-75C373379C2D}"/>
              </a:ext>
            </a:extLst>
          </p:cNvPr>
          <p:cNvCxnSpPr>
            <a:cxnSpLocks/>
            <a:endCxn id="24" idx="1"/>
          </p:cNvCxnSpPr>
          <p:nvPr/>
        </p:nvCxnSpPr>
        <p:spPr>
          <a:xfrm>
            <a:off x="4756727" y="1589211"/>
            <a:ext cx="3291289" cy="1217754"/>
          </a:xfrm>
          <a:prstGeom prst="straightConnector1">
            <a:avLst/>
          </a:prstGeom>
          <a:ln w="317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024C9D-6EB4-0013-9259-74DC90C04C21}"/>
              </a:ext>
            </a:extLst>
          </p:cNvPr>
          <p:cNvCxnSpPr>
            <a:cxnSpLocks/>
          </p:cNvCxnSpPr>
          <p:nvPr/>
        </p:nvCxnSpPr>
        <p:spPr>
          <a:xfrm flipH="1" flipV="1">
            <a:off x="6673771" y="3787752"/>
            <a:ext cx="1324911" cy="82217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42A4880-2601-8CBB-2F16-179285C68840}"/>
              </a:ext>
            </a:extLst>
          </p:cNvPr>
          <p:cNvSpPr txBox="1"/>
          <p:nvPr/>
        </p:nvSpPr>
        <p:spPr>
          <a:xfrm>
            <a:off x="7983471" y="4956248"/>
            <a:ext cx="29311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 = 0.2</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towards Generator.</a:t>
            </a:r>
          </a:p>
        </p:txBody>
      </p:sp>
      <p:sp>
        <p:nvSpPr>
          <p:cNvPr id="24" name="TextBox 23">
            <a:extLst>
              <a:ext uri="{FF2B5EF4-FFF2-40B4-BE49-F238E27FC236}">
                <a16:creationId xmlns:a16="http://schemas.microsoft.com/office/drawing/2014/main" id="{E01DCEA0-138A-65CC-85EF-B26CBEBA2DEF}"/>
              </a:ext>
            </a:extLst>
          </p:cNvPr>
          <p:cNvSpPr txBox="1"/>
          <p:nvPr/>
        </p:nvSpPr>
        <p:spPr>
          <a:xfrm>
            <a:off x="8048016" y="2622299"/>
            <a:ext cx="33680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Distance d Course Slider Adjust.</a:t>
            </a:r>
          </a:p>
        </p:txBody>
      </p:sp>
      <p:cxnSp>
        <p:nvCxnSpPr>
          <p:cNvPr id="26" name="Straight Arrow Connector 25">
            <a:extLst>
              <a:ext uri="{FF2B5EF4-FFF2-40B4-BE49-F238E27FC236}">
                <a16:creationId xmlns:a16="http://schemas.microsoft.com/office/drawing/2014/main" id="{F01B4E0E-BE14-0C7C-9F4C-08D0D05CFE36}"/>
              </a:ext>
            </a:extLst>
          </p:cNvPr>
          <p:cNvCxnSpPr>
            <a:cxnSpLocks/>
          </p:cNvCxnSpPr>
          <p:nvPr/>
        </p:nvCxnSpPr>
        <p:spPr>
          <a:xfrm>
            <a:off x="4756727" y="1765034"/>
            <a:ext cx="3318787" cy="1446255"/>
          </a:xfrm>
          <a:prstGeom prst="straightConnector1">
            <a:avLst/>
          </a:prstGeom>
          <a:ln w="317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2FE6CF3-7831-EE1F-6BCB-7C99F129037C}"/>
              </a:ext>
            </a:extLst>
          </p:cNvPr>
          <p:cNvSpPr txBox="1"/>
          <p:nvPr/>
        </p:nvSpPr>
        <p:spPr>
          <a:xfrm>
            <a:off x="8051105" y="3050931"/>
            <a:ext cx="306045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Distance d Fine Slider Adjust.</a:t>
            </a:r>
          </a:p>
        </p:txBody>
      </p:sp>
      <p:cxnSp>
        <p:nvCxnSpPr>
          <p:cNvPr id="35" name="Straight Arrow Connector 34">
            <a:extLst>
              <a:ext uri="{FF2B5EF4-FFF2-40B4-BE49-F238E27FC236}">
                <a16:creationId xmlns:a16="http://schemas.microsoft.com/office/drawing/2014/main" id="{F06858CE-62F5-9B24-5E4F-0FB2CDEA361D}"/>
              </a:ext>
            </a:extLst>
          </p:cNvPr>
          <p:cNvCxnSpPr/>
          <p:nvPr/>
        </p:nvCxnSpPr>
        <p:spPr>
          <a:xfrm flipH="1">
            <a:off x="1468582" y="1228438"/>
            <a:ext cx="711200" cy="0"/>
          </a:xfrm>
          <a:prstGeom prst="straightConnector1">
            <a:avLst/>
          </a:prstGeom>
          <a:ln w="44450">
            <a:solidFill>
              <a:schemeClr val="tx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388DD81-9E60-AF46-70A5-E9FDE612F60B}"/>
              </a:ext>
            </a:extLst>
          </p:cNvPr>
          <p:cNvSpPr txBox="1"/>
          <p:nvPr/>
        </p:nvSpPr>
        <p:spPr>
          <a:xfrm>
            <a:off x="2246671" y="1047552"/>
            <a:ext cx="255236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WTG Slider Adjustment.</a:t>
            </a:r>
          </a:p>
        </p:txBody>
      </p:sp>
      <p:sp>
        <p:nvSpPr>
          <p:cNvPr id="3" name="Arc 2">
            <a:extLst>
              <a:ext uri="{FF2B5EF4-FFF2-40B4-BE49-F238E27FC236}">
                <a16:creationId xmlns:a16="http://schemas.microsoft.com/office/drawing/2014/main" id="{39BB7B42-10A8-321E-37F9-F9655B6A1B06}"/>
              </a:ext>
            </a:extLst>
          </p:cNvPr>
          <p:cNvSpPr/>
          <p:nvPr/>
        </p:nvSpPr>
        <p:spPr>
          <a:xfrm rot="3712568">
            <a:off x="797698" y="2311153"/>
            <a:ext cx="3714318" cy="3126862"/>
          </a:xfrm>
          <a:prstGeom prst="arc">
            <a:avLst>
              <a:gd name="adj1" fmla="val 16581767"/>
              <a:gd name="adj2" fmla="val 609769"/>
            </a:avLst>
          </a:prstGeom>
          <a:ln w="349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5" name="TextBox 4">
            <a:extLst>
              <a:ext uri="{FF2B5EF4-FFF2-40B4-BE49-F238E27FC236}">
                <a16:creationId xmlns:a16="http://schemas.microsoft.com/office/drawing/2014/main" id="{E74FFF9A-45D1-027B-1184-B1A55C45BE3D}"/>
              </a:ext>
            </a:extLst>
          </p:cNvPr>
          <p:cNvSpPr txBox="1"/>
          <p:nvPr/>
        </p:nvSpPr>
        <p:spPr>
          <a:xfrm>
            <a:off x="3522853" y="4335764"/>
            <a:ext cx="99801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WTG</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p:sp>
        <p:nvSpPr>
          <p:cNvPr id="7" name="TextBox 6">
            <a:extLst>
              <a:ext uri="{FF2B5EF4-FFF2-40B4-BE49-F238E27FC236}">
                <a16:creationId xmlns:a16="http://schemas.microsoft.com/office/drawing/2014/main" id="{2B5F255D-9BAE-944C-7395-D72BCFB41D5A}"/>
              </a:ext>
            </a:extLst>
          </p:cNvPr>
          <p:cNvSpPr txBox="1"/>
          <p:nvPr/>
        </p:nvSpPr>
        <p:spPr>
          <a:xfrm>
            <a:off x="2700709" y="3059668"/>
            <a:ext cx="4962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p:sp>
        <p:nvSpPr>
          <p:cNvPr id="9" name="TextBox 8">
            <a:extLst>
              <a:ext uri="{FF2B5EF4-FFF2-40B4-BE49-F238E27FC236}">
                <a16:creationId xmlns:a16="http://schemas.microsoft.com/office/drawing/2014/main" id="{ECB9F1FA-51C3-1D00-64EB-7CF7DF6D79A2}"/>
              </a:ext>
            </a:extLst>
          </p:cNvPr>
          <p:cNvSpPr txBox="1"/>
          <p:nvPr/>
        </p:nvSpPr>
        <p:spPr>
          <a:xfrm>
            <a:off x="2591852" y="4804273"/>
            <a:ext cx="4962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p:sp>
        <p:nvSpPr>
          <p:cNvPr id="6" name="TextBox 5">
            <a:extLst>
              <a:ext uri="{FF2B5EF4-FFF2-40B4-BE49-F238E27FC236}">
                <a16:creationId xmlns:a16="http://schemas.microsoft.com/office/drawing/2014/main" id="{EC8BD206-2814-2EE6-A259-B72C53EEE606}"/>
              </a:ext>
            </a:extLst>
          </p:cNvPr>
          <p:cNvSpPr txBox="1"/>
          <p:nvPr/>
        </p:nvSpPr>
        <p:spPr>
          <a:xfrm>
            <a:off x="8161760" y="3561217"/>
            <a:ext cx="241460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Cambria Math" panose="02040503050406030204" pitchFamily="18" charset="0"/>
                <a:ea typeface="Cambria Math" panose="02040503050406030204" pitchFamily="18" charset="0"/>
              </a:rPr>
              <a:t>Left/Right Arrow Keys can also be used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p:spTree>
    <p:extLst>
      <p:ext uri="{BB962C8B-B14F-4D97-AF65-F5344CB8AC3E}">
        <p14:creationId xmlns:p14="http://schemas.microsoft.com/office/powerpoint/2010/main" val="18936347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additive="base">
                                        <p:cTn id="65" dur="500" fill="hold"/>
                                        <p:tgtEl>
                                          <p:spTgt spid="7"/>
                                        </p:tgtEl>
                                        <p:attrNameLst>
                                          <p:attrName>ppt_x</p:attrName>
                                        </p:attrNameLst>
                                      </p:cBhvr>
                                      <p:tavLst>
                                        <p:tav tm="0">
                                          <p:val>
                                            <p:strVal val="#ppt_x"/>
                                          </p:val>
                                        </p:tav>
                                        <p:tav tm="100000">
                                          <p:val>
                                            <p:strVal val="#ppt_x"/>
                                          </p:val>
                                        </p:tav>
                                      </p:tavLst>
                                    </p:anim>
                                    <p:anim calcmode="lin" valueType="num">
                                      <p:cBhvr additive="base">
                                        <p:cTn id="66" dur="500" fill="hold"/>
                                        <p:tgtEl>
                                          <p:spTgt spid="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anim calcmode="lin" valueType="num">
                                      <p:cBhvr additive="base">
                                        <p:cTn id="69" dur="500" fill="hold"/>
                                        <p:tgtEl>
                                          <p:spTgt spid="9"/>
                                        </p:tgtEl>
                                        <p:attrNameLst>
                                          <p:attrName>ppt_x</p:attrName>
                                        </p:attrNameLst>
                                      </p:cBhvr>
                                      <p:tavLst>
                                        <p:tav tm="0">
                                          <p:val>
                                            <p:strVal val="#ppt_x"/>
                                          </p:val>
                                        </p:tav>
                                        <p:tav tm="100000">
                                          <p:val>
                                            <p:strVal val="#ppt_x"/>
                                          </p:val>
                                        </p:tav>
                                      </p:tavLst>
                                    </p:anim>
                                    <p:anim calcmode="lin" valueType="num">
                                      <p:cBhvr additive="base">
                                        <p:cTn id="7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3" grpId="0"/>
      <p:bldP spid="24" grpId="0"/>
      <p:bldP spid="27" grpId="0"/>
      <p:bldP spid="3" grpId="0" animBg="1"/>
      <p:bldP spid="5" grpId="0"/>
      <p:bldP spid="7" grpId="0"/>
      <p:bldP spid="9"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60822" y="-41190"/>
            <a:ext cx="6236043" cy="553998"/>
          </a:xfrm>
        </p:spPr>
        <p:txBody>
          <a:bodyPr/>
          <a:lstStyle/>
          <a:p>
            <a:pPr algn="ctr"/>
            <a:r>
              <a:rPr lang="en-US" sz="4000" dirty="0"/>
              <a:t>Smith Chart Example 2</a:t>
            </a:r>
          </a:p>
        </p:txBody>
      </p:sp>
      <mc:AlternateContent xmlns:mc="http://schemas.openxmlformats.org/markup-compatibility/2006" xmlns:a14="http://schemas.microsoft.com/office/drawing/2010/main">
        <mc:Choice Requires="a14">
          <p:sp>
            <p:nvSpPr>
              <p:cNvPr id="4" name="Rectangle 3"/>
              <p:cNvSpPr/>
              <p:nvPr/>
            </p:nvSpPr>
            <p:spPr>
              <a:xfrm>
                <a:off x="125510" y="539703"/>
                <a:ext cx="11923057"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Using a Smith Chart, determine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for the adjacent circuit, given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39.8 - j32.0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p:txBody>
          </p:sp>
        </mc:Choice>
        <mc:Fallback xmlns="">
          <p:sp>
            <p:nvSpPr>
              <p:cNvPr id="4" name="Rectangle 3"/>
              <p:cNvSpPr>
                <a:spLocks noRot="1" noChangeAspect="1" noMove="1" noResize="1" noEditPoints="1" noAdjustHandles="1" noChangeArrowheads="1" noChangeShapeType="1" noTextEdit="1"/>
              </p:cNvSpPr>
              <p:nvPr/>
            </p:nvSpPr>
            <p:spPr>
              <a:xfrm>
                <a:off x="125510" y="539703"/>
                <a:ext cx="11923057" cy="6186309"/>
              </a:xfrm>
              <a:prstGeom prst="rect">
                <a:avLst/>
              </a:prstGeom>
              <a:blipFill>
                <a:blip r:embed="rId2"/>
                <a:stretch>
                  <a:fillRect l="-153" t="-29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F64CF89-CD8E-2391-FC33-53150D335DBD}"/>
              </a:ext>
            </a:extLst>
          </p:cNvPr>
          <p:cNvPicPr>
            <a:picLocks noChangeAspect="1"/>
          </p:cNvPicPr>
          <p:nvPr/>
        </p:nvPicPr>
        <p:blipFill>
          <a:blip r:embed="rId3"/>
          <a:stretch>
            <a:fillRect/>
          </a:stretch>
        </p:blipFill>
        <p:spPr>
          <a:xfrm>
            <a:off x="8687544" y="597827"/>
            <a:ext cx="3294172" cy="191382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B4385F9-64A7-EFD0-E60F-D4DF4282B91B}"/>
                  </a:ext>
                </a:extLst>
              </p:cNvPr>
              <p:cNvSpPr txBox="1"/>
              <p:nvPr/>
            </p:nvSpPr>
            <p:spPr>
              <a:xfrm>
                <a:off x="8057042" y="3545044"/>
                <a:ext cx="30099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1.20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800</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12" name="TextBox 11">
                <a:extLst>
                  <a:ext uri="{FF2B5EF4-FFF2-40B4-BE49-F238E27FC236}">
                    <a16:creationId xmlns:a16="http://schemas.microsoft.com/office/drawing/2014/main" id="{4B4385F9-64A7-EFD0-E60F-D4DF4282B91B}"/>
                  </a:ext>
                </a:extLst>
              </p:cNvPr>
              <p:cNvSpPr txBox="1">
                <a:spLocks noRot="1" noChangeAspect="1" noMove="1" noResize="1" noEditPoints="1" noAdjustHandles="1" noChangeArrowheads="1" noChangeShapeType="1" noTextEdit="1"/>
              </p:cNvSpPr>
              <p:nvPr/>
            </p:nvSpPr>
            <p:spPr>
              <a:xfrm>
                <a:off x="8057042" y="3545044"/>
                <a:ext cx="3009991"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CE20898-BC31-1637-608D-29165DA1D08A}"/>
                  </a:ext>
                </a:extLst>
              </p:cNvPr>
              <p:cNvSpPr txBox="1"/>
              <p:nvPr/>
            </p:nvSpPr>
            <p:spPr>
              <a:xfrm>
                <a:off x="7482377" y="5605494"/>
                <a:ext cx="421538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0.3</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1.20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80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50 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60 + j40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17" name="TextBox 16">
                <a:extLst>
                  <a:ext uri="{FF2B5EF4-FFF2-40B4-BE49-F238E27FC236}">
                    <a16:creationId xmlns:a16="http://schemas.microsoft.com/office/drawing/2014/main" id="{ECE20898-BC31-1637-608D-29165DA1D08A}"/>
                  </a:ext>
                </a:extLst>
              </p:cNvPr>
              <p:cNvSpPr txBox="1">
                <a:spLocks noRot="1" noChangeAspect="1" noMove="1" noResize="1" noEditPoints="1" noAdjustHandles="1" noChangeArrowheads="1" noChangeShapeType="1" noTextEdit="1"/>
              </p:cNvSpPr>
              <p:nvPr/>
            </p:nvSpPr>
            <p:spPr>
              <a:xfrm>
                <a:off x="7482377" y="5605494"/>
                <a:ext cx="4215385" cy="923330"/>
              </a:xfrm>
              <a:prstGeom prst="rect">
                <a:avLst/>
              </a:prstGeom>
              <a:blipFill>
                <a:blip r:embed="rId5"/>
                <a:stretch>
                  <a:fillRect t="-4636" r="-289" b="-9272"/>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242A4880-2601-8CBB-2F16-179285C68840}"/>
              </a:ext>
            </a:extLst>
          </p:cNvPr>
          <p:cNvSpPr txBox="1"/>
          <p:nvPr/>
        </p:nvSpPr>
        <p:spPr>
          <a:xfrm>
            <a:off x="8109384" y="4088730"/>
            <a:ext cx="2880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 = 0.5</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- 0.2</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0.3</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WTG.</a:t>
            </a:r>
          </a:p>
        </p:txBody>
      </p:sp>
      <p:sp>
        <p:nvSpPr>
          <p:cNvPr id="24" name="TextBox 23">
            <a:extLst>
              <a:ext uri="{FF2B5EF4-FFF2-40B4-BE49-F238E27FC236}">
                <a16:creationId xmlns:a16="http://schemas.microsoft.com/office/drawing/2014/main" id="{E01DCEA0-138A-65CC-85EF-B26CBEBA2DEF}"/>
              </a:ext>
            </a:extLst>
          </p:cNvPr>
          <p:cNvSpPr txBox="1"/>
          <p:nvPr/>
        </p:nvSpPr>
        <p:spPr>
          <a:xfrm>
            <a:off x="8048016" y="2622299"/>
            <a:ext cx="3294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Distance d Course Adjust Slider.</a:t>
            </a:r>
          </a:p>
        </p:txBody>
      </p:sp>
      <p:sp>
        <p:nvSpPr>
          <p:cNvPr id="27" name="TextBox 26">
            <a:extLst>
              <a:ext uri="{FF2B5EF4-FFF2-40B4-BE49-F238E27FC236}">
                <a16:creationId xmlns:a16="http://schemas.microsoft.com/office/drawing/2014/main" id="{E2FE6CF3-7831-EE1F-6BCB-7C99F129037C}"/>
              </a:ext>
            </a:extLst>
          </p:cNvPr>
          <p:cNvSpPr txBox="1"/>
          <p:nvPr/>
        </p:nvSpPr>
        <p:spPr>
          <a:xfrm>
            <a:off x="8032633" y="3050931"/>
            <a:ext cx="30344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Distance d Fine Adjust Slider.</a:t>
            </a:r>
          </a:p>
        </p:txBody>
      </p:sp>
      <p:pic>
        <p:nvPicPr>
          <p:cNvPr id="7" name="Picture 6">
            <a:extLst>
              <a:ext uri="{FF2B5EF4-FFF2-40B4-BE49-F238E27FC236}">
                <a16:creationId xmlns:a16="http://schemas.microsoft.com/office/drawing/2014/main" id="{A8D2A8B2-8954-C5DB-E0A0-F6D795A4DCEE}"/>
              </a:ext>
            </a:extLst>
          </p:cNvPr>
          <p:cNvPicPr>
            <a:picLocks noChangeAspect="1"/>
          </p:cNvPicPr>
          <p:nvPr/>
        </p:nvPicPr>
        <p:blipFill>
          <a:blip r:embed="rId6"/>
          <a:stretch>
            <a:fillRect/>
          </a:stretch>
        </p:blipFill>
        <p:spPr>
          <a:xfrm>
            <a:off x="215289" y="1372108"/>
            <a:ext cx="7177309" cy="5136192"/>
          </a:xfrm>
          <a:prstGeom prst="rect">
            <a:avLst/>
          </a:prstGeom>
        </p:spPr>
      </p:pic>
      <p:cxnSp>
        <p:nvCxnSpPr>
          <p:cNvPr id="13" name="Straight Arrow Connector 12">
            <a:extLst>
              <a:ext uri="{FF2B5EF4-FFF2-40B4-BE49-F238E27FC236}">
                <a16:creationId xmlns:a16="http://schemas.microsoft.com/office/drawing/2014/main" id="{0FAF274C-8912-C6B7-C355-D22AAFA509C1}"/>
              </a:ext>
            </a:extLst>
          </p:cNvPr>
          <p:cNvCxnSpPr>
            <a:cxnSpLocks/>
            <a:stCxn id="23" idx="1"/>
          </p:cNvCxnSpPr>
          <p:nvPr/>
        </p:nvCxnSpPr>
        <p:spPr>
          <a:xfrm flipH="1">
            <a:off x="5953129" y="4273396"/>
            <a:ext cx="2156255" cy="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4E75DC8-7E37-D304-9F72-75C373379C2D}"/>
              </a:ext>
            </a:extLst>
          </p:cNvPr>
          <p:cNvCxnSpPr>
            <a:cxnSpLocks/>
            <a:endCxn id="24" idx="1"/>
          </p:cNvCxnSpPr>
          <p:nvPr/>
        </p:nvCxnSpPr>
        <p:spPr>
          <a:xfrm>
            <a:off x="4756727" y="1554737"/>
            <a:ext cx="3291289" cy="1252228"/>
          </a:xfrm>
          <a:prstGeom prst="straightConnector1">
            <a:avLst/>
          </a:prstGeom>
          <a:ln w="317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024C9D-6EB4-0013-9259-74DC90C04C21}"/>
              </a:ext>
            </a:extLst>
          </p:cNvPr>
          <p:cNvCxnSpPr>
            <a:cxnSpLocks/>
          </p:cNvCxnSpPr>
          <p:nvPr/>
        </p:nvCxnSpPr>
        <p:spPr>
          <a:xfrm flipH="1">
            <a:off x="6717001" y="3740242"/>
            <a:ext cx="1358513" cy="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01B4E0E-BE14-0C7C-9F4C-08D0D05CFE36}"/>
              </a:ext>
            </a:extLst>
          </p:cNvPr>
          <p:cNvCxnSpPr>
            <a:cxnSpLocks/>
          </p:cNvCxnSpPr>
          <p:nvPr/>
        </p:nvCxnSpPr>
        <p:spPr>
          <a:xfrm>
            <a:off x="4756727" y="1736436"/>
            <a:ext cx="3318787" cy="1474853"/>
          </a:xfrm>
          <a:prstGeom prst="straightConnector1">
            <a:avLst/>
          </a:prstGeom>
          <a:ln w="317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C7E85D5-5BF1-1C28-D3F5-F69EC985BF2A}"/>
              </a:ext>
            </a:extLst>
          </p:cNvPr>
          <p:cNvCxnSpPr/>
          <p:nvPr/>
        </p:nvCxnSpPr>
        <p:spPr>
          <a:xfrm flipH="1">
            <a:off x="1468582" y="1228438"/>
            <a:ext cx="711200" cy="0"/>
          </a:xfrm>
          <a:prstGeom prst="straightConnector1">
            <a:avLst/>
          </a:prstGeom>
          <a:ln w="44450">
            <a:solidFill>
              <a:schemeClr val="tx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C7F9CC8-746F-5031-C136-C9072FA1A179}"/>
              </a:ext>
            </a:extLst>
          </p:cNvPr>
          <p:cNvSpPr txBox="1"/>
          <p:nvPr/>
        </p:nvSpPr>
        <p:spPr>
          <a:xfrm>
            <a:off x="2246671" y="1047552"/>
            <a:ext cx="255236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WTG Slider Adjustment.</a:t>
            </a:r>
          </a:p>
        </p:txBody>
      </p:sp>
      <p:sp>
        <p:nvSpPr>
          <p:cNvPr id="16" name="TextBox 15">
            <a:extLst>
              <a:ext uri="{FF2B5EF4-FFF2-40B4-BE49-F238E27FC236}">
                <a16:creationId xmlns:a16="http://schemas.microsoft.com/office/drawing/2014/main" id="{37AF7142-17C4-BEBC-04FB-0D885ACCC945}"/>
              </a:ext>
            </a:extLst>
          </p:cNvPr>
          <p:cNvSpPr txBox="1"/>
          <p:nvPr/>
        </p:nvSpPr>
        <p:spPr>
          <a:xfrm>
            <a:off x="7506618" y="4512178"/>
            <a:ext cx="4470093"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Since slider only goes WTG,</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move slider to</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0.5</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0.2</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0.3</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WTG to achieve 0.2</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WTL. </a:t>
            </a:r>
          </a:p>
        </p:txBody>
      </p:sp>
      <p:sp>
        <p:nvSpPr>
          <p:cNvPr id="25" name="TextBox 24">
            <a:extLst>
              <a:ext uri="{FF2B5EF4-FFF2-40B4-BE49-F238E27FC236}">
                <a16:creationId xmlns:a16="http://schemas.microsoft.com/office/drawing/2014/main" id="{1D1D8B8E-956A-25F8-BB41-829816FDE20B}"/>
              </a:ext>
            </a:extLst>
          </p:cNvPr>
          <p:cNvSpPr txBox="1"/>
          <p:nvPr/>
        </p:nvSpPr>
        <p:spPr>
          <a:xfrm>
            <a:off x="3758667" y="4320263"/>
            <a:ext cx="118441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0.2</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WTL</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p:sp>
        <p:nvSpPr>
          <p:cNvPr id="31" name="TextBox 30">
            <a:extLst>
              <a:ext uri="{FF2B5EF4-FFF2-40B4-BE49-F238E27FC236}">
                <a16:creationId xmlns:a16="http://schemas.microsoft.com/office/drawing/2014/main" id="{792197AA-3AD3-8B63-F8E8-E99C089FF202}"/>
              </a:ext>
            </a:extLst>
          </p:cNvPr>
          <p:cNvSpPr txBox="1"/>
          <p:nvPr/>
        </p:nvSpPr>
        <p:spPr>
          <a:xfrm>
            <a:off x="489691" y="3477687"/>
            <a:ext cx="11470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0.3</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WTG</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p:sp>
        <p:nvSpPr>
          <p:cNvPr id="3" name="Arc 2">
            <a:extLst>
              <a:ext uri="{FF2B5EF4-FFF2-40B4-BE49-F238E27FC236}">
                <a16:creationId xmlns:a16="http://schemas.microsoft.com/office/drawing/2014/main" id="{0F8E06B8-BC93-E20C-78C9-5CDE2E08EAD1}"/>
              </a:ext>
            </a:extLst>
          </p:cNvPr>
          <p:cNvSpPr/>
          <p:nvPr/>
        </p:nvSpPr>
        <p:spPr>
          <a:xfrm rot="17214386">
            <a:off x="1028436" y="2343645"/>
            <a:ext cx="3298785" cy="3393687"/>
          </a:xfrm>
          <a:prstGeom prst="arc">
            <a:avLst>
              <a:gd name="adj1" fmla="val 16404591"/>
              <a:gd name="adj2" fmla="val 839032"/>
            </a:avLst>
          </a:prstGeom>
          <a:ln w="349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5" name="Arc 4">
            <a:extLst>
              <a:ext uri="{FF2B5EF4-FFF2-40B4-BE49-F238E27FC236}">
                <a16:creationId xmlns:a16="http://schemas.microsoft.com/office/drawing/2014/main" id="{12FFFD51-D53E-D38A-2274-DF68D6FDEE09}"/>
              </a:ext>
            </a:extLst>
          </p:cNvPr>
          <p:cNvSpPr/>
          <p:nvPr/>
        </p:nvSpPr>
        <p:spPr>
          <a:xfrm rot="10969192">
            <a:off x="1015755" y="2097231"/>
            <a:ext cx="3298169" cy="3628024"/>
          </a:xfrm>
          <a:prstGeom prst="arc">
            <a:avLst>
              <a:gd name="adj1" fmla="val 16139678"/>
              <a:gd name="adj2" fmla="val 21497749"/>
            </a:avLst>
          </a:prstGeom>
          <a:ln w="349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6" name="Arc 5">
            <a:extLst>
              <a:ext uri="{FF2B5EF4-FFF2-40B4-BE49-F238E27FC236}">
                <a16:creationId xmlns:a16="http://schemas.microsoft.com/office/drawing/2014/main" id="{C8D4A3A8-898B-38B3-1208-50030794AE3E}"/>
              </a:ext>
            </a:extLst>
          </p:cNvPr>
          <p:cNvSpPr/>
          <p:nvPr/>
        </p:nvSpPr>
        <p:spPr>
          <a:xfrm rot="1330704">
            <a:off x="918956" y="2388852"/>
            <a:ext cx="3362793" cy="3399755"/>
          </a:xfrm>
          <a:prstGeom prst="arc">
            <a:avLst>
              <a:gd name="adj1" fmla="val 17142243"/>
              <a:gd name="adj2" fmla="val 20655235"/>
            </a:avLst>
          </a:prstGeom>
          <a:ln w="34925">
            <a:solidFill>
              <a:srgbClr val="0EAE2C"/>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9" name="Arc 8">
            <a:extLst>
              <a:ext uri="{FF2B5EF4-FFF2-40B4-BE49-F238E27FC236}">
                <a16:creationId xmlns:a16="http://schemas.microsoft.com/office/drawing/2014/main" id="{47B409A0-A814-E13F-6838-5886970E4D4F}"/>
              </a:ext>
            </a:extLst>
          </p:cNvPr>
          <p:cNvSpPr/>
          <p:nvPr/>
        </p:nvSpPr>
        <p:spPr>
          <a:xfrm rot="6080387">
            <a:off x="764428" y="2088885"/>
            <a:ext cx="3623803" cy="3667820"/>
          </a:xfrm>
          <a:prstGeom prst="arc">
            <a:avLst>
              <a:gd name="adj1" fmla="val 17142243"/>
              <a:gd name="adj2" fmla="val 20655235"/>
            </a:avLst>
          </a:prstGeom>
          <a:ln w="34925">
            <a:solidFill>
              <a:srgbClr val="0EAE2C"/>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mbria" panose="02040503050406030204"/>
              <a:ea typeface="+mn-ea"/>
              <a:cs typeface="+mn-cs"/>
            </a:endParaRPr>
          </a:p>
        </p:txBody>
      </p:sp>
      <p:sp>
        <p:nvSpPr>
          <p:cNvPr id="10" name="TextBox 9">
            <a:extLst>
              <a:ext uri="{FF2B5EF4-FFF2-40B4-BE49-F238E27FC236}">
                <a16:creationId xmlns:a16="http://schemas.microsoft.com/office/drawing/2014/main" id="{B5716A80-809A-145D-42A3-5FAE2318A13F}"/>
              </a:ext>
            </a:extLst>
          </p:cNvPr>
          <p:cNvSpPr txBox="1"/>
          <p:nvPr/>
        </p:nvSpPr>
        <p:spPr>
          <a:xfrm>
            <a:off x="9835047" y="6112055"/>
            <a:ext cx="1592615" cy="369332"/>
          </a:xfrm>
          <a:prstGeom prst="rect">
            <a:avLst/>
          </a:prstGeom>
          <a:noFill/>
        </p:spPr>
        <p:txBody>
          <a:bodyPr wrap="none" rtlCol="0">
            <a:spAutoFit/>
          </a:bodyPr>
          <a:lstStyle/>
          <a:p>
            <a:r>
              <a:rPr lang="en-US" dirty="0">
                <a:solidFill>
                  <a:schemeClr val="bg1"/>
                </a:solidFill>
              </a:rPr>
              <a:t>Poll Questions</a:t>
            </a:r>
          </a:p>
        </p:txBody>
      </p:sp>
      <p:sp>
        <p:nvSpPr>
          <p:cNvPr id="11" name="TextBox 10">
            <a:extLst>
              <a:ext uri="{FF2B5EF4-FFF2-40B4-BE49-F238E27FC236}">
                <a16:creationId xmlns:a16="http://schemas.microsoft.com/office/drawing/2014/main" id="{A9CF5714-4849-C31F-8CB2-5CE7C5ED5416}"/>
              </a:ext>
            </a:extLst>
          </p:cNvPr>
          <p:cNvSpPr txBox="1"/>
          <p:nvPr/>
        </p:nvSpPr>
        <p:spPr>
          <a:xfrm>
            <a:off x="4762708" y="1065352"/>
            <a:ext cx="411586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Cambria Math" panose="02040503050406030204" pitchFamily="18" charset="0"/>
                <a:ea typeface="Cambria Math" panose="02040503050406030204" pitchFamily="18" charset="0"/>
              </a:rPr>
              <a:t>Left/Right Arrow Keys can also be used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p:spTree>
    <p:extLst>
      <p:ext uri="{BB962C8B-B14F-4D97-AF65-F5344CB8AC3E}">
        <p14:creationId xmlns:p14="http://schemas.microsoft.com/office/powerpoint/2010/main" val="23455585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additive="base">
                                        <p:cTn id="39" dur="500" fill="hold"/>
                                        <p:tgtEl>
                                          <p:spTgt spid="31"/>
                                        </p:tgtEl>
                                        <p:attrNameLst>
                                          <p:attrName>ppt_x</p:attrName>
                                        </p:attrNameLst>
                                      </p:cBhvr>
                                      <p:tavLst>
                                        <p:tav tm="0">
                                          <p:val>
                                            <p:strVal val="#ppt_x"/>
                                          </p:val>
                                        </p:tav>
                                        <p:tav tm="100000">
                                          <p:val>
                                            <p:strVal val="#ppt_x"/>
                                          </p:val>
                                        </p:tav>
                                      </p:tavLst>
                                    </p:anim>
                                    <p:anim calcmode="lin" valueType="num">
                                      <p:cBhvr additive="base">
                                        <p:cTn id="40" dur="500" fill="hold"/>
                                        <p:tgtEl>
                                          <p:spTgt spid="3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ppt_x"/>
                                          </p:val>
                                        </p:tav>
                                        <p:tav tm="100000">
                                          <p:val>
                                            <p:strVal val="#ppt_x"/>
                                          </p:val>
                                        </p:tav>
                                      </p:tavLst>
                                    </p:anim>
                                    <p:anim calcmode="lin" valueType="num">
                                      <p:cBhvr additive="base">
                                        <p:cTn id="52" dur="500" fill="hold"/>
                                        <p:tgtEl>
                                          <p:spTgt spid="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additive="base">
                                        <p:cTn id="55" dur="500" fill="hold"/>
                                        <p:tgtEl>
                                          <p:spTgt spid="25"/>
                                        </p:tgtEl>
                                        <p:attrNameLst>
                                          <p:attrName>ppt_x</p:attrName>
                                        </p:attrNameLst>
                                      </p:cBhvr>
                                      <p:tavLst>
                                        <p:tav tm="0">
                                          <p:val>
                                            <p:strVal val="#ppt_x"/>
                                          </p:val>
                                        </p:tav>
                                        <p:tav tm="100000">
                                          <p:val>
                                            <p:strVal val="#ppt_x"/>
                                          </p:val>
                                        </p:tav>
                                      </p:tavLst>
                                    </p:anim>
                                    <p:anim calcmode="lin" valueType="num">
                                      <p:cBhvr additive="base">
                                        <p:cTn id="56" dur="500" fill="hold"/>
                                        <p:tgtEl>
                                          <p:spTgt spid="2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500" fill="hold"/>
                                        <p:tgtEl>
                                          <p:spTgt spid="6"/>
                                        </p:tgtEl>
                                        <p:attrNameLst>
                                          <p:attrName>ppt_x</p:attrName>
                                        </p:attrNameLst>
                                      </p:cBhvr>
                                      <p:tavLst>
                                        <p:tav tm="0">
                                          <p:val>
                                            <p:strVal val="#ppt_x"/>
                                          </p:val>
                                        </p:tav>
                                        <p:tav tm="100000">
                                          <p:val>
                                            <p:strVal val="#ppt_x"/>
                                          </p:val>
                                        </p:tav>
                                      </p:tavLst>
                                    </p:anim>
                                    <p:anim calcmode="lin" valueType="num">
                                      <p:cBhvr additive="base">
                                        <p:cTn id="6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anim calcmode="lin" valueType="num">
                                      <p:cBhvr additive="base">
                                        <p:cTn id="65" dur="500" fill="hold"/>
                                        <p:tgtEl>
                                          <p:spTgt spid="10"/>
                                        </p:tgtEl>
                                        <p:attrNameLst>
                                          <p:attrName>ppt_x</p:attrName>
                                        </p:attrNameLst>
                                      </p:cBhvr>
                                      <p:tavLst>
                                        <p:tav tm="0">
                                          <p:val>
                                            <p:strVal val="#ppt_x"/>
                                          </p:val>
                                        </p:tav>
                                        <p:tav tm="100000">
                                          <p:val>
                                            <p:strVal val="#ppt_x"/>
                                          </p:val>
                                        </p:tav>
                                      </p:tavLst>
                                    </p:anim>
                                    <p:anim calcmode="lin" valueType="num">
                                      <p:cBhvr additive="base">
                                        <p:cTn id="6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3" grpId="0"/>
      <p:bldP spid="16" grpId="0"/>
      <p:bldP spid="25" grpId="0"/>
      <p:bldP spid="31" grpId="0"/>
      <p:bldP spid="3" grpId="0" animBg="1"/>
      <p:bldP spid="5" grpId="0" animBg="1"/>
      <p:bldP spid="6" grpId="0" animBg="1"/>
      <p:bldP spid="9"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p:cNvSpPr/>
          <p:nvPr/>
        </p:nvSpPr>
        <p:spPr>
          <a:xfrm>
            <a:off x="152811" y="577574"/>
            <a:ext cx="11886378"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p:txBody>
      </p:sp>
      <p:sp>
        <p:nvSpPr>
          <p:cNvPr id="2" name="Even and Odd Functions (Symmetry)"/>
          <p:cNvSpPr>
            <a:spLocks noGrp="1"/>
          </p:cNvSpPr>
          <p:nvPr>
            <p:ph type="title"/>
          </p:nvPr>
        </p:nvSpPr>
        <p:spPr>
          <a:xfrm>
            <a:off x="1110340" y="-8325"/>
            <a:ext cx="9218645" cy="553998"/>
          </a:xfrm>
        </p:spPr>
        <p:txBody>
          <a:bodyPr/>
          <a:lstStyle/>
          <a:p>
            <a:pPr algn="ctr"/>
            <a:r>
              <a:rPr lang="en-US" sz="4000" dirty="0"/>
              <a:t>Smith Chart –  Angle of Reflection Coefficient</a:t>
            </a:r>
          </a:p>
        </p:txBody>
      </p:sp>
      <p:sp>
        <p:nvSpPr>
          <p:cNvPr id="6" name="TextBox 5">
            <a:extLst>
              <a:ext uri="{FF2B5EF4-FFF2-40B4-BE49-F238E27FC236}">
                <a16:creationId xmlns:a16="http://schemas.microsoft.com/office/drawing/2014/main" id="{BE08DFA2-70C0-4D99-9984-25EFF2B0AAD3}"/>
              </a:ext>
            </a:extLst>
          </p:cNvPr>
          <p:cNvSpPr txBox="1"/>
          <p:nvPr/>
        </p:nvSpPr>
        <p:spPr>
          <a:xfrm>
            <a:off x="7765703" y="625876"/>
            <a:ext cx="42893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Angle of Reflection Coefficient in Degrees</a:t>
            </a:r>
          </a:p>
        </p:txBody>
      </p:sp>
      <p:pic>
        <p:nvPicPr>
          <p:cNvPr id="5" name="Picture 4">
            <a:extLst>
              <a:ext uri="{FF2B5EF4-FFF2-40B4-BE49-F238E27FC236}">
                <a16:creationId xmlns:a16="http://schemas.microsoft.com/office/drawing/2014/main" id="{C60E8D82-1282-B20A-1B31-07271D39144D}"/>
              </a:ext>
            </a:extLst>
          </p:cNvPr>
          <p:cNvPicPr>
            <a:picLocks noChangeAspect="1"/>
          </p:cNvPicPr>
          <p:nvPr/>
        </p:nvPicPr>
        <p:blipFill>
          <a:blip r:embed="rId3"/>
          <a:stretch>
            <a:fillRect/>
          </a:stretch>
        </p:blipFill>
        <p:spPr>
          <a:xfrm>
            <a:off x="981242" y="1383447"/>
            <a:ext cx="10373958" cy="4412865"/>
          </a:xfrm>
          <a:prstGeom prst="rect">
            <a:avLst/>
          </a:prstGeom>
        </p:spPr>
      </p:pic>
      <p:sp>
        <p:nvSpPr>
          <p:cNvPr id="7" name="TextBox 6">
            <a:extLst>
              <a:ext uri="{FF2B5EF4-FFF2-40B4-BE49-F238E27FC236}">
                <a16:creationId xmlns:a16="http://schemas.microsoft.com/office/drawing/2014/main" id="{F7C5197E-D22B-8270-A6FA-C399BE29C9D1}"/>
              </a:ext>
            </a:extLst>
          </p:cNvPr>
          <p:cNvSpPr txBox="1"/>
          <p:nvPr/>
        </p:nvSpPr>
        <p:spPr>
          <a:xfrm>
            <a:off x="7465928" y="6088818"/>
            <a:ext cx="45947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Angle of Transmission Coefficient in Degrees</a:t>
            </a:r>
          </a:p>
        </p:txBody>
      </p:sp>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A4A18B74-8146-DB86-FFFE-6A41CB8C0385}"/>
                  </a:ext>
                </a:extLst>
              </p14:cNvPr>
              <p14:cNvContentPartPr/>
              <p14:nvPr/>
            </p14:nvContentPartPr>
            <p14:xfrm>
              <a:off x="10498680" y="2563672"/>
              <a:ext cx="136800" cy="2277000"/>
            </p14:xfrm>
          </p:contentPart>
        </mc:Choice>
        <mc:Fallback xmlns="">
          <p:pic>
            <p:nvPicPr>
              <p:cNvPr id="30" name="Ink 29">
                <a:extLst>
                  <a:ext uri="{FF2B5EF4-FFF2-40B4-BE49-F238E27FC236}">
                    <a16:creationId xmlns:a16="http://schemas.microsoft.com/office/drawing/2014/main" id="{A4A18B74-8146-DB86-FFFE-6A41CB8C0385}"/>
                  </a:ext>
                </a:extLst>
              </p:cNvPr>
              <p:cNvPicPr/>
              <p:nvPr/>
            </p:nvPicPr>
            <p:blipFill>
              <a:blip r:embed="rId8"/>
              <a:stretch>
                <a:fillRect/>
              </a:stretch>
            </p:blipFill>
            <p:spPr>
              <a:xfrm>
                <a:off x="10426680" y="2419672"/>
                <a:ext cx="280440" cy="2564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 name="Ink 30">
                <a:extLst>
                  <a:ext uri="{FF2B5EF4-FFF2-40B4-BE49-F238E27FC236}">
                    <a16:creationId xmlns:a16="http://schemas.microsoft.com/office/drawing/2014/main" id="{5ADF39F9-A5FF-612C-3276-882C54A3810D}"/>
                  </a:ext>
                </a:extLst>
              </p14:cNvPr>
              <p14:cNvContentPartPr/>
              <p14:nvPr/>
            </p14:nvContentPartPr>
            <p14:xfrm>
              <a:off x="10701720" y="2624512"/>
              <a:ext cx="125280" cy="2176200"/>
            </p14:xfrm>
          </p:contentPart>
        </mc:Choice>
        <mc:Fallback xmlns="">
          <p:pic>
            <p:nvPicPr>
              <p:cNvPr id="31" name="Ink 30">
                <a:extLst>
                  <a:ext uri="{FF2B5EF4-FFF2-40B4-BE49-F238E27FC236}">
                    <a16:creationId xmlns:a16="http://schemas.microsoft.com/office/drawing/2014/main" id="{5ADF39F9-A5FF-612C-3276-882C54A3810D}"/>
                  </a:ext>
                </a:extLst>
              </p:cNvPr>
              <p:cNvPicPr/>
              <p:nvPr/>
            </p:nvPicPr>
            <p:blipFill>
              <a:blip r:embed="rId10"/>
              <a:stretch>
                <a:fillRect/>
              </a:stretch>
            </p:blipFill>
            <p:spPr>
              <a:xfrm>
                <a:off x="10630080" y="2480512"/>
                <a:ext cx="268920" cy="2463840"/>
              </a:xfrm>
              <a:prstGeom prst="rect">
                <a:avLst/>
              </a:prstGeom>
            </p:spPr>
          </p:pic>
        </mc:Fallback>
      </mc:AlternateContent>
      <p:sp>
        <p:nvSpPr>
          <p:cNvPr id="32" name="TextBox 31">
            <a:extLst>
              <a:ext uri="{FF2B5EF4-FFF2-40B4-BE49-F238E27FC236}">
                <a16:creationId xmlns:a16="http://schemas.microsoft.com/office/drawing/2014/main" id="{D7656A9B-5254-8E79-1C12-0557E8A3A89D}"/>
              </a:ext>
            </a:extLst>
          </p:cNvPr>
          <p:cNvSpPr txBox="1"/>
          <p:nvPr/>
        </p:nvSpPr>
        <p:spPr>
          <a:xfrm>
            <a:off x="359376" y="3525457"/>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±180˚</a:t>
            </a:r>
          </a:p>
        </p:txBody>
      </p:sp>
      <p:cxnSp>
        <p:nvCxnSpPr>
          <p:cNvPr id="34" name="Straight Connector 33">
            <a:extLst>
              <a:ext uri="{FF2B5EF4-FFF2-40B4-BE49-F238E27FC236}">
                <a16:creationId xmlns:a16="http://schemas.microsoft.com/office/drawing/2014/main" id="{9334C56C-B263-86CC-8CC4-406F3CFE57D3}"/>
              </a:ext>
            </a:extLst>
          </p:cNvPr>
          <p:cNvCxnSpPr>
            <a:cxnSpLocks/>
          </p:cNvCxnSpPr>
          <p:nvPr/>
        </p:nvCxnSpPr>
        <p:spPr>
          <a:xfrm>
            <a:off x="1018482" y="3712612"/>
            <a:ext cx="52672" cy="0"/>
          </a:xfrm>
          <a:prstGeom prst="line">
            <a:avLst/>
          </a:prstGeom>
          <a:ln w="25400"/>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FB3421A1-BEC2-0EF3-EA80-70AB2041650D}"/>
              </a:ext>
            </a:extLst>
          </p:cNvPr>
          <p:cNvSpPr txBox="1"/>
          <p:nvPr/>
        </p:nvSpPr>
        <p:spPr>
          <a:xfrm>
            <a:off x="11274468" y="3504435"/>
            <a:ext cx="3786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0</a:t>
            </a:r>
            <a:r>
              <a:rPr kumimoji="0" lang="el-GR" sz="1800" b="0" i="0" u="none" strike="noStrike" kern="1200" cap="none" spc="0" normalizeH="0" baseline="0" noProof="0" dirty="0">
                <a:ln>
                  <a:noFill/>
                </a:ln>
                <a:solidFill>
                  <a:srgbClr val="000000"/>
                </a:solidFill>
                <a:effectLst/>
                <a:uLnTx/>
                <a:uFillTx/>
                <a:latin typeface="Cambria" panose="02040503050406030204"/>
                <a:ea typeface="+mn-ea"/>
                <a:cs typeface="+mn-cs"/>
              </a:rPr>
              <a:t>˚</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cxnSp>
        <p:nvCxnSpPr>
          <p:cNvPr id="42" name="Straight Connector 41">
            <a:extLst>
              <a:ext uri="{FF2B5EF4-FFF2-40B4-BE49-F238E27FC236}">
                <a16:creationId xmlns:a16="http://schemas.microsoft.com/office/drawing/2014/main" id="{825EC4DD-2941-154F-7B51-352060ECDF41}"/>
              </a:ext>
            </a:extLst>
          </p:cNvPr>
          <p:cNvCxnSpPr>
            <a:cxnSpLocks/>
          </p:cNvCxnSpPr>
          <p:nvPr/>
        </p:nvCxnSpPr>
        <p:spPr>
          <a:xfrm>
            <a:off x="11264143" y="3699541"/>
            <a:ext cx="52672"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5E6CD929-B637-D840-67B7-3B36B65FB2E7}"/>
              </a:ext>
            </a:extLst>
          </p:cNvPr>
          <p:cNvCxnSpPr>
            <a:cxnSpLocks/>
          </p:cNvCxnSpPr>
          <p:nvPr/>
        </p:nvCxnSpPr>
        <p:spPr>
          <a:xfrm flipH="1" flipV="1">
            <a:off x="10058401" y="995208"/>
            <a:ext cx="458941" cy="982882"/>
          </a:xfrm>
          <a:prstGeom prst="straightConnector1">
            <a:avLst/>
          </a:prstGeom>
          <a:ln w="47625">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2626B6F-A695-D665-30E2-F60D62C62B62}"/>
              </a:ext>
            </a:extLst>
          </p:cNvPr>
          <p:cNvCxnSpPr>
            <a:cxnSpLocks/>
          </p:cNvCxnSpPr>
          <p:nvPr/>
        </p:nvCxnSpPr>
        <p:spPr>
          <a:xfrm flipV="1">
            <a:off x="10058401" y="5299788"/>
            <a:ext cx="307909" cy="755779"/>
          </a:xfrm>
          <a:prstGeom prst="straightConnector1">
            <a:avLst/>
          </a:prstGeom>
          <a:ln w="4762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43DCCD4-2513-CB2E-E4D0-7326F3F4CA9B}"/>
                  </a:ext>
                </a:extLst>
              </p:cNvPr>
              <p:cNvSpPr txBox="1"/>
              <p:nvPr/>
            </p:nvSpPr>
            <p:spPr>
              <a:xfrm>
                <a:off x="306413" y="5983467"/>
                <a:ext cx="67118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Voltage Transmission Coefficient is the ratio of the transmitted to incident voltage at an impedance discontinuity, given as T = 1 + </a:t>
                </a:r>
                <a14:m>
                  <m:oMath xmlns:m="http://schemas.openxmlformats.org/officeDocument/2006/math">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Γ</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endParaRPr kumimoji="0" lang="en-US" sz="1800" b="0" i="0" u="none" strike="noStrike" kern="1200" cap="none" spc="0" normalizeH="0" baseline="0" noProof="0" dirty="0">
                  <a:ln>
                    <a:noFill/>
                  </a:ln>
                  <a:solidFill>
                    <a:srgbClr val="FFFFFF"/>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22" name="TextBox 21">
                <a:extLst>
                  <a:ext uri="{FF2B5EF4-FFF2-40B4-BE49-F238E27FC236}">
                    <a16:creationId xmlns:a16="http://schemas.microsoft.com/office/drawing/2014/main" id="{143DCCD4-2513-CB2E-E4D0-7326F3F4CA9B}"/>
                  </a:ext>
                </a:extLst>
              </p:cNvPr>
              <p:cNvSpPr txBox="1">
                <a:spLocks noRot="1" noChangeAspect="1" noMove="1" noResize="1" noEditPoints="1" noAdjustHandles="1" noChangeArrowheads="1" noChangeShapeType="1" noTextEdit="1"/>
              </p:cNvSpPr>
              <p:nvPr/>
            </p:nvSpPr>
            <p:spPr>
              <a:xfrm>
                <a:off x="306413" y="5983467"/>
                <a:ext cx="6711899" cy="646331"/>
              </a:xfrm>
              <a:prstGeom prst="rect">
                <a:avLst/>
              </a:prstGeom>
              <a:blipFill>
                <a:blip r:embed="rId11"/>
                <a:stretch>
                  <a:fillRect l="-727" t="-6604" r="-908" b="-13208"/>
                </a:stretch>
              </a:blipFill>
            </p:spPr>
            <p:txBody>
              <a:bodyPr/>
              <a:lstStyle/>
              <a:p>
                <a:r>
                  <a:rPr lang="en-US">
                    <a:noFill/>
                  </a:rPr>
                  <a:t> </a:t>
                </a:r>
              </a:p>
            </p:txBody>
          </p:sp>
        </mc:Fallback>
      </mc:AlternateContent>
    </p:spTree>
    <p:extLst>
      <p:ext uri="{BB962C8B-B14F-4D97-AF65-F5344CB8AC3E}">
        <p14:creationId xmlns:p14="http://schemas.microsoft.com/office/powerpoint/2010/main" val="382542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additive="base">
                                        <p:cTn id="25" dur="500" fill="hold"/>
                                        <p:tgtEl>
                                          <p:spTgt spid="53"/>
                                        </p:tgtEl>
                                        <p:attrNameLst>
                                          <p:attrName>ppt_x</p:attrName>
                                        </p:attrNameLst>
                                      </p:cBhvr>
                                      <p:tavLst>
                                        <p:tav tm="0">
                                          <p:val>
                                            <p:strVal val="#ppt_x"/>
                                          </p:val>
                                        </p:tav>
                                        <p:tav tm="100000">
                                          <p:val>
                                            <p:strVal val="#ppt_x"/>
                                          </p:val>
                                        </p:tav>
                                      </p:tavLst>
                                    </p:anim>
                                    <p:anim calcmode="lin" valueType="num">
                                      <p:cBhvr additive="base">
                                        <p:cTn id="26" dur="500" fill="hold"/>
                                        <p:tgtEl>
                                          <p:spTgt spid="5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fill="hold"/>
                                        <p:tgtEl>
                                          <p:spTgt spid="30"/>
                                        </p:tgtEl>
                                        <p:attrNameLst>
                                          <p:attrName>ppt_x</p:attrName>
                                        </p:attrNameLst>
                                      </p:cBhvr>
                                      <p:tavLst>
                                        <p:tav tm="0">
                                          <p:val>
                                            <p:strVal val="#ppt_x"/>
                                          </p:val>
                                        </p:tav>
                                        <p:tav tm="100000">
                                          <p:val>
                                            <p:strVal val="#ppt_x"/>
                                          </p:val>
                                        </p:tav>
                                      </p:tavLst>
                                    </p:anim>
                                    <p:anim calcmode="lin" valueType="num">
                                      <p:cBhvr additive="base">
                                        <p:cTn id="30" dur="500" fill="hold"/>
                                        <p:tgtEl>
                                          <p:spTgt spid="3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500" fill="hold"/>
                                        <p:tgtEl>
                                          <p:spTgt spid="22"/>
                                        </p:tgtEl>
                                        <p:attrNameLst>
                                          <p:attrName>ppt_x</p:attrName>
                                        </p:attrNameLst>
                                      </p:cBhvr>
                                      <p:tavLst>
                                        <p:tav tm="0">
                                          <p:val>
                                            <p:strVal val="#ppt_x"/>
                                          </p:val>
                                        </p:tav>
                                        <p:tav tm="100000">
                                          <p:val>
                                            <p:strVal val="#ppt_x"/>
                                          </p:val>
                                        </p:tav>
                                      </p:tavLst>
                                    </p:anim>
                                    <p:anim calcmode="lin" valueType="num">
                                      <p:cBhvr additive="base">
                                        <p:cTn id="3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p:cNvSpPr/>
          <p:nvPr/>
        </p:nvSpPr>
        <p:spPr>
          <a:xfrm>
            <a:off x="152811" y="605855"/>
            <a:ext cx="11886378"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p:txBody>
      </p:sp>
      <p:sp>
        <p:nvSpPr>
          <p:cNvPr id="2" name="Even and Odd Functions (Symmetry)"/>
          <p:cNvSpPr>
            <a:spLocks noGrp="1"/>
          </p:cNvSpPr>
          <p:nvPr>
            <p:ph type="title"/>
          </p:nvPr>
        </p:nvSpPr>
        <p:spPr>
          <a:xfrm>
            <a:off x="1657350" y="-36606"/>
            <a:ext cx="7514642" cy="553998"/>
          </a:xfrm>
        </p:spPr>
        <p:txBody>
          <a:bodyPr/>
          <a:lstStyle/>
          <a:p>
            <a:pPr algn="ctr"/>
            <a:r>
              <a:rPr lang="en-US" sz="4000" dirty="0"/>
              <a:t>Smith Chart – Origin and Real </a:t>
            </a:r>
            <a:r>
              <a:rPr lang="el-GR" sz="4000" dirty="0"/>
              <a:t>Γ</a:t>
            </a:r>
            <a:r>
              <a:rPr lang="en-US" sz="4000" baseline="-25000" dirty="0"/>
              <a:t>r</a:t>
            </a:r>
            <a:r>
              <a:rPr lang="en-US" sz="4000" dirty="0"/>
              <a:t> Axis </a:t>
            </a:r>
          </a:p>
        </p:txBody>
      </p:sp>
      <p:pic>
        <p:nvPicPr>
          <p:cNvPr id="5" name="Picture 4">
            <a:extLst>
              <a:ext uri="{FF2B5EF4-FFF2-40B4-BE49-F238E27FC236}">
                <a16:creationId xmlns:a16="http://schemas.microsoft.com/office/drawing/2014/main" id="{C60E8D82-1282-B20A-1B31-07271D39144D}"/>
              </a:ext>
            </a:extLst>
          </p:cNvPr>
          <p:cNvPicPr>
            <a:picLocks noChangeAspect="1"/>
          </p:cNvPicPr>
          <p:nvPr/>
        </p:nvPicPr>
        <p:blipFill>
          <a:blip r:embed="rId3"/>
          <a:stretch>
            <a:fillRect/>
          </a:stretch>
        </p:blipFill>
        <p:spPr>
          <a:xfrm>
            <a:off x="1018482" y="1143340"/>
            <a:ext cx="10373958" cy="441286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7C5197E-D22B-8270-A6FA-C399BE29C9D1}"/>
                  </a:ext>
                </a:extLst>
              </p:cNvPr>
              <p:cNvSpPr txBox="1"/>
              <p:nvPr/>
            </p:nvSpPr>
            <p:spPr>
              <a:xfrm>
                <a:off x="1657350" y="5985541"/>
                <a:ext cx="962775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Real Reflection coefficient Axis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on a Smith Chart is marked with normalized r values with r = 1 at the origin, i.e.,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 &lt; 1 to the left of the origin and r &gt; 1 to the right of the origin.</a:t>
                </a:r>
                <a:endParaRPr kumimoji="0" lang="en-US" sz="1800" b="0" i="0" u="none" strike="noStrike" kern="1200" cap="none" spc="0" normalizeH="0" baseline="0" noProof="0" dirty="0">
                  <a:ln>
                    <a:noFill/>
                  </a:ln>
                  <a:solidFill>
                    <a:srgbClr val="FFFFFF"/>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7" name="TextBox 6">
                <a:extLst>
                  <a:ext uri="{FF2B5EF4-FFF2-40B4-BE49-F238E27FC236}">
                    <a16:creationId xmlns:a16="http://schemas.microsoft.com/office/drawing/2014/main" id="{F7C5197E-D22B-8270-A6FA-C399BE29C9D1}"/>
                  </a:ext>
                </a:extLst>
              </p:cNvPr>
              <p:cNvSpPr txBox="1">
                <a:spLocks noRot="1" noChangeAspect="1" noMove="1" noResize="1" noEditPoints="1" noAdjustHandles="1" noChangeArrowheads="1" noChangeShapeType="1" noTextEdit="1"/>
              </p:cNvSpPr>
              <p:nvPr/>
            </p:nvSpPr>
            <p:spPr>
              <a:xfrm>
                <a:off x="1657350" y="5985541"/>
                <a:ext cx="9627753" cy="646331"/>
              </a:xfrm>
              <a:prstGeom prst="rect">
                <a:avLst/>
              </a:prstGeom>
              <a:blipFill>
                <a:blip r:embed="rId4"/>
                <a:stretch>
                  <a:fillRect l="-570" t="-6604" r="-823" b="-13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2886A3-7394-8017-1B7B-9EF7B4525755}"/>
                  </a:ext>
                </a:extLst>
              </p:cNvPr>
              <p:cNvSpPr txBox="1"/>
              <p:nvPr/>
            </p:nvSpPr>
            <p:spPr>
              <a:xfrm>
                <a:off x="2532425" y="657508"/>
                <a:ext cx="8071437" cy="378245"/>
              </a:xfrm>
              <a:prstGeom prst="rect">
                <a:avLst/>
              </a:prstGeom>
              <a:noFill/>
            </p:spPr>
            <p:txBody>
              <a:bodyPr wrap="square" rtlCol="0">
                <a:spAutoFit/>
              </a:bodyPr>
              <a:lstStyle/>
              <a:p>
                <a:pPr lvl="0">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Origin on the Smith Chart: </a:t>
                </a: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corresponding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a:rPr lang="en-US">
                        <a:solidFill>
                          <a:srgbClr val="000000"/>
                        </a:solidFill>
                        <a:latin typeface="Cambria Math" panose="02040503050406030204" pitchFamily="18" charset="0"/>
                        <a:ea typeface="Cambria Math" panose="02040503050406030204" pitchFamily="18" charset="0"/>
                      </a:rPr>
                      <m:t>0</m:t>
                    </m:r>
                    <m:r>
                      <a:rPr lang="en-US" b="0" i="1" smtClean="0">
                        <a:solidFill>
                          <a:srgbClr val="000000"/>
                        </a:solidFill>
                        <a:latin typeface="Cambria Math" panose="02040503050406030204" pitchFamily="18" charset="0"/>
                        <a:ea typeface="Cambria Math" panose="02040503050406030204" pitchFamily="18" charset="0"/>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p:txBody>
          </p:sp>
        </mc:Choice>
        <mc:Fallback xmlns="">
          <p:sp>
            <p:nvSpPr>
              <p:cNvPr id="8" name="TextBox 7">
                <a:extLst>
                  <a:ext uri="{FF2B5EF4-FFF2-40B4-BE49-F238E27FC236}">
                    <a16:creationId xmlns:a16="http://schemas.microsoft.com/office/drawing/2014/main" id="{852886A3-7394-8017-1B7B-9EF7B4525755}"/>
                  </a:ext>
                </a:extLst>
              </p:cNvPr>
              <p:cNvSpPr txBox="1">
                <a:spLocks noRot="1" noChangeAspect="1" noMove="1" noResize="1" noEditPoints="1" noAdjustHandles="1" noChangeArrowheads="1" noChangeShapeType="1" noTextEdit="1"/>
              </p:cNvSpPr>
              <p:nvPr/>
            </p:nvSpPr>
            <p:spPr>
              <a:xfrm>
                <a:off x="2532425" y="657508"/>
                <a:ext cx="8071437" cy="378245"/>
              </a:xfrm>
              <a:prstGeom prst="rect">
                <a:avLst/>
              </a:prstGeom>
              <a:blipFill>
                <a:blip r:embed="rId5"/>
                <a:stretch>
                  <a:fillRect l="-604" t="-8065" b="-24194"/>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9F40E5E5-AD1F-640D-D6B8-4462A60E3349}"/>
              </a:ext>
            </a:extLst>
          </p:cNvPr>
          <p:cNvCxnSpPr>
            <a:cxnSpLocks/>
          </p:cNvCxnSpPr>
          <p:nvPr/>
        </p:nvCxnSpPr>
        <p:spPr>
          <a:xfrm>
            <a:off x="6208574" y="1083719"/>
            <a:ext cx="0" cy="2266053"/>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031BB86-179E-0BD6-C524-D8EF4BBF5F3A}"/>
              </a:ext>
            </a:extLst>
          </p:cNvPr>
          <p:cNvCxnSpPr/>
          <p:nvPr/>
        </p:nvCxnSpPr>
        <p:spPr>
          <a:xfrm>
            <a:off x="1757980" y="3446876"/>
            <a:ext cx="8845886" cy="0"/>
          </a:xfrm>
          <a:prstGeom prst="line">
            <a:avLst/>
          </a:prstGeom>
          <a:ln w="139700">
            <a:solidFill>
              <a:schemeClr val="accent2">
                <a:lumMod val="75000"/>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ED040A1-2D5E-4B9F-AAFF-35009D736F3C}"/>
              </a:ext>
            </a:extLst>
          </p:cNvPr>
          <p:cNvCxnSpPr>
            <a:cxnSpLocks/>
          </p:cNvCxnSpPr>
          <p:nvPr/>
        </p:nvCxnSpPr>
        <p:spPr>
          <a:xfrm flipV="1">
            <a:off x="6230096" y="3564583"/>
            <a:ext cx="0" cy="2420958"/>
          </a:xfrm>
          <a:prstGeom prst="straightConnector1">
            <a:avLst/>
          </a:prstGeom>
          <a:ln w="539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0473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500" fill="hold"/>
                                        <p:tgtEl>
                                          <p:spTgt spid="35"/>
                                        </p:tgtEl>
                                        <p:attrNameLst>
                                          <p:attrName>ppt_x</p:attrName>
                                        </p:attrNameLst>
                                      </p:cBhvr>
                                      <p:tavLst>
                                        <p:tav tm="0">
                                          <p:val>
                                            <p:strVal val="#ppt_x"/>
                                          </p:val>
                                        </p:tav>
                                        <p:tav tm="100000">
                                          <p:val>
                                            <p:strVal val="#ppt_x"/>
                                          </p:val>
                                        </p:tav>
                                      </p:tavLst>
                                    </p:anim>
                                    <p:anim calcmode="lin" valueType="num">
                                      <p:cBhvr additive="base">
                                        <p:cTn id="1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Rectangle 18"/>
              <p:cNvSpPr/>
              <p:nvPr/>
            </p:nvSpPr>
            <p:spPr>
              <a:xfrm>
                <a:off x="152811" y="558524"/>
                <a:ext cx="11886378"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Mark the distance from the origin (</a:t>
                </a:r>
                <a14:m>
                  <m:oMath xmlns:m="http://schemas.openxmlformats.org/officeDocument/2006/math">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0 + j0) to a Reflection Coefficient Point and then determine the magnitude from the </a:t>
                </a:r>
                <a:r>
                  <a:rPr kumimoji="0" lang="en-US" sz="1800" b="0" i="0" u="none" strike="noStrike" kern="1200" cap="none" spc="0" normalizeH="0" baseline="0" noProof="0" dirty="0">
                    <a:ln>
                      <a:noFill/>
                    </a:ln>
                    <a:solidFill>
                      <a:srgbClr val="FF6600"/>
                    </a:solidFill>
                    <a:effectLst/>
                    <a:uLnTx/>
                    <a:uFillTx/>
                    <a:latin typeface="Cambria Math" panose="02040503050406030204" pitchFamily="18" charset="0"/>
                    <a:ea typeface="Cambria Math" panose="02040503050406030204" pitchFamily="18" charset="0"/>
                    <a:cs typeface="+mn-cs"/>
                  </a:rPr>
                  <a:t>Reflection </a:t>
                </a:r>
                <a:r>
                  <a:rPr kumimoji="0" lang="en-US" sz="1800" b="0" i="0" u="none" strike="noStrike" kern="1200" cap="none" spc="0" normalizeH="0" baseline="0" noProof="0" dirty="0" err="1">
                    <a:ln>
                      <a:noFill/>
                    </a:ln>
                    <a:solidFill>
                      <a:srgbClr val="FF6600"/>
                    </a:solidFill>
                    <a:effectLst/>
                    <a:uLnTx/>
                    <a:uFillTx/>
                    <a:latin typeface="Cambria Math" panose="02040503050406030204" pitchFamily="18" charset="0"/>
                    <a:ea typeface="Cambria Math" panose="02040503050406030204" pitchFamily="18" charset="0"/>
                    <a:cs typeface="+mn-cs"/>
                  </a:rPr>
                  <a:t>Coeffient</a:t>
                </a:r>
                <a:r>
                  <a:rPr kumimoji="0" lang="en-US" sz="1800" b="0" i="0" u="none" strike="noStrike" kern="1200" cap="none" spc="0" normalizeH="0" baseline="0" noProof="0" dirty="0">
                    <a:ln>
                      <a:noFill/>
                    </a:ln>
                    <a:solidFill>
                      <a:srgbClr val="FF6600"/>
                    </a:solidFill>
                    <a:effectLst/>
                    <a:uLnTx/>
                    <a:uFillTx/>
                    <a:latin typeface="Cambria Math" panose="02040503050406030204" pitchFamily="18" charset="0"/>
                    <a:ea typeface="Cambria Math" panose="02040503050406030204" pitchFamily="18" charset="0"/>
                    <a:cs typeface="+mn-cs"/>
                  </a:rPr>
                  <a:t> Magnitude E or I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scale shown above.</a:t>
                </a:r>
                <a:r>
                  <a:rPr kumimoji="0" lang="en-US" sz="1800" b="0" i="0" u="none" strike="noStrike" kern="1200" cap="none" spc="0" normalizeH="0" baseline="0" noProof="0" dirty="0">
                    <a:ln>
                      <a:noFill/>
                    </a:ln>
                    <a:solidFill>
                      <a:srgbClr val="FFFFFF"/>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p:txBody>
          </p:sp>
        </mc:Choice>
        <mc:Fallback xmlns="">
          <p:sp>
            <p:nvSpPr>
              <p:cNvPr id="19" name="Rectangle 18"/>
              <p:cNvSpPr>
                <a:spLocks noRot="1" noChangeAspect="1" noMove="1" noResize="1" noEditPoints="1" noAdjustHandles="1" noChangeArrowheads="1" noChangeShapeType="1" noTextEdit="1"/>
              </p:cNvSpPr>
              <p:nvPr/>
            </p:nvSpPr>
            <p:spPr>
              <a:xfrm>
                <a:off x="152811" y="558524"/>
                <a:ext cx="11886378" cy="6186309"/>
              </a:xfrm>
              <a:prstGeom prst="rect">
                <a:avLst/>
              </a:prstGeom>
              <a:blipFill>
                <a:blip r:embed="rId3"/>
                <a:stretch>
                  <a:fillRect l="-102" b="-98"/>
                </a:stretch>
              </a:blipFill>
            </p:spPr>
            <p:txBody>
              <a:bodyPr/>
              <a:lstStyle/>
              <a:p>
                <a:r>
                  <a:rPr lang="en-US">
                    <a:noFill/>
                  </a:rPr>
                  <a:t> </a:t>
                </a:r>
              </a:p>
            </p:txBody>
          </p:sp>
        </mc:Fallback>
      </mc:AlternateContent>
      <p:sp>
        <p:nvSpPr>
          <p:cNvPr id="2" name="Even and Odd Functions (Symmetry)"/>
          <p:cNvSpPr>
            <a:spLocks noGrp="1"/>
          </p:cNvSpPr>
          <p:nvPr>
            <p:ph type="title"/>
          </p:nvPr>
        </p:nvSpPr>
        <p:spPr>
          <a:xfrm>
            <a:off x="2952750" y="-8325"/>
            <a:ext cx="6543675" cy="553998"/>
          </a:xfrm>
        </p:spPr>
        <p:txBody>
          <a:bodyPr/>
          <a:lstStyle/>
          <a:p>
            <a:pPr algn="ctr"/>
            <a:r>
              <a:rPr lang="en-US" sz="4000" dirty="0"/>
              <a:t>Smith Chart – Horizontal Scales</a:t>
            </a:r>
          </a:p>
        </p:txBody>
      </p:sp>
      <p:sp>
        <p:nvSpPr>
          <p:cNvPr id="9" name="TextBox 8">
            <a:extLst>
              <a:ext uri="{FF2B5EF4-FFF2-40B4-BE49-F238E27FC236}">
                <a16:creationId xmlns:a16="http://schemas.microsoft.com/office/drawing/2014/main" id="{5267DCF2-6A5F-3CB6-EA4E-84DE8FFD2D15}"/>
              </a:ext>
            </a:extLst>
          </p:cNvPr>
          <p:cNvSpPr txBox="1"/>
          <p:nvPr/>
        </p:nvSpPr>
        <p:spPr>
          <a:xfrm>
            <a:off x="242885" y="5057805"/>
            <a:ext cx="226813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Reflection Coefficient Magnitude E or I</a:t>
            </a:r>
          </a:p>
        </p:txBody>
      </p:sp>
      <p:pic>
        <p:nvPicPr>
          <p:cNvPr id="11" name="Picture 10">
            <a:extLst>
              <a:ext uri="{FF2B5EF4-FFF2-40B4-BE49-F238E27FC236}">
                <a16:creationId xmlns:a16="http://schemas.microsoft.com/office/drawing/2014/main" id="{8C5F7781-A304-4E3F-7996-FD478CCE8C1B}"/>
              </a:ext>
            </a:extLst>
          </p:cNvPr>
          <p:cNvPicPr>
            <a:picLocks noChangeAspect="1"/>
          </p:cNvPicPr>
          <p:nvPr/>
        </p:nvPicPr>
        <p:blipFill>
          <a:blip r:embed="rId4"/>
          <a:stretch>
            <a:fillRect/>
          </a:stretch>
        </p:blipFill>
        <p:spPr>
          <a:xfrm>
            <a:off x="242887" y="625313"/>
            <a:ext cx="11706225" cy="4420421"/>
          </a:xfrm>
          <a:prstGeom prst="rect">
            <a:avLst/>
          </a:prstGeom>
        </p:spPr>
      </p:pic>
      <mc:AlternateContent xmlns:mc="http://schemas.openxmlformats.org/markup-compatibility/2006" xmlns:p14="http://schemas.microsoft.com/office/powerpoint/2010/main">
        <mc:Choice Requires="p14">
          <p:contentPart p14:bwMode="auto" r:id="rId5">
            <p14:nvContentPartPr>
              <p14:cNvPr id="37" name="Ink 36">
                <a:extLst>
                  <a:ext uri="{FF2B5EF4-FFF2-40B4-BE49-F238E27FC236}">
                    <a16:creationId xmlns:a16="http://schemas.microsoft.com/office/drawing/2014/main" id="{4F10AEFE-1435-5FF0-0C93-5D5220929E3A}"/>
                  </a:ext>
                </a:extLst>
              </p14:cNvPr>
              <p14:cNvContentPartPr/>
              <p14:nvPr/>
            </p14:nvContentPartPr>
            <p14:xfrm>
              <a:off x="428040" y="3666945"/>
              <a:ext cx="695520" cy="707760"/>
            </p14:xfrm>
          </p:contentPart>
        </mc:Choice>
        <mc:Fallback xmlns="">
          <p:pic>
            <p:nvPicPr>
              <p:cNvPr id="37" name="Ink 36">
                <a:extLst>
                  <a:ext uri="{FF2B5EF4-FFF2-40B4-BE49-F238E27FC236}">
                    <a16:creationId xmlns:a16="http://schemas.microsoft.com/office/drawing/2014/main" id="{4F10AEFE-1435-5FF0-0C93-5D5220929E3A}"/>
                  </a:ext>
                </a:extLst>
              </p:cNvPr>
              <p:cNvPicPr/>
              <p:nvPr/>
            </p:nvPicPr>
            <p:blipFill>
              <a:blip r:embed="rId8"/>
              <a:stretch>
                <a:fillRect/>
              </a:stretch>
            </p:blipFill>
            <p:spPr>
              <a:xfrm>
                <a:off x="374400" y="3558945"/>
                <a:ext cx="803160" cy="923400"/>
              </a:xfrm>
              <a:prstGeom prst="rect">
                <a:avLst/>
              </a:prstGeom>
            </p:spPr>
          </p:pic>
        </mc:Fallback>
      </mc:AlternateContent>
      <p:cxnSp>
        <p:nvCxnSpPr>
          <p:cNvPr id="51" name="Straight Arrow Connector 50">
            <a:extLst>
              <a:ext uri="{FF2B5EF4-FFF2-40B4-BE49-F238E27FC236}">
                <a16:creationId xmlns:a16="http://schemas.microsoft.com/office/drawing/2014/main" id="{2ABA547A-5D11-D1B5-B8B8-B5BB7EA0B67E}"/>
              </a:ext>
            </a:extLst>
          </p:cNvPr>
          <p:cNvCxnSpPr>
            <a:cxnSpLocks/>
          </p:cNvCxnSpPr>
          <p:nvPr/>
        </p:nvCxnSpPr>
        <p:spPr>
          <a:xfrm flipV="1">
            <a:off x="556992" y="4073894"/>
            <a:ext cx="0" cy="886115"/>
          </a:xfrm>
          <a:prstGeom prst="straightConnector1">
            <a:avLst/>
          </a:prstGeom>
          <a:ln w="4762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2626B6F-A695-D665-30E2-F60D62C62B62}"/>
              </a:ext>
            </a:extLst>
          </p:cNvPr>
          <p:cNvCxnSpPr>
            <a:cxnSpLocks/>
          </p:cNvCxnSpPr>
          <p:nvPr/>
        </p:nvCxnSpPr>
        <p:spPr>
          <a:xfrm flipV="1">
            <a:off x="6095999" y="4602676"/>
            <a:ext cx="0" cy="550264"/>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092989F-968F-4262-A6C0-9F41525B4432}"/>
              </a:ext>
            </a:extLst>
          </p:cNvPr>
          <p:cNvSpPr txBox="1"/>
          <p:nvPr/>
        </p:nvSpPr>
        <p:spPr>
          <a:xfrm>
            <a:off x="5558202" y="5152855"/>
            <a:ext cx="495739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CENTER (0 distance reference) for Reflection Coefficient Magnitude ranging from 0 to 1.</a:t>
            </a:r>
            <a:endParaRPr kumimoji="0" lang="en-US" sz="1800" b="0" i="0" u="none" strike="noStrike" kern="1200" cap="none" spc="0" normalizeH="0" baseline="0" noProof="0" dirty="0">
              <a:ln>
                <a:noFill/>
              </a:ln>
              <a:solidFill>
                <a:srgbClr val="FFFFFF"/>
              </a:solidFill>
              <a:effectLst/>
              <a:uLnTx/>
              <a:uFillTx/>
              <a:latin typeface="Cambria Math" panose="02040503050406030204" pitchFamily="18" charset="0"/>
              <a:ea typeface="Cambria Math" panose="02040503050406030204" pitchFamily="18" charset="0"/>
              <a:cs typeface="+mn-cs"/>
            </a:endParaRPr>
          </a:p>
        </p:txBody>
      </p:sp>
      <p:cxnSp>
        <p:nvCxnSpPr>
          <p:cNvPr id="50" name="Straight Arrow Connector 49">
            <a:extLst>
              <a:ext uri="{FF2B5EF4-FFF2-40B4-BE49-F238E27FC236}">
                <a16:creationId xmlns:a16="http://schemas.microsoft.com/office/drawing/2014/main" id="{6848C491-59BC-970D-1508-067F91DF32A3}"/>
              </a:ext>
            </a:extLst>
          </p:cNvPr>
          <p:cNvCxnSpPr>
            <a:cxnSpLocks/>
          </p:cNvCxnSpPr>
          <p:nvPr/>
        </p:nvCxnSpPr>
        <p:spPr>
          <a:xfrm flipH="1">
            <a:off x="3088363" y="4924255"/>
            <a:ext cx="1159787" cy="0"/>
          </a:xfrm>
          <a:prstGeom prst="straightConnector1">
            <a:avLst/>
          </a:prstGeom>
          <a:ln w="476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F291AAD-2C3D-F52F-B042-C1098BA6A81B}"/>
              </a:ext>
            </a:extLst>
          </p:cNvPr>
          <p:cNvSpPr txBox="1"/>
          <p:nvPr/>
        </p:nvSpPr>
        <p:spPr>
          <a:xfrm>
            <a:off x="2841697" y="4969851"/>
            <a:ext cx="238583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Increasing Reflection Coefficient Magnitude</a:t>
            </a:r>
          </a:p>
        </p:txBody>
      </p:sp>
      <p:cxnSp>
        <p:nvCxnSpPr>
          <p:cNvPr id="3" name="Straight Arrow Connector 2">
            <a:extLst>
              <a:ext uri="{FF2B5EF4-FFF2-40B4-BE49-F238E27FC236}">
                <a16:creationId xmlns:a16="http://schemas.microsoft.com/office/drawing/2014/main" id="{65D14EB9-337B-402F-AF41-D5D4B37389F4}"/>
              </a:ext>
            </a:extLst>
          </p:cNvPr>
          <p:cNvCxnSpPr>
            <a:cxnSpLocks/>
          </p:cNvCxnSpPr>
          <p:nvPr/>
        </p:nvCxnSpPr>
        <p:spPr>
          <a:xfrm>
            <a:off x="1371034" y="4374705"/>
            <a:ext cx="4724965" cy="0"/>
          </a:xfrm>
          <a:prstGeom prst="straightConnector1">
            <a:avLst/>
          </a:prstGeom>
          <a:ln w="231775">
            <a:solidFill>
              <a:srgbClr val="06B623">
                <a:alpha val="63000"/>
              </a:srgb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1955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ppt_x"/>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500" fill="hold"/>
                                        <p:tgtEl>
                                          <p:spTgt spid="44"/>
                                        </p:tgtEl>
                                        <p:attrNameLst>
                                          <p:attrName>ppt_x</p:attrName>
                                        </p:attrNameLst>
                                      </p:cBhvr>
                                      <p:tavLst>
                                        <p:tav tm="0">
                                          <p:val>
                                            <p:strVal val="#ppt_x"/>
                                          </p:val>
                                        </p:tav>
                                        <p:tav tm="100000">
                                          <p:val>
                                            <p:strVal val="#ppt_x"/>
                                          </p:val>
                                        </p:tav>
                                      </p:tavLst>
                                    </p:anim>
                                    <p:anim calcmode="lin" valueType="num">
                                      <p:cBhvr additive="base">
                                        <p:cTn id="2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0"/>
                                        </p:tgtEl>
                                        <p:attrNameLst>
                                          <p:attrName>style.visibility</p:attrName>
                                        </p:attrNameLst>
                                      </p:cBhvr>
                                      <p:to>
                                        <p:strVal val="visible"/>
                                      </p:to>
                                    </p:set>
                                    <p:anim calcmode="lin" valueType="num">
                                      <p:cBhvr additive="base">
                                        <p:cTn id="33" dur="500" fill="hold"/>
                                        <p:tgtEl>
                                          <p:spTgt spid="50"/>
                                        </p:tgtEl>
                                        <p:attrNameLst>
                                          <p:attrName>ppt_x</p:attrName>
                                        </p:attrNameLst>
                                      </p:cBhvr>
                                      <p:tavLst>
                                        <p:tav tm="0">
                                          <p:val>
                                            <p:strVal val="#ppt_x"/>
                                          </p:val>
                                        </p:tav>
                                        <p:tav tm="100000">
                                          <p:val>
                                            <p:strVal val="#ppt_x"/>
                                          </p:val>
                                        </p:tav>
                                      </p:tavLst>
                                    </p:anim>
                                    <p:anim calcmode="lin" valueType="num">
                                      <p:cBhvr additive="base">
                                        <p:cTn id="34" dur="500" fill="hold"/>
                                        <p:tgtEl>
                                          <p:spTgt spid="5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500" fill="hold"/>
                                        <p:tgtEl>
                                          <p:spTgt spid="55"/>
                                        </p:tgtEl>
                                        <p:attrNameLst>
                                          <p:attrName>ppt_x</p:attrName>
                                        </p:attrNameLst>
                                      </p:cBhvr>
                                      <p:tavLst>
                                        <p:tav tm="0">
                                          <p:val>
                                            <p:strVal val="#ppt_x"/>
                                          </p:val>
                                        </p:tav>
                                        <p:tav tm="100000">
                                          <p:val>
                                            <p:strVal val="#ppt_x"/>
                                          </p:val>
                                        </p:tav>
                                      </p:tavLst>
                                    </p:anim>
                                    <p:anim calcmode="lin" valueType="num">
                                      <p:cBhvr additive="base">
                                        <p:cTn id="3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
                                            <p:txEl>
                                              <p:pRg st="20" end="20"/>
                                            </p:txEl>
                                          </p:spTgt>
                                        </p:tgtEl>
                                        <p:attrNameLst>
                                          <p:attrName>style.visibility</p:attrName>
                                        </p:attrNameLst>
                                      </p:cBhvr>
                                      <p:to>
                                        <p:strVal val="visible"/>
                                      </p:to>
                                    </p:set>
                                    <p:anim calcmode="lin" valueType="num">
                                      <p:cBhvr additive="base">
                                        <p:cTn id="43" dur="500" fill="hold"/>
                                        <p:tgtEl>
                                          <p:spTgt spid="19">
                                            <p:txEl>
                                              <p:pRg st="20" end="2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4" grpId="0"/>
      <p:bldP spid="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188044" y="-24714"/>
            <a:ext cx="5609967"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857403" y="651118"/>
                <a:ext cx="10285852" cy="6580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l-GR" i="1">
                              <a:solidFill>
                                <a:srgbClr val="000000"/>
                              </a:solidFill>
                              <a:latin typeface="Cambria Math" panose="02040503050406030204" pitchFamily="18" charset="0"/>
                              <a:ea typeface="Cambria Math" panose="02040503050406030204" pitchFamily="18" charset="0"/>
                            </a:rPr>
                            <m:t>Γ</m:t>
                          </m:r>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l-GR" i="1">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j</m:t>
                              </m:r>
                              <m:r>
                                <m:rPr>
                                  <m:sty m:val="p"/>
                                </m:rPr>
                                <a:rPr lang="el-GR" i="1">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i</m:t>
                              </m:r>
                            </m:sub>
                          </m:sSub>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den>
                          </m:f>
                          <m:r>
                            <a:rPr lang="en-US" b="0" i="1" smtClean="0">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jx</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num>
                        <m:den>
                          <m:r>
                            <a:rPr lang="en-US" i="1">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den>
                      </m:f>
                      <m:r>
                        <a:rPr lang="en-US" i="1">
                          <a:solidFill>
                            <a:srgbClr val="000000"/>
                          </a:solidFill>
                          <a:latin typeface="Cambria Math" panose="02040503050406030204" pitchFamily="18" charset="0"/>
                          <a:ea typeface="Cambria Math" panose="02040503050406030204" pitchFamily="18" charset="0"/>
                        </a:rPr>
                        <m: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Smith</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Chart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graphically</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represents</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these</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relationships</m:t>
                      </m:r>
                      <m:r>
                        <a:rPr lang="en-US" b="0" i="0" smtClean="0">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857403" y="651118"/>
                <a:ext cx="10285852" cy="6580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079048682"/>
                  </p:ext>
                </p:extLst>
              </p:nvPr>
            </p:nvGraphicFramePr>
            <p:xfrm>
              <a:off x="180364" y="3021976"/>
              <a:ext cx="6994314" cy="1818640"/>
            </p:xfrm>
            <a:graphic>
              <a:graphicData uri="http://schemas.openxmlformats.org/drawingml/2006/table">
                <a:tbl>
                  <a:tblPr firstRow="1" bandRow="1">
                    <a:tableStyleId>{5C22544A-7EE6-4342-B048-85BDC9FD1C3A}</a:tableStyleId>
                  </a:tblPr>
                  <a:tblGrid>
                    <a:gridCol w="878307">
                      <a:extLst>
                        <a:ext uri="{9D8B030D-6E8A-4147-A177-3AD203B41FA5}">
                          <a16:colId xmlns:a16="http://schemas.microsoft.com/office/drawing/2014/main" val="20000"/>
                        </a:ext>
                      </a:extLst>
                    </a:gridCol>
                    <a:gridCol w="3602456">
                      <a:extLst>
                        <a:ext uri="{9D8B030D-6E8A-4147-A177-3AD203B41FA5}">
                          <a16:colId xmlns:a16="http://schemas.microsoft.com/office/drawing/2014/main" val="20001"/>
                        </a:ext>
                      </a:extLst>
                    </a:gridCol>
                    <a:gridCol w="2513551">
                      <a:extLst>
                        <a:ext uri="{9D8B030D-6E8A-4147-A177-3AD203B41FA5}">
                          <a16:colId xmlns:a16="http://schemas.microsoft.com/office/drawing/2014/main" val="20002"/>
                        </a:ext>
                      </a:extLst>
                    </a:gridCol>
                  </a:tblGrid>
                  <a:tr h="0">
                    <a:tc>
                      <a:txBody>
                        <a:bodyPr/>
                        <a:lstStyle/>
                        <a:p>
                          <a:pPr algn="ctr"/>
                          <a:r>
                            <a:rPr lang="en-US" sz="1600" b="0" dirty="0">
                              <a:solidFill>
                                <a:schemeClr val="bg1"/>
                              </a:solidFill>
                              <a:latin typeface="Cambria Math" panose="02040503050406030204" pitchFamily="18" charset="0"/>
                              <a:ea typeface="Cambria Math" panose="02040503050406030204" pitchFamily="18" charset="0"/>
                            </a:rPr>
                            <a:t>Point</a:t>
                          </a:r>
                        </a:p>
                      </a:txBody>
                      <a:tcPr/>
                    </a:tc>
                    <a:tc>
                      <a:txBody>
                        <a:bodyPr/>
                        <a:lstStyle/>
                        <a:p>
                          <a:pPr algn="ctr"/>
                          <a14:m>
                            <m:oMath xmlns:m="http://schemas.openxmlformats.org/officeDocument/2006/math">
                              <m:r>
                                <m:rPr>
                                  <m:sty m:val="p"/>
                                </m:rPr>
                                <a:rPr lang="el-GR" sz="1600" i="1" smtClean="0">
                                  <a:solidFill>
                                    <a:srgbClr val="000000"/>
                                  </a:solidFill>
                                  <a:latin typeface="Cambria Math" panose="02040503050406030204" pitchFamily="18" charset="0"/>
                                  <a:ea typeface="Cambria Math" panose="02040503050406030204" pitchFamily="18" charset="0"/>
                                </a:rPr>
                                <m:t>Γ</m:t>
                              </m:r>
                            </m:oMath>
                          </a14:m>
                          <a:r>
                            <a:rPr lang="en-US" sz="1600" dirty="0">
                              <a:latin typeface="Cambria Math" panose="02040503050406030204" pitchFamily="18" charset="0"/>
                              <a:ea typeface="Cambria Math" panose="02040503050406030204" pitchFamily="18" charset="0"/>
                            </a:rPr>
                            <a:t> </a:t>
                          </a:r>
                          <a:r>
                            <a:rPr lang="en-US" sz="1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1600" b="1" i="0" smtClean="0">
                                  <a:solidFill>
                                    <a:srgbClr val="000000"/>
                                  </a:solidFill>
                                  <a:latin typeface="Cambria Math" panose="02040503050406030204" pitchFamily="18" charset="0"/>
                                  <a:ea typeface="Cambria Math" panose="02040503050406030204" pitchFamily="18" charset="0"/>
                                </a:rPr>
                                <m:t> </m:t>
                              </m:r>
                              <m:sSub>
                                <m:sSubPr>
                                  <m:ctrlPr>
                                    <a:rPr lang="en-US" sz="1600" i="1" smtClean="0">
                                      <a:solidFill>
                                        <a:srgbClr val="000000"/>
                                      </a:solidFill>
                                      <a:latin typeface="Cambria Math" panose="02040503050406030204" pitchFamily="18" charset="0"/>
                                      <a:ea typeface="Cambria Math" panose="02040503050406030204" pitchFamily="18" charset="0"/>
                                    </a:rPr>
                                  </m:ctrlPr>
                                </m:sSubPr>
                                <m:e>
                                  <m:r>
                                    <m:rPr>
                                      <m:sty m:val="p"/>
                                    </m:rPr>
                                    <a:rPr lang="el-GR" sz="1600" i="1">
                                      <a:solidFill>
                                        <a:srgbClr val="000000"/>
                                      </a:solidFill>
                                      <a:latin typeface="Cambria Math" panose="02040503050406030204" pitchFamily="18" charset="0"/>
                                      <a:ea typeface="Cambria Math" panose="02040503050406030204" pitchFamily="18" charset="0"/>
                                    </a:rPr>
                                    <m:t>Γ</m:t>
                                  </m:r>
                                </m:e>
                                <m:sub>
                                  <m:r>
                                    <m:rPr>
                                      <m:sty m:val="p"/>
                                    </m:rPr>
                                    <a:rPr lang="en-US" sz="1600">
                                      <a:solidFill>
                                        <a:srgbClr val="000000"/>
                                      </a:solidFill>
                                      <a:latin typeface="Cambria Math" panose="02040503050406030204" pitchFamily="18" charset="0"/>
                                      <a:ea typeface="Cambria Math" panose="02040503050406030204" pitchFamily="18" charset="0"/>
                                    </a:rPr>
                                    <m:t>r</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a:solidFill>
                                        <a:srgbClr val="000000"/>
                                      </a:solidFill>
                                      <a:latin typeface="Cambria Math" panose="02040503050406030204" pitchFamily="18" charset="0"/>
                                      <a:ea typeface="Cambria Math" panose="02040503050406030204" pitchFamily="18" charset="0"/>
                                    </a:rPr>
                                  </m:ctrlPr>
                                </m:sSubPr>
                                <m:e>
                                  <m:r>
                                    <m:rPr>
                                      <m:sty m:val="p"/>
                                    </m:rPr>
                                    <a:rPr lang="en-US" sz="1600">
                                      <a:solidFill>
                                        <a:srgbClr val="000000"/>
                                      </a:solidFill>
                                      <a:latin typeface="Cambria Math" panose="02040503050406030204" pitchFamily="18" charset="0"/>
                                      <a:ea typeface="Cambria Math" panose="02040503050406030204" pitchFamily="18" charset="0"/>
                                    </a:rPr>
                                    <m:t>j</m:t>
                                  </m:r>
                                  <m:r>
                                    <m:rPr>
                                      <m:sty m:val="p"/>
                                    </m:rPr>
                                    <a:rPr lang="el-GR" sz="1600" i="1">
                                      <a:solidFill>
                                        <a:srgbClr val="000000"/>
                                      </a:solidFill>
                                      <a:latin typeface="Cambria Math" panose="02040503050406030204" pitchFamily="18" charset="0"/>
                                      <a:ea typeface="Cambria Math" panose="02040503050406030204" pitchFamily="18" charset="0"/>
                                    </a:rPr>
                                    <m:t>Γ</m:t>
                                  </m:r>
                                </m:e>
                                <m:sub>
                                  <m:r>
                                    <m:rPr>
                                      <m:sty m:val="p"/>
                                    </m:rPr>
                                    <a:rPr lang="en-US" sz="1600">
                                      <a:solidFill>
                                        <a:srgbClr val="000000"/>
                                      </a:solidFill>
                                      <a:latin typeface="Cambria Math" panose="02040503050406030204" pitchFamily="18" charset="0"/>
                                      <a:ea typeface="Cambria Math" panose="02040503050406030204" pitchFamily="18" charset="0"/>
                                    </a:rPr>
                                    <m:t>i</m:t>
                                  </m:r>
                                </m:sub>
                              </m:sSub>
                            </m:oMath>
                          </a14:m>
                          <a:endParaRPr lang="en-US" sz="1600" dirty="0">
                            <a:latin typeface="Cambria Math" panose="02040503050406030204" pitchFamily="18" charset="0"/>
                            <a:ea typeface="Cambria Math" panose="020405030504060302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solidFill>
                                          <a:srgbClr val="000000"/>
                                        </a:solidFill>
                                        <a:latin typeface="Cambria Math" panose="02040503050406030204" pitchFamily="18" charset="0"/>
                                        <a:ea typeface="Cambria Math" panose="02040503050406030204" pitchFamily="18" charset="0"/>
                                      </a:rPr>
                                    </m:ctrlPr>
                                  </m:sSubPr>
                                  <m:e>
                                    <m:r>
                                      <m:rPr>
                                        <m:sty m:val="p"/>
                                      </m:rPr>
                                      <a:rPr lang="en-US" sz="1400">
                                        <a:solidFill>
                                          <a:srgbClr val="000000"/>
                                        </a:solidFill>
                                        <a:latin typeface="Cambria Math" panose="02040503050406030204" pitchFamily="18" charset="0"/>
                                        <a:ea typeface="Cambria Math" panose="02040503050406030204" pitchFamily="18" charset="0"/>
                                      </a:rPr>
                                      <m:t>z</m:t>
                                    </m:r>
                                  </m:e>
                                  <m:sub>
                                    <m:r>
                                      <m:rPr>
                                        <m:sty m:val="p"/>
                                      </m:rPr>
                                      <a:rPr lang="en-US" sz="1400">
                                        <a:solidFill>
                                          <a:srgbClr val="000000"/>
                                        </a:solidFill>
                                        <a:latin typeface="Cambria Math" panose="02040503050406030204" pitchFamily="18" charset="0"/>
                                        <a:ea typeface="Cambria Math" panose="02040503050406030204" pitchFamily="18" charset="0"/>
                                      </a:rPr>
                                      <m:t>L</m:t>
                                    </m:r>
                                  </m:sub>
                                </m:sSub>
                                <m:r>
                                  <a:rPr lang="en-US" sz="1400" b="1" i="1" smtClean="0">
                                    <a:solidFill>
                                      <a:srgbClr val="000000"/>
                                    </a:solidFill>
                                    <a:latin typeface="Cambria Math" panose="02040503050406030204" pitchFamily="18" charset="0"/>
                                    <a:ea typeface="Cambria Math" panose="02040503050406030204" pitchFamily="18" charset="0"/>
                                  </a:rPr>
                                  <m:t>=</m:t>
                                </m:r>
                                <m:sSub>
                                  <m:sSubPr>
                                    <m:ctrlPr>
                                      <a:rPr lang="en-US" sz="1600" i="1" smtClean="0">
                                        <a:solidFill>
                                          <a:srgbClr val="000000"/>
                                        </a:solidFill>
                                        <a:latin typeface="Cambria Math" panose="02040503050406030204" pitchFamily="18" charset="0"/>
                                        <a:ea typeface="Cambria Math" panose="02040503050406030204" pitchFamily="18" charset="0"/>
                                      </a:rPr>
                                    </m:ctrlPr>
                                  </m:sSubPr>
                                  <m:e>
                                    <m:r>
                                      <m:rPr>
                                        <m:sty m:val="p"/>
                                      </m:rPr>
                                      <a:rPr lang="en-US" sz="1600">
                                        <a:solidFill>
                                          <a:srgbClr val="000000"/>
                                        </a:solidFill>
                                        <a:latin typeface="Cambria Math" panose="02040503050406030204" pitchFamily="18" charset="0"/>
                                        <a:ea typeface="Cambria Math" panose="02040503050406030204" pitchFamily="18" charset="0"/>
                                      </a:rPr>
                                      <m:t>r</m:t>
                                    </m:r>
                                  </m:e>
                                  <m:sub>
                                    <m:r>
                                      <m:rPr>
                                        <m:sty m:val="p"/>
                                      </m:rPr>
                                      <a:rPr lang="en-US" sz="1600">
                                        <a:solidFill>
                                          <a:srgbClr val="000000"/>
                                        </a:solidFill>
                                        <a:latin typeface="Cambria Math" panose="02040503050406030204" pitchFamily="18" charset="0"/>
                                        <a:ea typeface="Cambria Math" panose="02040503050406030204" pitchFamily="18" charset="0"/>
                                      </a:rPr>
                                      <m:t>L</m:t>
                                    </m:r>
                                  </m:sub>
                                </m:sSub>
                                <m:r>
                                  <a:rPr lang="en-US" sz="1600">
                                    <a:solidFill>
                                      <a:srgbClr val="000000"/>
                                    </a:solidFill>
                                    <a:latin typeface="Cambria Math" panose="02040503050406030204" pitchFamily="18" charset="0"/>
                                    <a:ea typeface="Cambria Math" panose="02040503050406030204" pitchFamily="18" charset="0"/>
                                  </a:rPr>
                                  <m:t>+</m:t>
                                </m:r>
                                <m:sSub>
                                  <m:sSubPr>
                                    <m:ctrlPr>
                                      <a:rPr lang="en-US" sz="1600" i="1">
                                        <a:solidFill>
                                          <a:srgbClr val="000000"/>
                                        </a:solidFill>
                                        <a:latin typeface="Cambria Math" panose="02040503050406030204" pitchFamily="18" charset="0"/>
                                        <a:ea typeface="Cambria Math" panose="02040503050406030204" pitchFamily="18" charset="0"/>
                                      </a:rPr>
                                    </m:ctrlPr>
                                  </m:sSubPr>
                                  <m:e>
                                    <m:r>
                                      <m:rPr>
                                        <m:sty m:val="p"/>
                                      </m:rPr>
                                      <a:rPr lang="en-US" sz="1600">
                                        <a:solidFill>
                                          <a:srgbClr val="000000"/>
                                        </a:solidFill>
                                        <a:latin typeface="Cambria Math" panose="02040503050406030204" pitchFamily="18" charset="0"/>
                                        <a:ea typeface="Cambria Math" panose="02040503050406030204" pitchFamily="18" charset="0"/>
                                      </a:rPr>
                                      <m:t>jx</m:t>
                                    </m:r>
                                  </m:e>
                                  <m:sub>
                                    <m:r>
                                      <m:rPr>
                                        <m:sty m:val="p"/>
                                      </m:rPr>
                                      <a:rPr lang="en-US" sz="1600">
                                        <a:solidFill>
                                          <a:srgbClr val="000000"/>
                                        </a:solidFill>
                                        <a:latin typeface="Cambria Math" panose="02040503050406030204" pitchFamily="18" charset="0"/>
                                        <a:ea typeface="Cambria Math" panose="02040503050406030204" pitchFamily="18" charset="0"/>
                                      </a:rPr>
                                      <m:t>L</m:t>
                                    </m:r>
                                  </m:sub>
                                </m:sSub>
                              </m:oMath>
                            </m:oMathPara>
                          </a14:m>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0"/>
                      </a:ext>
                    </a:extLst>
                  </a:tr>
                  <a:tr h="370840">
                    <a:tc>
                      <a:txBody>
                        <a:bodyPr/>
                        <a:lstStyle/>
                        <a:p>
                          <a:pPr algn="ctr"/>
                          <a:r>
                            <a:rPr lang="en-US" sz="1600" dirty="0">
                              <a:latin typeface="Cambria Math" panose="02040503050406030204" pitchFamily="18" charset="0"/>
                              <a:ea typeface="Cambria Math" panose="02040503050406030204" pitchFamily="18" charset="0"/>
                            </a:rPr>
                            <a:t>A</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1"/>
                      </a:ext>
                    </a:extLst>
                  </a:tr>
                  <a:tr h="370840">
                    <a:tc>
                      <a:txBody>
                        <a:bodyPr/>
                        <a:lstStyle/>
                        <a:p>
                          <a:pPr algn="ctr"/>
                          <a:r>
                            <a:rPr lang="en-US" sz="1600" dirty="0">
                              <a:latin typeface="Cambria Math" panose="02040503050406030204" pitchFamily="18" charset="0"/>
                              <a:ea typeface="Cambria Math" panose="02040503050406030204" pitchFamily="18" charset="0"/>
                            </a:rPr>
                            <a:t>B</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sz="1600" dirty="0">
                              <a:latin typeface="Cambria Math" panose="02040503050406030204" pitchFamily="18" charset="0"/>
                              <a:ea typeface="Cambria Math" panose="02040503050406030204" pitchFamily="18" charset="0"/>
                            </a:rPr>
                            <a:t>C</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3"/>
                      </a:ext>
                    </a:extLst>
                  </a:tr>
                  <a:tr h="370840">
                    <a:tc>
                      <a:txBody>
                        <a:bodyPr/>
                        <a:lstStyle/>
                        <a:p>
                          <a:pPr algn="ctr"/>
                          <a:r>
                            <a:rPr lang="en-US" sz="1600" dirty="0">
                              <a:latin typeface="Cambria Math" panose="02040503050406030204" pitchFamily="18" charset="0"/>
                              <a:ea typeface="Cambria Math" panose="02040503050406030204" pitchFamily="18" charset="0"/>
                            </a:rPr>
                            <a:t>D</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079048682"/>
                  </p:ext>
                </p:extLst>
              </p:nvPr>
            </p:nvGraphicFramePr>
            <p:xfrm>
              <a:off x="180364" y="3021976"/>
              <a:ext cx="6994314" cy="1818640"/>
            </p:xfrm>
            <a:graphic>
              <a:graphicData uri="http://schemas.openxmlformats.org/drawingml/2006/table">
                <a:tbl>
                  <a:tblPr firstRow="1" bandRow="1">
                    <a:tableStyleId>{5C22544A-7EE6-4342-B048-85BDC9FD1C3A}</a:tableStyleId>
                  </a:tblPr>
                  <a:tblGrid>
                    <a:gridCol w="878307">
                      <a:extLst>
                        <a:ext uri="{9D8B030D-6E8A-4147-A177-3AD203B41FA5}">
                          <a16:colId xmlns:a16="http://schemas.microsoft.com/office/drawing/2014/main" val="20000"/>
                        </a:ext>
                      </a:extLst>
                    </a:gridCol>
                    <a:gridCol w="3602456">
                      <a:extLst>
                        <a:ext uri="{9D8B030D-6E8A-4147-A177-3AD203B41FA5}">
                          <a16:colId xmlns:a16="http://schemas.microsoft.com/office/drawing/2014/main" val="20001"/>
                        </a:ext>
                      </a:extLst>
                    </a:gridCol>
                    <a:gridCol w="2513551">
                      <a:extLst>
                        <a:ext uri="{9D8B030D-6E8A-4147-A177-3AD203B41FA5}">
                          <a16:colId xmlns:a16="http://schemas.microsoft.com/office/drawing/2014/main" val="20002"/>
                        </a:ext>
                      </a:extLst>
                    </a:gridCol>
                  </a:tblGrid>
                  <a:tr h="335280">
                    <a:tc>
                      <a:txBody>
                        <a:bodyPr/>
                        <a:lstStyle/>
                        <a:p>
                          <a:pPr algn="ctr"/>
                          <a:r>
                            <a:rPr lang="en-US" sz="1600" b="0" dirty="0">
                              <a:solidFill>
                                <a:schemeClr val="bg1"/>
                              </a:solidFill>
                              <a:latin typeface="Cambria Math" panose="02040503050406030204" pitchFamily="18" charset="0"/>
                              <a:ea typeface="Cambria Math" panose="02040503050406030204" pitchFamily="18" charset="0"/>
                            </a:rPr>
                            <a:t>Point</a:t>
                          </a:r>
                        </a:p>
                      </a:txBody>
                      <a:tcPr/>
                    </a:tc>
                    <a:tc>
                      <a:txBody>
                        <a:bodyPr/>
                        <a:lstStyle/>
                        <a:p>
                          <a:endParaRPr lang="en-US"/>
                        </a:p>
                      </a:txBody>
                      <a:tcPr>
                        <a:blipFill>
                          <a:blip r:embed="rId3"/>
                          <a:stretch>
                            <a:fillRect l="-24535" t="-5455" r="-70728" b="-454545"/>
                          </a:stretch>
                        </a:blipFill>
                      </a:tcPr>
                    </a:tc>
                    <a:tc>
                      <a:txBody>
                        <a:bodyPr/>
                        <a:lstStyle/>
                        <a:p>
                          <a:endParaRPr lang="en-US"/>
                        </a:p>
                      </a:txBody>
                      <a:tcPr>
                        <a:blipFill>
                          <a:blip r:embed="rId3"/>
                          <a:stretch>
                            <a:fillRect l="-178208" t="-5455" r="-1211" b="-454545"/>
                          </a:stretch>
                        </a:blipFill>
                      </a:tcPr>
                    </a:tc>
                    <a:extLst>
                      <a:ext uri="{0D108BD9-81ED-4DB2-BD59-A6C34878D82A}">
                        <a16:rowId xmlns:a16="http://schemas.microsoft.com/office/drawing/2014/main" val="10000"/>
                      </a:ext>
                    </a:extLst>
                  </a:tr>
                  <a:tr h="370840">
                    <a:tc>
                      <a:txBody>
                        <a:bodyPr/>
                        <a:lstStyle/>
                        <a:p>
                          <a:pPr algn="ctr"/>
                          <a:r>
                            <a:rPr lang="en-US" sz="1600" dirty="0">
                              <a:latin typeface="Cambria Math" panose="02040503050406030204" pitchFamily="18" charset="0"/>
                              <a:ea typeface="Cambria Math" panose="02040503050406030204" pitchFamily="18" charset="0"/>
                            </a:rPr>
                            <a:t>A</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1"/>
                      </a:ext>
                    </a:extLst>
                  </a:tr>
                  <a:tr h="370840">
                    <a:tc>
                      <a:txBody>
                        <a:bodyPr/>
                        <a:lstStyle/>
                        <a:p>
                          <a:pPr algn="ctr"/>
                          <a:r>
                            <a:rPr lang="en-US" sz="1600" dirty="0">
                              <a:latin typeface="Cambria Math" panose="02040503050406030204" pitchFamily="18" charset="0"/>
                              <a:ea typeface="Cambria Math" panose="02040503050406030204" pitchFamily="18" charset="0"/>
                            </a:rPr>
                            <a:t>B</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sz="1600" dirty="0">
                              <a:latin typeface="Cambria Math" panose="02040503050406030204" pitchFamily="18" charset="0"/>
                              <a:ea typeface="Cambria Math" panose="02040503050406030204" pitchFamily="18" charset="0"/>
                            </a:rPr>
                            <a:t>C</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3"/>
                      </a:ext>
                    </a:extLst>
                  </a:tr>
                  <a:tr h="370840">
                    <a:tc>
                      <a:txBody>
                        <a:bodyPr/>
                        <a:lstStyle/>
                        <a:p>
                          <a:pPr algn="ctr"/>
                          <a:r>
                            <a:rPr lang="en-US" sz="1600" dirty="0">
                              <a:latin typeface="Cambria Math" panose="02040503050406030204" pitchFamily="18" charset="0"/>
                              <a:ea typeface="Cambria Math" panose="02040503050406030204" pitchFamily="18" charset="0"/>
                            </a:rPr>
                            <a:t>D</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4"/>
                      </a:ext>
                    </a:extLst>
                  </a:tr>
                </a:tbl>
              </a:graphicData>
            </a:graphic>
          </p:graphicFrame>
        </mc:Fallback>
      </mc:AlternateContent>
      <p:grpSp>
        <p:nvGrpSpPr>
          <p:cNvPr id="18" name="Group 17"/>
          <p:cNvGrpSpPr/>
          <p:nvPr/>
        </p:nvGrpSpPr>
        <p:grpSpPr>
          <a:xfrm>
            <a:off x="7355430" y="1589373"/>
            <a:ext cx="4783332" cy="4765589"/>
            <a:chOff x="7092778" y="1861751"/>
            <a:chExt cx="4783332" cy="4765589"/>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2778" y="1861751"/>
              <a:ext cx="4783332" cy="4765589"/>
            </a:xfrm>
            <a:prstGeom prst="rect">
              <a:avLst/>
            </a:prstGeom>
          </p:spPr>
        </p:pic>
        <p:sp>
          <p:nvSpPr>
            <p:cNvPr id="8" name="Oval 7"/>
            <p:cNvSpPr/>
            <p:nvPr/>
          </p:nvSpPr>
          <p:spPr bwMode="auto">
            <a:xfrm>
              <a:off x="7175338" y="4385768"/>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9" name="Oval 8"/>
            <p:cNvSpPr/>
            <p:nvPr/>
          </p:nvSpPr>
          <p:spPr bwMode="auto">
            <a:xfrm>
              <a:off x="9214036" y="4385765"/>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10" name="Oval 9"/>
            <p:cNvSpPr/>
            <p:nvPr/>
          </p:nvSpPr>
          <p:spPr bwMode="auto">
            <a:xfrm>
              <a:off x="11241870" y="4385765"/>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11" name="Oval 10"/>
            <p:cNvSpPr/>
            <p:nvPr/>
          </p:nvSpPr>
          <p:spPr bwMode="auto">
            <a:xfrm>
              <a:off x="10264644" y="5721118"/>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13" name="TextBox 12"/>
            <p:cNvSpPr txBox="1"/>
            <p:nvPr/>
          </p:nvSpPr>
          <p:spPr>
            <a:xfrm>
              <a:off x="9266541" y="4147221"/>
              <a:ext cx="250105" cy="282107"/>
            </a:xfrm>
            <a:prstGeom prst="rect">
              <a:avLst/>
            </a:prstGeom>
            <a:noFill/>
          </p:spPr>
          <p:txBody>
            <a:bodyPr wrap="none" rtlCol="0">
              <a:spAutoFit/>
            </a:bodyPr>
            <a:lstStyle/>
            <a:p>
              <a:r>
                <a:rPr lang="en-US" dirty="0">
                  <a:solidFill>
                    <a:schemeClr val="bg1"/>
                  </a:solidFill>
                  <a:latin typeface="Cambria Math" panose="02040503050406030204" pitchFamily="18" charset="0"/>
                  <a:ea typeface="Cambria Math" panose="02040503050406030204" pitchFamily="18" charset="0"/>
                </a:rPr>
                <a:t>A</a:t>
              </a:r>
            </a:p>
          </p:txBody>
        </p:sp>
        <p:sp>
          <p:nvSpPr>
            <p:cNvPr id="15" name="TextBox 14"/>
            <p:cNvSpPr txBox="1"/>
            <p:nvPr/>
          </p:nvSpPr>
          <p:spPr>
            <a:xfrm>
              <a:off x="10004889" y="5480777"/>
              <a:ext cx="336952" cy="369332"/>
            </a:xfrm>
            <a:prstGeom prst="rect">
              <a:avLst/>
            </a:prstGeom>
            <a:noFill/>
          </p:spPr>
          <p:txBody>
            <a:bodyPr wrap="none" rtlCol="0">
              <a:spAutoFit/>
            </a:bodyPr>
            <a:lstStyle/>
            <a:p>
              <a:r>
                <a:rPr lang="en-US" dirty="0">
                  <a:solidFill>
                    <a:schemeClr val="bg1"/>
                  </a:solidFill>
                  <a:latin typeface="Cambria Math" panose="02040503050406030204" pitchFamily="18" charset="0"/>
                  <a:ea typeface="Cambria Math" panose="02040503050406030204" pitchFamily="18" charset="0"/>
                </a:rPr>
                <a:t>D</a:t>
              </a:r>
            </a:p>
          </p:txBody>
        </p:sp>
        <p:sp>
          <p:nvSpPr>
            <p:cNvPr id="16" name="TextBox 15"/>
            <p:cNvSpPr txBox="1"/>
            <p:nvPr/>
          </p:nvSpPr>
          <p:spPr>
            <a:xfrm>
              <a:off x="7206895" y="4119018"/>
              <a:ext cx="325730" cy="369332"/>
            </a:xfrm>
            <a:prstGeom prst="rect">
              <a:avLst/>
            </a:prstGeom>
            <a:noFill/>
          </p:spPr>
          <p:txBody>
            <a:bodyPr wrap="none" rtlCol="0">
              <a:spAutoFit/>
            </a:bodyPr>
            <a:lstStyle/>
            <a:p>
              <a:r>
                <a:rPr lang="en-US" dirty="0">
                  <a:solidFill>
                    <a:schemeClr val="bg1"/>
                  </a:solidFill>
                  <a:latin typeface="Cambria Math" panose="02040503050406030204" pitchFamily="18" charset="0"/>
                  <a:ea typeface="Cambria Math" panose="02040503050406030204" pitchFamily="18" charset="0"/>
                </a:rPr>
                <a:t>B</a:t>
              </a:r>
            </a:p>
          </p:txBody>
        </p:sp>
        <p:sp>
          <p:nvSpPr>
            <p:cNvPr id="17" name="TextBox 16"/>
            <p:cNvSpPr txBox="1"/>
            <p:nvPr/>
          </p:nvSpPr>
          <p:spPr>
            <a:xfrm>
              <a:off x="11277268" y="4103608"/>
              <a:ext cx="314510" cy="369332"/>
            </a:xfrm>
            <a:prstGeom prst="rect">
              <a:avLst/>
            </a:prstGeom>
            <a:noFill/>
          </p:spPr>
          <p:txBody>
            <a:bodyPr wrap="none" rtlCol="0">
              <a:spAutoFit/>
            </a:bodyPr>
            <a:lstStyle/>
            <a:p>
              <a:r>
                <a:rPr lang="en-US" dirty="0">
                  <a:solidFill>
                    <a:schemeClr val="bg1"/>
                  </a:solidFill>
                  <a:latin typeface="Cambria Math" panose="02040503050406030204" pitchFamily="18" charset="0"/>
                  <a:ea typeface="Cambria Math" panose="02040503050406030204" pitchFamily="18" charset="0"/>
                </a:rPr>
                <a:t>C</a:t>
              </a: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E08DFA2-70C0-4D99-9984-25EFF2B0AAD3}"/>
                  </a:ext>
                </a:extLst>
              </p:cNvPr>
              <p:cNvSpPr txBox="1"/>
              <p:nvPr/>
            </p:nvSpPr>
            <p:spPr>
              <a:xfrm>
                <a:off x="1993740" y="3329450"/>
                <a:ext cx="4900509" cy="338554"/>
              </a:xfrm>
              <a:prstGeom prst="rect">
                <a:avLst/>
              </a:prstGeom>
              <a:noFill/>
            </p:spPr>
            <p:txBody>
              <a:bodyPr wrap="none" rtlCol="0">
                <a:spAutoFit/>
              </a:bodyPr>
              <a:lstStyle/>
              <a:p>
                <a:r>
                  <a:rPr lang="en-US" sz="1600" dirty="0">
                    <a:solidFill>
                      <a:schemeClr val="bg1"/>
                    </a:solidFill>
                    <a:latin typeface="Cambria Math" panose="02040503050406030204" pitchFamily="18" charset="0"/>
                    <a:ea typeface="Cambria Math" panose="02040503050406030204" pitchFamily="18" charset="0"/>
                  </a:rPr>
                  <a:t>0 + j0 ↔ 0</a:t>
                </a:r>
                <a14:m>
                  <m:oMath xmlns:m="http://schemas.openxmlformats.org/officeDocument/2006/math">
                    <m:r>
                      <a:rPr lang="en-US" sz="1600">
                        <a:solidFill>
                          <a:schemeClr val="dk1"/>
                        </a:solidFill>
                        <a:latin typeface="Cambria Math" panose="02040503050406030204" pitchFamily="18" charset="0"/>
                        <a:ea typeface="Cambria Math" panose="02040503050406030204" pitchFamily="18" charset="0"/>
                      </a:rPr>
                      <m:t>∠</m:t>
                    </m:r>
                    <m:r>
                      <a:rPr lang="en-US" sz="1600" i="1">
                        <a:solidFill>
                          <a:schemeClr val="dk1"/>
                        </a:solidFill>
                        <a:latin typeface="Cambria Math" panose="02040503050406030204" pitchFamily="18" charset="0"/>
                        <a:ea typeface="Cambria Math" panose="02040503050406030204" pitchFamily="18" charset="0"/>
                      </a:rPr>
                      <m:t>0</m:t>
                    </m:r>
                    <m:r>
                      <a:rPr lang="en-US" sz="1600" i="1" smtClean="0">
                        <a:solidFill>
                          <a:schemeClr val="bg1"/>
                        </a:solidFill>
                        <a:latin typeface="Cambria Math" panose="02040503050406030204" pitchFamily="18" charset="0"/>
                        <a:ea typeface="Cambria Math" panose="02040503050406030204" pitchFamily="18" charset="0"/>
                      </a:rPr>
                      <m:t>°</m:t>
                    </m:r>
                  </m:oMath>
                </a14:m>
                <a:r>
                  <a:rPr lang="en-US" sz="1600" dirty="0">
                    <a:solidFill>
                      <a:schemeClr val="bg1"/>
                    </a:solidFill>
                    <a:latin typeface="Cambria Math" panose="02040503050406030204" pitchFamily="18" charset="0"/>
                    <a:ea typeface="Cambria Math" panose="02040503050406030204" pitchFamily="18" charset="0"/>
                  </a:rPr>
                  <a:t>                                          1 + j0 (matched)</a:t>
                </a:r>
                <a:endParaRPr lang="en-US" sz="1600" dirty="0">
                  <a:latin typeface="Cambria Math" panose="02040503050406030204" pitchFamily="18" charset="0"/>
                  <a:ea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BE08DFA2-70C0-4D99-9984-25EFF2B0AAD3}"/>
                  </a:ext>
                </a:extLst>
              </p:cNvPr>
              <p:cNvSpPr txBox="1">
                <a:spLocks noRot="1" noChangeAspect="1" noMove="1" noResize="1" noEditPoints="1" noAdjustHandles="1" noChangeArrowheads="1" noChangeShapeType="1" noTextEdit="1"/>
              </p:cNvSpPr>
              <p:nvPr/>
            </p:nvSpPr>
            <p:spPr>
              <a:xfrm>
                <a:off x="1993740" y="3329450"/>
                <a:ext cx="4900509" cy="338554"/>
              </a:xfrm>
              <a:prstGeom prst="rect">
                <a:avLst/>
              </a:prstGeom>
              <a:blipFill>
                <a:blip r:embed="rId5"/>
                <a:stretch>
                  <a:fillRect l="-622" t="-7143"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382066C-742B-49DE-ACA2-7D79FDB33DD0}"/>
                  </a:ext>
                </a:extLst>
              </p:cNvPr>
              <p:cNvSpPr txBox="1"/>
              <p:nvPr/>
            </p:nvSpPr>
            <p:spPr>
              <a:xfrm>
                <a:off x="1816627" y="3695885"/>
                <a:ext cx="5015929" cy="338554"/>
              </a:xfrm>
              <a:prstGeom prst="rect">
                <a:avLst/>
              </a:prstGeom>
              <a:noFill/>
            </p:spPr>
            <p:txBody>
              <a:bodyPr wrap="square" rtlCol="0">
                <a:spAutoFit/>
              </a:bodyPr>
              <a:lstStyle/>
              <a:p>
                <a:r>
                  <a:rPr lang="en-US" sz="1600" dirty="0">
                    <a:solidFill>
                      <a:schemeClr val="bg1"/>
                    </a:solidFill>
                    <a:latin typeface="Cambria Math" panose="02040503050406030204" pitchFamily="18" charset="0"/>
                    <a:ea typeface="Cambria Math" panose="02040503050406030204" pitchFamily="18" charset="0"/>
                  </a:rPr>
                  <a:t>-1 + j0 ↔ 1</a:t>
                </a:r>
                <a14:m>
                  <m:oMath xmlns:m="http://schemas.openxmlformats.org/officeDocument/2006/math">
                    <m:r>
                      <a:rPr lang="en-US" sz="1600">
                        <a:solidFill>
                          <a:schemeClr val="bg1"/>
                        </a:solidFill>
                        <a:latin typeface="Cambria Math" panose="02040503050406030204" pitchFamily="18" charset="0"/>
                        <a:ea typeface="Cambria Math" panose="02040503050406030204" pitchFamily="18" charset="0"/>
                      </a:rPr>
                      <m:t>∠</m:t>
                    </m:r>
                    <m:d>
                      <m:dPr>
                        <m:ctrlPr>
                          <a:rPr lang="en-US" sz="1600" i="1">
                            <a:solidFill>
                              <a:schemeClr val="bg1"/>
                            </a:solidFill>
                            <a:latin typeface="Cambria Math" panose="02040503050406030204" pitchFamily="18" charset="0"/>
                            <a:ea typeface="Cambria Math" panose="02040503050406030204" pitchFamily="18" charset="0"/>
                          </a:rPr>
                        </m:ctrlPr>
                      </m:dPr>
                      <m:e>
                        <m:r>
                          <a:rPr lang="en-US" sz="1600" i="1">
                            <a:solidFill>
                              <a:schemeClr val="bg1"/>
                            </a:solidFill>
                            <a:latin typeface="Cambria Math" panose="02040503050406030204" pitchFamily="18" charset="0"/>
                            <a:ea typeface="Cambria Math" panose="02040503050406030204" pitchFamily="18" charset="0"/>
                          </a:rPr>
                          <m:t>−180°</m:t>
                        </m:r>
                      </m:e>
                    </m:d>
                  </m:oMath>
                </a14:m>
                <a:r>
                  <a:rPr lang="en-US" sz="1600" dirty="0">
                    <a:solidFill>
                      <a:schemeClr val="bg1"/>
                    </a:solidFill>
                    <a:latin typeface="Cambria Math" panose="02040503050406030204" pitchFamily="18" charset="0"/>
                    <a:ea typeface="Cambria Math" panose="02040503050406030204" pitchFamily="18" charset="0"/>
                  </a:rPr>
                  <a:t>                                   0 + j0 (short)</a:t>
                </a:r>
              </a:p>
            </p:txBody>
          </p:sp>
        </mc:Choice>
        <mc:Fallback xmlns="">
          <p:sp>
            <p:nvSpPr>
              <p:cNvPr id="20" name="TextBox 19">
                <a:extLst>
                  <a:ext uri="{FF2B5EF4-FFF2-40B4-BE49-F238E27FC236}">
                    <a16:creationId xmlns:a16="http://schemas.microsoft.com/office/drawing/2014/main" id="{E382066C-742B-49DE-ACA2-7D79FDB33DD0}"/>
                  </a:ext>
                </a:extLst>
              </p:cNvPr>
              <p:cNvSpPr txBox="1">
                <a:spLocks noRot="1" noChangeAspect="1" noMove="1" noResize="1" noEditPoints="1" noAdjustHandles="1" noChangeArrowheads="1" noChangeShapeType="1" noTextEdit="1"/>
              </p:cNvSpPr>
              <p:nvPr/>
            </p:nvSpPr>
            <p:spPr>
              <a:xfrm>
                <a:off x="1816627" y="3695885"/>
                <a:ext cx="5015929" cy="338554"/>
              </a:xfrm>
              <a:prstGeom prst="rect">
                <a:avLst/>
              </a:prstGeom>
              <a:blipFill>
                <a:blip r:embed="rId6"/>
                <a:stretch>
                  <a:fillRect l="-608" t="-7143"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4582BE4-04BA-440F-A4BD-350F5D1DED2D}"/>
                  </a:ext>
                </a:extLst>
              </p:cNvPr>
              <p:cNvSpPr txBox="1"/>
              <p:nvPr/>
            </p:nvSpPr>
            <p:spPr>
              <a:xfrm>
                <a:off x="1973147" y="4068396"/>
                <a:ext cx="5015929" cy="338554"/>
              </a:xfrm>
              <a:prstGeom prst="rect">
                <a:avLst/>
              </a:prstGeom>
              <a:noFill/>
            </p:spPr>
            <p:txBody>
              <a:bodyPr wrap="square" rtlCol="0">
                <a:spAutoFit/>
              </a:bodyPr>
              <a:lstStyle/>
              <a:p>
                <a:r>
                  <a:rPr lang="en-US" sz="1600" dirty="0">
                    <a:solidFill>
                      <a:schemeClr val="bg1"/>
                    </a:solidFill>
                    <a:latin typeface="Cambria Math" panose="02040503050406030204" pitchFamily="18" charset="0"/>
                    <a:ea typeface="Cambria Math" panose="02040503050406030204" pitchFamily="18" charset="0"/>
                  </a:rPr>
                  <a:t>1 + j0 ↔ 1</a:t>
                </a:r>
                <a14:m>
                  <m:oMath xmlns:m="http://schemas.openxmlformats.org/officeDocument/2006/math">
                    <m:r>
                      <a:rPr lang="en-US" sz="1600">
                        <a:solidFill>
                          <a:schemeClr val="bg1"/>
                        </a:solidFill>
                        <a:latin typeface="Cambria Math" panose="02040503050406030204" pitchFamily="18" charset="0"/>
                        <a:ea typeface="Cambria Math" panose="02040503050406030204" pitchFamily="18" charset="0"/>
                      </a:rPr>
                      <m:t>∠</m:t>
                    </m:r>
                    <m:r>
                      <a:rPr lang="en-US" sz="1600" i="1">
                        <a:solidFill>
                          <a:schemeClr val="dk1"/>
                        </a:solidFill>
                        <a:latin typeface="Cambria Math" panose="02040503050406030204" pitchFamily="18" charset="0"/>
                        <a:ea typeface="Cambria Math" panose="02040503050406030204" pitchFamily="18" charset="0"/>
                      </a:rPr>
                      <m:t>0</m:t>
                    </m:r>
                    <m:r>
                      <a:rPr lang="en-US" sz="1600" i="1" smtClean="0">
                        <a:solidFill>
                          <a:schemeClr val="bg1"/>
                        </a:solidFill>
                        <a:latin typeface="Cambria Math" panose="02040503050406030204" pitchFamily="18" charset="0"/>
                        <a:ea typeface="Cambria Math" panose="02040503050406030204" pitchFamily="18" charset="0"/>
                      </a:rPr>
                      <m:t>°</m:t>
                    </m:r>
                  </m:oMath>
                </a14:m>
                <a:r>
                  <a:rPr lang="en-US" sz="1600" dirty="0">
                    <a:solidFill>
                      <a:schemeClr val="bg1"/>
                    </a:solidFill>
                    <a:latin typeface="Cambria Math" panose="02040503050406030204" pitchFamily="18" charset="0"/>
                    <a:ea typeface="Cambria Math" panose="02040503050406030204" pitchFamily="18" charset="0"/>
                  </a:rPr>
                  <a:t>                                            ∞ + j0 (open)</a:t>
                </a:r>
              </a:p>
            </p:txBody>
          </p:sp>
        </mc:Choice>
        <mc:Fallback xmlns="">
          <p:sp>
            <p:nvSpPr>
              <p:cNvPr id="21" name="TextBox 20">
                <a:extLst>
                  <a:ext uri="{FF2B5EF4-FFF2-40B4-BE49-F238E27FC236}">
                    <a16:creationId xmlns:a16="http://schemas.microsoft.com/office/drawing/2014/main" id="{D4582BE4-04BA-440F-A4BD-350F5D1DED2D}"/>
                  </a:ext>
                </a:extLst>
              </p:cNvPr>
              <p:cNvSpPr txBox="1">
                <a:spLocks noRot="1" noChangeAspect="1" noMove="1" noResize="1" noEditPoints="1" noAdjustHandles="1" noChangeArrowheads="1" noChangeShapeType="1" noTextEdit="1"/>
              </p:cNvSpPr>
              <p:nvPr/>
            </p:nvSpPr>
            <p:spPr>
              <a:xfrm>
                <a:off x="1973147" y="4068396"/>
                <a:ext cx="5015929" cy="338554"/>
              </a:xfrm>
              <a:prstGeom prst="rect">
                <a:avLst/>
              </a:prstGeom>
              <a:blipFill>
                <a:blip r:embed="rId7"/>
                <a:stretch>
                  <a:fillRect l="-729" t="-7143"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C32728E-65C3-4B55-8F00-E98FE078DB7A}"/>
                  </a:ext>
                </a:extLst>
              </p:cNvPr>
              <p:cNvSpPr txBox="1"/>
              <p:nvPr/>
            </p:nvSpPr>
            <p:spPr>
              <a:xfrm>
                <a:off x="1344520" y="4457383"/>
                <a:ext cx="5753214" cy="338554"/>
              </a:xfrm>
              <a:prstGeom prst="rect">
                <a:avLst/>
              </a:prstGeom>
              <a:noFill/>
            </p:spPr>
            <p:txBody>
              <a:bodyPr wrap="square" rtlCol="0">
                <a:spAutoFit/>
              </a:bodyPr>
              <a:lstStyle/>
              <a:p>
                <a:pPr fontAlgn="t"/>
                <a:r>
                  <a:rPr lang="en-US" sz="1600" dirty="0">
                    <a:solidFill>
                      <a:schemeClr val="bg1"/>
                    </a:solidFill>
                  </a:rPr>
                  <a:t>0.52 – j0.64 ↔ 0.825</a:t>
                </a:r>
                <a14:m>
                  <m:oMath xmlns:m="http://schemas.openxmlformats.org/officeDocument/2006/math">
                    <m:r>
                      <a:rPr lang="en-US" sz="1600" b="0">
                        <a:solidFill>
                          <a:schemeClr val="bg1"/>
                        </a:solidFill>
                        <a:latin typeface="Cambria Math" panose="02040503050406030204" pitchFamily="18" charset="0"/>
                      </a:rPr>
                      <m:t>∠</m:t>
                    </m:r>
                    <m:d>
                      <m:dPr>
                        <m:ctrlPr>
                          <a:rPr lang="en-US" sz="1600" i="1">
                            <a:solidFill>
                              <a:schemeClr val="bg1"/>
                            </a:solidFill>
                            <a:latin typeface="Cambria Math" panose="02040503050406030204" pitchFamily="18" charset="0"/>
                          </a:rPr>
                        </m:ctrlPr>
                      </m:dPr>
                      <m:e>
                        <m:r>
                          <a:rPr lang="en-US" sz="1600" b="0" i="1">
                            <a:solidFill>
                              <a:schemeClr val="bg1"/>
                            </a:solidFill>
                            <a:latin typeface="Cambria Math" panose="02040503050406030204" pitchFamily="18" charset="0"/>
                          </a:rPr>
                          <m:t>−50.9°</m:t>
                        </m:r>
                      </m:e>
                    </m:d>
                  </m:oMath>
                </a14:m>
                <a:r>
                  <a:rPr lang="en-US" sz="1600" dirty="0">
                    <a:solidFill>
                      <a:schemeClr val="bg1"/>
                    </a:solidFill>
                  </a:rPr>
                  <a:t>                       0.5 – j2 (capacitive)</a:t>
                </a:r>
              </a:p>
            </p:txBody>
          </p:sp>
        </mc:Choice>
        <mc:Fallback xmlns="">
          <p:sp>
            <p:nvSpPr>
              <p:cNvPr id="22" name="TextBox 21">
                <a:extLst>
                  <a:ext uri="{FF2B5EF4-FFF2-40B4-BE49-F238E27FC236}">
                    <a16:creationId xmlns:a16="http://schemas.microsoft.com/office/drawing/2014/main" id="{AC32728E-65C3-4B55-8F00-E98FE078DB7A}"/>
                  </a:ext>
                </a:extLst>
              </p:cNvPr>
              <p:cNvSpPr txBox="1">
                <a:spLocks noRot="1" noChangeAspect="1" noMove="1" noResize="1" noEditPoints="1" noAdjustHandles="1" noChangeArrowheads="1" noChangeShapeType="1" noTextEdit="1"/>
              </p:cNvSpPr>
              <p:nvPr/>
            </p:nvSpPr>
            <p:spPr>
              <a:xfrm>
                <a:off x="1344520" y="4457383"/>
                <a:ext cx="5753214" cy="338554"/>
              </a:xfrm>
              <a:prstGeom prst="rect">
                <a:avLst/>
              </a:prstGeom>
              <a:blipFill>
                <a:blip r:embed="rId8"/>
                <a:stretch>
                  <a:fillRect l="-636" t="-5357" b="-21429"/>
                </a:stretch>
              </a:blipFill>
            </p:spPr>
            <p:txBody>
              <a:bodyPr/>
              <a:lstStyle/>
              <a:p>
                <a:r>
                  <a:rPr lang="en-US">
                    <a:noFill/>
                  </a:rPr>
                  <a:t> </a:t>
                </a:r>
              </a:p>
            </p:txBody>
          </p:sp>
        </mc:Fallback>
      </mc:AlternateContent>
    </p:spTree>
    <p:extLst>
      <p:ext uri="{BB962C8B-B14F-4D97-AF65-F5344CB8AC3E}">
        <p14:creationId xmlns:p14="http://schemas.microsoft.com/office/powerpoint/2010/main" val="315395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4530905" y="-29962"/>
            <a:ext cx="3097237" cy="553998"/>
          </a:xfrm>
        </p:spPr>
        <p:txBody>
          <a:bodyPr/>
          <a:lstStyle/>
          <a:p>
            <a:pPr algn="ctr"/>
            <a:r>
              <a:rPr lang="en-US" sz="4000" dirty="0">
                <a:solidFill>
                  <a:srgbClr val="FFC000"/>
                </a:solidFill>
              </a:rPr>
              <a:t>SWR </a:t>
            </a:r>
            <a:r>
              <a:rPr lang="en-US" sz="4000" dirty="0"/>
              <a:t>Circles</a:t>
            </a:r>
          </a:p>
        </p:txBody>
      </p:sp>
      <mc:AlternateContent xmlns:mc="http://schemas.openxmlformats.org/markup-compatibility/2006" xmlns:a14="http://schemas.microsoft.com/office/drawing/2010/main">
        <mc:Choice Requires="a14">
          <p:sp>
            <p:nvSpPr>
              <p:cNvPr id="4" name="Rectangle 3"/>
              <p:cNvSpPr/>
              <p:nvPr/>
            </p:nvSpPr>
            <p:spPr>
              <a:xfrm>
                <a:off x="57665" y="523801"/>
                <a:ext cx="12043719" cy="623510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Voltage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standing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wave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ratio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VSWR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max</m:t>
                        </m:r>
                      </m:num>
                      <m:den>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min</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light blue circle with origin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adjacent graph corresponds to a constant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 which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also corresponds to a circle of constant voltage standing </a:t>
                </a: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wave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ratio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VSWR</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Smith Charts are based on the voltage reflection coefficient,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rather than the current reflection coefficient. Consequently,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acronym SWR for Standing Wave Ratio on a Smith Chart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refers to Voltage Standing Wave Ratio.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Constant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or SWR circles on a Smith Chart are referred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as SWR circles because the point these circles intersect the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axis, such as P</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max</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 the adjacent diagram, equals the VSWR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value for a given transmission line and load.</a:t>
                </a: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n</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the</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above</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Smith</m:t>
                      </m:r>
                      <m: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r>
                        <m:rPr>
                          <m:sty m:val="p"/>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hart</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nor/>
                        </m:rPr>
                        <a:rPr kumimoji="0" lang="en-US" sz="1800" b="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=2.6</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at</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point</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Pmax</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1.6</m:t>
                          </m:r>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3.6</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=0.444.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444</m:t>
                          </m:r>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1.556</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2.6. 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Hence, circles with their origin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that pass through an impedance point of interest are called SWR circles.</a:t>
                </a:r>
              </a:p>
            </p:txBody>
          </p:sp>
        </mc:Choice>
        <mc:Fallback xmlns="">
          <p:sp>
            <p:nvSpPr>
              <p:cNvPr id="4" name="Rectangle 3"/>
              <p:cNvSpPr>
                <a:spLocks noRot="1" noChangeAspect="1" noMove="1" noResize="1" noEditPoints="1" noAdjustHandles="1" noChangeArrowheads="1" noChangeShapeType="1" noTextEdit="1"/>
              </p:cNvSpPr>
              <p:nvPr/>
            </p:nvSpPr>
            <p:spPr>
              <a:xfrm>
                <a:off x="57665" y="523801"/>
                <a:ext cx="12043719" cy="6235105"/>
              </a:xfrm>
              <a:prstGeom prst="rect">
                <a:avLst/>
              </a:prstGeom>
              <a:blipFill>
                <a:blip r:embed="rId2"/>
                <a:stretch>
                  <a:fillRect l="-202" r="-101"/>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5198" y="1058800"/>
            <a:ext cx="5579324" cy="4463460"/>
          </a:xfrm>
          <a:prstGeom prst="rect">
            <a:avLst/>
          </a:prstGeom>
        </p:spPr>
      </p:pic>
    </p:spTree>
    <p:extLst>
      <p:ext uri="{BB962C8B-B14F-4D97-AF65-F5344CB8AC3E}">
        <p14:creationId xmlns:p14="http://schemas.microsoft.com/office/powerpoint/2010/main" val="3249716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anim calcmode="lin" valueType="num">
                                      <p:cBhvr additive="base">
                                        <p:cTn id="1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anim calcmode="lin" valueType="num">
                                      <p:cBhvr additive="base">
                                        <p:cTn id="1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 calcmode="lin" valueType="num">
                                      <p:cBhvr additive="base">
                                        <p:cTn id="1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1" end="11"/>
                                            </p:txEl>
                                          </p:spTgt>
                                        </p:tgtEl>
                                        <p:attrNameLst>
                                          <p:attrName>style.visibility</p:attrName>
                                        </p:attrNameLst>
                                      </p:cBhvr>
                                      <p:to>
                                        <p:strVal val="visible"/>
                                      </p:to>
                                    </p:set>
                                    <p:anim calcmode="lin" valueType="num">
                                      <p:cBhvr additive="base">
                                        <p:cTn id="2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12" end="12"/>
                                            </p:txEl>
                                          </p:spTgt>
                                        </p:tgtEl>
                                        <p:attrNameLst>
                                          <p:attrName>style.visibility</p:attrName>
                                        </p:attrNameLst>
                                      </p:cBhvr>
                                      <p:to>
                                        <p:strVal val="visible"/>
                                      </p:to>
                                    </p:set>
                                    <p:anim calcmode="lin" valueType="num">
                                      <p:cBhvr additive="base">
                                        <p:cTn id="2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anim calcmode="lin" valueType="num">
                                      <p:cBhvr additive="base">
                                        <p:cTn id="33"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14" end="14"/>
                                            </p:txEl>
                                          </p:spTgt>
                                        </p:tgtEl>
                                        <p:attrNameLst>
                                          <p:attrName>style.visibility</p:attrName>
                                        </p:attrNameLst>
                                      </p:cBhvr>
                                      <p:to>
                                        <p:strVal val="visible"/>
                                      </p:to>
                                    </p:set>
                                    <p:anim calcmode="lin" valueType="num">
                                      <p:cBhvr additive="base">
                                        <p:cTn id="37"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15" end="15"/>
                                            </p:txEl>
                                          </p:spTgt>
                                        </p:tgtEl>
                                        <p:attrNameLst>
                                          <p:attrName>style.visibility</p:attrName>
                                        </p:attrNameLst>
                                      </p:cBhvr>
                                      <p:to>
                                        <p:strVal val="visible"/>
                                      </p:to>
                                    </p:set>
                                    <p:anim calcmode="lin" valueType="num">
                                      <p:cBhvr additive="base">
                                        <p:cTn id="43"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16" end="16"/>
                                            </p:txEl>
                                          </p:spTgt>
                                        </p:tgtEl>
                                        <p:attrNameLst>
                                          <p:attrName>style.visibility</p:attrName>
                                        </p:attrNameLst>
                                      </p:cBhvr>
                                      <p:to>
                                        <p:strVal val="visible"/>
                                      </p:to>
                                    </p:set>
                                    <p:anim calcmode="lin" valueType="num">
                                      <p:cBhvr additive="base">
                                        <p:cTn id="49"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758757" y="-16660"/>
            <a:ext cx="10068128" cy="553998"/>
          </a:xfrm>
        </p:spPr>
        <p:txBody>
          <a:bodyPr/>
          <a:lstStyle/>
          <a:p>
            <a:pPr algn="ctr"/>
            <a:r>
              <a:rPr lang="en-US" sz="4000" dirty="0"/>
              <a:t>Impedance and Admittance Transformations</a:t>
            </a:r>
          </a:p>
        </p:txBody>
      </p:sp>
      <mc:AlternateContent xmlns:mc="http://schemas.openxmlformats.org/markup-compatibility/2006" xmlns:a14="http://schemas.microsoft.com/office/drawing/2010/main">
        <mc:Choice Requires="a14">
          <p:sp>
            <p:nvSpPr>
              <p:cNvPr id="4" name="Rectangle 3"/>
              <p:cNvSpPr/>
              <p:nvPr/>
            </p:nvSpPr>
            <p:spPr>
              <a:xfrm>
                <a:off x="168463" y="603526"/>
                <a:ext cx="11903563" cy="61430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Impedance: </a:t>
                </a: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jX</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Admittance Y = 1/Z is easier to work with for parallel complex elements.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Admittance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den>
                      </m:f>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jX</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jB</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part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imaginary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part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Conductance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Susceptance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Normalized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Impedance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unitless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dimensionless</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Normalized</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Admittance</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jb</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unitless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dimensionless</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Normalized</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conductance</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num>
                        <m:den>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Normalized</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susceptance</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68463" y="603526"/>
                <a:ext cx="11903563" cy="6143092"/>
              </a:xfrm>
              <a:prstGeom prst="rect">
                <a:avLst/>
              </a:prstGeom>
              <a:blipFill>
                <a:blip r:embed="rId2"/>
                <a:stretch>
                  <a:fillRect l="-153" t="-197"/>
                </a:stretch>
              </a:blipFill>
            </p:spPr>
            <p:txBody>
              <a:bodyPr/>
              <a:lstStyle/>
              <a:p>
                <a:r>
                  <a:rPr lang="en-US">
                    <a:noFill/>
                  </a:rPr>
                  <a:t> </a:t>
                </a:r>
              </a:p>
            </p:txBody>
          </p:sp>
        </mc:Fallback>
      </mc:AlternateContent>
    </p:spTree>
    <p:extLst>
      <p:ext uri="{BB962C8B-B14F-4D97-AF65-F5344CB8AC3E}">
        <p14:creationId xmlns:p14="http://schemas.microsoft.com/office/powerpoint/2010/main" val="3574667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 calcmode="lin" valueType="num">
                                      <p:cBhvr additive="base">
                                        <p:cTn id="3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 calcmode="lin" valueType="num">
                                      <p:cBhvr additive="base">
                                        <p:cTn id="3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42187" y="637270"/>
                <a:ext cx="11918368" cy="56755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marR="0" lvl="0" indent="-285750" algn="l" defTabSz="914400" rtl="0" eaLnBrk="1" fontAlgn="base" latinLnBrk="0" hangingPunct="1">
                  <a:lnSpc>
                    <a:spcPct val="100000"/>
                  </a:lnSpc>
                  <a:spcBef>
                    <a:spcPct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Determine the equivalent admittance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dPr>
                      <m:e>
                        <m: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𝐘𝐞𝐪</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oMath>
                </a14:m>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 of the adjacent circuit,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a:t>at a frequency of 10 kHz.</a:t>
                </a:r>
                <a:endParaRPr kumimoji="0" lang="en-US" alt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ts val="0"/>
                  </a:spcAft>
                  <a:buClrTx/>
                  <a:buSzTx/>
                  <a:buFontTx/>
                  <a:buNone/>
                  <a:tabLst/>
                  <a:defRPr/>
                </a:pPr>
                <a:endParaRPr kumimoji="0" lang="en-US" alt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bPr>
                        <m:e>
                          <m:r>
                            <a:rPr kumimoji="0" lang="en-US" alt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𝐘</m:t>
                          </m:r>
                        </m:e>
                        <m:sub>
                          <m:r>
                            <a:rPr kumimoji="0" lang="en-US" alt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𝐞𝐪</m:t>
                          </m:r>
                        </m:sub>
                      </m:sSub>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1</m:t>
                          </m:r>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R</m:t>
                          </m:r>
                        </m:den>
                      </m:f>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 </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1</m:t>
                          </m:r>
                        </m:num>
                        <m:den>
                          <m:f>
                            <m:fPr>
                              <m:type m:val="lin"/>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1</m:t>
                              </m:r>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m:t>
                              </m:r>
                              <m:r>
                                <m:rPr>
                                  <m:sty m:val="p"/>
                                </m:rPr>
                                <a:rPr kumimoji="0" lang="el-GR"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ω</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m:t>
                              </m:r>
                            </m:den>
                          </m:f>
                        </m:den>
                      </m:f>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1</m:t>
                          </m:r>
                        </m:num>
                        <m:den>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R</m:t>
                          </m:r>
                        </m:den>
                      </m:f>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m:t>
                      </m:r>
                      <m:r>
                        <m:rPr>
                          <m:sty m:val="p"/>
                        </m:rPr>
                        <a:rPr kumimoji="0" lang="el-GR"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ω</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=50.0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62.8 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m:t>
                      </m:r>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ctrlPr>
                        </m:dPr>
                        <m:e>
                          <m: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𝐘𝐞𝐪</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G</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C</m:t>
                                  </m:r>
                                </m:sub>
                              </m:sSub>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2</m:t>
                              </m:r>
                            </m:sup>
                          </m:sSup>
                        </m:e>
                      </m:ra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radPr>
                        <m:deg/>
                        <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d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50.0 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d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62.8 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e>
                              </m:d>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2</m:t>
                              </m:r>
                            </m:sup>
                          </m:sSup>
                        </m:e>
                      </m:ra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80</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Arial" panose="020B0604020202020204" pitchFamily="34" charset="0"/>
                        </a:rPr>
                        <m:t>.</m:t>
                      </m:r>
                    </m:oMath>
                  </m:oMathPara>
                </a14:m>
                <a:endPar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𝐘</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𝐞𝐪</m:t>
                          </m:r>
                        </m:sub>
                      </m:sSub>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50 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62.8 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S</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G</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jB</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eq</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p>
                          </m:sSup>
                        </m:fName>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m:t>
                                  </m:r>
                                </m:den>
                              </m:f>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unc>
                            <m:func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uncPr>
                            <m:fName>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tan</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up>
                              </m:sSup>
                            </m:fName>
                            <m:e>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62.8</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e>
                                      </m:d>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50.0</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e>
                                      </m:d>
                                    </m:den>
                                  </m:f>
                                </m:e>
                              </m:d>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51.5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e>
                          </m:func>
                        </m:e>
                      </m:func>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𝐘</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𝐞𝐪</m:t>
                          </m:r>
                        </m:sub>
                      </m:sSub>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80</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𝐙</m:t>
                          </m:r>
                        </m:e>
                        <m: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𝐞𝐪</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sSub>
                            <m:sSubPr>
                              <m:ctrlPr>
                                <a:rPr kumimoji="0" lang="en-US" alt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bPr>
                            <m:e>
                              <m:r>
                                <a:rPr kumimoji="0" lang="en-US" alt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𝐘</m:t>
                              </m:r>
                            </m:e>
                            <m:sub>
                              <m:r>
                                <a:rPr kumimoji="0" lang="en-US" alt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𝐞𝐪</m:t>
                              </m:r>
                            </m:sub>
                          </m:sSub>
                        </m:den>
                      </m:f>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−51.5˚</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Impedance</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 </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Approach</m:t>
                      </m:r>
                      <m:r>
                        <a:rPr kumimoji="0" lang="en-US"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 </m:t>
                      </m:r>
                      <m:sSub>
                        <m:sSubPr>
                          <m:ctrlPr>
                            <a:rPr kumimoji="0" lang="en-US" altLang="en-US" sz="1800" b="1"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sSubPr>
                        <m:e>
                          <m:r>
                            <a:rPr kumimoji="0" lang="en-US" alt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𝐙</m:t>
                          </m:r>
                        </m:e>
                        <m:sub>
                          <m:r>
                            <a:rPr kumimoji="0" lang="en-US" altLang="en-US" sz="1800" b="1"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𝐞𝐪</m:t>
                          </m:r>
                        </m:sub>
                      </m:sSub>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m:t>
                      </m:r>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R</m:t>
                      </m:r>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ǁ</m:t>
                      </m:r>
                      <m:sSub>
                        <m:sSubPr>
                          <m:ctrlPr>
                            <a:rPr kumimoji="0" lang="en-US"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ctrlPr>
                        </m:sSubPr>
                        <m:e>
                          <m:r>
                            <a:rPr kumimoji="0" lang="en-US" alt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𝐙</m:t>
                          </m:r>
                        </m:e>
                        <m:sub>
                          <m:r>
                            <a:rPr kumimoji="0" lang="en-US" altLang="en-US" sz="18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𝐂</m:t>
                          </m:r>
                        </m:sub>
                      </m:sSub>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m:t>
                      </m:r>
                      <m:f>
                        <m:f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1</m:t>
                          </m:r>
                        </m:num>
                        <m:den>
                          <m:f>
                            <m:f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1</m:t>
                              </m:r>
                            </m:num>
                            <m:den>
                              <m:r>
                                <m:rPr>
                                  <m:sty m:val="p"/>
                                </m:rP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R</m:t>
                              </m:r>
                            </m:den>
                          </m:f>
                          <m:r>
                            <a:rPr kumimoji="0" lang="en-US" alt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m:t>
                          </m:r>
                          <m:r>
                            <m:rPr>
                              <m:sty m:val="p"/>
                            </m:rPr>
                            <a:rPr kumimoji="0" lang="el-GR"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ω</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C</m:t>
                          </m:r>
                        </m:den>
                      </m:f>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Arial" panose="020B0604020202020204" pitchFamily="34" charset="0"/>
                        </a:rPr>
                        <m:t>=</m:t>
                      </m:r>
                      <m:f>
                        <m:f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1</m:t>
                          </m:r>
                        </m:num>
                        <m:den>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50 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j</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62.8 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den>
                      </m:f>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m:t>
                      </m:r>
                      <m:f>
                        <m:fPr>
                          <m:ctrlP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ctrlPr>
                        </m:fPr>
                        <m:num>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1</m:t>
                          </m:r>
                        </m:num>
                        <m:den>
                          <m:d>
                            <m:d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d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80.3 </m:t>
                              </m:r>
                              <m:r>
                                <m:rPr>
                                  <m:sty m:val="p"/>
                                </m:rP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x</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 </m:t>
                              </m:r>
                              <m:sSup>
                                <m:sSupPr>
                                  <m:ctrlP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US"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∠51.5˚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den>
                      </m:f>
                      <m:r>
                        <a:rPr kumimoji="0" lang="en-US"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Arial" panose="020B0604020202020204" pitchFamily="34" charset="0"/>
                        </a:rPr>
                        <m:t>=</m:t>
                      </m:r>
                      <m:r>
                        <a:rPr kumimoji="0" lang="en-US" alt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Arial" panose="020B0604020202020204" pitchFamily="34" charset="0"/>
                        </a:rPr>
                        <m:t>12.4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−51.5˚</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mbria" panose="02040503050406030204"/>
                  <a:ea typeface="Cambria Math" panose="02040503050406030204" pitchFamily="18" charset="0"/>
                  <a:cs typeface="Arial" panose="020B0604020202020204"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42187" y="637270"/>
                <a:ext cx="11918368" cy="5675528"/>
              </a:xfrm>
              <a:prstGeom prst="rect">
                <a:avLst/>
              </a:prstGeom>
              <a:blipFill>
                <a:blip r:embed="rId3"/>
                <a:stretch>
                  <a:fillRect l="-204" t="-319"/>
                </a:stretch>
              </a:blipFill>
            </p:spPr>
            <p:txBody>
              <a:bodyPr/>
              <a:lstStyle/>
              <a:p>
                <a:r>
                  <a:rPr lang="en-US">
                    <a:noFill/>
                  </a:rPr>
                  <a:t> </a:t>
                </a:r>
              </a:p>
            </p:txBody>
          </p:sp>
        </mc:Fallback>
      </mc:AlternateContent>
      <p:sp>
        <p:nvSpPr>
          <p:cNvPr id="67" name="Title 1"/>
          <p:cNvSpPr txBox="1">
            <a:spLocks/>
          </p:cNvSpPr>
          <p:nvPr/>
        </p:nvSpPr>
        <p:spPr>
          <a:xfrm>
            <a:off x="3968674" y="-21335"/>
            <a:ext cx="4511456" cy="586719"/>
          </a:xfrm>
          <a:prstGeom prst="rect">
            <a:avLst/>
          </a:prstGeom>
        </p:spPr>
        <p:txBody>
          <a:bodyPr vert="horz" wrap="square" lIns="0" tIns="0" rIns="0" bIns="0" rtlCol="0" anchor="t">
            <a:noAutofit/>
          </a:bodyPr>
          <a:lstStyle>
            <a:lvl1pPr algn="l" defTabSz="914363" rtl="0" eaLnBrk="1" latinLnBrk="0" hangingPunct="1">
              <a:lnSpc>
                <a:spcPct val="90000"/>
              </a:lnSpc>
              <a:spcBef>
                <a:spcPct val="0"/>
              </a:spcBef>
              <a:buNone/>
              <a:defRPr lang="en-US" sz="5400" b="0" kern="1200" cap="none" spc="-15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marL="0" marR="0" lvl="0" indent="0" algn="ctr" defTabSz="914363" rtl="0" eaLnBrk="1" fontAlgn="base" latinLnBrk="0" hangingPunct="1">
              <a:lnSpc>
                <a:spcPct val="90000"/>
              </a:lnSpc>
              <a:spcBef>
                <a:spcPct val="0"/>
              </a:spcBef>
              <a:spcAft>
                <a:spcPct val="0"/>
              </a:spcAft>
              <a:buClrTx/>
              <a:buSzTx/>
              <a:buFontTx/>
              <a:buNone/>
              <a:tabLst/>
              <a:defRPr/>
            </a:pPr>
            <a:r>
              <a:rPr kumimoji="0" lang="en-US" sz="4000" b="0" i="0" u="none" strike="noStrike" kern="1200" cap="none" spc="-150" normalizeH="0" baseline="0" noProof="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uLnTx/>
                <a:uFillTx/>
                <a:latin typeface="Cambria" panose="02040503050406030204"/>
                <a:ea typeface="+mn-ea"/>
                <a:cs typeface="Arial" charset="0"/>
              </a:rPr>
              <a:t>Admittance Example </a:t>
            </a:r>
          </a:p>
        </p:txBody>
      </p:sp>
      <p:pic>
        <p:nvPicPr>
          <p:cNvPr id="4" name="Picture 3">
            <a:extLst>
              <a:ext uri="{FF2B5EF4-FFF2-40B4-BE49-F238E27FC236}">
                <a16:creationId xmlns:a16="http://schemas.microsoft.com/office/drawing/2014/main" id="{B4C05F87-28D3-4A2C-9334-1733F039E669}"/>
              </a:ext>
            </a:extLst>
          </p:cNvPr>
          <p:cNvPicPr>
            <a:picLocks noChangeAspect="1"/>
          </p:cNvPicPr>
          <p:nvPr/>
        </p:nvPicPr>
        <p:blipFill>
          <a:blip r:embed="rId4"/>
          <a:stretch>
            <a:fillRect/>
          </a:stretch>
        </p:blipFill>
        <p:spPr>
          <a:xfrm>
            <a:off x="8230813" y="708561"/>
            <a:ext cx="3764136" cy="2247650"/>
          </a:xfrm>
          <a:prstGeom prst="rect">
            <a:avLst/>
          </a:prstGeom>
        </p:spPr>
      </p:pic>
    </p:spTree>
    <p:extLst>
      <p:ext uri="{BB962C8B-B14F-4D97-AF65-F5344CB8AC3E}">
        <p14:creationId xmlns:p14="http://schemas.microsoft.com/office/powerpoint/2010/main" val="3294912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 calcmode="lin" valueType="num">
                                      <p:cBhvr additive="base">
                                        <p:cTn id="1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anim calcmode="lin" valueType="num">
                                      <p:cBhvr additive="base">
                                        <p:cTn id="2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anim calcmode="lin" valueType="num">
                                      <p:cBhvr additive="base">
                                        <p:cTn id="27"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anim calcmode="lin" valueType="num">
                                      <p:cBhvr additive="base">
                                        <p:cTn id="33"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719744" y="0"/>
            <a:ext cx="8427632" cy="528506"/>
          </a:xfrm>
        </p:spPr>
        <p:txBody>
          <a:bodyPr/>
          <a:lstStyle/>
          <a:p>
            <a:pPr algn="ctr"/>
            <a:r>
              <a:rPr lang="en-US" sz="4000" dirty="0"/>
              <a:t>Impedance and Admittance (Continued) </a:t>
            </a:r>
          </a:p>
        </p:txBody>
      </p:sp>
      <mc:AlternateContent xmlns:mc="http://schemas.openxmlformats.org/markup-compatibility/2006" xmlns:a14="http://schemas.microsoft.com/office/drawing/2010/main">
        <mc:Choice Requires="a14">
          <p:sp>
            <p:nvSpPr>
              <p:cNvPr id="4" name="Rectangle 3"/>
              <p:cNvSpPr/>
              <p:nvPr/>
            </p:nvSpPr>
            <p:spPr>
              <a:xfrm>
                <a:off x="144218" y="685067"/>
                <a:ext cx="11903563" cy="41746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1"/>
                <a14:m>
                  <m:oMathPara xmlns:m="http://schemas.openxmlformats.org/officeDocument/2006/math">
                    <m:oMathParaPr>
                      <m:jc m:val="left"/>
                    </m:oMathParaPr>
                    <m:oMath xmlns:m="http://schemas.openxmlformats.org/officeDocument/2006/math">
                      <m:r>
                        <m:rPr>
                          <m:sty m:val="p"/>
                        </m:rPr>
                        <a:rPr lang="el-GR" i="1" smtClean="0">
                          <a:solidFill>
                            <a:srgbClr val="000000"/>
                          </a:solidFill>
                          <a:latin typeface="Cambria Math" panose="02040503050406030204" pitchFamily="18" charset="0"/>
                          <a:ea typeface="Cambria Math" panose="02040503050406030204" pitchFamily="18" charset="0"/>
                        </a:rPr>
                        <m:t>Γ</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den>
                      </m:f>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Also</m:t>
                      </m:r>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num>
                        <m:den>
                          <m:r>
                            <a:rPr lang="en-US" i="1">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den>
                      </m:f>
                      <m:r>
                        <a:rPr lang="en-US" i="1">
                          <a:solidFill>
                            <a:srgbClr val="000000"/>
                          </a:solidFill>
                          <a:latin typeface="Cambria Math" panose="02040503050406030204" pitchFamily="18" charset="0"/>
                          <a:ea typeface="Cambria Math" panose="02040503050406030204" pitchFamily="18" charset="0"/>
                        </a:rPr>
                        <m:t>. </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y</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b="0" i="0"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0" smtClean="0">
                              <a:solidFill>
                                <a:srgbClr val="000000"/>
                              </a:solidFill>
                              <a:latin typeface="Cambria Math" panose="02040503050406030204" pitchFamily="18" charset="0"/>
                              <a:ea typeface="Cambria Math" panose="02040503050406030204" pitchFamily="18" charset="0"/>
                            </a:rPr>
                            <m:t>1</m:t>
                          </m:r>
                        </m:num>
                        <m:den>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z</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den>
                      </m:f>
                      <m:r>
                        <a:rPr lang="en-US" b="0" i="0"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r>
                            <a:rPr lang="en-US" b="0" i="1" smtClean="0">
                              <a:solidFill>
                                <a:srgbClr val="000000"/>
                              </a:solidFill>
                              <a:latin typeface="Cambria Math" panose="02040503050406030204" pitchFamily="18" charset="0"/>
                              <a:ea typeface="Cambria Math" panose="02040503050406030204" pitchFamily="18" charset="0"/>
                            </a:rPr>
                            <m:t>−</m:t>
                          </m:r>
                          <m:r>
                            <m:rPr>
                              <m:sty m:val="p"/>
                            </m:rPr>
                            <a:rPr lang="el-GR" i="1">
                              <a:solidFill>
                                <a:srgbClr val="000000"/>
                              </a:solidFill>
                              <a:latin typeface="Cambria Math" panose="02040503050406030204" pitchFamily="18" charset="0"/>
                              <a:ea typeface="Cambria Math" panose="02040503050406030204" pitchFamily="18" charset="0"/>
                            </a:rPr>
                            <m:t>Γ</m:t>
                          </m:r>
                        </m:num>
                        <m:den>
                          <m:r>
                            <a:rPr lang="en-US" i="1">
                              <a:solidFill>
                                <a:srgbClr val="000000"/>
                              </a:solidFill>
                              <a:latin typeface="Cambria Math" panose="02040503050406030204" pitchFamily="18" charset="0"/>
                              <a:ea typeface="Cambria Math" panose="02040503050406030204" pitchFamily="18" charset="0"/>
                            </a:rPr>
                            <m:t>1+</m:t>
                          </m:r>
                          <m:r>
                            <m:rPr>
                              <m:sty m:val="p"/>
                            </m:rPr>
                            <a:rPr lang="el-GR" i="1">
                              <a:solidFill>
                                <a:srgbClr val="000000"/>
                              </a:solidFill>
                              <a:latin typeface="Cambria Math" panose="02040503050406030204" pitchFamily="18" charset="0"/>
                              <a:ea typeface="Cambria Math" panose="02040503050406030204" pitchFamily="18" charset="0"/>
                            </a:rPr>
                            <m:t>Γ</m:t>
                          </m:r>
                        </m:den>
                      </m:f>
                      <m:r>
                        <a:rPr lang="en-US" b="0" i="1" smtClean="0">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smtClean="0">
                          <a:solidFill>
                            <a:srgbClr val="000000"/>
                          </a:solidFill>
                          <a:latin typeface="Cambria Math" panose="02040503050406030204" pitchFamily="18" charset="0"/>
                          <a:ea typeface="Cambria Math" panose="02040503050406030204" pitchFamily="18" charset="0"/>
                        </a:rPr>
                        <m:t>Z</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d</m:t>
                          </m:r>
                        </m:e>
                      </m:d>
                      <m:r>
                        <a:rPr lang="en-US" i="1">
                          <a:solidFill>
                            <a:srgbClr val="000000"/>
                          </a:solidFill>
                          <a:latin typeface="Cambria Math" panose="02040503050406030204" pitchFamily="18" charset="0"/>
                          <a:cs typeface="Times New Roman" panose="02020603050405020304" pitchFamily="18" charset="0"/>
                        </a:rPr>
                        <m:t>=</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n-US">
                              <a:solidFill>
                                <a:srgbClr val="000000"/>
                              </a:solidFill>
                              <a:latin typeface="Cambria Math" panose="02040503050406030204" pitchFamily="18" charset="0"/>
                              <a:cs typeface="Times New Roman" panose="02020603050405020304" pitchFamily="18" charset="0"/>
                            </a:rPr>
                            <m:t>Z</m:t>
                          </m:r>
                        </m:e>
                        <m:sub>
                          <m:r>
                            <a:rPr lang="en-US" i="1">
                              <a:solidFill>
                                <a:srgbClr val="000000"/>
                              </a:solidFill>
                              <a:latin typeface="Cambria Math" panose="02040503050406030204" pitchFamily="18" charset="0"/>
                              <a:cs typeface="Times New Roman" panose="02020603050405020304" pitchFamily="18" charset="0"/>
                            </a:rPr>
                            <m:t>0</m:t>
                          </m:r>
                        </m:sub>
                      </m:sSub>
                      <m:d>
                        <m:dPr>
                          <m:begChr m:val="["/>
                          <m:endChr m:val="]"/>
                          <m:ctrlPr>
                            <a:rPr lang="en-US" i="1">
                              <a:solidFill>
                                <a:srgbClr val="000000"/>
                              </a:solidFill>
                              <a:latin typeface="Cambria Math" panose="02040503050406030204" pitchFamily="18" charset="0"/>
                              <a:cs typeface="Times New Roman" panose="02020603050405020304" pitchFamily="18" charset="0"/>
                            </a:rPr>
                          </m:ctrlPr>
                        </m:dPr>
                        <m:e>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Γ</m:t>
                                  </m:r>
                                </m:e>
                                <m:sub>
                                  <m:r>
                                    <m:rPr>
                                      <m:sty m:val="p"/>
                                    </m:rPr>
                                    <a:rPr lang="en-US">
                                      <a:solidFill>
                                        <a:srgbClr val="000000"/>
                                      </a:solidFill>
                                      <a:latin typeface="Cambria Math" panose="02040503050406030204" pitchFamily="18" charset="0"/>
                                      <a:cs typeface="Times New Roman" panose="02020603050405020304" pitchFamily="18" charset="0"/>
                                    </a:rPr>
                                    <m:t>d</m:t>
                                  </m:r>
                                </m:sub>
                              </m:sSub>
                            </m:num>
                            <m:den>
                              <m:r>
                                <a:rPr lang="en-US">
                                  <a:solidFill>
                                    <a:srgbClr val="000000"/>
                                  </a:solidFill>
                                  <a:latin typeface="Cambria Math" panose="02040503050406030204" pitchFamily="18" charset="0"/>
                                  <a:cs typeface="Times New Roman" panose="02020603050405020304" pitchFamily="18" charset="0"/>
                                </a:rPr>
                                <m:t>1−</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Γ</m:t>
                                  </m:r>
                                </m:e>
                                <m:sub>
                                  <m:r>
                                    <m:rPr>
                                      <m:sty m:val="p"/>
                                    </m:rPr>
                                    <a:rPr lang="en-US">
                                      <a:solidFill>
                                        <a:srgbClr val="000000"/>
                                      </a:solidFill>
                                      <a:latin typeface="Cambria Math" panose="02040503050406030204" pitchFamily="18" charset="0"/>
                                      <a:cs typeface="Times New Roman" panose="02020603050405020304" pitchFamily="18" charset="0"/>
                                    </a:rPr>
                                    <m:t>d</m:t>
                                  </m:r>
                                </m:sub>
                              </m:sSub>
                            </m:den>
                          </m:f>
                        </m:e>
                      </m:d>
                      <m:r>
                        <a:rPr lang="en-US">
                          <a:solidFill>
                            <a:srgbClr val="000000"/>
                          </a:solidFill>
                          <a:latin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cs typeface="Times New Roman" panose="02020603050405020304" pitchFamily="18" charset="0"/>
                        </a:rPr>
                        <m:t>where</m:t>
                      </m:r>
                      <m:r>
                        <a:rPr lang="en-US">
                          <a:solidFill>
                            <a:srgbClr val="000000"/>
                          </a:solidFill>
                          <a:latin typeface="Cambria Math" panose="02040503050406030204" pitchFamily="18" charset="0"/>
                          <a:cs typeface="Times New Roman" panose="02020603050405020304" pitchFamily="18" charset="0"/>
                        </a:rPr>
                        <m:t> </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Γ</m:t>
                          </m:r>
                        </m:e>
                        <m:sub>
                          <m:r>
                            <m:rPr>
                              <m:sty m:val="p"/>
                            </m:rPr>
                            <a:rPr lang="en-US">
                              <a:solidFill>
                                <a:srgbClr val="000000"/>
                              </a:solidFill>
                              <a:latin typeface="Cambria Math" panose="02040503050406030204" pitchFamily="18" charset="0"/>
                              <a:cs typeface="Times New Roman" panose="02020603050405020304" pitchFamily="18" charset="0"/>
                            </a:rPr>
                            <m:t>d</m:t>
                          </m:r>
                        </m:sub>
                      </m:sSub>
                      <m:r>
                        <a:rPr lang="en-US" i="1">
                          <a:solidFill>
                            <a:srgbClr val="000000"/>
                          </a:solidFill>
                          <a:latin typeface="Cambria Math" panose="02040503050406030204" pitchFamily="18" charset="0"/>
                          <a:ea typeface="Cambria Math" panose="02040503050406030204" pitchFamily="18" charset="0"/>
                        </a:rPr>
                        <m:t>=</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a:solidFill>
                                <a:srgbClr val="000000"/>
                              </a:solidFill>
                              <a:latin typeface="Cambria Math" panose="02040503050406030204" pitchFamily="18" charset="0"/>
                              <a:ea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βd</m:t>
                          </m:r>
                          <m:r>
                            <a:rPr lang="en-US" i="1">
                              <a:solidFill>
                                <a:srgbClr val="000000"/>
                              </a:solidFill>
                              <a:latin typeface="Cambria Math" panose="02040503050406030204" pitchFamily="18" charset="0"/>
                              <a:ea typeface="Cambria Math" panose="02040503050406030204" pitchFamily="18" charset="0"/>
                            </a:rPr>
                            <m:t>)</m:t>
                          </m:r>
                        </m:sup>
                      </m:sSup>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and</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β</m:t>
                      </m:r>
                      <m:r>
                        <a:rPr lang="en-US" b="0" i="0" smtClean="0">
                          <a:solidFill>
                            <a:srgbClr val="000000"/>
                          </a:solidFill>
                          <a:latin typeface="Cambria Math" panose="02040503050406030204" pitchFamily="18" charset="0"/>
                          <a:ea typeface="Cambria Math" panose="02040503050406030204" pitchFamily="18" charset="0"/>
                        </a:rPr>
                        <m:t>=</m:t>
                      </m:r>
                      <m:f>
                        <m:fPr>
                          <m:type m:val="lin"/>
                          <m:ctrlPr>
                            <a:rPr lang="en-US" b="0" i="1" smtClean="0">
                              <a:solidFill>
                                <a:srgbClr val="000000"/>
                              </a:solidFill>
                              <a:latin typeface="Cambria Math" panose="02040503050406030204" pitchFamily="18" charset="0"/>
                              <a:ea typeface="Cambria Math" panose="02040503050406030204" pitchFamily="18" charset="0"/>
                            </a:rPr>
                          </m:ctrlPr>
                        </m:fPr>
                        <m:num>
                          <m:r>
                            <a:rPr lang="en-US" b="0" i="0" smtClean="0">
                              <a:solidFill>
                                <a:srgbClr val="000000"/>
                              </a:solidFill>
                              <a:latin typeface="Cambria Math" panose="02040503050406030204" pitchFamily="18" charset="0"/>
                              <a:ea typeface="Cambria Math" panose="02040503050406030204" pitchFamily="18" charset="0"/>
                            </a:rPr>
                            <m:t>2</m:t>
                          </m:r>
                          <m:r>
                            <m:rPr>
                              <m:sty m:val="p"/>
                            </m:rPr>
                            <a:rPr lang="en-US" b="0" i="0" smtClean="0">
                              <a:solidFill>
                                <a:srgbClr val="000000"/>
                              </a:solidFill>
                              <a:latin typeface="Cambria Math" panose="02040503050406030204" pitchFamily="18" charset="0"/>
                              <a:ea typeface="Cambria Math" panose="02040503050406030204" pitchFamily="18" charset="0"/>
                            </a:rPr>
                            <m:t>π</m:t>
                          </m:r>
                        </m:num>
                        <m:den>
                          <m:r>
                            <m:rPr>
                              <m:sty m:val="p"/>
                            </m:rPr>
                            <a:rPr lang="en-US" i="0">
                              <a:solidFill>
                                <a:srgbClr val="000000"/>
                              </a:solidFill>
                              <a:latin typeface="Cambria Math" panose="02040503050406030204" pitchFamily="18" charset="0"/>
                              <a:ea typeface="Cambria Math" panose="02040503050406030204" pitchFamily="18" charset="0"/>
                            </a:rPr>
                            <m:t>λ</m:t>
                          </m:r>
                        </m:den>
                      </m:f>
                      <m:r>
                        <a:rPr lang="en-US" b="0" i="1" smtClean="0">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z</m:t>
                      </m:r>
                      <m:d>
                        <m:dPr>
                          <m:ctrlPr>
                            <a:rPr lang="en-US" b="0" i="1" smtClean="0">
                              <a:solidFill>
                                <a:srgbClr val="000000"/>
                              </a:solidFill>
                              <a:latin typeface="Cambria Math" panose="02040503050406030204" pitchFamily="18" charset="0"/>
                              <a:ea typeface="Cambria Math" panose="02040503050406030204" pitchFamily="18" charset="0"/>
                            </a:rPr>
                          </m:ctrlPr>
                        </m:dPr>
                        <m:e>
                          <m:r>
                            <m:rPr>
                              <m:sty m:val="p"/>
                            </m:rPr>
                            <a:rPr lang="en-US" b="0" i="0" smtClean="0">
                              <a:solidFill>
                                <a:srgbClr val="000000"/>
                              </a:solidFill>
                              <a:latin typeface="Cambria Math" panose="02040503050406030204" pitchFamily="18" charset="0"/>
                              <a:ea typeface="Cambria Math" panose="02040503050406030204" pitchFamily="18" charset="0"/>
                            </a:rPr>
                            <m:t>d</m:t>
                          </m:r>
                        </m:e>
                      </m:d>
                      <m:r>
                        <a:rPr lang="en-US" b="0" i="0"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Z</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d</m:t>
                              </m:r>
                            </m:e>
                          </m:d>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Γ</m:t>
                              </m:r>
                            </m:e>
                            <m:sub>
                              <m:r>
                                <m:rPr>
                                  <m:sty m:val="p"/>
                                </m:rPr>
                                <a:rPr lang="en-US">
                                  <a:solidFill>
                                    <a:srgbClr val="000000"/>
                                  </a:solidFill>
                                  <a:latin typeface="Cambria Math" panose="02040503050406030204" pitchFamily="18" charset="0"/>
                                  <a:cs typeface="Times New Roman" panose="02020603050405020304" pitchFamily="18" charset="0"/>
                                </a:rPr>
                                <m:t>d</m:t>
                              </m:r>
                            </m:sub>
                          </m:sSub>
                        </m:num>
                        <m:den>
                          <m:r>
                            <a:rPr lang="en-US">
                              <a:solidFill>
                                <a:srgbClr val="000000"/>
                              </a:solidFill>
                              <a:latin typeface="Cambria Math" panose="02040503050406030204" pitchFamily="18" charset="0"/>
                              <a:cs typeface="Times New Roman" panose="02020603050405020304" pitchFamily="18" charset="0"/>
                            </a:rPr>
                            <m:t>1−</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Γ</m:t>
                              </m:r>
                            </m:e>
                            <m:sub>
                              <m:r>
                                <m:rPr>
                                  <m:sty m:val="p"/>
                                </m:rPr>
                                <a:rPr lang="en-US">
                                  <a:solidFill>
                                    <a:srgbClr val="000000"/>
                                  </a:solidFill>
                                  <a:latin typeface="Cambria Math" panose="02040503050406030204" pitchFamily="18" charset="0"/>
                                  <a:cs typeface="Times New Roman" panose="02020603050405020304" pitchFamily="18" charset="0"/>
                                </a:rPr>
                                <m:t>d</m:t>
                              </m:r>
                            </m:sub>
                          </m:sSub>
                        </m:den>
                      </m:f>
                      <m:r>
                        <a:rPr lang="en-US" b="0" i="1" smtClean="0">
                          <a:solidFill>
                            <a:srgbClr val="000000"/>
                          </a:solidFill>
                          <a:latin typeface="Cambria Math" panose="02040503050406030204" pitchFamily="18" charset="0"/>
                          <a:cs typeface="Times New Roman" panose="020206030504050203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a:solidFill>
                                    <a:srgbClr val="000000"/>
                                  </a:solidFill>
                                  <a:latin typeface="Cambria Math" panose="02040503050406030204" pitchFamily="18" charset="0"/>
                                  <a:ea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βd</m:t>
                              </m:r>
                              <m:r>
                                <a:rPr lang="en-US" i="1">
                                  <a:solidFill>
                                    <a:srgbClr val="000000"/>
                                  </a:solidFill>
                                  <a:latin typeface="Cambria Math" panose="02040503050406030204" pitchFamily="18" charset="0"/>
                                  <a:ea typeface="Cambria Math" panose="02040503050406030204" pitchFamily="18" charset="0"/>
                                </a:rPr>
                                <m:t>)</m:t>
                              </m:r>
                            </m:sup>
                          </m:sSup>
                        </m:num>
                        <m:den>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a:solidFill>
                                    <a:srgbClr val="000000"/>
                                  </a:solidFill>
                                  <a:latin typeface="Cambria Math" panose="02040503050406030204" pitchFamily="18" charset="0"/>
                                  <a:ea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βd</m:t>
                              </m:r>
                              <m:r>
                                <a:rPr lang="en-US" i="1">
                                  <a:solidFill>
                                    <a:srgbClr val="000000"/>
                                  </a:solidFill>
                                  <a:latin typeface="Cambria Math" panose="02040503050406030204" pitchFamily="18" charset="0"/>
                                  <a:ea typeface="Cambria Math" panose="02040503050406030204" pitchFamily="18" charset="0"/>
                                </a:rPr>
                                <m:t>)</m:t>
                              </m:r>
                            </m:sup>
                          </m:sSup>
                        </m:den>
                      </m:f>
                      <m:r>
                        <a:rPr lang="en-US" b="0" i="1" smtClean="0">
                          <a:solidFill>
                            <a:srgbClr val="000000"/>
                          </a:solidFill>
                          <a:latin typeface="Cambria Math" panose="02040503050406030204" pitchFamily="18" charset="0"/>
                          <a:cs typeface="Times New Roman" panose="02020603050405020304" pitchFamily="18" charset="0"/>
                        </a:rPr>
                        <m:t>.</m:t>
                      </m:r>
                    </m:oMath>
                  </m:oMathPara>
                </a14:m>
                <a:endParaRPr lang="en-US" b="0" i="1" dirty="0">
                  <a:solidFill>
                    <a:srgbClr val="000000"/>
                  </a:solidFill>
                  <a:latin typeface="Cambria Math" panose="02040503050406030204" pitchFamily="18" charset="0"/>
                  <a:cs typeface="Times New Roman" panose="020206030504050203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rPr>
                        <m:t>z</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d</m:t>
                          </m:r>
                          <m:r>
                            <a:rPr lang="en-US" b="0" i="1" smtClean="0">
                              <a:solidFill>
                                <a:srgbClr val="000000"/>
                              </a:solidFill>
                              <a:latin typeface="Cambria Math" panose="02040503050406030204" pitchFamily="18" charset="0"/>
                              <a:ea typeface="Cambria Math" panose="02040503050406030204" pitchFamily="18" charset="0"/>
                            </a:rPr>
                            <m:t>=</m:t>
                          </m:r>
                          <m:f>
                            <m:fPr>
                              <m:type m:val="lin"/>
                              <m:ctrlPr>
                                <a:rPr lang="en-US" b="0" i="1" smtClean="0">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λ</m:t>
                              </m:r>
                            </m:num>
                            <m:den>
                              <m:r>
                                <a:rPr lang="en-US" b="0" i="1" smtClean="0">
                                  <a:solidFill>
                                    <a:srgbClr val="000000"/>
                                  </a:solidFill>
                                  <a:latin typeface="Cambria Math" panose="02040503050406030204" pitchFamily="18" charset="0"/>
                                  <a:ea typeface="Cambria Math" panose="02040503050406030204" pitchFamily="18" charset="0"/>
                                </a:rPr>
                                <m:t>4</m:t>
                              </m:r>
                            </m:den>
                          </m:f>
                        </m:e>
                      </m:d>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a:solidFill>
                                    <a:srgbClr val="000000"/>
                                  </a:solidFill>
                                  <a:latin typeface="Cambria Math" panose="02040503050406030204" pitchFamily="18" charset="0"/>
                                  <a:ea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β</m:t>
                              </m:r>
                              <m:f>
                                <m:fPr>
                                  <m:type m:val="lin"/>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λ</m:t>
                                  </m:r>
                                </m:num>
                                <m:den>
                                  <m:r>
                                    <a:rPr lang="en-US" i="1">
                                      <a:solidFill>
                                        <a:srgbClr val="000000"/>
                                      </a:solidFill>
                                      <a:latin typeface="Cambria Math" panose="02040503050406030204" pitchFamily="18" charset="0"/>
                                      <a:ea typeface="Cambria Math" panose="02040503050406030204" pitchFamily="18" charset="0"/>
                                    </a:rPr>
                                    <m:t>4</m:t>
                                  </m:r>
                                </m:den>
                              </m:f>
                              <m:r>
                                <a:rPr lang="en-US" i="1">
                                  <a:solidFill>
                                    <a:srgbClr val="000000"/>
                                  </a:solidFill>
                                  <a:latin typeface="Cambria Math" panose="02040503050406030204" pitchFamily="18" charset="0"/>
                                  <a:ea typeface="Cambria Math" panose="02040503050406030204" pitchFamily="18" charset="0"/>
                                </a:rPr>
                                <m:t>)</m:t>
                              </m:r>
                            </m:sup>
                          </m:sSup>
                        </m:num>
                        <m:den>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a:solidFill>
                                    <a:srgbClr val="000000"/>
                                  </a:solidFill>
                                  <a:latin typeface="Cambria Math" panose="02040503050406030204" pitchFamily="18" charset="0"/>
                                  <a:ea typeface="Cambria Math" panose="02040503050406030204" pitchFamily="18" charset="0"/>
                                </a:rPr>
                                <m:t>2</m:t>
                              </m:r>
                              <m:r>
                                <m:rPr>
                                  <m:sty m:val="p"/>
                                </m:rPr>
                                <a:rPr lang="en-US">
                                  <a:solidFill>
                                    <a:srgbClr val="000000"/>
                                  </a:solidFill>
                                  <a:latin typeface="Cambria Math" panose="02040503050406030204" pitchFamily="18" charset="0"/>
                                  <a:ea typeface="Cambria Math" panose="02040503050406030204" pitchFamily="18" charset="0"/>
                                </a:rPr>
                                <m:t>β</m:t>
                              </m:r>
                              <m:f>
                                <m:fPr>
                                  <m:type m:val="lin"/>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λ</m:t>
                                  </m:r>
                                </m:num>
                                <m:den>
                                  <m:r>
                                    <a:rPr lang="en-US" i="1">
                                      <a:solidFill>
                                        <a:srgbClr val="000000"/>
                                      </a:solidFill>
                                      <a:latin typeface="Cambria Math" panose="02040503050406030204" pitchFamily="18" charset="0"/>
                                      <a:ea typeface="Cambria Math" panose="02040503050406030204" pitchFamily="18" charset="0"/>
                                    </a:rPr>
                                    <m:t>4</m:t>
                                  </m:r>
                                </m:den>
                              </m:f>
                              <m:r>
                                <a:rPr lang="en-US" i="1">
                                  <a:solidFill>
                                    <a:srgbClr val="000000"/>
                                  </a:solidFill>
                                  <a:latin typeface="Cambria Math" panose="02040503050406030204" pitchFamily="18" charset="0"/>
                                  <a:ea typeface="Cambria Math" panose="02040503050406030204" pitchFamily="18" charset="0"/>
                                </a:rPr>
                                <m:t>)</m:t>
                              </m:r>
                            </m:sup>
                          </m:sSup>
                        </m:den>
                      </m:f>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b="0" i="0" smtClean="0">
                                  <a:solidFill>
                                    <a:srgbClr val="000000"/>
                                  </a:solidFill>
                                  <a:latin typeface="Cambria Math" panose="02040503050406030204" pitchFamily="18" charset="0"/>
                                  <a:ea typeface="Cambria Math" panose="02040503050406030204" pitchFamily="18" charset="0"/>
                                </a:rPr>
                                <m:t>4</m:t>
                              </m:r>
                              <m:r>
                                <m:rPr>
                                  <m:sty m:val="p"/>
                                </m:rPr>
                                <a:rPr lang="el-GR" b="0" i="1" smtClean="0">
                                  <a:solidFill>
                                    <a:srgbClr val="000000"/>
                                  </a:solidFill>
                                  <a:latin typeface="Cambria Math" panose="02040503050406030204" pitchFamily="18" charset="0"/>
                                  <a:ea typeface="Cambria Math" panose="02040503050406030204" pitchFamily="18" charset="0"/>
                                </a:rPr>
                                <m:t>π</m:t>
                              </m:r>
                              <m:f>
                                <m:fPr>
                                  <m:type m:val="lin"/>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λ</m:t>
                                  </m:r>
                                </m:num>
                                <m:den>
                                  <m:r>
                                    <a:rPr lang="en-US" i="1">
                                      <a:solidFill>
                                        <a:srgbClr val="000000"/>
                                      </a:solidFill>
                                      <a:latin typeface="Cambria Math" panose="02040503050406030204" pitchFamily="18" charset="0"/>
                                      <a:ea typeface="Cambria Math" panose="02040503050406030204" pitchFamily="18" charset="0"/>
                                    </a:rPr>
                                    <m:t>4</m:t>
                                  </m:r>
                                  <m:r>
                                    <m:rPr>
                                      <m:sty m:val="p"/>
                                    </m:rPr>
                                    <a:rPr lang="en-US">
                                      <a:solidFill>
                                        <a:srgbClr val="000000"/>
                                      </a:solidFill>
                                      <a:latin typeface="Cambria Math" panose="02040503050406030204" pitchFamily="18" charset="0"/>
                                      <a:ea typeface="Cambria Math" panose="02040503050406030204" pitchFamily="18" charset="0"/>
                                    </a:rPr>
                                    <m:t>λ</m:t>
                                  </m:r>
                                </m:den>
                              </m:f>
                              <m:r>
                                <a:rPr lang="en-US" i="1">
                                  <a:solidFill>
                                    <a:srgbClr val="000000"/>
                                  </a:solidFill>
                                  <a:latin typeface="Cambria Math" panose="02040503050406030204" pitchFamily="18" charset="0"/>
                                  <a:ea typeface="Cambria Math" panose="02040503050406030204" pitchFamily="18" charset="0"/>
                                </a:rPr>
                                <m:t>)</m:t>
                              </m:r>
                            </m:sup>
                          </m:sSup>
                        </m:num>
                        <m:den>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a:rPr lang="en-US">
                                  <a:solidFill>
                                    <a:srgbClr val="000000"/>
                                  </a:solidFill>
                                  <a:latin typeface="Cambria Math" panose="02040503050406030204" pitchFamily="18" charset="0"/>
                                  <a:ea typeface="Cambria Math" panose="02040503050406030204" pitchFamily="18" charset="0"/>
                                </a:rPr>
                                <m:t>4</m:t>
                              </m:r>
                              <m:r>
                                <m:rPr>
                                  <m:sty m:val="p"/>
                                </m:rPr>
                                <a:rPr lang="el-GR" i="1">
                                  <a:solidFill>
                                    <a:srgbClr val="000000"/>
                                  </a:solidFill>
                                  <a:latin typeface="Cambria Math" panose="02040503050406030204" pitchFamily="18" charset="0"/>
                                  <a:ea typeface="Cambria Math" panose="02040503050406030204" pitchFamily="18" charset="0"/>
                                </a:rPr>
                                <m:t>π</m:t>
                              </m:r>
                              <m:f>
                                <m:fPr>
                                  <m:type m:val="lin"/>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λ</m:t>
                                  </m:r>
                                </m:num>
                                <m:den>
                                  <m:r>
                                    <a:rPr lang="en-US" i="1">
                                      <a:solidFill>
                                        <a:srgbClr val="000000"/>
                                      </a:solidFill>
                                      <a:latin typeface="Cambria Math" panose="02040503050406030204" pitchFamily="18" charset="0"/>
                                      <a:ea typeface="Cambria Math" panose="02040503050406030204" pitchFamily="18" charset="0"/>
                                    </a:rPr>
                                    <m:t>4</m:t>
                                  </m:r>
                                  <m:r>
                                    <m:rPr>
                                      <m:sty m:val="p"/>
                                    </m:rPr>
                                    <a:rPr lang="en-US">
                                      <a:solidFill>
                                        <a:srgbClr val="000000"/>
                                      </a:solidFill>
                                      <a:latin typeface="Cambria Math" panose="02040503050406030204" pitchFamily="18" charset="0"/>
                                      <a:ea typeface="Cambria Math" panose="02040503050406030204" pitchFamily="18" charset="0"/>
                                    </a:rPr>
                                    <m:t>λ</m:t>
                                  </m:r>
                                </m:den>
                              </m:f>
                              <m:r>
                                <a:rPr lang="en-US" i="1">
                                  <a:solidFill>
                                    <a:srgbClr val="000000"/>
                                  </a:solidFill>
                                  <a:latin typeface="Cambria Math" panose="02040503050406030204" pitchFamily="18" charset="0"/>
                                  <a:ea typeface="Cambria Math" panose="02040503050406030204" pitchFamily="18" charset="0"/>
                                </a:rPr>
                                <m:t>)</m:t>
                              </m:r>
                            </m:sup>
                          </m:sSup>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m:rPr>
                                  <m:sty m:val="p"/>
                                </m:rPr>
                                <a:rPr lang="en-US" i="0" smtClean="0">
                                  <a:solidFill>
                                    <a:srgbClr val="000000"/>
                                  </a:solidFill>
                                  <a:latin typeface="Cambria Math" panose="02040503050406030204" pitchFamily="18" charset="0"/>
                                  <a:ea typeface="Cambria Math" panose="02040503050406030204" pitchFamily="18" charset="0"/>
                                </a:rPr>
                                <m:t>π</m:t>
                              </m:r>
                              <m:r>
                                <a:rPr lang="en-US" i="1">
                                  <a:solidFill>
                                    <a:srgbClr val="000000"/>
                                  </a:solidFill>
                                  <a:latin typeface="Cambria Math" panose="02040503050406030204" pitchFamily="18" charset="0"/>
                                  <a:ea typeface="Cambria Math" panose="02040503050406030204" pitchFamily="18" charset="0"/>
                                </a:rPr>
                                <m:t>)</m:t>
                              </m:r>
                            </m:sup>
                          </m:sSup>
                        </m:num>
                        <m:den>
                          <m:r>
                            <a:rPr lang="en-US">
                              <a:solidFill>
                                <a:srgbClr val="000000"/>
                              </a:solidFill>
                              <a:latin typeface="Cambria Math" panose="02040503050406030204" pitchFamily="18" charset="0"/>
                              <a:cs typeface="Times New Roman" panose="020206030504050203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r>
                                <m:rPr>
                                  <m:sty m:val="p"/>
                                </m:rPr>
                                <a:rPr lang="en-US" i="0" smtClean="0">
                                  <a:solidFill>
                                    <a:srgbClr val="000000"/>
                                  </a:solidFill>
                                  <a:latin typeface="Cambria Math" panose="02040503050406030204" pitchFamily="18" charset="0"/>
                                  <a:ea typeface="Cambria Math" panose="02040503050406030204" pitchFamily="18" charset="0"/>
                                </a:rPr>
                                <m:t>π</m:t>
                              </m:r>
                              <m:r>
                                <a:rPr lang="en-US" i="1">
                                  <a:solidFill>
                                    <a:srgbClr val="000000"/>
                                  </a:solidFill>
                                  <a:latin typeface="Cambria Math" panose="02040503050406030204" pitchFamily="18" charset="0"/>
                                  <a:ea typeface="Cambria Math" panose="02040503050406030204" pitchFamily="18" charset="0"/>
                                </a:rPr>
                                <m:t>)</m:t>
                              </m:r>
                            </m:sup>
                          </m:sSup>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l-GR" i="1">
                                  <a:solidFill>
                                    <a:srgbClr val="000000"/>
                                  </a:solidFill>
                                  <a:latin typeface="Cambria Math" panose="02040503050406030204" pitchFamily="18" charset="0"/>
                                  <a:ea typeface="Cambria Math" panose="02040503050406030204" pitchFamily="18" charset="0"/>
                                </a:rPr>
                                <m:t>Γ</m:t>
                              </m:r>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π</m:t>
                              </m:r>
                            </m:sup>
                          </m:sSup>
                        </m:num>
                        <m:den>
                          <m:r>
                            <a:rPr lang="en-US">
                              <a:solidFill>
                                <a:srgbClr val="000000"/>
                              </a:solidFill>
                              <a:latin typeface="Cambria Math" panose="02040503050406030204" pitchFamily="18" charset="0"/>
                              <a:cs typeface="Times New Roman" panose="02020603050405020304" pitchFamily="18" charset="0"/>
                            </a:rPr>
                            <m:t>1−</m:t>
                          </m:r>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l-GR" i="1">
                                  <a:solidFill>
                                    <a:srgbClr val="000000"/>
                                  </a:solidFill>
                                  <a:latin typeface="Cambria Math" panose="02040503050406030204" pitchFamily="18" charset="0"/>
                                  <a:ea typeface="Cambria Math" panose="02040503050406030204" pitchFamily="18" charset="0"/>
                                </a:rPr>
                                <m:t>Γ</m:t>
                              </m:r>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π</m:t>
                              </m:r>
                            </m:sup>
                          </m:sSup>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cs typeface="Times New Roman" panose="02020603050405020304" pitchFamily="18" charset="0"/>
                            </a:rPr>
                          </m:ctrlPr>
                        </m:fPr>
                        <m:num>
                          <m:r>
                            <a:rPr lang="en-US">
                              <a:solidFill>
                                <a:srgbClr val="000000"/>
                              </a:solidFill>
                              <a:latin typeface="Cambria Math" panose="02040503050406030204" pitchFamily="18" charset="0"/>
                              <a:cs typeface="Times New Roman" panose="02020603050405020304" pitchFamily="18" charset="0"/>
                            </a:rPr>
                            <m:t>1</m:t>
                          </m:r>
                          <m:r>
                            <a:rPr lang="en-US" b="0" i="1" smtClean="0">
                              <a:solidFill>
                                <a:srgbClr val="000000"/>
                              </a:solidFill>
                              <a:latin typeface="Cambria Math" panose="02040503050406030204" pitchFamily="18" charset="0"/>
                              <a:cs typeface="Times New Roman" panose="02020603050405020304" pitchFamily="18" charset="0"/>
                            </a:rPr>
                            <m:t>−</m:t>
                          </m:r>
                          <m:r>
                            <m:rPr>
                              <m:sty m:val="p"/>
                            </m:rPr>
                            <a:rPr lang="el-GR" i="1">
                              <a:solidFill>
                                <a:srgbClr val="000000"/>
                              </a:solidFill>
                              <a:latin typeface="Cambria Math" panose="02040503050406030204" pitchFamily="18" charset="0"/>
                              <a:ea typeface="Cambria Math" panose="02040503050406030204" pitchFamily="18" charset="0"/>
                            </a:rPr>
                            <m:t>Γ</m:t>
                          </m:r>
                        </m:num>
                        <m:den>
                          <m:r>
                            <a:rPr lang="en-US">
                              <a:solidFill>
                                <a:srgbClr val="000000"/>
                              </a:solidFill>
                              <a:latin typeface="Cambria Math" panose="02040503050406030204" pitchFamily="18" charset="0"/>
                              <a:cs typeface="Times New Roman" panose="02020603050405020304" pitchFamily="18" charset="0"/>
                            </a:rPr>
                            <m:t>1</m:t>
                          </m:r>
                          <m:r>
                            <a:rPr lang="en-US" b="0" i="1" smtClean="0">
                              <a:solidFill>
                                <a:srgbClr val="000000"/>
                              </a:solidFill>
                              <a:latin typeface="Cambria Math" panose="02040503050406030204" pitchFamily="18" charset="0"/>
                              <a:cs typeface="Times New Roman" panose="02020603050405020304" pitchFamily="18" charset="0"/>
                            </a:rPr>
                            <m:t>+</m:t>
                          </m:r>
                          <m:r>
                            <m:rPr>
                              <m:sty m:val="p"/>
                            </m:rPr>
                            <a:rPr lang="el-GR" i="1">
                              <a:solidFill>
                                <a:srgbClr val="000000"/>
                              </a:solidFill>
                              <a:latin typeface="Cambria Math" panose="02040503050406030204" pitchFamily="18" charset="0"/>
                              <a:ea typeface="Cambria Math" panose="02040503050406030204" pitchFamily="18" charset="0"/>
                            </a:rPr>
                            <m:t>Γ</m:t>
                          </m:r>
                        </m:den>
                      </m:f>
                      <m:r>
                        <a:rPr lang="en-US" b="0" i="1" smtClean="0">
                          <a:solidFill>
                            <a:srgbClr val="000000"/>
                          </a:solidFill>
                          <a:latin typeface="Cambria Math" panose="02040503050406030204" pitchFamily="18" charset="0"/>
                          <a:ea typeface="Cambria Math" panose="02040503050406030204" pitchFamily="18" charset="0"/>
                        </a:rPr>
                        <m:t>=</m:t>
                      </m:r>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y</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cs typeface="Times New Roman" panose="02020603050405020304" pitchFamily="18" charset="0"/>
                        </a:rPr>
                        <m:t>  </m:t>
                      </m:r>
                      <m:r>
                        <m:rPr>
                          <m:sty m:val="p"/>
                        </m:rPr>
                        <a:rPr lang="en-US">
                          <a:solidFill>
                            <a:srgbClr val="000000"/>
                          </a:solidFill>
                          <a:latin typeface="Cambria Math" panose="02040503050406030204" pitchFamily="18" charset="0"/>
                          <a:ea typeface="Cambria Math" panose="02040503050406030204" pitchFamily="18" charset="0"/>
                        </a:rPr>
                        <m:t>z</m:t>
                      </m:r>
                      <m:d>
                        <m:dPr>
                          <m:ctrlPr>
                            <a:rPr lang="en-US" i="1">
                              <a:solidFill>
                                <a:srgbClr val="000000"/>
                              </a:solidFill>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ea typeface="Cambria Math" panose="02040503050406030204" pitchFamily="18" charset="0"/>
                            </a:rPr>
                            <m:t>d</m:t>
                          </m:r>
                          <m:r>
                            <a:rPr lang="en-US" i="1">
                              <a:solidFill>
                                <a:srgbClr val="000000"/>
                              </a:solidFill>
                              <a:latin typeface="Cambria Math" panose="02040503050406030204" pitchFamily="18" charset="0"/>
                              <a:ea typeface="Cambria Math" panose="02040503050406030204" pitchFamily="18" charset="0"/>
                            </a:rPr>
                            <m:t>=</m:t>
                          </m:r>
                          <m:f>
                            <m:fPr>
                              <m:type m:val="lin"/>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λ</m:t>
                              </m:r>
                            </m:num>
                            <m:den>
                              <m:r>
                                <a:rPr lang="en-US" i="1">
                                  <a:solidFill>
                                    <a:srgbClr val="000000"/>
                                  </a:solidFill>
                                  <a:latin typeface="Cambria Math" panose="02040503050406030204" pitchFamily="18" charset="0"/>
                                  <a:ea typeface="Cambria Math" panose="02040503050406030204" pitchFamily="18" charset="0"/>
                                </a:rPr>
                                <m:t>4</m:t>
                              </m:r>
                            </m:den>
                          </m:f>
                        </m:e>
                      </m:d>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cs typeface="Times New Roman" panose="02020603050405020304" pitchFamily="18" charset="0"/>
                        </a:rPr>
                        <m:t> </m:t>
                      </m:r>
                    </m:oMath>
                  </m:oMathPara>
                </a14:m>
                <a:endParaRPr lang="en-US" dirty="0">
                  <a:solidFill>
                    <a:srgbClr val="000000"/>
                  </a:solidFill>
                  <a:latin typeface="Cambria Math" panose="02040503050406030204" pitchFamily="18" charset="0"/>
                  <a:cs typeface="Times New Roman" panose="020206030504050203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Rotation by </a:t>
                </a:r>
                <a:r>
                  <a:rPr lang="el-GR" dirty="0">
                    <a:solidFill>
                      <a:srgbClr val="000000"/>
                    </a:solidFill>
                    <a:latin typeface="Cambria Math" panose="02040503050406030204" pitchFamily="18" charset="0"/>
                    <a:ea typeface="Cambria Math" panose="02040503050406030204" pitchFamily="18" charset="0"/>
                  </a:rPr>
                  <a:t>λ</a:t>
                </a:r>
                <a:r>
                  <a:rPr lang="en-US" dirty="0">
                    <a:solidFill>
                      <a:srgbClr val="000000"/>
                    </a:solidFill>
                    <a:latin typeface="Cambria Math" panose="02040503050406030204" pitchFamily="18" charset="0"/>
                    <a:ea typeface="Cambria Math" panose="02040503050406030204" pitchFamily="18" charset="0"/>
                  </a:rPr>
                  <a:t>/4 (180˚) on the SWR circle of a Smith Chart converts from z to 1/z = y and vice versa.</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44218" y="685067"/>
                <a:ext cx="11903563" cy="4174604"/>
              </a:xfrm>
              <a:prstGeom prst="rect">
                <a:avLst/>
              </a:prstGeom>
              <a:blipFill>
                <a:blip r:embed="rId2"/>
                <a:stretch>
                  <a:fillRect l="-153"/>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A5F03CC3-B81E-4B80-A90B-2A2F15A5A6BC}"/>
              </a:ext>
            </a:extLst>
          </p:cNvPr>
          <p:cNvCxnSpPr>
            <a:cxnSpLocks/>
          </p:cNvCxnSpPr>
          <p:nvPr/>
        </p:nvCxnSpPr>
        <p:spPr>
          <a:xfrm>
            <a:off x="5429839" y="1225485"/>
            <a:ext cx="3308808" cy="210217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477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anim calcmode="lin" valueType="num">
                                      <p:cBhvr additive="base">
                                        <p:cTn id="1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758757" y="-55132"/>
            <a:ext cx="10068128" cy="553998"/>
          </a:xfrm>
        </p:spPr>
        <p:txBody>
          <a:bodyPr/>
          <a:lstStyle/>
          <a:p>
            <a:pPr algn="ctr"/>
            <a:r>
              <a:rPr lang="en-US" sz="4000" dirty="0"/>
              <a:t>Impedance and Admittance (Continued)</a:t>
            </a:r>
          </a:p>
        </p:txBody>
      </p:sp>
      <mc:AlternateContent xmlns:mc="http://schemas.openxmlformats.org/markup-compatibility/2006" xmlns:a14="http://schemas.microsoft.com/office/drawing/2010/main">
        <mc:Choice Requires="a14">
          <p:sp>
            <p:nvSpPr>
              <p:cNvPr id="4" name="Rectangle 3"/>
              <p:cNvSpPr/>
              <p:nvPr/>
            </p:nvSpPr>
            <p:spPr>
              <a:xfrm>
                <a:off x="168463" y="560918"/>
                <a:ext cx="11903563" cy="59182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Rotation by </a:t>
                </a:r>
                <a:r>
                  <a:rPr lang="el-GR" dirty="0">
                    <a:solidFill>
                      <a:srgbClr val="000000"/>
                    </a:solidFill>
                    <a:latin typeface="Cambria Math" panose="02040503050406030204" pitchFamily="18" charset="0"/>
                    <a:ea typeface="Cambria Math" panose="02040503050406030204" pitchFamily="18" charset="0"/>
                  </a:rPr>
                  <a:t>λ</a:t>
                </a:r>
                <a:r>
                  <a:rPr lang="en-US" dirty="0">
                    <a:solidFill>
                      <a:srgbClr val="000000"/>
                    </a:solidFill>
                    <a:latin typeface="Cambria Math" panose="02040503050406030204" pitchFamily="18" charset="0"/>
                    <a:ea typeface="Cambria Math" panose="02040503050406030204" pitchFamily="18" charset="0"/>
                  </a:rPr>
                  <a:t>/4 (180˚) on the SWR circle of a Smith Chart converts from z to 1/z = y and vice versa.</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Smith Chart can be used either as an impedance </a:t>
                </a:r>
              </a:p>
              <a:p>
                <a:r>
                  <a:rPr lang="en-US" dirty="0">
                    <a:solidFill>
                      <a:srgbClr val="000000"/>
                    </a:solidFill>
                    <a:latin typeface="Cambria Math" panose="02040503050406030204" pitchFamily="18" charset="0"/>
                    <a:ea typeface="Cambria Math" panose="02040503050406030204" pitchFamily="18" charset="0"/>
                  </a:rPr>
                  <a:t>or admittance chart.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When used as an admittance chart, the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and</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x</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 </a:t>
                </a:r>
              </a:p>
              <a:p>
                <a:r>
                  <a:rPr lang="en-US" dirty="0">
                    <a:solidFill>
                      <a:srgbClr val="000000"/>
                    </a:solidFill>
                    <a:latin typeface="Cambria Math" panose="02040503050406030204" pitchFamily="18" charset="0"/>
                    <a:ea typeface="Cambria Math" panose="02040503050406030204" pitchFamily="18" charset="0"/>
                  </a:rPr>
                  <a:t>circles become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and</m:t>
                    </m:r>
                    <m:r>
                      <a:rPr lang="en-US">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b</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 circles.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Admittance is more convenient for parallel</a:t>
                </a:r>
              </a:p>
              <a:p>
                <a:r>
                  <a:rPr lang="en-US" dirty="0">
                    <a:solidFill>
                      <a:srgbClr val="000000"/>
                    </a:solidFill>
                    <a:latin typeface="Cambria Math" panose="02040503050406030204" pitchFamily="18" charset="0"/>
                    <a:ea typeface="Cambria Math" panose="02040503050406030204" pitchFamily="18" charset="0"/>
                  </a:rPr>
                  <a:t>     (shunt) circuits.</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In the adjacent Smith Chart normalized</a:t>
                </a:r>
              </a:p>
              <a:p>
                <a:r>
                  <a:rPr lang="en-US" dirty="0">
                    <a:solidFill>
                      <a:srgbClr val="000000"/>
                    </a:solidFill>
                    <a:latin typeface="Cambria Math" panose="02040503050406030204" pitchFamily="18" charset="0"/>
                    <a:ea typeface="Cambria Math" panose="02040503050406030204" pitchFamily="18" charset="0"/>
                  </a:rPr>
                  <a:t>      impedance at point A represents</a:t>
                </a:r>
              </a:p>
              <a:p>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0.6 + j1.4 </a:t>
                </a:r>
                <a:r>
                  <a:rPr lang="en-US" sz="1400" dirty="0">
                    <a:solidFill>
                      <a:srgbClr val="000000"/>
                    </a:solidFill>
                    <a:latin typeface="Cambria Math" panose="02040503050406030204" pitchFamily="18" charset="0"/>
                    <a:ea typeface="Cambria Math" panose="02040503050406030204" pitchFamily="18" charset="0"/>
                    <a:sym typeface="Wingdings" panose="05000000000000000000" pitchFamily="2" charset="2"/>
                  </a:rPr>
                  <a:t></a:t>
                </a:r>
                <a:r>
                  <a:rPr lang="en-US" dirty="0">
                    <a:solidFill>
                      <a:srgbClr val="000000"/>
                    </a:solidFill>
                    <a:latin typeface="Cambria Math" panose="02040503050406030204" pitchFamily="18" charset="0"/>
                    <a:ea typeface="Cambria Math" panose="02040503050406030204" pitchFamily="18" charset="0"/>
                    <a:sym typeface="Wingdings" panose="05000000000000000000" pitchFamily="2" charset="2"/>
                  </a:rPr>
                  <a:t> 1.5232</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sym typeface="Wingdings" panose="05000000000000000000" pitchFamily="2" charset="2"/>
                      </a:rPr>
                      <m:t>∠</m:t>
                    </m:r>
                    <m:r>
                      <a:rPr lang="en-US" b="0" i="1" smtClean="0">
                        <a:solidFill>
                          <a:srgbClr val="000000"/>
                        </a:solidFill>
                        <a:latin typeface="Cambria Math" panose="02040503050406030204" pitchFamily="18" charset="0"/>
                        <a:ea typeface="Cambria Math" panose="02040503050406030204" pitchFamily="18" charset="0"/>
                        <a:sym typeface="Wingdings" panose="05000000000000000000" pitchFamily="2" charset="2"/>
                      </a:rPr>
                      <m:t>67˚.</m:t>
                    </m:r>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Sup>
                      <m:sSubSupPr>
                        <m:ctrlPr>
                          <a:rPr lang="en-US" i="1" smtClean="0">
                            <a:solidFill>
                              <a:srgbClr val="000000"/>
                            </a:solidFill>
                            <a:latin typeface="Cambria Math" panose="02040503050406030204" pitchFamily="18" charset="0"/>
                            <a:ea typeface="Cambria Math" panose="02040503050406030204" pitchFamily="18" charset="0"/>
                          </a:rPr>
                        </m:ctrlPr>
                      </m:sSubSupPr>
                      <m:e>
                        <m:r>
                          <m:rPr>
                            <m:sty m:val="p"/>
                          </m:rPr>
                          <a:rPr lang="en-US" b="0" i="0" smtClean="0">
                            <a:solidFill>
                              <a:srgbClr val="000000"/>
                            </a:solidFill>
                            <a:latin typeface="Cambria Math" panose="02040503050406030204" pitchFamily="18" charset="0"/>
                            <a:ea typeface="Cambria Math" panose="02040503050406030204" pitchFamily="18" charset="0"/>
                          </a:rPr>
                          <m:t>z</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up>
                        <m:r>
                          <a:rPr lang="en-US" b="0" i="0" smtClean="0">
                            <a:solidFill>
                              <a:srgbClr val="000000"/>
                            </a:solidFill>
                            <a:latin typeface="Cambria Math" panose="02040503050406030204" pitchFamily="18" charset="0"/>
                            <a:ea typeface="Cambria Math" panose="02040503050406030204" pitchFamily="18" charset="0"/>
                          </a:rPr>
                          <m:t>−1</m:t>
                        </m:r>
                      </m:sup>
                    </m:sSubSup>
                  </m:oMath>
                </a14:m>
                <a:r>
                  <a:rPr lang="en-US" dirty="0">
                    <a:solidFill>
                      <a:srgbClr val="000000"/>
                    </a:solidFill>
                    <a:latin typeface="Cambria Math" panose="02040503050406030204" pitchFamily="18" charset="0"/>
                    <a:ea typeface="Cambria Math" panose="02040503050406030204" pitchFamily="18" charset="0"/>
                  </a:rPr>
                  <a:t>=0.66</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Wingdings" panose="05000000000000000000" pitchFamily="2" charset="2"/>
                      </a:rPr>
                      <m:t>∠</m:t>
                    </m:r>
                    <m:r>
                      <a:rPr lang="en-US" b="0" i="1" smtClean="0">
                        <a:solidFill>
                          <a:srgbClr val="000000"/>
                        </a:solidFill>
                        <a:latin typeface="Cambria Math" panose="02040503050406030204" pitchFamily="18" charset="0"/>
                        <a:ea typeface="Cambria Math" panose="02040503050406030204" pitchFamily="18" charset="0"/>
                        <a:sym typeface="Wingdings" panose="05000000000000000000" pitchFamily="2" charset="2"/>
                      </a:rPr>
                      <m:t>(−67</m:t>
                    </m:r>
                    <m:r>
                      <a:rPr lang="en-US" i="1">
                        <a:solidFill>
                          <a:srgbClr val="000000"/>
                        </a:solidFill>
                        <a:latin typeface="Cambria Math" panose="02040503050406030204" pitchFamily="18" charset="0"/>
                        <a:ea typeface="Cambria Math" panose="02040503050406030204" pitchFamily="18" charset="0"/>
                        <a:sym typeface="Wingdings" panose="05000000000000000000" pitchFamily="2" charset="2"/>
                      </a:rPr>
                      <m:t>˚</m:t>
                    </m:r>
                  </m:oMath>
                </a14:m>
                <a:r>
                  <a:rPr lang="en-US" dirty="0">
                    <a:solidFill>
                      <a:srgbClr val="000000"/>
                    </a:solidFill>
                    <a:latin typeface="Cambria Math" panose="02040503050406030204" pitchFamily="18" charset="0"/>
                    <a:ea typeface="Cambria Math" panose="02040503050406030204" pitchFamily="18" charset="0"/>
                  </a:rPr>
                  <a:t>).</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Translating to point B by </a:t>
                </a:r>
                <a:r>
                  <a:rPr lang="el-GR" dirty="0">
                    <a:solidFill>
                      <a:srgbClr val="000000"/>
                    </a:solidFill>
                    <a:latin typeface="Cambria Math" panose="02040503050406030204" pitchFamily="18" charset="0"/>
                    <a:ea typeface="Cambria Math" panose="02040503050406030204" pitchFamily="18" charset="0"/>
                  </a:rPr>
                  <a:t>λ</a:t>
                </a:r>
                <a:r>
                  <a:rPr lang="en-US" dirty="0">
                    <a:solidFill>
                      <a:srgbClr val="000000"/>
                    </a:solidFill>
                    <a:latin typeface="Cambria Math" panose="02040503050406030204" pitchFamily="18" charset="0"/>
                    <a:ea typeface="Cambria Math" panose="02040503050406030204" pitchFamily="18" charset="0"/>
                  </a:rPr>
                  <a:t>/4 on the </a:t>
                </a:r>
              </a:p>
              <a:p>
                <a:r>
                  <a:rPr lang="en-US" dirty="0">
                    <a:solidFill>
                      <a:srgbClr val="000000"/>
                    </a:solidFill>
                    <a:latin typeface="Cambria Math" panose="02040503050406030204" pitchFamily="18" charset="0"/>
                    <a:ea typeface="Cambria Math" panose="02040503050406030204" pitchFamily="18" charset="0"/>
                  </a:rPr>
                  <a:t>      constant SWR circle results in a</a:t>
                </a:r>
              </a:p>
              <a:p>
                <a:r>
                  <a:rPr lang="en-US" dirty="0">
                    <a:solidFill>
                      <a:srgbClr val="000000"/>
                    </a:solidFill>
                    <a:latin typeface="Cambria Math" panose="02040503050406030204" pitchFamily="18" charset="0"/>
                    <a:ea typeface="Cambria Math" panose="02040503050406030204" pitchFamily="18" charset="0"/>
                  </a:rPr>
                  <a:t>      normalized load admittance of</a:t>
                </a:r>
              </a:p>
              <a:p>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0.25 – j0.6 </a:t>
                </a:r>
                <a:r>
                  <a:rPr lang="en-US" sz="1400" dirty="0">
                    <a:solidFill>
                      <a:srgbClr val="000000"/>
                    </a:solidFill>
                    <a:latin typeface="Cambria Math" panose="02040503050406030204" pitchFamily="18" charset="0"/>
                    <a:ea typeface="Cambria Math" panose="02040503050406030204" pitchFamily="18" charset="0"/>
                    <a:sym typeface="Wingdings" panose="05000000000000000000" pitchFamily="2" charset="2"/>
                  </a:rPr>
                  <a:t></a:t>
                </a:r>
                <a:r>
                  <a:rPr lang="en-US" dirty="0">
                    <a:solidFill>
                      <a:srgbClr val="000000"/>
                    </a:solidFill>
                    <a:latin typeface="Cambria Math" panose="02040503050406030204" pitchFamily="18" charset="0"/>
                    <a:ea typeface="Cambria Math" panose="02040503050406030204" pitchFamily="18" charset="0"/>
                    <a:sym typeface="Wingdings" panose="05000000000000000000" pitchFamily="2" charset="2"/>
                  </a:rPr>
                  <a:t> 0.65</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sym typeface="Wingdings" panose="05000000000000000000" pitchFamily="2" charset="2"/>
                      </a:rPr>
                      <m:t>∠(−67˚</m:t>
                    </m:r>
                  </m:oMath>
                </a14:m>
                <a:r>
                  <a:rPr lang="en-US" dirty="0">
                    <a:solidFill>
                      <a:srgbClr val="000000"/>
                    </a:solidFill>
                    <a:latin typeface="Cambria Math" panose="02040503050406030204" pitchFamily="18" charset="0"/>
                    <a:ea typeface="Cambria Math" panose="02040503050406030204" pitchFamily="18" charset="0"/>
                  </a:rPr>
                  <a:t>) ≈ 1/</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Can also arrive at B by drawing straight line from A through origin and intersect constant SWR circle.</a:t>
                </a:r>
              </a:p>
            </p:txBody>
          </p:sp>
        </mc:Choice>
        <mc:Fallback xmlns="">
          <p:sp>
            <p:nvSpPr>
              <p:cNvPr id="4" name="Rectangle 3"/>
              <p:cNvSpPr>
                <a:spLocks noRot="1" noChangeAspect="1" noMove="1" noResize="1" noEditPoints="1" noAdjustHandles="1" noChangeArrowheads="1" noChangeShapeType="1" noTextEdit="1"/>
              </p:cNvSpPr>
              <p:nvPr/>
            </p:nvSpPr>
            <p:spPr>
              <a:xfrm>
                <a:off x="168463" y="560918"/>
                <a:ext cx="11903563" cy="5918223"/>
              </a:xfrm>
              <a:prstGeom prst="rect">
                <a:avLst/>
              </a:prstGeom>
              <a:blipFill>
                <a:blip r:embed="rId2"/>
                <a:stretch>
                  <a:fillRect l="-255" t="-204" b="-102"/>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785" y="1011915"/>
            <a:ext cx="6623884" cy="4852525"/>
          </a:xfrm>
          <a:prstGeom prst="rect">
            <a:avLst/>
          </a:prstGeom>
        </p:spPr>
      </p:pic>
      <p:sp>
        <p:nvSpPr>
          <p:cNvPr id="5" name="TextBox 4">
            <a:extLst>
              <a:ext uri="{FF2B5EF4-FFF2-40B4-BE49-F238E27FC236}">
                <a16:creationId xmlns:a16="http://schemas.microsoft.com/office/drawing/2014/main" id="{A7C250F8-6C0A-B0F2-796A-3D5DD532C994}"/>
              </a:ext>
            </a:extLst>
          </p:cNvPr>
          <p:cNvSpPr txBox="1"/>
          <p:nvPr/>
        </p:nvSpPr>
        <p:spPr>
          <a:xfrm>
            <a:off x="10301844" y="4839999"/>
            <a:ext cx="15926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Poll Questions</a:t>
            </a:r>
          </a:p>
        </p:txBody>
      </p:sp>
    </p:spTree>
    <p:extLst>
      <p:ext uri="{BB962C8B-B14F-4D97-AF65-F5344CB8AC3E}">
        <p14:creationId xmlns:p14="http://schemas.microsoft.com/office/powerpoint/2010/main" val="30469000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5" end="15"/>
                                            </p:txEl>
                                          </p:spTgt>
                                        </p:tgtEl>
                                        <p:attrNameLst>
                                          <p:attrName>style.visibility</p:attrName>
                                        </p:attrNameLst>
                                      </p:cBhvr>
                                      <p:to>
                                        <p:strVal val="visible"/>
                                      </p:to>
                                    </p:set>
                                    <p:anim calcmode="lin" valueType="num">
                                      <p:cBhvr additive="base">
                                        <p:cTn id="7"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6" end="16"/>
                                            </p:txEl>
                                          </p:spTgt>
                                        </p:tgtEl>
                                        <p:attrNameLst>
                                          <p:attrName>style.visibility</p:attrName>
                                        </p:attrNameLst>
                                      </p:cBhvr>
                                      <p:to>
                                        <p:strVal val="visible"/>
                                      </p:to>
                                    </p:set>
                                    <p:anim calcmode="lin" valueType="num">
                                      <p:cBhvr additive="base">
                                        <p:cTn id="11"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6" end="1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7" end="17"/>
                                            </p:txEl>
                                          </p:spTgt>
                                        </p:tgtEl>
                                        <p:attrNameLst>
                                          <p:attrName>style.visibility</p:attrName>
                                        </p:attrNameLst>
                                      </p:cBhvr>
                                      <p:to>
                                        <p:strVal val="visible"/>
                                      </p:to>
                                    </p:set>
                                    <p:anim calcmode="lin" valueType="num">
                                      <p:cBhvr additive="base">
                                        <p:cTn id="15"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7" end="1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8" end="18"/>
                                            </p:txEl>
                                          </p:spTgt>
                                        </p:tgtEl>
                                        <p:attrNameLst>
                                          <p:attrName>style.visibility</p:attrName>
                                        </p:attrNameLst>
                                      </p:cBhvr>
                                      <p:to>
                                        <p:strVal val="visible"/>
                                      </p:to>
                                    </p:set>
                                    <p:anim calcmode="lin" valueType="num">
                                      <p:cBhvr additive="base">
                                        <p:cTn id="19" dur="500" fill="hold"/>
                                        <p:tgtEl>
                                          <p:spTgt spid="4">
                                            <p:txEl>
                                              <p:pRg st="18" end="1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8" end="1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20" end="20"/>
                                            </p:txEl>
                                          </p:spTgt>
                                        </p:tgtEl>
                                        <p:attrNameLst>
                                          <p:attrName>style.visibility</p:attrName>
                                        </p:attrNameLst>
                                      </p:cBhvr>
                                      <p:to>
                                        <p:strVal val="visible"/>
                                      </p:to>
                                    </p:set>
                                    <p:anim calcmode="lin" valueType="num">
                                      <p:cBhvr additive="base">
                                        <p:cTn id="23" dur="500" fill="hold"/>
                                        <p:tgtEl>
                                          <p:spTgt spid="4">
                                            <p:txEl>
                                              <p:pRg st="20" end="2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0" end="2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282495" y="-16476"/>
            <a:ext cx="7652951" cy="553998"/>
          </a:xfrm>
        </p:spPr>
        <p:txBody>
          <a:bodyPr/>
          <a:lstStyle/>
          <a:p>
            <a:pPr algn="ctr"/>
            <a:r>
              <a:rPr lang="en-US" sz="4000" dirty="0"/>
              <a:t>Back to Impedance Matching</a:t>
            </a:r>
          </a:p>
        </p:txBody>
      </p:sp>
      <mc:AlternateContent xmlns:mc="http://schemas.openxmlformats.org/markup-compatibility/2006" xmlns:a14="http://schemas.microsoft.com/office/drawing/2010/main">
        <mc:Choice Requires="a14">
          <p:sp>
            <p:nvSpPr>
              <p:cNvPr id="4" name="Rectangle 3"/>
              <p:cNvSpPr/>
              <p:nvPr/>
            </p:nvSpPr>
            <p:spPr>
              <a:xfrm>
                <a:off x="107005" y="575884"/>
                <a:ext cx="12003932" cy="6195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Transmission line is said to be matched to the load when the characteristic impedance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b="0" i="0" smtClean="0">
                            <a:solidFill>
                              <a:srgbClr val="000000"/>
                            </a:solidFill>
                            <a:latin typeface="Cambria Math" panose="02040503050406030204" pitchFamily="18" charset="0"/>
                            <a:ea typeface="Cambria Math" panose="02040503050406030204" pitchFamily="18" charset="0"/>
                          </a:rPr>
                          <m:t>in</m:t>
                        </m:r>
                      </m:sub>
                    </m:sSub>
                  </m:oMath>
                </a14:m>
                <a:r>
                  <a:rPr lang="en-US" dirty="0">
                    <a:solidFill>
                      <a:srgbClr val="000000"/>
                    </a:solidFill>
                    <a:latin typeface="Cambria Math" panose="02040503050406030204" pitchFamily="18" charset="0"/>
                    <a:ea typeface="Cambria Math" panose="02040503050406030204" pitchFamily="18" charset="0"/>
                  </a:rPr>
                  <a:t> of a matching network, which prevents reflections along the feedline back to the source. So want Z</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 at MM’ to equal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oMath>
                </a14:m>
                <a:r>
                  <a:rPr lang="en-US" dirty="0">
                    <a:solidFill>
                      <a:srgbClr val="000000"/>
                    </a:solidFill>
                    <a:latin typeface="Cambria Math" panose="02040503050406030204" pitchFamily="18" charset="0"/>
                    <a:ea typeface="Cambria Math" panose="02040503050406030204" pitchFamily="18" charset="0"/>
                  </a:rPr>
                  <a:t> of the feedline.</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Smith Chart aids in impedance matching network calculations.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Use a matching network to eliminate reflections at terminals MM’</a:t>
                </a:r>
              </a:p>
              <a:p>
                <a:r>
                  <a:rPr lang="en-US" dirty="0">
                    <a:solidFill>
                      <a:srgbClr val="000000"/>
                    </a:solidFill>
                    <a:latin typeface="Cambria Math" panose="02040503050406030204" pitchFamily="18" charset="0"/>
                    <a:ea typeface="Cambria Math" panose="02040503050406030204" pitchFamily="18" charset="0"/>
                  </a:rPr>
                  <a:t>     for waves incident from the source. </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So want Z</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 at MM’ to equal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oMath>
                </a14:m>
                <a:r>
                  <a:rPr lang="en-US" dirty="0">
                    <a:solidFill>
                      <a:srgbClr val="000000"/>
                    </a:solidFill>
                    <a:latin typeface="Cambria Math" panose="02040503050406030204" pitchFamily="18" charset="0"/>
                    <a:ea typeface="Cambria Math" panose="02040503050406030204" pitchFamily="18" charset="0"/>
                  </a:rPr>
                  <a:t> of the feedline. For a lossless</a:t>
                </a:r>
              </a:p>
              <a:p>
                <a:r>
                  <a:rPr lang="en-US" dirty="0">
                    <a:solidFill>
                      <a:srgbClr val="000000"/>
                    </a:solidFill>
                    <a:latin typeface="Cambria Math" panose="02040503050406030204" pitchFamily="18" charset="0"/>
                    <a:ea typeface="Cambria Math" panose="02040503050406030204" pitchFamily="18" charset="0"/>
                  </a:rPr>
                  <a:t>      transmission line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Z</m:t>
                        </m:r>
                      </m:e>
                      <m:sub>
                        <m:r>
                          <a:rPr lang="en-US" smtClean="0">
                            <a:solidFill>
                              <a:srgbClr val="000000"/>
                            </a:solidFill>
                            <a:latin typeface="Cambria Math" panose="02040503050406030204" pitchFamily="18" charset="0"/>
                            <a:ea typeface="Cambria Math" panose="02040503050406030204" pitchFamily="18" charset="0"/>
                          </a:rPr>
                          <m:t>0</m:t>
                        </m:r>
                      </m:sub>
                    </m:sSub>
                    <m:r>
                      <a:rPr lang="en-US" smtClean="0">
                        <a:solidFill>
                          <a:srgbClr val="000000"/>
                        </a:solidFill>
                        <a:latin typeface="Cambria Math" panose="02040503050406030204" pitchFamily="18" charset="0"/>
                        <a:ea typeface="Cambria Math" panose="020405030504060302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f>
                          <m:fPr>
                            <m:ctrlPr>
                              <a:rPr lang="en-US" i="1">
                                <a:solidFill>
                                  <a:srgbClr val="000000"/>
                                </a:solidFill>
                                <a:latin typeface="Cambria Math" panose="02040503050406030204" pitchFamily="18" charset="0"/>
                                <a:cs typeface="Times New Roman" panose="02020603050405020304" pitchFamily="18" charset="0"/>
                              </a:rPr>
                            </m:ctrlPr>
                          </m:fPr>
                          <m:num>
                            <m:sSup>
                              <m:sSupPr>
                                <m:ctrlP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m:t>
                                </m:r>
                              </m:e>
                              <m:sup>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p>
                          </m:num>
                          <m:den>
                            <m:sSup>
                              <m:sSupPr>
                                <m:ctrlP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m:t>
                                </m:r>
                              </m:e>
                              <m:sup>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p>
                          </m:den>
                        </m:f>
                      </m:e>
                    </m:rad>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R</m:t>
                        </m:r>
                      </m:e>
                      <m:sub>
                        <m:r>
                          <a:rPr lang="en-US" smtClean="0">
                            <a:solidFill>
                              <a:srgbClr val="000000"/>
                            </a:solidFill>
                            <a:latin typeface="Cambria Math" panose="02040503050406030204" pitchFamily="18" charset="0"/>
                            <a:ea typeface="Cambria Math" panose="02040503050406030204" pitchFamily="18" charset="0"/>
                          </a:rPr>
                          <m:t>0</m:t>
                        </m:r>
                      </m:sub>
                    </m:sSub>
                    <m:r>
                      <a:rPr lang="en-US" smtClean="0">
                        <a:solidFill>
                          <a:srgbClr val="000000"/>
                        </a:solidFill>
                        <a:latin typeface="Cambria Math" panose="02040503050406030204" pitchFamily="18" charset="0"/>
                        <a:ea typeface="Cambria Math" panose="02040503050406030204" pitchFamily="18" charset="0"/>
                      </a:rPr>
                      <m:t>+</m:t>
                    </m:r>
                    <m:r>
                      <m:rPr>
                        <m:sty m:val="p"/>
                      </m:rPr>
                      <a:rPr lang="en-US" smtClean="0">
                        <a:solidFill>
                          <a:srgbClr val="000000"/>
                        </a:solidFill>
                        <a:latin typeface="Cambria Math" panose="02040503050406030204" pitchFamily="18" charset="0"/>
                        <a:ea typeface="Cambria Math" panose="02040503050406030204" pitchFamily="18" charset="0"/>
                      </a:rPr>
                      <m:t>j</m:t>
                    </m:r>
                    <m:r>
                      <a:rPr lang="en-US" smtClean="0">
                        <a:solidFill>
                          <a:srgbClr val="000000"/>
                        </a:solidFill>
                        <a:latin typeface="Cambria Math" panose="02040503050406030204" pitchFamily="18" charset="0"/>
                        <a:ea typeface="Cambria Math" panose="02040503050406030204" pitchFamily="18" charset="0"/>
                      </a:rPr>
                      <m:t>0</m:t>
                    </m:r>
                    <m:r>
                      <a:rPr lang="en-US" b="0" i="1"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m:t>
                    </m:r>
                    <m:r>
                      <a:rPr lang="en-US" b="0" i="0" smtClean="0">
                        <a:solidFill>
                          <a:srgbClr val="000000"/>
                        </a:solidFill>
                        <a:latin typeface="Cambria Math" panose="02040503050406030204" pitchFamily="18" charset="0"/>
                        <a:ea typeface="Cambria Math" panose="02040503050406030204" pitchFamily="18" charset="0"/>
                      </a:rPr>
                      <m:t>.</m:t>
                    </m:r>
                    <m:r>
                      <m:rPr>
                        <m:sty m:val="p"/>
                      </m:rPr>
                      <a:rPr lang="en-US" b="0" i="0" smtClean="0">
                        <a:solidFill>
                          <a:srgbClr val="000000"/>
                        </a:solidFill>
                        <a:latin typeface="Cambria Math" panose="02040503050406030204" pitchFamily="18" charset="0"/>
                        <a:ea typeface="Cambria Math" panose="02040503050406030204" pitchFamily="18" charset="0"/>
                      </a:rPr>
                      <m:t>e</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no</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imaginary</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component</m:t>
                    </m:r>
                    <m:r>
                      <a:rPr lang="en-US" b="0" i="1" smtClean="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Characteristic</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impedance</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oMath>
                </a14:m>
                <a:r>
                  <a:rPr lang="en-US" dirty="0">
                    <a:solidFill>
                      <a:srgbClr val="000000"/>
                    </a:solidFill>
                    <a:latin typeface="Cambria Math" panose="02040503050406030204" pitchFamily="18" charset="0"/>
                    <a:ea typeface="Cambria Math" panose="02040503050406030204" pitchFamily="18" charset="0"/>
                  </a:rPr>
                  <a:t> of a lossless transmission line is a real number. Consequently, </a:t>
                </a:r>
                <a:r>
                  <a:rPr lang="en-US" b="1" dirty="0">
                    <a:solidFill>
                      <a:srgbClr val="000000"/>
                    </a:solidFill>
                    <a:latin typeface="Cambria Math" panose="02040503050406030204" pitchFamily="18" charset="0"/>
                    <a:ea typeface="Cambria Math" panose="02040503050406030204" pitchFamily="18" charset="0"/>
                  </a:rPr>
                  <a:t>the matching network has to transform the real part of load impedance R</a:t>
                </a:r>
                <a:r>
                  <a:rPr lang="en-US" b="1" baseline="-25000" dirty="0">
                    <a:solidFill>
                      <a:srgbClr val="000000"/>
                    </a:solidFill>
                    <a:latin typeface="Cambria Math" panose="02040503050406030204" pitchFamily="18" charset="0"/>
                    <a:ea typeface="Cambria Math" panose="02040503050406030204" pitchFamily="18" charset="0"/>
                  </a:rPr>
                  <a:t>L</a:t>
                </a:r>
                <a:r>
                  <a:rPr lang="en-US" b="1" dirty="0">
                    <a:solidFill>
                      <a:srgbClr val="000000"/>
                    </a:solidFill>
                    <a:latin typeface="Cambria Math" panose="02040503050406030204" pitchFamily="18" charset="0"/>
                    <a:ea typeface="Cambria Math" panose="02040503050406030204" pitchFamily="18" charset="0"/>
                  </a:rPr>
                  <a:t> to </a:t>
                </a:r>
                <a14:m>
                  <m:oMath xmlns:m="http://schemas.openxmlformats.org/officeDocument/2006/math">
                    <m:sSub>
                      <m:sSubPr>
                        <m:ctrlPr>
                          <a:rPr lang="en-US" b="1" i="1" smtClean="0">
                            <a:solidFill>
                              <a:srgbClr val="000000"/>
                            </a:solidFill>
                            <a:latin typeface="Cambria Math" panose="02040503050406030204" pitchFamily="18" charset="0"/>
                            <a:ea typeface="Cambria Math" panose="02040503050406030204" pitchFamily="18" charset="0"/>
                          </a:rPr>
                        </m:ctrlPr>
                      </m:sSubPr>
                      <m:e>
                        <m:r>
                          <a:rPr lang="en-US" b="1" i="0" smtClean="0">
                            <a:solidFill>
                              <a:srgbClr val="000000"/>
                            </a:solidFill>
                            <a:latin typeface="Cambria Math" panose="02040503050406030204" pitchFamily="18" charset="0"/>
                            <a:ea typeface="Cambria Math" panose="02040503050406030204" pitchFamily="18" charset="0"/>
                          </a:rPr>
                          <m:t>𝐙</m:t>
                        </m:r>
                      </m:e>
                      <m:sub>
                        <m:r>
                          <a:rPr lang="en-US" b="1" i="1" smtClean="0">
                            <a:solidFill>
                              <a:srgbClr val="000000"/>
                            </a:solidFill>
                            <a:latin typeface="Cambria Math" panose="02040503050406030204" pitchFamily="18" charset="0"/>
                            <a:ea typeface="Cambria Math" panose="02040503050406030204" pitchFamily="18" charset="0"/>
                          </a:rPr>
                          <m:t>𝟎</m:t>
                        </m:r>
                      </m:sub>
                    </m:sSub>
                    <m:r>
                      <a:rPr lang="en-US" b="1" smtClean="0">
                        <a:solidFill>
                          <a:srgbClr val="000000"/>
                        </a:solidFill>
                        <a:latin typeface="Cambria Math" panose="02040503050406030204" pitchFamily="18" charset="0"/>
                        <a:ea typeface="Cambria Math" panose="02040503050406030204" pitchFamily="18" charset="0"/>
                      </a:rPr>
                      <m:t>=</m:t>
                    </m:r>
                  </m:oMath>
                </a14:m>
                <a:r>
                  <a:rPr lang="en-US" b="1" dirty="0">
                    <a:solidFill>
                      <a:srgbClr val="000000"/>
                    </a:solidFill>
                    <a:latin typeface="Cambria Math" panose="02040503050406030204" pitchFamily="18" charset="0"/>
                    <a:ea typeface="Cambria Math" panose="02040503050406030204" pitchFamily="18" charset="0"/>
                  </a:rPr>
                  <a:t> R</a:t>
                </a:r>
                <a:r>
                  <a:rPr lang="en-US" b="1" baseline="-25000" dirty="0">
                    <a:solidFill>
                      <a:srgbClr val="000000"/>
                    </a:solidFill>
                    <a:latin typeface="Cambria Math" panose="02040503050406030204" pitchFamily="18" charset="0"/>
                    <a:ea typeface="Cambria Math" panose="02040503050406030204" pitchFamily="18" charset="0"/>
                  </a:rPr>
                  <a:t>0</a:t>
                </a:r>
                <a:r>
                  <a:rPr lang="en-US" b="1" dirty="0">
                    <a:solidFill>
                      <a:srgbClr val="000000"/>
                    </a:solidFill>
                    <a:latin typeface="Cambria Math" panose="02040503050406030204" pitchFamily="18" charset="0"/>
                    <a:ea typeface="Cambria Math" panose="02040503050406030204" pitchFamily="18" charset="0"/>
                  </a:rPr>
                  <a:t> at MM’, and transform the reactive part of load impedance X</a:t>
                </a:r>
                <a:r>
                  <a:rPr lang="en-US" b="1" baseline="-25000" dirty="0">
                    <a:solidFill>
                      <a:srgbClr val="000000"/>
                    </a:solidFill>
                    <a:latin typeface="Cambria Math" panose="02040503050406030204" pitchFamily="18" charset="0"/>
                    <a:ea typeface="Cambria Math" panose="02040503050406030204" pitchFamily="18" charset="0"/>
                  </a:rPr>
                  <a:t>L</a:t>
                </a:r>
                <a:r>
                  <a:rPr lang="en-US" b="1" dirty="0">
                    <a:solidFill>
                      <a:srgbClr val="000000"/>
                    </a:solidFill>
                    <a:latin typeface="Cambria Math" panose="02040503050406030204" pitchFamily="18" charset="0"/>
                    <a:ea typeface="Cambria Math" panose="02040503050406030204" pitchFamily="18" charset="0"/>
                  </a:rPr>
                  <a:t> to zero at MM’</a:t>
                </a:r>
                <a:r>
                  <a:rPr lang="en-US" dirty="0">
                    <a:solidFill>
                      <a:srgbClr val="000000"/>
                    </a:solidFill>
                    <a:latin typeface="Cambria Math" panose="02040503050406030204" pitchFamily="18" charset="0"/>
                    <a:ea typeface="Cambria Math" panose="02040503050406030204" pitchFamily="18" charset="0"/>
                  </a:rPr>
                  <a:t>. </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Lumped-Element Matching involves adding a shunt (parallel) capacitor or inductor located at the appropriate distance from the load to achieve the desired Z</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Single-Stub Matching involves adding a shorted transmission line, referred to as a stub, located at the appropriate distance from the load to achieve the desired Z</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 Remember a shorted transmission line can produce inductive or capacitive reactance by choosing the appropriate line length relative to the wavelength of interest.</a:t>
                </a:r>
              </a:p>
            </p:txBody>
          </p:sp>
        </mc:Choice>
        <mc:Fallback xmlns="">
          <p:sp>
            <p:nvSpPr>
              <p:cNvPr id="4" name="Rectangle 3"/>
              <p:cNvSpPr>
                <a:spLocks noRot="1" noChangeAspect="1" noMove="1" noResize="1" noEditPoints="1" noAdjustHandles="1" noChangeArrowheads="1" noChangeShapeType="1" noTextEdit="1"/>
              </p:cNvSpPr>
              <p:nvPr/>
            </p:nvSpPr>
            <p:spPr>
              <a:xfrm>
                <a:off x="107005" y="575884"/>
                <a:ext cx="12003932" cy="6195992"/>
              </a:xfrm>
              <a:prstGeom prst="rect">
                <a:avLst/>
              </a:prstGeom>
              <a:blipFill>
                <a:blip r:embed="rId2"/>
                <a:stretch>
                  <a:fillRect l="-152" t="-195" r="-354"/>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5126" y="1561709"/>
            <a:ext cx="4863705" cy="1955844"/>
          </a:xfrm>
          <a:prstGeom prst="rect">
            <a:avLst/>
          </a:prstGeom>
        </p:spPr>
      </p:pic>
    </p:spTree>
    <p:extLst>
      <p:ext uri="{BB962C8B-B14F-4D97-AF65-F5344CB8AC3E}">
        <p14:creationId xmlns:p14="http://schemas.microsoft.com/office/powerpoint/2010/main" val="1989969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anim calcmode="lin" valueType="num">
                                      <p:cBhvr additive="base">
                                        <p:cTn id="1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anim calcmode="lin" valueType="num">
                                      <p:cBhvr additive="base">
                                        <p:cTn id="1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anim calcmode="lin" valueType="num">
                                      <p:cBhvr additive="base">
                                        <p:cTn id="2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anim calcmode="lin" valueType="num">
                                      <p:cBhvr additive="base">
                                        <p:cTn id="27"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775844" y="0"/>
            <a:ext cx="6640312" cy="553998"/>
          </a:xfrm>
        </p:spPr>
        <p:txBody>
          <a:bodyPr/>
          <a:lstStyle/>
          <a:p>
            <a:pPr algn="ctr"/>
            <a:r>
              <a:rPr lang="en-US" sz="4000" dirty="0"/>
              <a:t>Lumped Element Matching</a:t>
            </a:r>
          </a:p>
        </p:txBody>
      </p:sp>
      <mc:AlternateContent xmlns:mc="http://schemas.openxmlformats.org/markup-compatibility/2006" xmlns:a14="http://schemas.microsoft.com/office/drawing/2010/main">
        <mc:Choice Requires="a14">
          <p:sp>
            <p:nvSpPr>
              <p:cNvPr id="4" name="Rectangle 3"/>
              <p:cNvSpPr/>
              <p:nvPr/>
            </p:nvSpPr>
            <p:spPr>
              <a:xfrm>
                <a:off x="107005" y="600598"/>
                <a:ext cx="12003932"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Use a matching network to eliminate reflections at terminals MM’</a:t>
                </a:r>
              </a:p>
              <a:p>
                <a:r>
                  <a:rPr lang="en-US" dirty="0">
                    <a:solidFill>
                      <a:srgbClr val="000000"/>
                    </a:solidFill>
                    <a:latin typeface="Cambria Math" panose="02040503050406030204" pitchFamily="18" charset="0"/>
                    <a:ea typeface="Cambria Math" panose="02040503050406030204" pitchFamily="18" charset="0"/>
                  </a:rPr>
                  <a:t>     for waves incident from the source. </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Use admittance because of shunt (parallel</a:t>
                </a:r>
                <a:r>
                  <a:rPr lang="en-US">
                    <a:solidFill>
                      <a:srgbClr val="000000"/>
                    </a:solidFill>
                    <a:latin typeface="Cambria Math" panose="02040503050406030204" pitchFamily="18" charset="0"/>
                    <a:ea typeface="Cambria Math" panose="02040503050406030204" pitchFamily="18" charset="0"/>
                  </a:rPr>
                  <a:t>) elements. </a:t>
                </a:r>
                <a:r>
                  <a:rPr lang="en-US" dirty="0">
                    <a:solidFill>
                      <a:srgbClr val="000000"/>
                    </a:solidFill>
                    <a:latin typeface="Cambria Math" panose="02040503050406030204" pitchFamily="18" charset="0"/>
                    <a:ea typeface="Cambria Math" panose="02040503050406030204" pitchFamily="18" charset="0"/>
                  </a:rPr>
                  <a:t>In the admittance</a:t>
                </a:r>
              </a:p>
              <a:p>
                <a:r>
                  <a:rPr lang="en-US" dirty="0">
                    <a:solidFill>
                      <a:srgbClr val="000000"/>
                    </a:solidFill>
                    <a:latin typeface="Cambria Math" panose="02040503050406030204" pitchFamily="18" charset="0"/>
                    <a:ea typeface="Cambria Math" panose="02040503050406030204" pitchFamily="18" charset="0"/>
                  </a:rPr>
                  <a:t>      domain,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 circles become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circles and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x</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 arcs become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b</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 arcs.  </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So want Y</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 at MM’ to equal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a:rPr lang="en-US">
                            <a:solidFill>
                              <a:srgbClr val="000000"/>
                            </a:solidFill>
                            <a:latin typeface="Cambria Math" panose="02040503050406030204" pitchFamily="18" charset="0"/>
                            <a:ea typeface="Cambria Math" panose="02040503050406030204" pitchFamily="18" charset="0"/>
                          </a:rPr>
                          <m:t>0</m:t>
                        </m:r>
                      </m:sub>
                    </m:sSub>
                  </m:oMath>
                </a14:m>
                <a:r>
                  <a:rPr lang="en-US" dirty="0">
                    <a:solidFill>
                      <a:srgbClr val="000000"/>
                    </a:solidFill>
                    <a:latin typeface="Cambria Math" panose="02040503050406030204" pitchFamily="18" charset="0"/>
                    <a:ea typeface="Cambria Math" panose="02040503050406030204" pitchFamily="18" charset="0"/>
                  </a:rPr>
                  <a:t> of the feedline. For a lossless</a:t>
                </a:r>
              </a:p>
              <a:p>
                <a:r>
                  <a:rPr lang="en-US" dirty="0">
                    <a:solidFill>
                      <a:srgbClr val="000000"/>
                    </a:solidFill>
                    <a:latin typeface="Cambria Math" panose="02040503050406030204" pitchFamily="18" charset="0"/>
                    <a:ea typeface="Cambria Math" panose="02040503050406030204" pitchFamily="18" charset="0"/>
                  </a:rPr>
                  <a:t>      transmission line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a:rPr lang="en-US" smtClean="0">
                            <a:solidFill>
                              <a:srgbClr val="000000"/>
                            </a:solidFill>
                            <a:latin typeface="Cambria Math" panose="02040503050406030204" pitchFamily="18" charset="0"/>
                            <a:ea typeface="Cambria Math" panose="02040503050406030204" pitchFamily="18" charset="0"/>
                          </a:rPr>
                          <m:t>0</m:t>
                        </m:r>
                      </m:sub>
                    </m:sSub>
                    <m:r>
                      <a:rPr lang="en-US" smtClean="0">
                        <a:solidFill>
                          <a:srgbClr val="000000"/>
                        </a:solidFill>
                        <a:latin typeface="Cambria Math" panose="02040503050406030204" pitchFamily="18" charset="0"/>
                        <a:ea typeface="Cambria Math" panose="02040503050406030204" pitchFamily="18" charset="0"/>
                      </a:rPr>
                      <m:t>=</m:t>
                    </m:r>
                    <m:sSub>
                      <m:sSubPr>
                        <m:ctrlPr>
                          <a:rPr lang="en-US" i="1" smtClean="0">
                            <a:solidFill>
                              <a:srgbClr val="000000"/>
                            </a:solidFill>
                            <a:latin typeface="Cambria Math" panose="02040503050406030204" pitchFamily="18" charset="0"/>
                            <a:ea typeface="Cambria Math" panose="02040503050406030204" pitchFamily="18" charset="0"/>
                          </a:rPr>
                        </m:ctrlPr>
                      </m:sSubPr>
                      <m:e>
                        <m:r>
                          <a:rPr lang="en-US" smtClean="0">
                            <a:solidFill>
                              <a:srgbClr val="000000"/>
                            </a:solidFill>
                            <a:latin typeface="Cambria Math" panose="02040503050406030204" pitchFamily="18" charset="0"/>
                            <a:ea typeface="Cambria Math" panose="02040503050406030204" pitchFamily="18" charset="0"/>
                          </a:rPr>
                          <m:t>1/</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Z</m:t>
                            </m:r>
                          </m:e>
                          <m:sub>
                            <m:r>
                              <a:rPr lang="en-US" smtClean="0">
                                <a:solidFill>
                                  <a:srgbClr val="000000"/>
                                </a:solidFill>
                                <a:latin typeface="Cambria Math" panose="02040503050406030204" pitchFamily="18" charset="0"/>
                                <a:ea typeface="Cambria Math" panose="02040503050406030204" pitchFamily="18" charset="0"/>
                              </a:rPr>
                              <m:t>0</m:t>
                            </m:r>
                          </m:sub>
                        </m:sSub>
                        <m:r>
                          <a:rPr lang="en-US" smtClean="0">
                            <a:solidFill>
                              <a:srgbClr val="000000"/>
                            </a:solidFill>
                            <a:latin typeface="Cambria Math" panose="02040503050406030204" pitchFamily="18" charset="0"/>
                            <a:ea typeface="Cambria Math" panose="02040503050406030204" pitchFamily="18" charset="0"/>
                          </a:rPr>
                          <m:t>=1/(</m:t>
                        </m:r>
                        <m:r>
                          <m:rPr>
                            <m:sty m:val="p"/>
                          </m:rPr>
                          <a:rPr lang="en-US" smtClean="0">
                            <a:solidFill>
                              <a:srgbClr val="000000"/>
                            </a:solidFill>
                            <a:latin typeface="Cambria Math" panose="02040503050406030204" pitchFamily="18" charset="0"/>
                            <a:ea typeface="Cambria Math" panose="02040503050406030204" pitchFamily="18" charset="0"/>
                          </a:rPr>
                          <m:t>R</m:t>
                        </m:r>
                      </m:e>
                      <m:sub>
                        <m:r>
                          <a:rPr lang="en-US" smtClean="0">
                            <a:solidFill>
                              <a:srgbClr val="000000"/>
                            </a:solidFill>
                            <a:latin typeface="Cambria Math" panose="02040503050406030204" pitchFamily="18" charset="0"/>
                            <a:ea typeface="Cambria Math" panose="02040503050406030204" pitchFamily="18" charset="0"/>
                          </a:rPr>
                          <m:t>0</m:t>
                        </m:r>
                      </m:sub>
                    </m:sSub>
                    <m:r>
                      <a:rPr lang="en-US" smtClean="0">
                        <a:solidFill>
                          <a:srgbClr val="000000"/>
                        </a:solidFill>
                        <a:latin typeface="Cambria Math" panose="02040503050406030204" pitchFamily="18" charset="0"/>
                        <a:ea typeface="Cambria Math" panose="02040503050406030204" pitchFamily="18" charset="0"/>
                      </a:rPr>
                      <m:t>+</m:t>
                    </m:r>
                    <m:r>
                      <m:rPr>
                        <m:sty m:val="p"/>
                      </m:rPr>
                      <a:rPr lang="en-US" smtClean="0">
                        <a:solidFill>
                          <a:srgbClr val="000000"/>
                        </a:solidFill>
                        <a:latin typeface="Cambria Math" panose="02040503050406030204" pitchFamily="18" charset="0"/>
                        <a:ea typeface="Cambria Math" panose="02040503050406030204" pitchFamily="18" charset="0"/>
                      </a:rPr>
                      <m:t>j</m:t>
                    </m:r>
                    <m:r>
                      <a:rPr lang="en-US" smtClean="0">
                        <a:solidFill>
                          <a:srgbClr val="000000"/>
                        </a:solidFill>
                        <a:latin typeface="Cambria Math" panose="02040503050406030204" pitchFamily="18" charset="0"/>
                        <a:ea typeface="Cambria Math" panose="02040503050406030204" pitchFamily="18" charset="0"/>
                      </a:rPr>
                      <m:t>0)</m:t>
                    </m:r>
                    <m:r>
                      <a:rPr lang="en-US" i="1" smtClean="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m:rPr>
                            <m:sty m:val="p"/>
                          </m:rPr>
                          <a:rPr lang="en-US" smtClean="0">
                            <a:solidFill>
                              <a:srgbClr val="000000"/>
                            </a:solidFill>
                            <a:latin typeface="Cambria Math" panose="02040503050406030204" pitchFamily="18" charset="0"/>
                            <a:ea typeface="Cambria Math" panose="02040503050406030204" pitchFamily="18" charset="0"/>
                          </a:rPr>
                          <m:t>in</m:t>
                        </m:r>
                      </m:sub>
                    </m:sSub>
                    <m:r>
                      <a:rPr lang="en-US" smtClean="0">
                        <a:solidFill>
                          <a:srgbClr val="000000"/>
                        </a:solidFill>
                        <a:latin typeface="Cambria Math" panose="02040503050406030204" pitchFamily="18" charset="0"/>
                        <a:ea typeface="Cambria Math" panose="02040503050406030204" pitchFamily="18" charset="0"/>
                      </a:rPr>
                      <m:t>=</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i="0" smtClean="0">
                            <a:solidFill>
                              <a:srgbClr val="000000"/>
                            </a:solidFill>
                            <a:latin typeface="Cambria Math" panose="02040503050406030204" pitchFamily="18" charset="0"/>
                            <a:ea typeface="Cambria Math" panose="02040503050406030204" pitchFamily="18" charset="0"/>
                          </a:rPr>
                          <m:t>Y</m:t>
                        </m:r>
                      </m:e>
                      <m:sub>
                        <m:r>
                          <m:rPr>
                            <m:sty m:val="p"/>
                          </m:rPr>
                          <a:rPr lang="en-US" b="0" i="0" smtClean="0">
                            <a:solidFill>
                              <a:srgbClr val="000000"/>
                            </a:solidFill>
                            <a:latin typeface="Cambria Math" panose="02040503050406030204" pitchFamily="18" charset="0"/>
                            <a:ea typeface="Cambria Math" panose="02040503050406030204" pitchFamily="18" charset="0"/>
                          </a:rPr>
                          <m:t>d</m:t>
                        </m:r>
                      </m:sub>
                    </m:sSub>
                    <m:r>
                      <a:rPr lang="en-US" i="0" smtClean="0">
                        <a:solidFill>
                          <a:srgbClr val="000000"/>
                        </a:solidFill>
                        <a:latin typeface="Cambria Math" panose="02040503050406030204" pitchFamily="18" charset="0"/>
                        <a:ea typeface="Cambria Math" panose="02040503050406030204" pitchFamily="18" charset="0"/>
                      </a:rPr>
                      <m:t>+</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i="0" smtClean="0">
                            <a:solidFill>
                              <a:srgbClr val="000000"/>
                            </a:solidFill>
                            <a:latin typeface="Cambria Math" panose="02040503050406030204" pitchFamily="18" charset="0"/>
                            <a:ea typeface="Cambria Math" panose="02040503050406030204" pitchFamily="18" charset="0"/>
                          </a:rPr>
                          <m:t>Y</m:t>
                        </m:r>
                      </m:e>
                      <m:sub>
                        <m:r>
                          <m:rPr>
                            <m:sty m:val="p"/>
                          </m:rPr>
                          <a:rPr lang="en-US" b="0" i="0" smtClean="0">
                            <a:solidFill>
                              <a:srgbClr val="000000"/>
                            </a:solidFill>
                            <a:latin typeface="Cambria Math" panose="02040503050406030204" pitchFamily="18" charset="0"/>
                            <a:ea typeface="Cambria Math" panose="02040503050406030204" pitchFamily="18" charset="0"/>
                          </a:rPr>
                          <m:t>s</m:t>
                        </m:r>
                      </m:sub>
                    </m:sSub>
                  </m:oMath>
                </a14:m>
                <a:r>
                  <a:rPr lang="en-US" dirty="0">
                    <a:solidFill>
                      <a:srgbClr val="000000"/>
                    </a:solidFill>
                    <a:latin typeface="Cambria Math" panose="02040503050406030204" pitchFamily="18" charset="0"/>
                    <a:ea typeface="Cambria Math" panose="02040503050406030204" pitchFamily="18" charset="0"/>
                  </a:rPr>
                  <a:t>, where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d</m:t>
                        </m:r>
                      </m:sub>
                    </m:sSub>
                  </m:oMath>
                </a14:m>
                <a:r>
                  <a:rPr lang="en-US" dirty="0">
                    <a:solidFill>
                      <a:srgbClr val="000000"/>
                    </a:solidFill>
                    <a:latin typeface="Cambria Math" panose="02040503050406030204" pitchFamily="18" charset="0"/>
                    <a:ea typeface="Cambria Math" panose="02040503050406030204" pitchFamily="18" charset="0"/>
                  </a:rPr>
                  <a:t> is the input admittance of the line at MM’</a:t>
                </a:r>
              </a:p>
              <a:p>
                <a:r>
                  <a:rPr lang="en-US" dirty="0">
                    <a:solidFill>
                      <a:srgbClr val="000000"/>
                    </a:solidFill>
                    <a:latin typeface="Cambria Math" panose="02040503050406030204" pitchFamily="18" charset="0"/>
                    <a:ea typeface="Cambria Math" panose="02040503050406030204" pitchFamily="18" charset="0"/>
                  </a:rPr>
                  <a:t>from the load and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s</m:t>
                        </m:r>
                      </m:sub>
                    </m:sSub>
                  </m:oMath>
                </a14:m>
                <a:r>
                  <a:rPr lang="en-US" dirty="0">
                    <a:solidFill>
                      <a:srgbClr val="000000"/>
                    </a:solidFill>
                    <a:latin typeface="Cambria Math" panose="02040503050406030204" pitchFamily="18" charset="0"/>
                    <a:ea typeface="Cambria Math" panose="02040503050406030204" pitchFamily="18" charset="0"/>
                  </a:rPr>
                  <a:t> is the admittance of the shunt element, either a </a:t>
                </a:r>
              </a:p>
              <a:p>
                <a:r>
                  <a:rPr lang="en-US" dirty="0">
                    <a:solidFill>
                      <a:srgbClr val="000000"/>
                    </a:solidFill>
                    <a:latin typeface="Cambria Math" panose="02040503050406030204" pitchFamily="18" charset="0"/>
                    <a:ea typeface="Cambria Math" panose="02040503050406030204" pitchFamily="18" charset="0"/>
                  </a:rPr>
                  <a:t>capacitor or an inductor, i.e., a reactive component.</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s</m:t>
                        </m:r>
                      </m:sub>
                    </m:sSub>
                    <m:r>
                      <a:rPr lang="en-US">
                        <a:solidFill>
                          <a:srgbClr val="000000"/>
                        </a:solidFill>
                        <a:latin typeface="Cambria Math" panose="02040503050406030204" pitchFamily="18" charset="0"/>
                        <a:ea typeface="Cambria Math" panose="02040503050406030204" pitchFamily="18" charset="0"/>
                      </a:rPr>
                      <m:t>=</m:t>
                    </m:r>
                    <m:d>
                      <m:dPr>
                        <m:ctrlPr>
                          <a:rPr lang="en-US" i="1" smtClean="0">
                            <a:solidFill>
                              <a:srgbClr val="000000"/>
                            </a:solidFill>
                            <a:latin typeface="Cambria Math" panose="02040503050406030204" pitchFamily="18" charset="0"/>
                            <a:ea typeface="Cambria Math" panose="02040503050406030204" pitchFamily="18" charset="0"/>
                          </a:rPr>
                        </m:ctrlPr>
                      </m:dPr>
                      <m:e>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G</m:t>
                            </m:r>
                          </m:e>
                          <m:sub>
                            <m:r>
                              <m:rPr>
                                <m:sty m:val="p"/>
                              </m:rPr>
                              <a:rPr lang="en-US" smtClean="0">
                                <a:solidFill>
                                  <a:srgbClr val="000000"/>
                                </a:solidFill>
                                <a:latin typeface="Cambria Math" panose="02040503050406030204" pitchFamily="18" charset="0"/>
                                <a:ea typeface="Cambria Math" panose="02040503050406030204" pitchFamily="18" charset="0"/>
                              </a:rPr>
                              <m:t>d</m:t>
                            </m:r>
                          </m:sub>
                        </m:sSub>
                        <m:r>
                          <a:rPr lang="en-US" smtClean="0">
                            <a:solidFill>
                              <a:srgbClr val="000000"/>
                            </a:solidFill>
                            <a:latin typeface="Cambria Math" panose="02040503050406030204" pitchFamily="18" charset="0"/>
                            <a:ea typeface="Cambria Math" panose="02040503050406030204" pitchFamily="18" charset="0"/>
                          </a:rPr>
                          <m:t>+</m:t>
                        </m:r>
                        <m:r>
                          <m:rPr>
                            <m:sty m:val="p"/>
                          </m:rPr>
                          <a:rPr lang="en-US" smtClean="0">
                            <a:solidFill>
                              <a:srgbClr val="000000"/>
                            </a:solidFill>
                            <a:latin typeface="Cambria Math" panose="02040503050406030204" pitchFamily="18" charset="0"/>
                            <a:ea typeface="Cambria Math" panose="02040503050406030204" pitchFamily="18" charset="0"/>
                          </a:rPr>
                          <m:t>j</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B</m:t>
                            </m:r>
                          </m:e>
                          <m:sub>
                            <m:r>
                              <m:rPr>
                                <m:sty m:val="p"/>
                              </m:rPr>
                              <a:rPr lang="en-US" smtClean="0">
                                <a:solidFill>
                                  <a:srgbClr val="000000"/>
                                </a:solidFill>
                                <a:latin typeface="Cambria Math" panose="02040503050406030204" pitchFamily="18" charset="0"/>
                                <a:ea typeface="Cambria Math" panose="02040503050406030204" pitchFamily="18" charset="0"/>
                              </a:rPr>
                              <m:t>d</m:t>
                            </m:r>
                          </m:sub>
                        </m:sSub>
                      </m:e>
                    </m:d>
                    <m:r>
                      <a:rPr lang="en-US" i="1">
                        <a:solidFill>
                          <a:srgbClr val="000000"/>
                        </a:solidFill>
                        <a:latin typeface="Cambria Math" panose="02040503050406030204" pitchFamily="18" charset="0"/>
                        <a:ea typeface="Cambria Math" panose="02040503050406030204" pitchFamily="18" charset="0"/>
                      </a:rPr>
                      <m:t>+</m:t>
                    </m:r>
                    <m:r>
                      <a:rPr lang="en-US" smtClean="0">
                        <a:solidFill>
                          <a:srgbClr val="000000"/>
                        </a:solidFill>
                        <a:latin typeface="Cambria Math" panose="02040503050406030204" pitchFamily="18" charset="0"/>
                        <a:ea typeface="Cambria Math" panose="02040503050406030204" pitchFamily="18" charset="0"/>
                      </a:rPr>
                      <m:t>0+</m:t>
                    </m:r>
                    <m:r>
                      <m:rPr>
                        <m:sty m:val="p"/>
                      </m:rPr>
                      <a:rPr lang="en-US" smtClean="0">
                        <a:solidFill>
                          <a:srgbClr val="000000"/>
                        </a:solidFill>
                        <a:latin typeface="Cambria Math" panose="02040503050406030204" pitchFamily="18" charset="0"/>
                        <a:ea typeface="Cambria Math" panose="02040503050406030204" pitchFamily="18" charset="0"/>
                      </a:rPr>
                      <m:t>j</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B</m:t>
                        </m:r>
                      </m:e>
                      <m:sub>
                        <m:r>
                          <m:rPr>
                            <m:sty m:val="p"/>
                          </m:rPr>
                          <a:rPr lang="en-US" smtClean="0">
                            <a:solidFill>
                              <a:srgbClr val="000000"/>
                            </a:solidFill>
                            <a:latin typeface="Cambria Math" panose="02040503050406030204" pitchFamily="18" charset="0"/>
                            <a:ea typeface="Cambria Math" panose="02040503050406030204" pitchFamily="18" charset="0"/>
                          </a:rPr>
                          <m:t>s</m:t>
                        </m:r>
                      </m:sub>
                    </m:sSub>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smtClean="0">
                        <a:solidFill>
                          <a:srgbClr val="000000"/>
                        </a:solidFill>
                        <a:latin typeface="Cambria Math" panose="02040503050406030204" pitchFamily="18" charset="0"/>
                        <a:ea typeface="Cambria Math" panose="02040503050406030204" pitchFamily="18" charset="0"/>
                      </a:rPr>
                      <m:t>+</m:t>
                    </m:r>
                    <m:r>
                      <m:rPr>
                        <m:sty m:val="p"/>
                      </m:rPr>
                      <a:rPr lang="en-US" smtClean="0">
                        <a:solidFill>
                          <a:srgbClr val="000000"/>
                        </a:solidFill>
                        <a:latin typeface="Cambria Math" panose="02040503050406030204" pitchFamily="18" charset="0"/>
                        <a:ea typeface="Cambria Math" panose="02040503050406030204" pitchFamily="18" charset="0"/>
                      </a:rPr>
                      <m:t>j</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B</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B</m:t>
                            </m:r>
                          </m:e>
                          <m:sub>
                            <m:r>
                              <m:rPr>
                                <m:sty m:val="p"/>
                              </m:rPr>
                              <a:rPr lang="en-US" smtClean="0">
                                <a:solidFill>
                                  <a:srgbClr val="000000"/>
                                </a:solidFill>
                                <a:latin typeface="Cambria Math" panose="02040503050406030204" pitchFamily="18" charset="0"/>
                                <a:ea typeface="Cambria Math" panose="02040503050406030204" pitchFamily="18" charset="0"/>
                              </a:rPr>
                              <m:t>s</m:t>
                            </m:r>
                          </m:sub>
                        </m:sSub>
                      </m:e>
                    </m:d>
                  </m:oMath>
                </a14:m>
                <a:r>
                  <a:rPr lang="en-US" dirty="0">
                    <a:solidFill>
                      <a:srgbClr val="00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Using normalized quantities, normalized to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a:rPr lang="en-US" smtClean="0">
                            <a:solidFill>
                              <a:srgbClr val="000000"/>
                            </a:solidFill>
                            <a:latin typeface="Cambria Math" panose="02040503050406030204" pitchFamily="18" charset="0"/>
                            <a:ea typeface="Cambria Math" panose="02040503050406030204" pitchFamily="18" charset="0"/>
                          </a:rPr>
                          <m:t>0</m:t>
                        </m:r>
                      </m:sub>
                    </m:sSub>
                    <m:r>
                      <a:rPr lang="en-US" i="1" smtClean="0">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in</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smtClean="0">
                        <a:solidFill>
                          <a:srgbClr val="000000"/>
                        </a:solidFill>
                        <a:latin typeface="Cambria Math" panose="02040503050406030204" pitchFamily="18" charset="0"/>
                        <a:ea typeface="Cambria Math" panose="02040503050406030204" pitchFamily="18" charset="0"/>
                      </a:rPr>
                      <m:t>+</m:t>
                    </m:r>
                    <m:r>
                      <m:rPr>
                        <m:sty m:val="p"/>
                      </m:rPr>
                      <a:rPr lang="en-US" smtClean="0">
                        <a:solidFill>
                          <a:srgbClr val="000000"/>
                        </a:solidFill>
                        <a:latin typeface="Cambria Math" panose="02040503050406030204" pitchFamily="18" charset="0"/>
                        <a:ea typeface="Cambria Math" panose="02040503050406030204" pitchFamily="18" charset="0"/>
                      </a:rPr>
                      <m:t>j</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b</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b</m:t>
                            </m:r>
                          </m:e>
                          <m:sub>
                            <m:r>
                              <m:rPr>
                                <m:sty m:val="p"/>
                              </m:rPr>
                              <a:rPr lang="en-US" smtClean="0">
                                <a:solidFill>
                                  <a:srgbClr val="000000"/>
                                </a:solidFill>
                                <a:latin typeface="Cambria Math" panose="02040503050406030204" pitchFamily="18" charset="0"/>
                                <a:ea typeface="Cambria Math" panose="02040503050406030204" pitchFamily="18" charset="0"/>
                              </a:rPr>
                              <m:t>s</m:t>
                            </m:r>
                          </m:sub>
                        </m:sSub>
                      </m:e>
                    </m:d>
                  </m:oMath>
                </a14:m>
                <a:r>
                  <a:rPr lang="en-US" dirty="0">
                    <a:solidFill>
                      <a:srgbClr val="00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For normalized admittance, want y</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 at MM’ to equal 1 + j0. Then scale by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Y</m:t>
                        </m:r>
                      </m:e>
                      <m:sub>
                        <m:r>
                          <a:rPr lang="en-US" smtClean="0">
                            <a:solidFill>
                              <a:srgbClr val="000000"/>
                            </a:solidFill>
                            <a:latin typeface="Cambria Math" panose="02040503050406030204" pitchFamily="18" charset="0"/>
                            <a:ea typeface="Cambria Math" panose="02040503050406030204" pitchFamily="18" charset="0"/>
                          </a:rPr>
                          <m:t>0</m:t>
                        </m:r>
                      </m:sub>
                    </m:sSub>
                  </m:oMath>
                </a14:m>
                <a:r>
                  <a:rPr lang="en-US" dirty="0">
                    <a:solidFill>
                      <a:srgbClr val="000000"/>
                    </a:solidFill>
                    <a:latin typeface="Cambria Math" panose="02040503050406030204" pitchFamily="18" charset="0"/>
                    <a:ea typeface="Cambria Math" panose="02040503050406030204" pitchFamily="18" charset="0"/>
                  </a:rPr>
                  <a:t> to get desired Y</a:t>
                </a:r>
                <a:r>
                  <a:rPr lang="en-US" baseline="-25000" dirty="0">
                    <a:solidFill>
                      <a:srgbClr val="000000"/>
                    </a:solidFill>
                    <a:latin typeface="Cambria Math" panose="02040503050406030204" pitchFamily="18" charset="0"/>
                    <a:ea typeface="Cambria Math" panose="02040503050406030204" pitchFamily="18" charset="0"/>
                  </a:rPr>
                  <a:t>in</a:t>
                </a:r>
                <a:r>
                  <a:rPr lang="en-US" dirty="0">
                    <a:solidFill>
                      <a:srgbClr val="000000"/>
                    </a:solidFill>
                    <a:latin typeface="Cambria Math" panose="02040503050406030204" pitchFamily="18" charset="0"/>
                    <a:ea typeface="Cambria Math" panose="02040503050406030204" pitchFamily="18" charset="0"/>
                  </a:rPr>
                  <a:t> value at MM’.</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Consequently, want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b="0" i="1" smtClean="0">
                            <a:solidFill>
                              <a:srgbClr val="000000"/>
                            </a:solidFill>
                            <a:latin typeface="Cambria Math" panose="02040503050406030204" pitchFamily="18" charset="0"/>
                            <a:ea typeface="Cambria Math" panose="02040503050406030204" pitchFamily="18" charset="0"/>
                          </a:rPr>
                          <m:t>g</m:t>
                        </m:r>
                      </m:e>
                      <m:sub>
                        <m:r>
                          <m:rPr>
                            <m:sty m:val="p"/>
                          </m:rPr>
                          <a:rPr lang="en-US" b="0" i="1">
                            <a:solidFill>
                              <a:srgbClr val="000000"/>
                            </a:solidFill>
                            <a:latin typeface="Cambria Math" panose="02040503050406030204" pitchFamily="18" charset="0"/>
                            <a:ea typeface="Cambria Math" panose="02040503050406030204" pitchFamily="18" charset="0"/>
                          </a:rPr>
                          <m:t>d</m:t>
                        </m:r>
                      </m:sub>
                    </m:sSub>
                    <m:r>
                      <a:rPr lang="en-US" b="0"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1</m:t>
                    </m:r>
                    <m:r>
                      <a:rPr lang="en-US" b="0" smtClean="0">
                        <a:solidFill>
                          <a:srgbClr val="000000"/>
                        </a:solidFill>
                        <a:latin typeface="Cambria Math" panose="02040503050406030204" pitchFamily="18" charset="0"/>
                        <a:ea typeface="Cambria Math" panose="02040503050406030204" pitchFamily="18" charset="0"/>
                      </a:rPr>
                      <m:t>, </m:t>
                    </m:r>
                    <m:r>
                      <m:rPr>
                        <m:sty m:val="p"/>
                      </m:rPr>
                      <a:rPr lang="en-US" b="0" i="1" smtClean="0">
                        <a:solidFill>
                          <a:srgbClr val="000000"/>
                        </a:solidFill>
                        <a:latin typeface="Cambria Math" panose="02040503050406030204" pitchFamily="18" charset="0"/>
                        <a:ea typeface="Cambria Math" panose="02040503050406030204" pitchFamily="18" charset="0"/>
                      </a:rPr>
                      <m:t>and</m:t>
                    </m:r>
                    <m:r>
                      <a:rPr lang="en-US" b="0" smtClean="0">
                        <a:solidFill>
                          <a:srgbClr val="000000"/>
                        </a:solidFill>
                        <a:latin typeface="Cambria Math" panose="02040503050406030204" pitchFamily="18" charset="0"/>
                        <a:ea typeface="Cambria Math" panose="02040503050406030204" pitchFamily="18" charset="0"/>
                      </a:rPr>
                      <m:t> </m:t>
                    </m:r>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b="0" i="1" smtClean="0">
                            <a:solidFill>
                              <a:srgbClr val="000000"/>
                            </a:solidFill>
                            <a:latin typeface="Cambria Math" panose="02040503050406030204" pitchFamily="18" charset="0"/>
                            <a:ea typeface="Cambria Math" panose="02040503050406030204" pitchFamily="18" charset="0"/>
                          </a:rPr>
                          <m:t>b</m:t>
                        </m:r>
                      </m:e>
                      <m:sub>
                        <m:r>
                          <m:rPr>
                            <m:sty m:val="p"/>
                          </m:rPr>
                          <a:rPr lang="en-US" b="0" i="1" smtClean="0">
                            <a:solidFill>
                              <a:srgbClr val="000000"/>
                            </a:solidFill>
                            <a:latin typeface="Cambria Math" panose="02040503050406030204" pitchFamily="18" charset="0"/>
                            <a:ea typeface="Cambria Math" panose="02040503050406030204" pitchFamily="18" charset="0"/>
                          </a:rPr>
                          <m:t>s</m:t>
                        </m:r>
                      </m:sub>
                    </m:sSub>
                    <m:r>
                      <a:rPr lang="en-US" b="0" smtClean="0">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b="0" smtClean="0">
                            <a:solidFill>
                              <a:srgbClr val="000000"/>
                            </a:solidFill>
                            <a:latin typeface="Cambria Math" panose="02040503050406030204" pitchFamily="18" charset="0"/>
                            <a:ea typeface="Cambria Math" panose="02040503050406030204" pitchFamily="18" charset="0"/>
                          </a:rPr>
                          <m:t>−</m:t>
                        </m:r>
                        <m:r>
                          <m:rPr>
                            <m:sty m:val="p"/>
                          </m:rPr>
                          <a:rPr lang="en-US" b="0" i="1" smtClean="0">
                            <a:solidFill>
                              <a:srgbClr val="000000"/>
                            </a:solidFill>
                            <a:latin typeface="Cambria Math" panose="02040503050406030204" pitchFamily="18" charset="0"/>
                            <a:ea typeface="Cambria Math" panose="02040503050406030204" pitchFamily="18" charset="0"/>
                          </a:rPr>
                          <m:t>b</m:t>
                        </m:r>
                      </m:e>
                      <m:sub>
                        <m:r>
                          <m:rPr>
                            <m:sty m:val="p"/>
                          </m:rPr>
                          <a:rPr lang="en-US" b="0" i="1" smtClean="0">
                            <a:solidFill>
                              <a:srgbClr val="000000"/>
                            </a:solidFill>
                            <a:latin typeface="Cambria Math" panose="02040503050406030204" pitchFamily="18" charset="0"/>
                            <a:ea typeface="Cambria Math" panose="02040503050406030204" pitchFamily="18" charset="0"/>
                          </a:rPr>
                          <m:t>d</m:t>
                        </m:r>
                      </m:sub>
                    </m:sSub>
                    <m:r>
                      <a:rPr lang="en-US" b="0" i="1" smtClean="0">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where b</a:t>
                </a:r>
                <a:r>
                  <a:rPr lang="en-US" baseline="-25000" dirty="0">
                    <a:solidFill>
                      <a:srgbClr val="000000"/>
                    </a:solidFill>
                    <a:latin typeface="Cambria Math" panose="02040503050406030204" pitchFamily="18" charset="0"/>
                    <a:ea typeface="Cambria Math" panose="02040503050406030204" pitchFamily="18" charset="0"/>
                  </a:rPr>
                  <a:t>d</a:t>
                </a:r>
                <a:r>
                  <a:rPr lang="en-US" dirty="0">
                    <a:solidFill>
                      <a:srgbClr val="000000"/>
                    </a:solidFill>
                    <a:latin typeface="Cambria Math" panose="02040503050406030204" pitchFamily="18" charset="0"/>
                    <a:ea typeface="Cambria Math" panose="02040503050406030204" pitchFamily="18" charset="0"/>
                  </a:rPr>
                  <a:t> is the normalized susceptance at distance d from the load.</a:t>
                </a:r>
                <a:endParaRPr lang="en-US" i="1"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i="1"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smtClean="0">
                        <a:solidFill>
                          <a:srgbClr val="000000"/>
                        </a:solidFill>
                        <a:latin typeface="Cambria Math" panose="02040503050406030204" pitchFamily="18" charset="0"/>
                        <a:ea typeface="Cambria Math" panose="02040503050406030204" pitchFamily="18" charset="0"/>
                      </a:rPr>
                      <m:t>=1,</m:t>
                    </m:r>
                  </m:oMath>
                </a14:m>
                <a:r>
                  <a:rPr lang="en-US" dirty="0">
                    <a:solidFill>
                      <a:srgbClr val="000000"/>
                    </a:solidFill>
                    <a:latin typeface="Cambria Math" panose="02040503050406030204" pitchFamily="18" charset="0"/>
                    <a:ea typeface="Cambria Math" panose="02040503050406030204" pitchFamily="18" charset="0"/>
                  </a:rPr>
                  <a:t> corresponds to the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smtClean="0">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b="0" i="1" smtClean="0">
                        <a:solidFill>
                          <a:srgbClr val="000000"/>
                        </a:solidFill>
                        <a:latin typeface="Cambria Math" panose="02040503050406030204" pitchFamily="18" charset="0"/>
                        <a:ea typeface="Cambria Math" panose="02040503050406030204" pitchFamily="18" charset="0"/>
                      </a:rPr>
                      <m:t>=</m:t>
                    </m:r>
                    <m:r>
                      <a:rPr lang="en-US" i="1" smtClean="0">
                        <a:solidFill>
                          <a:srgbClr val="000000"/>
                        </a:solidFill>
                        <a:latin typeface="Cambria Math" panose="02040503050406030204" pitchFamily="18" charset="0"/>
                        <a:ea typeface="Cambria Math" panose="02040503050406030204" pitchFamily="18" charset="0"/>
                      </a:rPr>
                      <m:t>1</m:t>
                    </m:r>
                  </m:oMath>
                </a14:m>
                <a:r>
                  <a:rPr lang="en-US" dirty="0">
                    <a:solidFill>
                      <a:srgbClr val="000000"/>
                    </a:solidFill>
                    <a:latin typeface="Cambria Math" panose="02040503050406030204" pitchFamily="18" charset="0"/>
                    <a:ea typeface="Cambria Math" panose="02040503050406030204" pitchFamily="18" charset="0"/>
                  </a:rPr>
                  <a:t> circle on the Smith Chart and is achieved by proper shunt element placement.</a:t>
                </a:r>
              </a:p>
            </p:txBody>
          </p:sp>
        </mc:Choice>
        <mc:Fallback xmlns="">
          <p:sp>
            <p:nvSpPr>
              <p:cNvPr id="4" name="Rectangle 3"/>
              <p:cNvSpPr>
                <a:spLocks noRot="1" noChangeAspect="1" noMove="1" noResize="1" noEditPoints="1" noAdjustHandles="1" noChangeArrowheads="1" noChangeShapeType="1" noTextEdit="1"/>
              </p:cNvSpPr>
              <p:nvPr/>
            </p:nvSpPr>
            <p:spPr>
              <a:xfrm>
                <a:off x="107005" y="600598"/>
                <a:ext cx="12003932" cy="6186309"/>
              </a:xfrm>
              <a:prstGeom prst="rect">
                <a:avLst/>
              </a:prstGeom>
              <a:blipFill>
                <a:blip r:embed="rId2"/>
                <a:stretch>
                  <a:fillRect l="-253" t="-293" b="-98"/>
                </a:stretch>
              </a:blipFill>
            </p:spPr>
            <p:txBody>
              <a:bodyPr/>
              <a:lstStyle/>
              <a:p>
                <a:r>
                  <a:rPr lang="en-US">
                    <a:noFill/>
                  </a:rPr>
                  <a:t> </a:t>
                </a:r>
              </a:p>
            </p:txBody>
          </p:sp>
        </mc:Fallback>
      </mc:AlternateContent>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6878" y="666500"/>
            <a:ext cx="4614871" cy="4440960"/>
          </a:xfrm>
          <a:prstGeom prst="rect">
            <a:avLst/>
          </a:prstGeom>
        </p:spPr>
      </p:pic>
    </p:spTree>
    <p:extLst>
      <p:ext uri="{BB962C8B-B14F-4D97-AF65-F5344CB8AC3E}">
        <p14:creationId xmlns:p14="http://schemas.microsoft.com/office/powerpoint/2010/main" val="564063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anim calcmode="lin" valueType="num">
                                      <p:cBhvr additive="base">
                                        <p:cTn id="1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anim calcmode="lin" valueType="num">
                                      <p:cBhvr additive="base">
                                        <p:cTn id="1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3" end="13"/>
                                            </p:txEl>
                                          </p:spTgt>
                                        </p:tgtEl>
                                        <p:attrNameLst>
                                          <p:attrName>style.visibility</p:attrName>
                                        </p:attrNameLst>
                                      </p:cBhvr>
                                      <p:to>
                                        <p:strVal val="visible"/>
                                      </p:to>
                                    </p:set>
                                    <p:anim calcmode="lin" valueType="num">
                                      <p:cBhvr additive="base">
                                        <p:cTn id="19"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5" end="15"/>
                                            </p:txEl>
                                          </p:spTgt>
                                        </p:tgtEl>
                                        <p:attrNameLst>
                                          <p:attrName>style.visibility</p:attrName>
                                        </p:attrNameLst>
                                      </p:cBhvr>
                                      <p:to>
                                        <p:strVal val="visible"/>
                                      </p:to>
                                    </p:set>
                                    <p:anim calcmode="lin" valueType="num">
                                      <p:cBhvr additive="base">
                                        <p:cTn id="25"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17" end="17"/>
                                            </p:txEl>
                                          </p:spTgt>
                                        </p:tgtEl>
                                        <p:attrNameLst>
                                          <p:attrName>style.visibility</p:attrName>
                                        </p:attrNameLst>
                                      </p:cBhvr>
                                      <p:to>
                                        <p:strVal val="visible"/>
                                      </p:to>
                                    </p:set>
                                    <p:anim calcmode="lin" valueType="num">
                                      <p:cBhvr additive="base">
                                        <p:cTn id="29"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19" end="19"/>
                                            </p:txEl>
                                          </p:spTgt>
                                        </p:tgtEl>
                                        <p:attrNameLst>
                                          <p:attrName>style.visibility</p:attrName>
                                        </p:attrNameLst>
                                      </p:cBhvr>
                                      <p:to>
                                        <p:strVal val="visible"/>
                                      </p:to>
                                    </p:set>
                                    <p:anim calcmode="lin" valueType="num">
                                      <p:cBhvr additive="base">
                                        <p:cTn id="35" dur="500" fill="hold"/>
                                        <p:tgtEl>
                                          <p:spTgt spid="4">
                                            <p:txEl>
                                              <p:pRg st="19" end="1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9" end="1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21" end="21"/>
                                            </p:txEl>
                                          </p:spTgt>
                                        </p:tgtEl>
                                        <p:attrNameLst>
                                          <p:attrName>style.visibility</p:attrName>
                                        </p:attrNameLst>
                                      </p:cBhvr>
                                      <p:to>
                                        <p:strVal val="visible"/>
                                      </p:to>
                                    </p:set>
                                    <p:anim calcmode="lin" valueType="num">
                                      <p:cBhvr additive="base">
                                        <p:cTn id="39" dur="500" fill="hold"/>
                                        <p:tgtEl>
                                          <p:spTgt spid="4">
                                            <p:txEl>
                                              <p:pRg st="21" end="2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21" end="2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71762" y="-18725"/>
            <a:ext cx="11508346" cy="553998"/>
          </a:xfrm>
        </p:spPr>
        <p:txBody>
          <a:bodyPr/>
          <a:lstStyle/>
          <a:p>
            <a:pPr algn="ctr"/>
            <a:r>
              <a:rPr lang="en-US" sz="4000" dirty="0"/>
              <a:t>Lumped Element Matching Using Interactive Smith Chart</a:t>
            </a:r>
          </a:p>
        </p:txBody>
      </p:sp>
      <mc:AlternateContent xmlns:mc="http://schemas.openxmlformats.org/markup-compatibility/2006" xmlns:a14="http://schemas.microsoft.com/office/drawing/2010/main">
        <mc:Choice Requires="a14">
          <p:sp>
            <p:nvSpPr>
              <p:cNvPr id="4" name="Rectangle 3"/>
              <p:cNvSpPr/>
              <p:nvPr/>
            </p:nvSpPr>
            <p:spPr>
              <a:xfrm>
                <a:off x="107005" y="603563"/>
                <a:ext cx="12003932"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Smith Chart Solution procedure for Example 2-13: Determine both the distance in wavelengths from the load and value of a shunt element, i.e., inductor or capacitor, necessary to eliminate reflections from the load to the generator for a load impedance of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connected to a 50 Ω transmission line at f = 100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MHz.</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603563"/>
                <a:ext cx="12003932" cy="5909310"/>
              </a:xfrm>
              <a:prstGeom prst="rect">
                <a:avLst/>
              </a:prstGeom>
              <a:blipFill>
                <a:blip r:embed="rId2"/>
                <a:stretch>
                  <a:fillRect l="-152" t="-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A5AA3D1-7F15-8C44-93DB-DCEA2C1361D5}"/>
                  </a:ext>
                </a:extLst>
              </p:cNvPr>
              <p:cNvSpPr txBox="1"/>
              <p:nvPr/>
            </p:nvSpPr>
            <p:spPr>
              <a:xfrm>
                <a:off x="866536" y="3762722"/>
                <a:ext cx="352100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(grey) passes through the origin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Choice>
        <mc:Fallback xmlns="">
          <p:sp>
            <p:nvSpPr>
              <p:cNvPr id="3" name="TextBox 2">
                <a:extLst>
                  <a:ext uri="{FF2B5EF4-FFF2-40B4-BE49-F238E27FC236}">
                    <a16:creationId xmlns:a16="http://schemas.microsoft.com/office/drawing/2014/main" id="{1A5AA3D1-7F15-8C44-93DB-DCEA2C1361D5}"/>
                  </a:ext>
                </a:extLst>
              </p:cNvPr>
              <p:cNvSpPr txBox="1">
                <a:spLocks noRot="1" noChangeAspect="1" noMove="1" noResize="1" noEditPoints="1" noAdjustHandles="1" noChangeArrowheads="1" noChangeShapeType="1" noTextEdit="1"/>
              </p:cNvSpPr>
              <p:nvPr/>
            </p:nvSpPr>
            <p:spPr>
              <a:xfrm>
                <a:off x="866536" y="3762722"/>
                <a:ext cx="3521003" cy="646331"/>
              </a:xfrm>
              <a:prstGeom prst="rect">
                <a:avLst/>
              </a:prstGeom>
              <a:blipFill>
                <a:blip r:embed="rId3"/>
                <a:stretch>
                  <a:fillRect l="-1384" t="-5660" b="-1320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1FF1B01-9F2A-ACFC-6997-44AD87E305F7}"/>
              </a:ext>
            </a:extLst>
          </p:cNvPr>
          <p:cNvSpPr txBox="1"/>
          <p:nvPr/>
        </p:nvSpPr>
        <p:spPr>
          <a:xfrm>
            <a:off x="5620328" y="3305522"/>
            <a:ext cx="914400" cy="9144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F2623FA-E373-FFD2-E824-3BD9170DF67A}"/>
                  </a:ext>
                </a:extLst>
              </p:cNvPr>
              <p:cNvSpPr txBox="1"/>
              <p:nvPr/>
            </p:nvSpPr>
            <p:spPr>
              <a:xfrm>
                <a:off x="475657" y="2932583"/>
                <a:ext cx="4129400" cy="5177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Normalized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=0.4</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0.8</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6" name="TextBox 5">
                <a:extLst>
                  <a:ext uri="{FF2B5EF4-FFF2-40B4-BE49-F238E27FC236}">
                    <a16:creationId xmlns:a16="http://schemas.microsoft.com/office/drawing/2014/main" id="{6F2623FA-E373-FFD2-E824-3BD9170DF67A}"/>
                  </a:ext>
                </a:extLst>
              </p:cNvPr>
              <p:cNvSpPr txBox="1">
                <a:spLocks noRot="1" noChangeAspect="1" noMove="1" noResize="1" noEditPoints="1" noAdjustHandles="1" noChangeArrowheads="1" noChangeShapeType="1" noTextEdit="1"/>
              </p:cNvSpPr>
              <p:nvPr/>
            </p:nvSpPr>
            <p:spPr>
              <a:xfrm>
                <a:off x="475657" y="2932583"/>
                <a:ext cx="4129400" cy="517770"/>
              </a:xfrm>
              <a:prstGeom prst="rect">
                <a:avLst/>
              </a:prstGeom>
              <a:blipFill>
                <a:blip r:embed="rId4"/>
                <a:stretch>
                  <a:fillRect l="-1182" r="-443" b="-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6857D8B-1932-2B1E-3D1E-1F57249D8E9B}"/>
                  </a:ext>
                </a:extLst>
              </p:cNvPr>
              <p:cNvSpPr txBox="1"/>
              <p:nvPr/>
            </p:nvSpPr>
            <p:spPr>
              <a:xfrm>
                <a:off x="475657" y="2544118"/>
                <a:ext cx="36206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Normalized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7" name="TextBox 6">
                <a:extLst>
                  <a:ext uri="{FF2B5EF4-FFF2-40B4-BE49-F238E27FC236}">
                    <a16:creationId xmlns:a16="http://schemas.microsoft.com/office/drawing/2014/main" id="{36857D8B-1932-2B1E-3D1E-1F57249D8E9B}"/>
                  </a:ext>
                </a:extLst>
              </p:cNvPr>
              <p:cNvSpPr txBox="1">
                <a:spLocks noRot="1" noChangeAspect="1" noMove="1" noResize="1" noEditPoints="1" noAdjustHandles="1" noChangeArrowheads="1" noChangeShapeType="1" noTextEdit="1"/>
              </p:cNvSpPr>
              <p:nvPr/>
            </p:nvSpPr>
            <p:spPr>
              <a:xfrm>
                <a:off x="475657" y="2544118"/>
                <a:ext cx="3620671" cy="369332"/>
              </a:xfrm>
              <a:prstGeom prst="rect">
                <a:avLst/>
              </a:prstGeom>
              <a:blipFill>
                <a:blip r:embed="rId5"/>
                <a:stretch>
                  <a:fillRect l="-1347" t="-9836" r="-505" b="-2295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4EE5D4D-DA8C-751E-A475-8A2052DA4277}"/>
              </a:ext>
            </a:extLst>
          </p:cNvPr>
          <p:cNvSpPr txBox="1"/>
          <p:nvPr/>
        </p:nvSpPr>
        <p:spPr>
          <a:xfrm>
            <a:off x="1175996" y="4806383"/>
            <a:ext cx="23487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SWR circle (magenta)</a:t>
            </a:r>
            <a:endParaRPr kumimoji="0" lang="en-US" sz="1800" b="0" i="0" u="none" strike="noStrike" kern="1200" cap="none" spc="0" normalizeH="0" baseline="0" noProof="0" dirty="0">
              <a:ln>
                <a:noFill/>
              </a:ln>
              <a:solidFill>
                <a:srgbClr val="FFFFFF"/>
              </a:solidFill>
              <a:effectLst/>
              <a:uLnTx/>
              <a:uFillTx/>
              <a:latin typeface="Cambria" panose="02040503050406030204"/>
              <a:ea typeface="+mn-ea"/>
              <a:cs typeface="+mn-cs"/>
            </a:endParaRPr>
          </a:p>
        </p:txBody>
      </p:sp>
      <p:pic>
        <p:nvPicPr>
          <p:cNvPr id="11" name="Picture 10">
            <a:extLst>
              <a:ext uri="{FF2B5EF4-FFF2-40B4-BE49-F238E27FC236}">
                <a16:creationId xmlns:a16="http://schemas.microsoft.com/office/drawing/2014/main" id="{5A968690-E0FF-515D-57D8-712ABD3D7E75}"/>
              </a:ext>
            </a:extLst>
          </p:cNvPr>
          <p:cNvPicPr>
            <a:picLocks noChangeAspect="1"/>
          </p:cNvPicPr>
          <p:nvPr/>
        </p:nvPicPr>
        <p:blipFill>
          <a:blip r:embed="rId6"/>
          <a:stretch>
            <a:fillRect/>
          </a:stretch>
        </p:blipFill>
        <p:spPr>
          <a:xfrm>
            <a:off x="5741933" y="1822245"/>
            <a:ext cx="6312367" cy="4506039"/>
          </a:xfrm>
          <a:prstGeom prst="rect">
            <a:avLst/>
          </a:prstGeom>
        </p:spPr>
      </p:pic>
      <p:cxnSp>
        <p:nvCxnSpPr>
          <p:cNvPr id="12" name="Straight Arrow Connector 11">
            <a:extLst>
              <a:ext uri="{FF2B5EF4-FFF2-40B4-BE49-F238E27FC236}">
                <a16:creationId xmlns:a16="http://schemas.microsoft.com/office/drawing/2014/main" id="{3A44134D-D077-4BBE-B381-AEDA7D24195C}"/>
              </a:ext>
            </a:extLst>
          </p:cNvPr>
          <p:cNvCxnSpPr>
            <a:cxnSpLocks/>
          </p:cNvCxnSpPr>
          <p:nvPr/>
        </p:nvCxnSpPr>
        <p:spPr>
          <a:xfrm>
            <a:off x="4068883" y="2749520"/>
            <a:ext cx="6039139" cy="1172244"/>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BAF1814-A54F-4B90-99CE-C5DBF7D90E00}"/>
              </a:ext>
            </a:extLst>
          </p:cNvPr>
          <p:cNvCxnSpPr>
            <a:cxnSpLocks/>
          </p:cNvCxnSpPr>
          <p:nvPr/>
        </p:nvCxnSpPr>
        <p:spPr>
          <a:xfrm>
            <a:off x="4596092" y="3164573"/>
            <a:ext cx="5466945" cy="967573"/>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6513CBB-BA69-4D3F-8922-95514910ED0B}"/>
              </a:ext>
            </a:extLst>
          </p:cNvPr>
          <p:cNvCxnSpPr>
            <a:cxnSpLocks/>
          </p:cNvCxnSpPr>
          <p:nvPr/>
        </p:nvCxnSpPr>
        <p:spPr>
          <a:xfrm>
            <a:off x="5091410" y="2226668"/>
            <a:ext cx="5823159" cy="0"/>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D6F0292-AA55-8451-D891-61352AD522F3}"/>
              </a:ext>
            </a:extLst>
          </p:cNvPr>
          <p:cNvSpPr txBox="1"/>
          <p:nvPr/>
        </p:nvSpPr>
        <p:spPr>
          <a:xfrm>
            <a:off x="2201086" y="1842040"/>
            <a:ext cx="373559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Update the new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check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y(d) box in upper right.</a:t>
            </a:r>
          </a:p>
        </p:txBody>
      </p:sp>
      <p:cxnSp>
        <p:nvCxnSpPr>
          <p:cNvPr id="19" name="Straight Arrow Connector 18">
            <a:extLst>
              <a:ext uri="{FF2B5EF4-FFF2-40B4-BE49-F238E27FC236}">
                <a16:creationId xmlns:a16="http://schemas.microsoft.com/office/drawing/2014/main" id="{1D753AE5-7D84-AC35-DB78-681B76235389}"/>
              </a:ext>
            </a:extLst>
          </p:cNvPr>
          <p:cNvCxnSpPr>
            <a:cxnSpLocks/>
          </p:cNvCxnSpPr>
          <p:nvPr/>
        </p:nvCxnSpPr>
        <p:spPr>
          <a:xfrm flipV="1">
            <a:off x="3497041" y="4365552"/>
            <a:ext cx="3298478" cy="625497"/>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7933DF2-6894-49D0-C1AD-AAC77E4A573F}"/>
              </a:ext>
            </a:extLst>
          </p:cNvPr>
          <p:cNvCxnSpPr>
            <a:cxnSpLocks/>
          </p:cNvCxnSpPr>
          <p:nvPr/>
        </p:nvCxnSpPr>
        <p:spPr>
          <a:xfrm flipV="1">
            <a:off x="3842328" y="3851981"/>
            <a:ext cx="4072965" cy="157542"/>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802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068944" y="0"/>
            <a:ext cx="8488220" cy="1107996"/>
          </a:xfrm>
        </p:spPr>
        <p:txBody>
          <a:bodyPr/>
          <a:lstStyle/>
          <a:p>
            <a:pPr algn="ctr"/>
            <a:r>
              <a:rPr lang="en-US" sz="4000" dirty="0"/>
              <a:t>Lumped Element Matching (Continued)</a:t>
            </a:r>
          </a:p>
        </p:txBody>
      </p:sp>
      <mc:AlternateContent xmlns:mc="http://schemas.openxmlformats.org/markup-compatibility/2006" xmlns:a14="http://schemas.microsoft.com/office/drawing/2010/main">
        <mc:Choice Requires="a14">
          <p:sp>
            <p:nvSpPr>
              <p:cNvPr id="4" name="Rectangle 3"/>
              <p:cNvSpPr/>
              <p:nvPr/>
            </p:nvSpPr>
            <p:spPr>
              <a:xfrm>
                <a:off x="107005" y="611844"/>
                <a:ext cx="12003932" cy="618951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Smith Chart Solution procedure for Example 2-13: Determine both the distance in wavelengths from the load and value of a shunt element, i.e., inductor or capacitor, necessary to eliminate reflections from the load to the generator for a load impedance of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connected to a 50 Ω transmission line at f = 100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MHz.</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Next adjust slider bar d at the top of the window,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or use Left/Right arrow keys, so that y(d) (blue dot)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is moved to intersect the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at both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intersection points, the inductive point corresponding</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the top half of the Smith Chart (Point C), and the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capacitive point corresponding to the bottom half of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Smith Chart (Point D). referred to as point D. Read</a:t>
                </a:r>
                <a:endParaRPr lang="en-US" dirty="0">
                  <a:solidFill>
                    <a:srgbClr val="000000"/>
                  </a:solidFill>
                  <a:latin typeface="Cambria Math" panose="02040503050406030204" pitchFamily="18" charset="0"/>
                  <a:ea typeface="Cambria Math" panose="02040503050406030204" pitchFamily="18" charset="0"/>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off the resulting d value in terms of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each point.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lvl="1">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d</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C</m:t>
                        </m:r>
                      </m:sub>
                    </m:sSub>
                    <m:r>
                      <a:rPr lang="en-US" i="1">
                        <a:solidFill>
                          <a:srgbClr val="000000"/>
                        </a:solidFill>
                        <a:latin typeface="Cambria Math" panose="02040503050406030204" pitchFamily="18" charset="0"/>
                        <a:ea typeface="Cambria Math" panose="02040503050406030204" pitchFamily="18" charset="0"/>
                      </a:rPr>
                      <m:t>=1.0+</m:t>
                    </m:r>
                    <m:r>
                      <m:rPr>
                        <m:sty m:val="p"/>
                      </m:rPr>
                      <a:rPr lang="en-US">
                        <a:solidFill>
                          <a:srgbClr val="000000"/>
                        </a:solidFill>
                        <a:latin typeface="Cambria Math" panose="02040503050406030204" pitchFamily="18" charset="0"/>
                        <a:ea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1.58</m:t>
                    </m:r>
                    <m:r>
                      <m:rPr>
                        <m:nor/>
                      </m:rPr>
                      <a:rPr lang="en-US" dirty="0">
                        <a:solidFill>
                          <a:srgbClr val="000000"/>
                        </a:solidFill>
                        <a:latin typeface="Cambria Math" panose="02040503050406030204" pitchFamily="18" charset="0"/>
                        <a:ea typeface="Cambria Math" panose="02040503050406030204" pitchFamily="18" charset="0"/>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lvl="1">
                  <a:spcAft>
                    <a:spcPts val="1200"/>
                  </a:spcAf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y</m:t>
                        </m:r>
                      </m:e>
                      <m:sub>
                        <m:r>
                          <m:rPr>
                            <m:sty m:val="p"/>
                          </m:rPr>
                          <a:rPr lang="en-US">
                            <a:solidFill>
                              <a:srgbClr val="000000"/>
                            </a:solidFill>
                            <a:latin typeface="Cambria Math" panose="02040503050406030204" pitchFamily="18" charset="0"/>
                            <a:ea typeface="Cambria Math" panose="02040503050406030204" pitchFamily="18" charset="0"/>
                          </a:rPr>
                          <m:t>d</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C</m:t>
                        </m:r>
                      </m:sub>
                    </m:sSub>
                    <m:r>
                      <a:rPr lang="en-US" i="1">
                        <a:solidFill>
                          <a:srgbClr val="000000"/>
                        </a:solidFill>
                        <a:latin typeface="Cambria Math" panose="02040503050406030204" pitchFamily="18" charset="0"/>
                        <a:ea typeface="Cambria Math" panose="02040503050406030204" pitchFamily="18" charset="0"/>
                      </a:rPr>
                      <m:t>=1.0</m:t>
                    </m:r>
                    <m:r>
                      <a:rPr lang="en-US" b="0" i="0" smtClean="0">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1.58</m:t>
                    </m:r>
                    <m:r>
                      <m:rPr>
                        <m:nor/>
                      </m:rPr>
                      <a:rPr lang="en-US" dirty="0">
                        <a:solidFill>
                          <a:srgbClr val="000000"/>
                        </a:solidFill>
                        <a:latin typeface="Cambria Math" panose="02040503050406030204" pitchFamily="18" charset="0"/>
                        <a:ea typeface="Cambria Math" panose="02040503050406030204" pitchFamily="18"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07</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Note that the adjacent Smith Chart is adjusted for</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point C, i.e.,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d</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C</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and not point D for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d</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D</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1" indent="0" algn="l" defTabSz="9144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Either a shunt inductor located at distance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or a shunt capacitor located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will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match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impedance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611844"/>
                <a:ext cx="12003932" cy="6189515"/>
              </a:xfrm>
              <a:prstGeom prst="rect">
                <a:avLst/>
              </a:prstGeom>
              <a:blipFill>
                <a:blip r:embed="rId2"/>
                <a:stretch>
                  <a:fillRect l="-253" t="-195"/>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37CA91C3-C5AA-4DC5-964D-B0D068C4D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622" y="1567854"/>
            <a:ext cx="6563189" cy="4684759"/>
          </a:xfrm>
          <a:prstGeom prst="rect">
            <a:avLst/>
          </a:prstGeom>
        </p:spPr>
      </p:pic>
      <p:cxnSp>
        <p:nvCxnSpPr>
          <p:cNvPr id="17" name="Straight Arrow Connector 16">
            <a:extLst>
              <a:ext uri="{FF2B5EF4-FFF2-40B4-BE49-F238E27FC236}">
                <a16:creationId xmlns:a16="http://schemas.microsoft.com/office/drawing/2014/main" id="{8862FE55-4EA4-4EDA-8AE3-B40E80A1AE2E}"/>
              </a:ext>
            </a:extLst>
          </p:cNvPr>
          <p:cNvCxnSpPr>
            <a:cxnSpLocks/>
          </p:cNvCxnSpPr>
          <p:nvPr/>
        </p:nvCxnSpPr>
        <p:spPr>
          <a:xfrm flipV="1">
            <a:off x="5238005" y="1710094"/>
            <a:ext cx="3895101" cy="224293"/>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5E59CF-DBA2-4B91-9462-75F7CFF5B83B}"/>
              </a:ext>
            </a:extLst>
          </p:cNvPr>
          <p:cNvCxnSpPr>
            <a:cxnSpLocks/>
          </p:cNvCxnSpPr>
          <p:nvPr/>
        </p:nvCxnSpPr>
        <p:spPr>
          <a:xfrm flipV="1">
            <a:off x="4697506" y="3968880"/>
            <a:ext cx="5271248" cy="359406"/>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14FC3E7-81B8-45B5-9455-26B0312728A4}"/>
              </a:ext>
            </a:extLst>
          </p:cNvPr>
          <p:cNvCxnSpPr>
            <a:cxnSpLocks/>
          </p:cNvCxnSpPr>
          <p:nvPr/>
        </p:nvCxnSpPr>
        <p:spPr>
          <a:xfrm flipV="1">
            <a:off x="4697506" y="4160488"/>
            <a:ext cx="5399805" cy="167798"/>
          </a:xfrm>
          <a:prstGeom prst="straightConnector1">
            <a:avLst/>
          </a:prstGeom>
          <a:ln w="31750">
            <a:solidFill>
              <a:schemeClr val="bg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B1D3830-A9EE-D359-703F-8DDDE6470364}"/>
              </a:ext>
            </a:extLst>
          </p:cNvPr>
          <p:cNvSpPr txBox="1"/>
          <p:nvPr/>
        </p:nvSpPr>
        <p:spPr>
          <a:xfrm>
            <a:off x="8034095" y="2747602"/>
            <a:ext cx="807657" cy="338554"/>
          </a:xfrm>
          <a:prstGeom prst="rect">
            <a:avLst/>
          </a:prstGeom>
          <a:noFill/>
        </p:spPr>
        <p:txBody>
          <a:bodyPr wrap="none" rtlCol="0">
            <a:spAutoFit/>
          </a:bodyPr>
          <a:lstStyle/>
          <a:p>
            <a:r>
              <a:rPr kumimoji="0" lang="en-US" sz="160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C</a:t>
            </a:r>
            <a:endParaRPr lang="en-US" sz="1600" dirty="0"/>
          </a:p>
        </p:txBody>
      </p:sp>
      <p:grpSp>
        <p:nvGrpSpPr>
          <p:cNvPr id="12" name="Group 11">
            <a:extLst>
              <a:ext uri="{FF2B5EF4-FFF2-40B4-BE49-F238E27FC236}">
                <a16:creationId xmlns:a16="http://schemas.microsoft.com/office/drawing/2014/main" id="{DE52EF5A-24F5-6780-92C5-5C5664D11D68}"/>
              </a:ext>
            </a:extLst>
          </p:cNvPr>
          <p:cNvGrpSpPr/>
          <p:nvPr/>
        </p:nvGrpSpPr>
        <p:grpSpPr>
          <a:xfrm>
            <a:off x="8022899" y="4861946"/>
            <a:ext cx="828497" cy="464762"/>
            <a:chOff x="8022899" y="4861946"/>
            <a:chExt cx="828497" cy="464762"/>
          </a:xfrm>
        </p:grpSpPr>
        <p:sp>
          <p:nvSpPr>
            <p:cNvPr id="9" name="TextBox 8">
              <a:extLst>
                <a:ext uri="{FF2B5EF4-FFF2-40B4-BE49-F238E27FC236}">
                  <a16:creationId xmlns:a16="http://schemas.microsoft.com/office/drawing/2014/main" id="{FF6F825B-EDBC-C085-95CD-05AAAF0B2E57}"/>
                </a:ext>
              </a:extLst>
            </p:cNvPr>
            <p:cNvSpPr txBox="1"/>
            <p:nvPr/>
          </p:nvSpPr>
          <p:spPr>
            <a:xfrm>
              <a:off x="8022899" y="4988154"/>
              <a:ext cx="828497" cy="338554"/>
            </a:xfrm>
            <a:prstGeom prst="rect">
              <a:avLst/>
            </a:prstGeom>
            <a:noFill/>
          </p:spPr>
          <p:txBody>
            <a:bodyPr wrap="none" rtlCol="0">
              <a:spAutoFit/>
            </a:bodyPr>
            <a:lstStyle/>
            <a:p>
              <a:r>
                <a:rPr kumimoji="0" lang="en-US" sz="160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D</a:t>
              </a:r>
              <a:endParaRPr lang="en-US" sz="1600" dirty="0"/>
            </a:p>
          </p:txBody>
        </p:sp>
        <p:sp>
          <p:nvSpPr>
            <p:cNvPr id="10" name="Oval 9">
              <a:extLst>
                <a:ext uri="{FF2B5EF4-FFF2-40B4-BE49-F238E27FC236}">
                  <a16:creationId xmlns:a16="http://schemas.microsoft.com/office/drawing/2014/main" id="{AC839ED7-3C17-C3B7-08D1-D5416D3457B0}"/>
                </a:ext>
              </a:extLst>
            </p:cNvPr>
            <p:cNvSpPr/>
            <p:nvPr/>
          </p:nvSpPr>
          <p:spPr bwMode="auto">
            <a:xfrm>
              <a:off x="8342197" y="4861946"/>
              <a:ext cx="75900" cy="76199"/>
            </a:xfrm>
            <a:prstGeom prst="ellipse">
              <a:avLst/>
            </a:prstGeom>
            <a:solidFill>
              <a:schemeClr val="bg1">
                <a:lumMod val="75000"/>
                <a:lumOff val="25000"/>
              </a:schemeClr>
            </a:solidFill>
            <a:ln>
              <a:noFill/>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2">
                  <a:satMod val="300000"/>
                </a:schemeClr>
              </a:contourClr>
            </a:sp3d>
          </p:spPr>
          <p:style>
            <a:lnRef idx="0">
              <a:schemeClr val="accent2"/>
            </a:lnRef>
            <a:fillRef idx="1001">
              <a:schemeClr val="dk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grpSp>
    </p:spTree>
    <p:extLst>
      <p:ext uri="{BB962C8B-B14F-4D97-AF65-F5344CB8AC3E}">
        <p14:creationId xmlns:p14="http://schemas.microsoft.com/office/powerpoint/2010/main" val="1948419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anim calcmode="lin" valueType="num">
                                      <p:cBhvr additive="base">
                                        <p:cTn id="2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 calcmode="lin" valueType="num">
                                      <p:cBhvr additive="base">
                                        <p:cTn id="2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 calcmode="lin" valueType="num">
                                      <p:cBhvr additive="base">
                                        <p:cTn id="3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 calcmode="lin" valueType="num">
                                      <p:cBhvr additive="base">
                                        <p:cTn id="3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
                                            <p:txEl>
                                              <p:pRg st="11" end="11"/>
                                            </p:txEl>
                                          </p:spTgt>
                                        </p:tgtEl>
                                        <p:attrNameLst>
                                          <p:attrName>style.visibility</p:attrName>
                                        </p:attrNameLst>
                                      </p:cBhvr>
                                      <p:to>
                                        <p:strVal val="visible"/>
                                      </p:to>
                                    </p:set>
                                    <p:anim calcmode="lin" valueType="num">
                                      <p:cBhvr additive="base">
                                        <p:cTn id="5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4">
                                            <p:txEl>
                                              <p:pRg st="13" end="13"/>
                                            </p:txEl>
                                          </p:spTgt>
                                        </p:tgtEl>
                                        <p:attrNameLst>
                                          <p:attrName>style.visibility</p:attrName>
                                        </p:attrNameLst>
                                      </p:cBhvr>
                                      <p:to>
                                        <p:strVal val="visible"/>
                                      </p:to>
                                    </p:set>
                                    <p:anim calcmode="lin" valueType="num">
                                      <p:cBhvr additive="base">
                                        <p:cTn id="69"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2"/>
                                        </p:tgtEl>
                                        <p:attrNameLst>
                                          <p:attrName>style.visibility</p:attrName>
                                        </p:attrNameLst>
                                      </p:cBhvr>
                                      <p:to>
                                        <p:strVal val="visible"/>
                                      </p:to>
                                    </p:set>
                                    <p:anim calcmode="lin" valueType="num">
                                      <p:cBhvr additive="base">
                                        <p:cTn id="75" dur="500" fill="hold"/>
                                        <p:tgtEl>
                                          <p:spTgt spid="12"/>
                                        </p:tgtEl>
                                        <p:attrNameLst>
                                          <p:attrName>ppt_x</p:attrName>
                                        </p:attrNameLst>
                                      </p:cBhvr>
                                      <p:tavLst>
                                        <p:tav tm="0">
                                          <p:val>
                                            <p:strVal val="#ppt_x"/>
                                          </p:val>
                                        </p:tav>
                                        <p:tav tm="100000">
                                          <p:val>
                                            <p:strVal val="#ppt_x"/>
                                          </p:val>
                                        </p:tav>
                                      </p:tavLst>
                                    </p:anim>
                                    <p:anim calcmode="lin" valueType="num">
                                      <p:cBhvr additive="base">
                                        <p:cTn id="7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4">
                                            <p:txEl>
                                              <p:pRg st="14" end="14"/>
                                            </p:txEl>
                                          </p:spTgt>
                                        </p:tgtEl>
                                        <p:attrNameLst>
                                          <p:attrName>style.visibility</p:attrName>
                                        </p:attrNameLst>
                                      </p:cBhvr>
                                      <p:to>
                                        <p:strVal val="visible"/>
                                      </p:to>
                                    </p:set>
                                    <p:anim calcmode="lin" valueType="num">
                                      <p:cBhvr additive="base">
                                        <p:cTn id="81"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4">
                                            <p:txEl>
                                              <p:pRg st="15" end="15"/>
                                            </p:txEl>
                                          </p:spTgt>
                                        </p:tgtEl>
                                        <p:attrNameLst>
                                          <p:attrName>style.visibility</p:attrName>
                                        </p:attrNameLst>
                                      </p:cBhvr>
                                      <p:to>
                                        <p:strVal val="visible"/>
                                      </p:to>
                                    </p:set>
                                    <p:anim calcmode="lin" valueType="num">
                                      <p:cBhvr additive="base">
                                        <p:cTn id="85"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4">
                                            <p:txEl>
                                              <p:pRg st="17" end="17"/>
                                            </p:txEl>
                                          </p:spTgt>
                                        </p:tgtEl>
                                        <p:attrNameLst>
                                          <p:attrName>style.visibility</p:attrName>
                                        </p:attrNameLst>
                                      </p:cBhvr>
                                      <p:to>
                                        <p:strVal val="visible"/>
                                      </p:to>
                                    </p:set>
                                    <p:anim calcmode="lin" valueType="num">
                                      <p:cBhvr additive="base">
                                        <p:cTn id="89"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412758" y="-42097"/>
            <a:ext cx="11267811" cy="553998"/>
          </a:xfrm>
        </p:spPr>
        <p:txBody>
          <a:bodyPr/>
          <a:lstStyle/>
          <a:p>
            <a:pPr algn="ctr"/>
            <a:r>
              <a:rPr lang="en-US" sz="4000" dirty="0"/>
              <a:t>Lumped Element Matching Using Standard Smith Chart</a:t>
            </a:r>
          </a:p>
        </p:txBody>
      </p:sp>
      <mc:AlternateContent xmlns:mc="http://schemas.openxmlformats.org/markup-compatibility/2006" xmlns:a14="http://schemas.microsoft.com/office/drawing/2010/main">
        <mc:Choice Requires="a14">
          <p:sp>
            <p:nvSpPr>
              <p:cNvPr id="4" name="Rectangle 3"/>
              <p:cNvSpPr/>
              <p:nvPr/>
            </p:nvSpPr>
            <p:spPr>
              <a:xfrm>
                <a:off x="107005" y="556428"/>
                <a:ext cx="12003932" cy="621727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Smith Chart Solution procedure for Example 2-13: Determine both the distance in wavelengths from the load and value of a shunt element, i.e., inductor or capacitor, necessary to eliminate reflections from the </a:t>
                </a:r>
                <a:r>
                  <a:rPr lang="en-US" dirty="0">
                    <a:solidFill>
                      <a:srgbClr val="000000"/>
                    </a:solidFill>
                    <a:latin typeface="Cambria Math" panose="02040503050406030204" pitchFamily="18" charset="0"/>
                    <a:ea typeface="Cambria Math" panose="02040503050406030204" pitchFamily="18" charset="0"/>
                  </a:rPr>
                  <a:t>matching network</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to the generator for a load impedance of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connected to a 50 Ω transmission line at f = 100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MHz.</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Normalized load impedance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(Point 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Using </a:t>
                </a:r>
                <a:r>
                  <a:rPr kumimoji="0" lang="en-US" sz="1800" b="0" i="0" u="none" strike="noStrike" kern="1200" cap="none" spc="0" normalizeH="0" baseline="0" noProof="0" dirty="0">
                    <a:ln>
                      <a:noFill/>
                    </a:ln>
                    <a:solidFill>
                      <a:srgbClr val="00FFFF"/>
                    </a:solidFill>
                    <a:effectLst/>
                    <a:uLnTx/>
                    <a:uFillTx/>
                    <a:latin typeface="Cambria Math" panose="02040503050406030204" pitchFamily="18" charset="0"/>
                    <a:ea typeface="Cambria Math" panose="02040503050406030204" pitchFamily="18" charset="0"/>
                    <a:cs typeface="+mn-cs"/>
                  </a:rPr>
                  <a:t>blue</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constant SWR circle and straight edge, point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represents normalized load admittance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=0.4</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0.8</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WTG value for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0.115</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Moving along a SWR circle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 Smith chart corresponds to moving along  the length of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given transmission line.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C00000"/>
                    </a:solidFill>
                    <a:effectLst/>
                    <a:uLnTx/>
                    <a:uFillTx/>
                    <a:latin typeface="Cambria Math" panose="02040503050406030204" pitchFamily="18" charset="0"/>
                    <a:ea typeface="Cambria Math" panose="02040503050406030204" pitchFamily="18" charset="0"/>
                    <a:cs typeface="+mn-cs"/>
                  </a:rPr>
                  <a:t>Red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represents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circle, with two intersection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points with SWR circle, C and D, representing two possible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solutions: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=1.0+</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value</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=0.178</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914400" marR="0" lvl="2"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0.178</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WTG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value</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=0.3</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914400" marR="0" lvl="2"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0.3</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07</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07</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107005" y="556428"/>
                <a:ext cx="12003932" cy="6217279"/>
              </a:xfrm>
              <a:prstGeom prst="rect">
                <a:avLst/>
              </a:prstGeom>
              <a:blipFill>
                <a:blip r:embed="rId2"/>
                <a:stretch>
                  <a:fillRect l="-253" t="-194"/>
                </a:stretch>
              </a:blipFill>
            </p:spPr>
            <p:txBody>
              <a:bodyPr/>
              <a:lstStyle/>
              <a:p>
                <a:r>
                  <a:rPr lang="en-US">
                    <a:noFill/>
                  </a:rPr>
                  <a:t> </a:t>
                </a:r>
              </a:p>
            </p:txBody>
          </p:sp>
        </mc:Fallback>
      </mc:AlternateContent>
      <p:grpSp>
        <p:nvGrpSpPr>
          <p:cNvPr id="9" name="Group 8"/>
          <p:cNvGrpSpPr/>
          <p:nvPr/>
        </p:nvGrpSpPr>
        <p:grpSpPr>
          <a:xfrm>
            <a:off x="6274340" y="1585076"/>
            <a:ext cx="5670524" cy="4747127"/>
            <a:chOff x="6274340" y="1546164"/>
            <a:chExt cx="5670524" cy="4747127"/>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340" y="1546164"/>
              <a:ext cx="5670524" cy="4747127"/>
            </a:xfrm>
            <a:prstGeom prst="rect">
              <a:avLst/>
            </a:prstGeom>
          </p:spPr>
        </p:pic>
        <p:sp>
          <p:nvSpPr>
            <p:cNvPr id="3" name="TextBox 2"/>
            <p:cNvSpPr txBox="1"/>
            <p:nvPr/>
          </p:nvSpPr>
          <p:spPr>
            <a:xfrm>
              <a:off x="9093822" y="4736459"/>
              <a:ext cx="261610"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a:t>
              </a:r>
            </a:p>
          </p:txBody>
        </p:sp>
        <p:sp>
          <p:nvSpPr>
            <p:cNvPr id="7" name="Oval 6"/>
            <p:cNvSpPr/>
            <p:nvPr/>
          </p:nvSpPr>
          <p:spPr bwMode="auto">
            <a:xfrm>
              <a:off x="9224627" y="4919666"/>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8" name="Oval 7"/>
            <p:cNvSpPr/>
            <p:nvPr/>
          </p:nvSpPr>
          <p:spPr bwMode="auto">
            <a:xfrm>
              <a:off x="9227006" y="3067023"/>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spTree>
    <p:extLst>
      <p:ext uri="{BB962C8B-B14F-4D97-AF65-F5344CB8AC3E}">
        <p14:creationId xmlns:p14="http://schemas.microsoft.com/office/powerpoint/2010/main" val="798177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 calcmode="lin" valueType="num">
                                      <p:cBhvr additive="base">
                                        <p:cTn id="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anim calcmode="lin" valueType="num">
                                      <p:cBhvr additive="base">
                                        <p:cTn id="1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 calcmode="lin" valueType="num">
                                      <p:cBhvr additive="base">
                                        <p:cTn id="1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 calcmode="lin" valueType="num">
                                      <p:cBhvr additive="base">
                                        <p:cTn id="1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anim calcmode="lin" valueType="num">
                                      <p:cBhvr additive="base">
                                        <p:cTn id="2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 calcmode="lin" valueType="num">
                                      <p:cBhvr additive="base">
                                        <p:cTn id="2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anim calcmode="lin" valueType="num">
                                      <p:cBhvr additive="base">
                                        <p:cTn id="3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anim calcmode="lin" valueType="num">
                                      <p:cBhvr additive="base">
                                        <p:cTn id="3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anim calcmode="lin" valueType="num">
                                      <p:cBhvr additive="base">
                                        <p:cTn id="39"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16" end="16"/>
                                            </p:txEl>
                                          </p:spTgt>
                                        </p:tgtEl>
                                        <p:attrNameLst>
                                          <p:attrName>style.visibility</p:attrName>
                                        </p:attrNameLst>
                                      </p:cBhvr>
                                      <p:to>
                                        <p:strVal val="visible"/>
                                      </p:to>
                                    </p:set>
                                    <p:anim calcmode="lin" valueType="num">
                                      <p:cBhvr additive="base">
                                        <p:cTn id="43"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07609" y="-28480"/>
            <a:ext cx="11483098" cy="553998"/>
          </a:xfrm>
        </p:spPr>
        <p:txBody>
          <a:bodyPr/>
          <a:lstStyle/>
          <a:p>
            <a:pPr algn="ctr"/>
            <a:r>
              <a:rPr lang="en-US" sz="4000" dirty="0"/>
              <a:t>Lumped Element Matching Example 2-13: (Continued)</a:t>
            </a:r>
          </a:p>
        </p:txBody>
      </p:sp>
      <mc:AlternateContent xmlns:mc="http://schemas.openxmlformats.org/markup-compatibility/2006" xmlns:a14="http://schemas.microsoft.com/office/drawing/2010/main">
        <mc:Choice Requires="a14">
          <p:sp>
            <p:nvSpPr>
              <p:cNvPr id="4" name="Rectangle 3"/>
              <p:cNvSpPr/>
              <p:nvPr/>
            </p:nvSpPr>
            <p:spPr>
              <a:xfrm>
                <a:off x="107005" y="575282"/>
                <a:ext cx="12003932" cy="60983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(From previous slides) Either a shunt inductor located at distance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or a shunt capacitor located at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will match the impedance of the 50 Ω transmission line at f = 100 MHz with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Solve for shunt admittance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so that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Input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Admittance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Shunt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Admittance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e>
                            <m: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0.633. 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Neg</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tive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corresponds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positive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because</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457200" marR="0" lvl="1"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 Ω</m:t>
                          </m:r>
                        </m:e>
                      </m:d>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0.633</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1800"/>
                  </a:spcAft>
                  <a:buClrTx/>
                  <a:buSzTx/>
                  <a:buFontTx/>
                  <a:buNone/>
                  <a:tabLst/>
                  <a:defRPr/>
                </a:pPr>
                <a14:m>
                  <m:oMath xmlns:m="http://schemas.openxmlformats.org/officeDocument/2006/math">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Shunt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Inductor</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πfL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457200" marR="0" lvl="1"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πf</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MHz</m:t>
                              </m:r>
                            </m:e>
                          </m:d>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=50.3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nH</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 shunt 50.3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nH</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inductor located at 0.063</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from the load towards</a:t>
                </a:r>
              </a:p>
              <a:p>
                <a:pPr marR="0" lvl="0" algn="l" defTabSz="914400" rtl="0" eaLnBrk="1" fontAlgn="auto" latinLnBrk="0" hangingPunct="1">
                  <a:lnSpc>
                    <a:spcPct val="100000"/>
                  </a:lnSpc>
                  <a:spcBef>
                    <a:spcPts val="0"/>
                  </a:spcBef>
                  <a:spcAft>
                    <a:spcPts val="0"/>
                  </a:spcAft>
                  <a:buClrTx/>
                  <a:buSzTx/>
                  <a:tabLst/>
                  <a:defRPr/>
                </a:pPr>
                <a:r>
                  <a:rPr lang="en-US" dirty="0">
                    <a:solidFill>
                      <a:srgbClr val="000000"/>
                    </a:solidFill>
                    <a:latin typeface="Cambria Math" panose="02040503050406030204" pitchFamily="18" charset="0"/>
                    <a:ea typeface="Cambria Math" panose="02040503050406030204" pitchFamily="18" charset="0"/>
                  </a:rPr>
                  <a:t>the generator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will eliminate reflections </a:t>
                </a:r>
                <a:r>
                  <a:rPr lang="en-US" dirty="0">
                    <a:solidFill>
                      <a:srgbClr val="000000"/>
                    </a:solidFill>
                    <a:latin typeface="Cambria Math" panose="02040503050406030204" pitchFamily="18" charset="0"/>
                    <a:ea typeface="Cambria Math" panose="02040503050406030204" pitchFamily="18" charset="0"/>
                  </a:rPr>
                  <a:t>between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matching </a:t>
                </a:r>
              </a:p>
              <a:p>
                <a:pPr marR="0" lvl="0" algn="l" defTabSz="914400" rtl="0" eaLnBrk="1" fontAlgn="auto" latinLnBrk="0" hangingPunct="1">
                  <a:lnSpc>
                    <a:spcPct val="100000"/>
                  </a:lnSpc>
                  <a:spcBef>
                    <a:spcPts val="0"/>
                  </a:spcBef>
                  <a:spcAft>
                    <a:spcPts val="0"/>
                  </a:spcAft>
                  <a:buClrTx/>
                  <a:buSzTx/>
                  <a:tabLst/>
                  <a:defRPr/>
                </a:pPr>
                <a:r>
                  <a:rPr lang="en-US" dirty="0">
                    <a:solidFill>
                      <a:srgbClr val="000000"/>
                    </a:solidFill>
                    <a:latin typeface="Cambria Math" panose="02040503050406030204" pitchFamily="18" charset="0"/>
                    <a:ea typeface="Cambria Math" panose="02040503050406030204" pitchFamily="18" charset="0"/>
                  </a:rPr>
                  <a:t>network a</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nd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generator by matching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1/Y</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107005" y="575282"/>
                <a:ext cx="12003932" cy="6098336"/>
              </a:xfrm>
              <a:prstGeom prst="rect">
                <a:avLst/>
              </a:prstGeom>
              <a:blipFill>
                <a:blip r:embed="rId2"/>
                <a:stretch>
                  <a:fillRect l="-253" t="-198"/>
                </a:stretch>
              </a:blipFill>
            </p:spPr>
            <p:txBody>
              <a:bodyPr/>
              <a:lstStyle/>
              <a:p>
                <a:r>
                  <a:rPr lang="en-US">
                    <a:noFill/>
                  </a:rPr>
                  <a:t> </a:t>
                </a:r>
              </a:p>
            </p:txBody>
          </p:sp>
        </mc:Fallback>
      </mc:AlternateContent>
      <p:grpSp>
        <p:nvGrpSpPr>
          <p:cNvPr id="9" name="Group 8"/>
          <p:cNvGrpSpPr/>
          <p:nvPr/>
        </p:nvGrpSpPr>
        <p:grpSpPr>
          <a:xfrm>
            <a:off x="7119771" y="2251381"/>
            <a:ext cx="4872945" cy="4402735"/>
            <a:chOff x="6274340" y="1546164"/>
            <a:chExt cx="5670524" cy="4747127"/>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340" y="1546164"/>
              <a:ext cx="5670524" cy="4747127"/>
            </a:xfrm>
            <a:prstGeom prst="rect">
              <a:avLst/>
            </a:prstGeom>
          </p:spPr>
        </p:pic>
        <p:sp>
          <p:nvSpPr>
            <p:cNvPr id="3" name="TextBox 2"/>
            <p:cNvSpPr txBox="1"/>
            <p:nvPr/>
          </p:nvSpPr>
          <p:spPr>
            <a:xfrm>
              <a:off x="9093822" y="4736459"/>
              <a:ext cx="261610"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a:t>
              </a:r>
            </a:p>
          </p:txBody>
        </p:sp>
        <p:sp>
          <p:nvSpPr>
            <p:cNvPr id="7" name="Oval 6"/>
            <p:cNvSpPr/>
            <p:nvPr/>
          </p:nvSpPr>
          <p:spPr bwMode="auto">
            <a:xfrm>
              <a:off x="9224627" y="4919666"/>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8" name="Oval 7"/>
            <p:cNvSpPr/>
            <p:nvPr/>
          </p:nvSpPr>
          <p:spPr bwMode="auto">
            <a:xfrm>
              <a:off x="9227006" y="3067023"/>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spTree>
    <p:extLst>
      <p:ext uri="{BB962C8B-B14F-4D97-AF65-F5344CB8AC3E}">
        <p14:creationId xmlns:p14="http://schemas.microsoft.com/office/powerpoint/2010/main" val="2867679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 calcmode="lin" valueType="num">
                                      <p:cBhvr additive="base">
                                        <p:cTn id="2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 calcmode="lin" valueType="num">
                                      <p:cBhvr additive="base">
                                        <p:cTn id="3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 calcmode="lin" valueType="num">
                                      <p:cBhvr additive="base">
                                        <p:cTn id="3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anim calcmode="lin" valueType="num">
                                      <p:cBhvr additive="base">
                                        <p:cTn id="4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11" end="11"/>
                                            </p:txEl>
                                          </p:spTgt>
                                        </p:tgtEl>
                                        <p:attrNameLst>
                                          <p:attrName>style.visibility</p:attrName>
                                        </p:attrNameLst>
                                      </p:cBhvr>
                                      <p:to>
                                        <p:strVal val="visible"/>
                                      </p:to>
                                    </p:set>
                                    <p:anim calcmode="lin" valueType="num">
                                      <p:cBhvr additive="base">
                                        <p:cTn id="4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07609" y="-28480"/>
            <a:ext cx="11483098" cy="553998"/>
          </a:xfrm>
        </p:spPr>
        <p:txBody>
          <a:bodyPr/>
          <a:lstStyle/>
          <a:p>
            <a:pPr algn="ctr"/>
            <a:r>
              <a:rPr lang="en-US" sz="4000" dirty="0"/>
              <a:t>Lumped Element Matching Example 2-13: (Continued)</a:t>
            </a:r>
          </a:p>
        </p:txBody>
      </p:sp>
      <mc:AlternateContent xmlns:mc="http://schemas.openxmlformats.org/markup-compatibility/2006" xmlns:a14="http://schemas.microsoft.com/office/drawing/2010/main">
        <mc:Choice Requires="a14">
          <p:sp>
            <p:nvSpPr>
              <p:cNvPr id="4" name="Rectangle 3"/>
              <p:cNvSpPr/>
              <p:nvPr/>
            </p:nvSpPr>
            <p:spPr>
              <a:xfrm>
                <a:off x="107005" y="556428"/>
                <a:ext cx="12003932" cy="616835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(From previous slides) Either a shunt inductor located at distance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or a shunt capacitor located at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will match the impedance of the 50 Ω transmission line at f = 100 MHz with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Ω</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Solve for shunt admittance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so that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2400"/>
                  </a:spcAft>
                  <a:buClrTx/>
                  <a:buSzTx/>
                  <a:buFontTx/>
                  <a:buNone/>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Input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Admittance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1"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Shunt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Admittance</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1.58.  </m:t>
                    </m:r>
                  </m:oMath>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D</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0.633. 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 Ω</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0.633</m:t>
                        </m:r>
                      </m:e>
                    </m:d>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lvl="0">
                  <a:spcAft>
                    <a:spcPts val="1200"/>
                  </a:spcAf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Shunt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capacitor</m:t>
                              </m:r>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πfC</m:t>
                              </m:r>
                            </m:e>
                          </m:d>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type m:val="lin"/>
                          <m:ctrlPr>
                            <a:rPr lang="en-US" i="1">
                              <a:solidFill>
                                <a:srgbClr val="000000"/>
                              </a:solidFill>
                              <a:latin typeface="Cambria Math" panose="02040503050406030204" pitchFamily="18" charset="0"/>
                            </a:rPr>
                          </m:ctrlPr>
                        </m:fPr>
                        <m:num>
                          <m:r>
                            <a:rPr lang="en-US" b="0" i="0" smtClean="0">
                              <a:solidFill>
                                <a:srgbClr val="000000"/>
                              </a:solidFill>
                              <a:latin typeface="Cambria Math" panose="02040503050406030204" pitchFamily="18" charset="0"/>
                            </a:rPr>
                            <m:t>−</m:t>
                          </m:r>
                          <m:r>
                            <m:rPr>
                              <m:sty m:val="p"/>
                            </m:rPr>
                            <a:rPr lang="en-US" b="0" i="0" smtClean="0">
                              <a:solidFill>
                                <a:srgbClr val="000000"/>
                              </a:solidFill>
                              <a:latin typeface="Cambria Math" panose="02040503050406030204" pitchFamily="18" charset="0"/>
                            </a:rPr>
                            <m:t>j</m:t>
                          </m:r>
                        </m:num>
                        <m:den>
                          <m:d>
                            <m:dPr>
                              <m:ctrlPr>
                                <a:rPr lang="en-US" i="1">
                                  <a:solidFill>
                                    <a:srgbClr val="000000"/>
                                  </a:solidFill>
                                  <a:latin typeface="Cambria Math" panose="02040503050406030204" pitchFamily="18" charset="0"/>
                                </a:rPr>
                              </m:ctrlPr>
                            </m:dPr>
                            <m:e>
                              <m:r>
                                <a:rPr lang="en-US">
                                  <a:solidFill>
                                    <a:srgbClr val="000000"/>
                                  </a:solidFill>
                                  <a:latin typeface="Cambria Math" panose="02040503050406030204" pitchFamily="18" charset="0"/>
                                </a:rPr>
                                <m:t>2</m:t>
                              </m:r>
                              <m:r>
                                <m:rPr>
                                  <m:sty m:val="p"/>
                                </m:rPr>
                                <a:rPr lang="en-US">
                                  <a:solidFill>
                                    <a:srgbClr val="000000"/>
                                  </a:solidFill>
                                  <a:latin typeface="Cambria Math" panose="02040503050406030204" pitchFamily="18" charset="0"/>
                                </a:rPr>
                                <m:t>πfC</m:t>
                              </m:r>
                            </m:e>
                          </m:d>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πf</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e>
                          </m:d>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MHz</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31.6 Ω</m:t>
                              </m:r>
                            </m:e>
                          </m:d>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=50.4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pf</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lvl="0" indent="-285750">
                  <a:buFont typeface="Arial" panose="020B0604020202020204" pitchFamily="34" charset="0"/>
                  <a:buChar char="•"/>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 shunt 50.4 pf capacitor located at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0.207</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from the load </a:t>
                </a:r>
                <a:r>
                  <a:rPr lang="en-US" dirty="0">
                    <a:solidFill>
                      <a:srgbClr val="000000"/>
                    </a:solidFill>
                    <a:latin typeface="Cambria Math" panose="02040503050406030204" pitchFamily="18" charset="0"/>
                    <a:ea typeface="Cambria Math" panose="02040503050406030204" pitchFamily="18" charset="0"/>
                  </a:rPr>
                  <a:t>towards</a:t>
                </a:r>
              </a:p>
              <a:p>
                <a:pPr lvl="0">
                  <a:defRPr/>
                </a:pPr>
                <a:r>
                  <a:rPr lang="en-US" dirty="0">
                    <a:solidFill>
                      <a:srgbClr val="000000"/>
                    </a:solidFill>
                    <a:latin typeface="Cambria Math" panose="02040503050406030204" pitchFamily="18" charset="0"/>
                    <a:ea typeface="Cambria Math" panose="02040503050406030204" pitchFamily="18" charset="0"/>
                  </a:rPr>
                  <a:t>the generator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will eliminate reflections </a:t>
                </a:r>
                <a:r>
                  <a:rPr lang="en-US" dirty="0">
                    <a:solidFill>
                      <a:srgbClr val="000000"/>
                    </a:solidFill>
                    <a:latin typeface="Cambria Math" panose="02040503050406030204" pitchFamily="18" charset="0"/>
                    <a:ea typeface="Cambria Math" panose="02040503050406030204" pitchFamily="18" charset="0"/>
                  </a:rPr>
                  <a:t>between the matching </a:t>
                </a:r>
              </a:p>
              <a:p>
                <a:pPr lvl="0">
                  <a:defRPr/>
                </a:pPr>
                <a:r>
                  <a:rPr lang="en-US" dirty="0">
                    <a:solidFill>
                      <a:srgbClr val="000000"/>
                    </a:solidFill>
                    <a:latin typeface="Cambria Math" panose="02040503050406030204" pitchFamily="18" charset="0"/>
                    <a:ea typeface="Cambria Math" panose="02040503050406030204" pitchFamily="18" charset="0"/>
                  </a:rPr>
                  <a:t>network and the g</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enerator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by matching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1/Y</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107005" y="556428"/>
                <a:ext cx="12003932" cy="6168355"/>
              </a:xfrm>
              <a:prstGeom prst="rect">
                <a:avLst/>
              </a:prstGeom>
              <a:blipFill>
                <a:blip r:embed="rId2"/>
                <a:stretch>
                  <a:fillRect l="-253" t="-196" b="-98"/>
                </a:stretch>
              </a:blipFill>
            </p:spPr>
            <p:txBody>
              <a:bodyPr/>
              <a:lstStyle/>
              <a:p>
                <a:r>
                  <a:rPr lang="en-US">
                    <a:noFill/>
                  </a:rPr>
                  <a:t> </a:t>
                </a:r>
              </a:p>
            </p:txBody>
          </p:sp>
        </mc:Fallback>
      </mc:AlternateContent>
      <p:grpSp>
        <p:nvGrpSpPr>
          <p:cNvPr id="9" name="Group 8"/>
          <p:cNvGrpSpPr/>
          <p:nvPr/>
        </p:nvGrpSpPr>
        <p:grpSpPr>
          <a:xfrm>
            <a:off x="7004115" y="2298583"/>
            <a:ext cx="4988601" cy="4311512"/>
            <a:chOff x="6274340" y="1546164"/>
            <a:chExt cx="5670524" cy="4747127"/>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340" y="1546164"/>
              <a:ext cx="5670524" cy="4747127"/>
            </a:xfrm>
            <a:prstGeom prst="rect">
              <a:avLst/>
            </a:prstGeom>
          </p:spPr>
        </p:pic>
        <p:sp>
          <p:nvSpPr>
            <p:cNvPr id="3" name="TextBox 2"/>
            <p:cNvSpPr txBox="1"/>
            <p:nvPr/>
          </p:nvSpPr>
          <p:spPr>
            <a:xfrm>
              <a:off x="9093822" y="4736459"/>
              <a:ext cx="261610"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a:t>
              </a:r>
            </a:p>
          </p:txBody>
        </p:sp>
        <p:sp>
          <p:nvSpPr>
            <p:cNvPr id="7" name="Oval 6"/>
            <p:cNvSpPr/>
            <p:nvPr/>
          </p:nvSpPr>
          <p:spPr bwMode="auto">
            <a:xfrm>
              <a:off x="9224627" y="4919666"/>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8" name="Oval 7"/>
            <p:cNvSpPr/>
            <p:nvPr/>
          </p:nvSpPr>
          <p:spPr bwMode="auto">
            <a:xfrm>
              <a:off x="9227006" y="3067023"/>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grpSp>
    </p:spTree>
    <p:extLst>
      <p:ext uri="{BB962C8B-B14F-4D97-AF65-F5344CB8AC3E}">
        <p14:creationId xmlns:p14="http://schemas.microsoft.com/office/powerpoint/2010/main" val="30896322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 calcmode="lin" valueType="num">
                                      <p:cBhvr additive="base">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 calcmode="lin" valueType="num">
                                      <p:cBhvr additive="base">
                                        <p:cTn id="2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 calcmode="lin" valueType="num">
                                      <p:cBhvr additive="base">
                                        <p:cTn id="3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anim calcmode="lin" valueType="num">
                                      <p:cBhvr additive="base">
                                        <p:cTn id="3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anim calcmode="lin" valueType="num">
                                      <p:cBhvr additive="base">
                                        <p:cTn id="4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anim calcmode="lin" valueType="num">
                                      <p:cBhvr additive="base">
                                        <p:cTn id="4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568411" y="-24806"/>
            <a:ext cx="10739361" cy="498598"/>
          </a:xfrm>
        </p:spPr>
        <p:txBody>
          <a:bodyPr/>
          <a:lstStyle/>
          <a:p>
            <a:pPr algn="ctr"/>
            <a:r>
              <a:rPr lang="en-US" sz="3600" dirty="0"/>
              <a:t>Lumped Element Matching Example 2-13: (Continued)</a:t>
            </a:r>
          </a:p>
        </p:txBody>
      </p:sp>
      <mc:AlternateContent xmlns:mc="http://schemas.openxmlformats.org/markup-compatibility/2006" xmlns:a14="http://schemas.microsoft.com/office/drawing/2010/main">
        <mc:Choice Requires="a14">
          <p:sp>
            <p:nvSpPr>
              <p:cNvPr id="4" name="Rectangle 3"/>
              <p:cNvSpPr/>
              <p:nvPr/>
            </p:nvSpPr>
            <p:spPr>
              <a:xfrm>
                <a:off x="184038" y="571557"/>
                <a:ext cx="11744352" cy="622029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2" indent="-285750">
                  <a:spcAft>
                    <a:spcPts val="600"/>
                  </a:spcAft>
                  <a:buFont typeface="Arial" panose="020B0604020202020204" pitchFamily="34" charset="0"/>
                  <a:buChar char="•"/>
                  <a:defRPr/>
                </a:pPr>
                <a:r>
                  <a:rPr lang="en-US" dirty="0">
                    <a:solidFill>
                      <a:srgbClr val="000000"/>
                    </a:solidFill>
                    <a:latin typeface="Cambria Math" panose="02040503050406030204" pitchFamily="18" charset="0"/>
                    <a:ea typeface="Cambria Math" panose="02040503050406030204" pitchFamily="18" charset="0"/>
                  </a:rPr>
                  <a:t>For a 50 Ω transmission line, Y</a:t>
                </a:r>
                <a:r>
                  <a:rPr lang="en-US" baseline="-25000" dirty="0">
                    <a:solidFill>
                      <a:srgbClr val="000000"/>
                    </a:solidFill>
                    <a:latin typeface="Cambria Math" panose="02040503050406030204" pitchFamily="18" charset="0"/>
                    <a:ea typeface="Cambria Math" panose="02040503050406030204" pitchFamily="18" charset="0"/>
                  </a:rPr>
                  <a:t>0</a:t>
                </a:r>
                <a:r>
                  <a:rPr lang="en-US" dirty="0">
                    <a:solidFill>
                      <a:srgbClr val="000000"/>
                    </a:solidFill>
                    <a:latin typeface="Cambria Math" panose="02040503050406030204" pitchFamily="18" charset="0"/>
                    <a:ea typeface="Cambria Math" panose="02040503050406030204" pitchFamily="18" charset="0"/>
                  </a:rPr>
                  <a:t> = 1/Y</a:t>
                </a:r>
                <a:r>
                  <a:rPr lang="en-US" baseline="-25000" dirty="0">
                    <a:solidFill>
                      <a:srgbClr val="000000"/>
                    </a:solidFill>
                    <a:latin typeface="Cambria Math" panose="02040503050406030204" pitchFamily="18" charset="0"/>
                    <a:ea typeface="Cambria Math" panose="02040503050406030204" pitchFamily="18" charset="0"/>
                  </a:rPr>
                  <a:t>0</a:t>
                </a:r>
                <a:r>
                  <a:rPr lang="en-US" dirty="0">
                    <a:solidFill>
                      <a:srgbClr val="000000"/>
                    </a:solidFill>
                    <a:latin typeface="Cambria Math" panose="02040503050406030204" pitchFamily="18" charset="0"/>
                    <a:ea typeface="Cambria Math" panose="02040503050406030204" pitchFamily="18" charset="0"/>
                  </a:rPr>
                  <a:t> =0.02 S. </a:t>
                </a:r>
                <a:endPar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2" indent="0" algn="l" defTabSz="914400" rtl="0" eaLnBrk="1" fontAlgn="auto" latinLnBrk="0" hangingPunct="1">
                  <a:lnSpc>
                    <a:spcPct val="100000"/>
                  </a:lnSpc>
                  <a:spcBef>
                    <a:spcPts val="180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C</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(Check)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50.3 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n</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located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at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0.063</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λ</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from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load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towards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generator</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πfL</m:t>
                              </m:r>
                            </m:e>
                          </m:d>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0.0316 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=1.0+</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=1.0.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e>
                          </m:d>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=0.02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=0.02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Since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no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reflections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from</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matching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network</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source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occur</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Adding a 50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nH</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shunt inductor at distance 0.063</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from the load towards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generator along the feedline eliminates reflections from the matching network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the generator by matching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1/Y</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2"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Point D</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(Check)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C</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50.4 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p</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located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0.207 </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λ</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from</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load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towards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generator</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πfC</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j</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0.0316 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s</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en>
                      </m:f>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1.58.  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C</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=1.0.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e>
                      </m:d>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e>
                          </m:d>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=0.02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=0.02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Since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no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reflections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from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matching</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network</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source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occur</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Adding a 50 pF shunt capacitor at distance 0.207</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from the load towards the generator along the feedline eliminates reflections from the matching network to the generator by matching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1/Y</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a:t>
                </a:r>
                <a:r>
                  <a:rPr kumimoji="0" lang="el-GR"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Ω</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p:txBody>
          </p:sp>
        </mc:Choice>
        <mc:Fallback xmlns="">
          <p:sp>
            <p:nvSpPr>
              <p:cNvPr id="4" name="Rectangle 3"/>
              <p:cNvSpPr>
                <a:spLocks noRot="1" noChangeAspect="1" noMove="1" noResize="1" noEditPoints="1" noAdjustHandles="1" noChangeArrowheads="1" noChangeShapeType="1" noTextEdit="1"/>
              </p:cNvSpPr>
              <p:nvPr/>
            </p:nvSpPr>
            <p:spPr>
              <a:xfrm>
                <a:off x="184038" y="571557"/>
                <a:ext cx="11744352" cy="6220293"/>
              </a:xfrm>
              <a:prstGeom prst="rect">
                <a:avLst/>
              </a:prstGeom>
              <a:blipFill>
                <a:blip r:embed="rId2"/>
                <a:stretch>
                  <a:fillRect l="-207" t="-292" b="-97"/>
                </a:stretch>
              </a:blipFill>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8672" y="2914480"/>
            <a:ext cx="3900593" cy="171590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5095" y="4728152"/>
            <a:ext cx="4044170" cy="1449657"/>
          </a:xfrm>
          <a:prstGeom prst="rect">
            <a:avLst/>
          </a:prstGeom>
        </p:spPr>
      </p:pic>
      <p:pic>
        <p:nvPicPr>
          <p:cNvPr id="9" name="Picture 8">
            <a:extLst>
              <a:ext uri="{FF2B5EF4-FFF2-40B4-BE49-F238E27FC236}">
                <a16:creationId xmlns:a16="http://schemas.microsoft.com/office/drawing/2014/main" id="{9BEFC82F-3786-4EE6-87D7-3FC765B9BECE}"/>
              </a:ext>
            </a:extLst>
          </p:cNvPr>
          <p:cNvPicPr>
            <a:picLocks noChangeAspect="1"/>
          </p:cNvPicPr>
          <p:nvPr/>
        </p:nvPicPr>
        <p:blipFill rotWithShape="1">
          <a:blip r:embed="rId5">
            <a:extLst>
              <a:ext uri="{28A0092B-C50C-407E-A947-70E740481C1C}">
                <a14:useLocalDpi xmlns:a14="http://schemas.microsoft.com/office/drawing/2010/main" val="0"/>
              </a:ext>
            </a:extLst>
          </a:blip>
          <a:srcRect l="1796" r="3314" b="10108"/>
          <a:stretch/>
        </p:blipFill>
        <p:spPr>
          <a:xfrm>
            <a:off x="8338656" y="629856"/>
            <a:ext cx="2575421" cy="2347817"/>
          </a:xfrm>
          <a:prstGeom prst="rect">
            <a:avLst/>
          </a:prstGeom>
        </p:spPr>
      </p:pic>
    </p:spTree>
    <p:extLst>
      <p:ext uri="{BB962C8B-B14F-4D97-AF65-F5344CB8AC3E}">
        <p14:creationId xmlns:p14="http://schemas.microsoft.com/office/powerpoint/2010/main" val="20942974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 calcmode="lin" valueType="num">
                                      <p:cBhvr additive="base">
                                        <p:cTn id="1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 calcmode="lin" valueType="num">
                                      <p:cBhvr additive="base">
                                        <p:cTn id="1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 calcmode="lin" valueType="num">
                                      <p:cBhvr additive="base">
                                        <p:cTn id="2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 calcmode="lin" valueType="num">
                                      <p:cBhvr additive="base">
                                        <p:cTn id="2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anim calcmode="lin" valueType="num">
                                      <p:cBhvr additive="base">
                                        <p:cTn id="31"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anim calcmode="lin" valueType="num">
                                      <p:cBhvr additive="base">
                                        <p:cTn id="3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14" end="14"/>
                                            </p:txEl>
                                          </p:spTgt>
                                        </p:tgtEl>
                                        <p:attrNameLst>
                                          <p:attrName>style.visibility</p:attrName>
                                        </p:attrNameLst>
                                      </p:cBhvr>
                                      <p:to>
                                        <p:strVal val="visible"/>
                                      </p:to>
                                    </p:set>
                                    <p:anim calcmode="lin" valueType="num">
                                      <p:cBhvr additive="base">
                                        <p:cTn id="39"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15" end="15"/>
                                            </p:txEl>
                                          </p:spTgt>
                                        </p:tgtEl>
                                        <p:attrNameLst>
                                          <p:attrName>style.visibility</p:attrName>
                                        </p:attrNameLst>
                                      </p:cBhvr>
                                      <p:to>
                                        <p:strVal val="visible"/>
                                      </p:to>
                                    </p:set>
                                    <p:anim calcmode="lin" valueType="num">
                                      <p:cBhvr additive="base">
                                        <p:cTn id="43"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additive="base">
                                        <p:cTn id="49" dur="500" fill="hold"/>
                                        <p:tgtEl>
                                          <p:spTgt spid="3"/>
                                        </p:tgtEl>
                                        <p:attrNameLst>
                                          <p:attrName>ppt_x</p:attrName>
                                        </p:attrNameLst>
                                      </p:cBhvr>
                                      <p:tavLst>
                                        <p:tav tm="0">
                                          <p:val>
                                            <p:strVal val="#ppt_x"/>
                                          </p:val>
                                        </p:tav>
                                        <p:tav tm="100000">
                                          <p:val>
                                            <p:strVal val="#ppt_x"/>
                                          </p:val>
                                        </p:tav>
                                      </p:tavLst>
                                    </p:anim>
                                    <p:anim calcmode="lin" valueType="num">
                                      <p:cBhvr additive="base">
                                        <p:cTn id="5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17" end="17"/>
                                            </p:txEl>
                                          </p:spTgt>
                                        </p:tgtEl>
                                        <p:attrNameLst>
                                          <p:attrName>style.visibility</p:attrName>
                                        </p:attrNameLst>
                                      </p:cBhvr>
                                      <p:to>
                                        <p:strVal val="visible"/>
                                      </p:to>
                                    </p:set>
                                    <p:anim calcmode="lin" valueType="num">
                                      <p:cBhvr additive="base">
                                        <p:cTn id="55"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258349" y="0"/>
            <a:ext cx="8157807" cy="608987"/>
          </a:xfrm>
        </p:spPr>
        <p:txBody>
          <a:bodyPr/>
          <a:lstStyle/>
          <a:p>
            <a:pPr algn="ctr"/>
            <a:r>
              <a:rPr lang="en-US" sz="4000" dirty="0"/>
              <a:t>Lumped Element Matching Summary</a:t>
            </a:r>
          </a:p>
        </p:txBody>
      </p:sp>
      <mc:AlternateContent xmlns:mc="http://schemas.openxmlformats.org/markup-compatibility/2006" xmlns:a14="http://schemas.microsoft.com/office/drawing/2010/main">
        <mc:Choice Requires="a14">
          <p:sp>
            <p:nvSpPr>
              <p:cNvPr id="4" name="Rectangle 3"/>
              <p:cNvSpPr/>
              <p:nvPr/>
            </p:nvSpPr>
            <p:spPr>
              <a:xfrm>
                <a:off x="90227" y="608987"/>
                <a:ext cx="12003932" cy="577081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Use a matching network at terminals MM’ so as to eliminate reflections on</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feedline, which </a:t>
                </a:r>
                <a:r>
                  <a:rPr lang="en-US" dirty="0">
                    <a:solidFill>
                      <a:srgbClr val="000000"/>
                    </a:solidFill>
                    <a:latin typeface="Cambria Math" panose="02040503050406030204" pitchFamily="18" charset="0"/>
                    <a:ea typeface="Cambria Math" panose="02040503050406030204" pitchFamily="18" charset="0"/>
                  </a:rPr>
                  <a:t>are undesirable for</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the generator. </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Want Z</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in</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MM’ = Z</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0</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to eliminate feedline reflections.</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Therefore, want normalized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1 +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j</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Start with normalized load impedance: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z</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j</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x</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Convert to normalized load admittance,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g</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j</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b</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m:t>
                        </m:r>
                      </m:sub>
                    </m:sSub>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by mean of Smith Chart.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Find</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oMath>
                </a14:m>
                <a:r>
                  <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from the intersection of  SWR circle with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g</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L</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 circle,</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which results in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Also record distance d in terms of</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l-GR"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λ</a:t>
                </a:r>
                <a:r>
                  <a:rPr kumimoji="0" lang="en-US" sz="1800" b="0" i="0" u="none" strike="noStrike" kern="1200" cap="none" spc="0" normalizeH="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from associated WTG value.</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Want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g</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1 +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j</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 where</a:t>
                </a:r>
                <a14:m>
                  <m:oMath xmlns:m="http://schemas.openxmlformats.org/officeDocument/2006/math">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normalize susceptance of the shunt element.</a:t>
                </a: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Want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so determine shunt element L or C value needed for normalized shunt</a:t>
                </a:r>
                <a:r>
                  <a:rPr kumimoji="0" lang="en-US" sz="1800" b="0" i="0" u="none" strike="noStrike" kern="1200" cap="none" spc="0" normalizeH="0" noProof="0" dirty="0">
                    <a:ln>
                      <a:noFill/>
                    </a:ln>
                    <a:solidFill>
                      <a:srgbClr val="000000"/>
                    </a:solidFill>
                    <a:effectLst/>
                    <a:uLnTx/>
                    <a:uFillTx/>
                    <a:latin typeface="Cambria" panose="02040503050406030204"/>
                    <a:ea typeface="+mn-ea"/>
                    <a:cs typeface="+mn-cs"/>
                  </a:rPr>
                  <a:t> element </a:t>
                </a:r>
                <a:r>
                  <a:rPr kumimoji="0" lang="en-US" sz="1800" b="0" i="0" u="none" strike="noStrike" kern="1200" cap="none" spc="0" normalizeH="0" noProof="0">
                    <a:ln>
                      <a:noFill/>
                    </a:ln>
                    <a:solidFill>
                      <a:srgbClr val="000000"/>
                    </a:solidFill>
                    <a:effectLst/>
                    <a:uLnTx/>
                    <a:uFillTx/>
                    <a:latin typeface="Cambria" panose="02040503050406030204"/>
                    <a:ea typeface="+mn-ea"/>
                    <a:cs typeface="+mn-cs"/>
                  </a:rPr>
                  <a:t>admitance</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t>
                </a:r>
                <a:r>
                  <a:rPr kumimoji="0" lang="en-US" sz="1800" b="0" i="0" u="none" strike="noStrike" kern="1200" cap="none" spc="0" normalizeH="0" baseline="0" noProof="0" dirty="0" err="1">
                    <a:ln>
                      <a:noFill/>
                    </a:ln>
                    <a:solidFill>
                      <a:srgbClr val="000000"/>
                    </a:solidFill>
                    <a:effectLst/>
                    <a:uLnTx/>
                    <a:uFillTx/>
                    <a:latin typeface="Cambria" panose="02040503050406030204"/>
                    <a:ea typeface="+mn-ea"/>
                    <a:cs typeface="+mn-cs"/>
                  </a:rPr>
                  <a:t>y</a:t>
                </a:r>
                <a:r>
                  <a:rPr kumimoji="0" lang="en-US" sz="1800" b="0" i="0" u="none" strike="noStrike" kern="1200" cap="none" spc="0" normalizeH="0" baseline="-25000" noProof="0" dirty="0" err="1">
                    <a:ln>
                      <a:noFill/>
                    </a:ln>
                    <a:solidFill>
                      <a:srgbClr val="000000"/>
                    </a:solidFill>
                    <a:effectLst/>
                    <a:uLnTx/>
                    <a:uFillTx/>
                    <a:latin typeface="Cambria" panose="02040503050406030204"/>
                    <a:ea typeface="+mn-ea"/>
                    <a:cs typeface="+mn-cs"/>
                  </a:rPr>
                  <a:t>s</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 -j</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b</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d</m:t>
                        </m:r>
                      </m:sub>
                    </m:sSub>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285750" marR="0" lvl="0" indent="-28575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Locate the shunt C or L element at appropriate distance</a:t>
                </a:r>
                <a:r>
                  <a:rPr kumimoji="0" lang="en-US" sz="1800" b="0" i="0" u="none" strike="noStrike" kern="1200" cap="none" spc="0" normalizeH="0" noProof="0" dirty="0">
                    <a:ln>
                      <a:noFill/>
                    </a:ln>
                    <a:solidFill>
                      <a:srgbClr val="000000"/>
                    </a:solidFill>
                    <a:effectLst/>
                    <a:uLnTx/>
                    <a:uFillTx/>
                    <a:latin typeface="Cambria" panose="02040503050406030204"/>
                    <a:ea typeface="+mn-ea"/>
                    <a:cs typeface="+mn-cs"/>
                  </a:rPr>
                  <a:t> d</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from load based on </a:t>
                </a:r>
                <a:r>
                  <a:rPr lang="en-US" dirty="0">
                    <a:solidFill>
                      <a:srgbClr val="000000"/>
                    </a:solidFill>
                    <a:latin typeface="Cambria" panose="02040503050406030204"/>
                  </a:rPr>
                  <a:t>fractional </a:t>
                </a:r>
                <a:r>
                  <a:rPr lang="el-GR" dirty="0">
                    <a:solidFill>
                      <a:srgbClr val="000000"/>
                    </a:solidFill>
                    <a:latin typeface="Cambria" panose="02040503050406030204"/>
                  </a:rPr>
                  <a:t>λ</a:t>
                </a:r>
                <a:r>
                  <a:rPr lang="en-US" dirty="0">
                    <a:solidFill>
                      <a:srgbClr val="000000"/>
                    </a:solidFill>
                    <a:latin typeface="Cambria" panose="02040503050406030204"/>
                  </a:rPr>
                  <a:t> value</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from WTG </a:t>
                </a:r>
                <a:r>
                  <a:rPr lang="en-US" dirty="0">
                    <a:solidFill>
                      <a:srgbClr val="000000"/>
                    </a:solidFill>
                    <a:latin typeface="Cambria" panose="02040503050406030204"/>
                  </a:rPr>
                  <a:t>scale</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This results in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y</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in</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1 + </m:t>
                    </m:r>
                    <m:r>
                      <m:rPr>
                        <m:nor/>
                      </m:rP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m:t>j</m:t>
                    </m:r>
                    <m:r>
                      <m:rPr>
                        <m:nor/>
                      </m:rPr>
                      <a:rPr kumimoji="0" lang="en-US" sz="1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which means that Y</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in</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 Y</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O</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y</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in</m:t>
                        </m:r>
                      </m:sub>
                    </m:sSub>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Y</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O</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and therefore Z</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in</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 Z</a:t>
                </a:r>
                <a:r>
                  <a:rPr kumimoji="0" lang="en-US" sz="1800" b="0" i="0" u="none" strike="noStrike" kern="1200" cap="none" spc="0" normalizeH="0" baseline="-25000" noProof="0" dirty="0">
                    <a:ln>
                      <a:noFill/>
                    </a:ln>
                    <a:solidFill>
                      <a:srgbClr val="000000"/>
                    </a:solidFill>
                    <a:effectLst/>
                    <a:uLnTx/>
                    <a:uFillTx/>
                    <a:latin typeface="Cambria" panose="02040503050406030204"/>
                    <a:ea typeface="+mn-ea"/>
                    <a:cs typeface="+mn-cs"/>
                  </a:rPr>
                  <a:t>0</a:t>
                </a: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 eliminating reflections</a:t>
                </a:r>
                <a:r>
                  <a:rPr kumimoji="0" lang="en-US" sz="1800" b="0" i="0" u="none" strike="noStrike" kern="1200" cap="none" spc="0" normalizeH="0" noProof="0" dirty="0">
                    <a:ln>
                      <a:noFill/>
                    </a:ln>
                    <a:solidFill>
                      <a:srgbClr val="000000"/>
                    </a:solidFill>
                    <a:effectLst/>
                    <a:uLnTx/>
                    <a:uFillTx/>
                    <a:latin typeface="Cambria" panose="02040503050406030204"/>
                    <a:ea typeface="+mn-ea"/>
                    <a:cs typeface="+mn-cs"/>
                  </a:rPr>
                  <a:t> between the feedline and matching network at MM’.</a:t>
                </a: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90227" y="608987"/>
                <a:ext cx="12003932" cy="5770811"/>
              </a:xfrm>
              <a:prstGeom prst="rect">
                <a:avLst/>
              </a:prstGeom>
              <a:blipFill>
                <a:blip r:embed="rId2"/>
                <a:stretch>
                  <a:fillRect l="-253" t="-314" b="-105"/>
                </a:stretch>
              </a:blipFill>
            </p:spPr>
            <p:txBody>
              <a:bodyPr/>
              <a:lstStyle/>
              <a:p>
                <a:r>
                  <a:rPr lang="en-US">
                    <a:noFill/>
                  </a:rPr>
                  <a:t> </a:t>
                </a:r>
              </a:p>
            </p:txBody>
          </p:sp>
        </mc:Fallback>
      </mc:AlternateContent>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1226" y="670083"/>
            <a:ext cx="3348600" cy="3222409"/>
          </a:xfrm>
          <a:prstGeom prst="rect">
            <a:avLst/>
          </a:prstGeom>
        </p:spPr>
      </p:pic>
    </p:spTree>
    <p:extLst>
      <p:ext uri="{BB962C8B-B14F-4D97-AF65-F5344CB8AC3E}">
        <p14:creationId xmlns:p14="http://schemas.microsoft.com/office/powerpoint/2010/main" val="2289654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 calcmode="lin" valueType="num">
                                      <p:cBhvr additive="base">
                                        <p:cTn id="1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 calcmode="lin" valueType="num">
                                      <p:cBhvr additive="base">
                                        <p:cTn id="1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anim calcmode="lin" valueType="num">
                                      <p:cBhvr additive="base">
                                        <p:cTn id="2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 calcmode="lin" valueType="num">
                                      <p:cBhvr additive="base">
                                        <p:cTn id="2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 calcmode="lin" valueType="num">
                                      <p:cBhvr additive="base">
                                        <p:cTn id="3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anim calcmode="lin" valueType="num">
                                      <p:cBhvr additive="base">
                                        <p:cTn id="3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 calcmode="lin" valueType="num">
                                      <p:cBhvr additive="base">
                                        <p:cTn id="4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734232" y="-23987"/>
            <a:ext cx="7791114" cy="553998"/>
          </a:xfrm>
        </p:spPr>
        <p:txBody>
          <a:bodyPr/>
          <a:lstStyle/>
          <a:p>
            <a:pPr algn="ctr"/>
            <a:r>
              <a:rPr lang="en-US" sz="4000" dirty="0"/>
              <a:t>Transients on Transmission Lines</a:t>
            </a:r>
          </a:p>
        </p:txBody>
      </p:sp>
      <mc:AlternateContent xmlns:mc="http://schemas.openxmlformats.org/markup-compatibility/2006" xmlns:a14="http://schemas.microsoft.com/office/drawing/2010/main">
        <mc:Choice Requires="a14">
          <p:sp>
            <p:nvSpPr>
              <p:cNvPr id="7" name="Rectangle 6"/>
              <p:cNvSpPr/>
              <p:nvPr/>
            </p:nvSpPr>
            <p:spPr>
              <a:xfrm>
                <a:off x="425723" y="554065"/>
                <a:ext cx="11549037" cy="300357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Transient response deals with initial transients on transmission lines, such as when a logic gate switches output states on a high-speed PCB.</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Lossless Lumped Element Transmission Line model consists of two basic elements: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r>
                  <a:rPr lang="en-US" dirty="0">
                    <a:solidFill>
                      <a:srgbClr val="000000"/>
                    </a:solidFill>
                    <a:latin typeface="Cambria Math" panose="02040503050406030204" pitchFamily="18" charset="0"/>
                    <a:ea typeface="Cambria Math" panose="02040503050406030204" pitchFamily="18" charset="0"/>
                  </a:rPr>
                  <a:t>		L’ - combined inductance of both conductors per unit length in H/m.</a:t>
                </a:r>
              </a:p>
              <a:p>
                <a:pPr>
                  <a:spcAft>
                    <a:spcPts val="1200"/>
                  </a:spcAft>
                </a:pPr>
                <a:r>
                  <a:rPr lang="en-US" dirty="0">
                    <a:solidFill>
                      <a:srgbClr val="000000"/>
                    </a:solidFill>
                    <a:latin typeface="Cambria Math" panose="02040503050406030204" pitchFamily="18" charset="0"/>
                    <a:ea typeface="Cambria Math" panose="02040503050406030204" pitchFamily="18" charset="0"/>
                  </a:rPr>
                  <a:t>		C’ – capacitance of the two conductors per unit length in F/m.</a:t>
                </a:r>
              </a:p>
              <a:p>
                <a:pPr lvl="3"/>
                <a14:m>
                  <m:oMathPara xmlns:m="http://schemas.openxmlformats.org/officeDocument/2006/math">
                    <m:oMathParaPr>
                      <m:jc m:val="left"/>
                    </m:oMathParaPr>
                    <m:oMath xmlns:m="http://schemas.openxmlformats.org/officeDocument/2006/math">
                      <m:r>
                        <m:rPr>
                          <m:sty m:val="p"/>
                        </m:rPr>
                        <a:rPr lang="en-US" b="0" i="0" smtClean="0">
                          <a:solidFill>
                            <a:srgbClr val="000000"/>
                          </a:solidFill>
                          <a:latin typeface="Cambria Math" panose="02040503050406030204" pitchFamily="18" charset="0"/>
                          <a:cs typeface="Times New Roman" panose="02020603050405020304" pitchFamily="18" charset="0"/>
                        </a:rPr>
                        <m:t>Initially</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the</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impedance</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seen</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at</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the</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generator</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terminals</m:t>
                      </m:r>
                      <m:r>
                        <a:rPr lang="en-US" b="0" i="0" smtClean="0">
                          <a:solidFill>
                            <a:srgbClr val="000000"/>
                          </a:solidFill>
                          <a:latin typeface="Cambria Math" panose="02040503050406030204" pitchFamily="18" charset="0"/>
                          <a:cs typeface="Times New Roman" panose="02020603050405020304" pitchFamily="18" charset="0"/>
                        </a:rPr>
                        <m:t> </m:t>
                      </m:r>
                      <m:r>
                        <m:rPr>
                          <m:sty m:val="p"/>
                        </m:rPr>
                        <a:rPr lang="en-US" b="0" i="0" smtClean="0">
                          <a:solidFill>
                            <a:srgbClr val="000000"/>
                          </a:solidFill>
                          <a:latin typeface="Cambria Math" panose="02040503050406030204" pitchFamily="18" charset="0"/>
                          <a:cs typeface="Times New Roman" panose="02020603050405020304" pitchFamily="18" charset="0"/>
                        </a:rPr>
                        <m:t>is</m:t>
                      </m:r>
                      <m:r>
                        <a:rPr lang="en-US" b="0" i="0" smtClean="0">
                          <a:solidFill>
                            <a:srgbClr val="000000"/>
                          </a:solidFill>
                          <a:latin typeface="Cambria Math" panose="02040503050406030204" pitchFamily="18" charset="0"/>
                          <a:cs typeface="Times New Roman" panose="02020603050405020304" pitchFamily="18" charset="0"/>
                        </a:rPr>
                        <m:t> </m:t>
                      </m:r>
                      <m:sSub>
                        <m:sSubPr>
                          <m:ctrlPr>
                            <a:rPr lang="en-US" i="1">
                              <a:solidFill>
                                <a:srgbClr val="000000"/>
                              </a:solidFill>
                              <a:latin typeface="Cambria Math" panose="02040503050406030204" pitchFamily="18" charset="0"/>
                              <a:cs typeface="Times New Roman" panose="02020603050405020304" pitchFamily="18" charset="0"/>
                            </a:rPr>
                          </m:ctrlPr>
                        </m:sSubPr>
                        <m:e>
                          <m:r>
                            <m:rPr>
                              <m:sty m:val="p"/>
                            </m:rPr>
                            <a:rPr lang="en-US">
                              <a:solidFill>
                                <a:srgbClr val="000000"/>
                              </a:solidFill>
                              <a:latin typeface="Cambria Math" panose="02040503050406030204" pitchFamily="18" charset="0"/>
                              <a:cs typeface="Times New Roman" panose="02020603050405020304" pitchFamily="18" charset="0"/>
                            </a:rPr>
                            <m:t>Z</m:t>
                          </m:r>
                        </m:e>
                        <m:sub>
                          <m:r>
                            <a:rPr lang="en-US" i="1">
                              <a:solidFill>
                                <a:srgbClr val="000000"/>
                              </a:solidFill>
                              <a:latin typeface="Cambria Math" panose="02040503050406030204" pitchFamily="18" charset="0"/>
                              <a:cs typeface="Times New Roman" panose="02020603050405020304" pitchFamily="18" charset="0"/>
                            </a:rPr>
                            <m:t>0</m:t>
                          </m:r>
                        </m:sub>
                      </m:sSub>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f>
                            <m:fPr>
                              <m:ctrlPr>
                                <a:rPr lang="en-US" i="1">
                                  <a:solidFill>
                                    <a:srgbClr val="000000"/>
                                  </a:solidFill>
                                  <a:latin typeface="Cambria Math" panose="02040503050406030204" pitchFamily="18" charset="0"/>
                                  <a:cs typeface="Times New Roman" panose="02020603050405020304" pitchFamily="18" charset="0"/>
                                </a:rPr>
                              </m:ctrlPr>
                            </m:fPr>
                            <m:num>
                              <m:sSup>
                                <m:sSupPr>
                                  <m:ctrlP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m:t>
                                  </m:r>
                                </m:e>
                                <m:sup>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p>
                            </m:num>
                            <m:den>
                              <m:sSup>
                                <m:sSupPr>
                                  <m:ctrlP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m:t>
                                  </m:r>
                                </m:e>
                                <m:sup>
                                  <m:r>
                                    <a:rPr lang="en-US">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p>
                            </m:den>
                          </m:f>
                        </m:e>
                      </m:rad>
                      <m:r>
                        <a:rPr 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dirty="0">
                  <a:solidFill>
                    <a:srgbClr val="000000"/>
                  </a:solidFill>
                  <a:latin typeface="Cambria Math" panose="02040503050406030204" pitchFamily="18"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425723" y="554065"/>
                <a:ext cx="11549037" cy="3003579"/>
              </a:xfrm>
              <a:prstGeom prst="rect">
                <a:avLst/>
              </a:prstGeom>
              <a:blipFill>
                <a:blip r:embed="rId2"/>
                <a:stretch>
                  <a:fillRect l="-158" t="-59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D04A2312-8785-4E70-AD67-2971856485BB}"/>
              </a:ext>
            </a:extLst>
          </p:cNvPr>
          <p:cNvPicPr>
            <a:picLocks noChangeAspect="1"/>
          </p:cNvPicPr>
          <p:nvPr/>
        </p:nvPicPr>
        <p:blipFill>
          <a:blip r:embed="rId3"/>
          <a:stretch>
            <a:fillRect/>
          </a:stretch>
        </p:blipFill>
        <p:spPr>
          <a:xfrm>
            <a:off x="1845578" y="3673441"/>
            <a:ext cx="8902056" cy="3027212"/>
          </a:xfrm>
          <a:prstGeom prst="rect">
            <a:avLst/>
          </a:prstGeom>
        </p:spPr>
      </p:pic>
    </p:spTree>
    <p:extLst>
      <p:ext uri="{BB962C8B-B14F-4D97-AF65-F5344CB8AC3E}">
        <p14:creationId xmlns:p14="http://schemas.microsoft.com/office/powerpoint/2010/main" val="222968267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870627" y="19225"/>
            <a:ext cx="10476688" cy="553998"/>
          </a:xfrm>
        </p:spPr>
        <p:txBody>
          <a:bodyPr/>
          <a:lstStyle/>
          <a:p>
            <a:pPr algn="ctr"/>
            <a:r>
              <a:rPr lang="en-US" sz="4000" dirty="0"/>
              <a:t>Transients on Transmission Lines (Continued)</a:t>
            </a:r>
          </a:p>
        </p:txBody>
      </p:sp>
      <mc:AlternateContent xmlns:mc="http://schemas.openxmlformats.org/markup-compatibility/2006" xmlns:a14="http://schemas.microsoft.com/office/drawing/2010/main">
        <mc:Choice Requires="a14">
          <p:sp>
            <p:nvSpPr>
              <p:cNvPr id="4" name="Rectangle 3"/>
              <p:cNvSpPr/>
              <p:nvPr/>
            </p:nvSpPr>
            <p:spPr>
              <a:xfrm>
                <a:off x="107005" y="1038066"/>
                <a:ext cx="12003932" cy="49294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For transmission lines that are electrically long, the resulting transient response is far from the ideal expected for an electrically short transmission line, and can result in erroneous digital data.</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For adjacent transmission line at t = 0+, generator circuit only sees</a:t>
                </a:r>
              </a:p>
              <a:p>
                <a:r>
                  <a:rPr lang="en-US" dirty="0">
                    <a:solidFill>
                      <a:srgbClr val="000000"/>
                    </a:solidFill>
                    <a:latin typeface="Cambria Math" panose="02040503050406030204" pitchFamily="18" charset="0"/>
                    <a:ea typeface="Cambria Math" panose="02040503050406030204" pitchFamily="18" charset="0"/>
                  </a:rPr>
                  <a:t>     characteristic impedance of the transmission line Z</a:t>
                </a:r>
                <a:r>
                  <a:rPr lang="en-US" baseline="-25000" dirty="0">
                    <a:solidFill>
                      <a:srgbClr val="000000"/>
                    </a:solidFill>
                    <a:latin typeface="Cambria Math" panose="02040503050406030204" pitchFamily="18" charset="0"/>
                    <a:ea typeface="Cambria Math" panose="02040503050406030204" pitchFamily="18" charset="0"/>
                  </a:rPr>
                  <a:t>0</a:t>
                </a:r>
                <a:r>
                  <a:rPr lang="en-US" dirty="0">
                    <a:solidFill>
                      <a:srgbClr val="000000"/>
                    </a:solidFill>
                    <a:latin typeface="Cambria Math" panose="02040503050406030204" pitchFamily="18" charset="0"/>
                    <a:ea typeface="Cambria Math" panose="02040503050406030204" pitchFamily="18" charset="0"/>
                  </a:rPr>
                  <a:t>.</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At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generator</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positive</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terminal</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initial</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Current</m:t>
                    </m:r>
                    <m:r>
                      <a:rPr lang="en-US" b="0" i="1" smtClean="0">
                        <a:solidFill>
                          <a:srgbClr val="000000"/>
                        </a:solidFill>
                        <a:latin typeface="Cambria Math" panose="02040503050406030204" pitchFamily="18" charset="0"/>
                        <a:ea typeface="Cambria Math" panose="02040503050406030204" pitchFamily="18" charset="0"/>
                      </a:rPr>
                      <m:t>→</m:t>
                    </m:r>
                    <m:sSubSup>
                      <m:sSubSupPr>
                        <m:ctrlPr>
                          <a:rPr lang="en-US" i="1" smtClean="0">
                            <a:solidFill>
                              <a:srgbClr val="000000"/>
                            </a:solidFill>
                            <a:latin typeface="Cambria Math" panose="02040503050406030204" pitchFamily="18" charset="0"/>
                            <a:ea typeface="Cambria Math" panose="02040503050406030204" pitchFamily="18" charset="0"/>
                          </a:rPr>
                        </m:ctrlPr>
                      </m:sSubSupPr>
                      <m:e>
                        <m:r>
                          <m:rPr>
                            <m:sty m:val="p"/>
                          </m:rPr>
                          <a:rPr lang="en-US" b="0" i="0" smtClean="0">
                            <a:solidFill>
                              <a:srgbClr val="000000"/>
                            </a:solidFill>
                            <a:latin typeface="Cambria Math" panose="02040503050406030204" pitchFamily="18" charset="0"/>
                            <a:ea typeface="Cambria Math" panose="02040503050406030204" pitchFamily="18" charset="0"/>
                          </a:rPr>
                          <m:t>I</m:t>
                        </m:r>
                      </m:e>
                      <m:sub>
                        <m:r>
                          <a:rPr lang="en-US" b="0" i="0" smtClean="0">
                            <a:solidFill>
                              <a:srgbClr val="000000"/>
                            </a:solidFill>
                            <a:latin typeface="Cambria Math" panose="02040503050406030204" pitchFamily="18" charset="0"/>
                            <a:ea typeface="Cambria Math" panose="02040503050406030204" pitchFamily="18" charset="0"/>
                          </a:rPr>
                          <m:t>1</m:t>
                        </m:r>
                      </m:sub>
                      <m:sup>
                        <m:r>
                          <a:rPr lang="en-US" b="0" i="0" smtClean="0">
                            <a:solidFill>
                              <a:srgbClr val="000000"/>
                            </a:solidFill>
                            <a:latin typeface="Cambria Math" panose="02040503050406030204" pitchFamily="18" charset="0"/>
                            <a:ea typeface="Cambria Math" panose="02040503050406030204" pitchFamily="18" charset="0"/>
                          </a:rPr>
                          <m:t>+</m:t>
                        </m:r>
                      </m:sup>
                    </m:sSubSup>
                    <m:r>
                      <a:rPr lang="en-US" b="0" i="0"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V</m:t>
                            </m:r>
                          </m:e>
                          <m:sub>
                            <m:r>
                              <m:rPr>
                                <m:sty m:val="p"/>
                              </m:rPr>
                              <a:rPr lang="en-US" b="0" i="0" smtClean="0">
                                <a:solidFill>
                                  <a:srgbClr val="000000"/>
                                </a:solidFill>
                                <a:latin typeface="Cambria Math" panose="02040503050406030204" pitchFamily="18" charset="0"/>
                                <a:ea typeface="Cambria Math" panose="02040503050406030204" pitchFamily="18" charset="0"/>
                              </a:rPr>
                              <m:t>g</m:t>
                            </m:r>
                          </m:sub>
                        </m:sSub>
                      </m:num>
                      <m:den>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g</m:t>
                            </m:r>
                          </m:sub>
                        </m:sSub>
                        <m:r>
                          <a:rPr lang="en-US" b="0" i="0" smtClean="0">
                            <a:solidFill>
                              <a:srgbClr val="000000"/>
                            </a:solidFill>
                            <a:latin typeface="Cambria Math" panose="02040503050406030204" pitchFamily="18" charset="0"/>
                            <a:ea typeface="Cambria Math" panose="02040503050406030204" pitchFamily="18" charset="0"/>
                          </a:rPr>
                          <m:t>+</m:t>
                        </m:r>
                        <m:sSub>
                          <m:sSubPr>
                            <m:ctrlPr>
                              <a:rPr lang="en-US" b="0" i="1" smtClean="0">
                                <a:solidFill>
                                  <a:srgbClr val="000000"/>
                                </a:solidFill>
                                <a:latin typeface="Cambria Math" panose="02040503050406030204" pitchFamily="18" charset="0"/>
                                <a:ea typeface="Cambria Math" panose="02040503050406030204" pitchFamily="18" charset="0"/>
                              </a:rPr>
                            </m:ctrlPr>
                          </m:sSubPr>
                          <m:e>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Z</m:t>
                            </m:r>
                          </m:e>
                          <m:sub>
                            <m:r>
                              <a:rPr lang="en-US" b="0" i="0" smtClean="0">
                                <a:solidFill>
                                  <a:srgbClr val="000000"/>
                                </a:solidFill>
                                <a:latin typeface="Cambria Math" panose="02040503050406030204" pitchFamily="18" charset="0"/>
                                <a:ea typeface="Cambria Math" panose="02040503050406030204" pitchFamily="18" charset="0"/>
                              </a:rPr>
                              <m:t>0</m:t>
                            </m:r>
                          </m:sub>
                        </m:sSub>
                      </m:den>
                    </m:f>
                    <m:r>
                      <a:rPr lang="en-US" b="0" i="1" smtClean="0">
                        <a:solidFill>
                          <a:srgbClr val="000000"/>
                        </a:solidFill>
                        <a:latin typeface="Cambria Math" panose="02040503050406030204" pitchFamily="18" charset="0"/>
                        <a:ea typeface="Cambria Math" panose="02040503050406030204" pitchFamily="18" charset="0"/>
                      </a:rPr>
                      <m:t>. </m:t>
                    </m:r>
                  </m:oMath>
                </a14:m>
                <a:endParaRPr lang="en-US" b="0" i="1"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b="0" i="1"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At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generator</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terminals</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initial</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Voltage</m:t>
                    </m:r>
                    <m:r>
                      <a:rPr lang="en-US" b="0" i="1" smtClean="0">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b="0" i="0" smtClean="0">
                            <a:solidFill>
                              <a:srgbClr val="000000"/>
                            </a:solidFill>
                            <a:latin typeface="Cambria Math" panose="02040503050406030204" pitchFamily="18" charset="0"/>
                            <a:ea typeface="Cambria Math" panose="02040503050406030204" pitchFamily="18" charset="0"/>
                          </a:rPr>
                          <m:t>V</m:t>
                        </m:r>
                      </m:e>
                      <m:sub>
                        <m:r>
                          <a:rPr lang="en-US" i="0">
                            <a:solidFill>
                              <a:srgbClr val="000000"/>
                            </a:solidFill>
                            <a:latin typeface="Cambria Math" panose="02040503050406030204" pitchFamily="18" charset="0"/>
                            <a:ea typeface="Cambria Math" panose="02040503050406030204" pitchFamily="18" charset="0"/>
                          </a:rPr>
                          <m:t>1</m:t>
                        </m:r>
                      </m:sub>
                      <m:sup>
                        <m:r>
                          <a:rPr lang="en-US" i="0">
                            <a:solidFill>
                              <a:srgbClr val="000000"/>
                            </a:solidFill>
                            <a:latin typeface="Cambria Math" panose="02040503050406030204" pitchFamily="18" charset="0"/>
                            <a:ea typeface="Cambria Math" panose="02040503050406030204" pitchFamily="18" charset="0"/>
                          </a:rPr>
                          <m:t>+</m:t>
                        </m:r>
                      </m:sup>
                    </m:sSubSup>
                    <m:r>
                      <a:rPr lang="en-US" i="0">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I</m:t>
                        </m:r>
                      </m:e>
                      <m:sub>
                        <m:r>
                          <a:rPr lang="en-US">
                            <a:solidFill>
                              <a:srgbClr val="000000"/>
                            </a:solidFill>
                            <a:latin typeface="Cambria Math" panose="02040503050406030204" pitchFamily="18" charset="0"/>
                            <a:ea typeface="Cambria Math" panose="02040503050406030204" pitchFamily="18" charset="0"/>
                          </a:rPr>
                          <m:t>1</m:t>
                        </m:r>
                      </m:sub>
                      <m:sup>
                        <m:r>
                          <a:rPr lang="en-US">
                            <a:solidFill>
                              <a:srgbClr val="000000"/>
                            </a:solidFill>
                            <a:latin typeface="Cambria Math" panose="02040503050406030204" pitchFamily="18" charset="0"/>
                            <a:ea typeface="Cambria Math" panose="02040503050406030204" pitchFamily="18" charset="0"/>
                          </a:rPr>
                          <m:t>+</m:t>
                        </m:r>
                      </m:sup>
                    </m:sSubSup>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V</m:t>
                            </m:r>
                          </m:e>
                          <m:sub>
                            <m:r>
                              <m:rPr>
                                <m:sty m:val="p"/>
                              </m:rPr>
                              <a:rPr lang="en-US" i="0">
                                <a:solidFill>
                                  <a:srgbClr val="000000"/>
                                </a:solidFill>
                                <a:latin typeface="Cambria Math" panose="02040503050406030204" pitchFamily="18" charset="0"/>
                                <a:ea typeface="Cambria Math" panose="02040503050406030204" pitchFamily="18" charset="0"/>
                              </a:rPr>
                              <m:t>g</m:t>
                            </m:r>
                          </m:sub>
                        </m:sSub>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R</m:t>
                            </m:r>
                          </m:e>
                          <m:sub>
                            <m:r>
                              <m:rPr>
                                <m:sty m:val="p"/>
                              </m:rPr>
                              <a:rPr lang="en-US" i="0">
                                <a:solidFill>
                                  <a:srgbClr val="000000"/>
                                </a:solidFill>
                                <a:latin typeface="Cambria Math" panose="02040503050406030204" pitchFamily="18" charset="0"/>
                                <a:ea typeface="Cambria Math" panose="02040503050406030204" pitchFamily="18" charset="0"/>
                              </a:rPr>
                              <m:t>g</m:t>
                            </m:r>
                          </m:sub>
                        </m:sSub>
                        <m:r>
                          <a:rPr lang="en-US" i="0">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i="0">
                                <a:solidFill>
                                  <a:srgbClr val="000000"/>
                                </a:solidFill>
                                <a:latin typeface="Cambria Math" panose="02040503050406030204" pitchFamily="18" charset="0"/>
                                <a:ea typeface="Cambria Math" panose="02040503050406030204" pitchFamily="18" charset="0"/>
                              </a:rPr>
                              <m:t>Z</m:t>
                            </m:r>
                          </m:e>
                          <m:sub>
                            <m:r>
                              <a:rPr lang="en-US" i="0">
                                <a:solidFill>
                                  <a:srgbClr val="000000"/>
                                </a:solidFill>
                                <a:latin typeface="Cambria Math" panose="02040503050406030204" pitchFamily="18" charset="0"/>
                                <a:ea typeface="Cambria Math" panose="02040503050406030204" pitchFamily="18" charset="0"/>
                              </a:rPr>
                              <m:t>0</m:t>
                            </m:r>
                          </m:sub>
                        </m:sSub>
                      </m:den>
                    </m:f>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Voltage</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Divider</m:t>
                    </m:r>
                    <m:r>
                      <a:rPr lang="en-US" i="1">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For an infinitely long transmission line, the voltage at the generator</a:t>
                </a:r>
              </a:p>
              <a:p>
                <a:r>
                  <a:rPr lang="en-US" dirty="0">
                    <a:solidFill>
                      <a:srgbClr val="000000"/>
                    </a:solidFill>
                    <a:latin typeface="Cambria Math" panose="02040503050406030204" pitchFamily="18" charset="0"/>
                    <a:ea typeface="Cambria Math" panose="02040503050406030204" pitchFamily="18" charset="0"/>
                  </a:rPr>
                  <a:t>      terminals always equals </a:t>
                </a:r>
                <a14:m>
                  <m:oMath xmlns:m="http://schemas.openxmlformats.org/officeDocument/2006/math">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1</m:t>
                        </m:r>
                      </m:sub>
                      <m:sup>
                        <m:r>
                          <a:rPr lang="en-US">
                            <a:solidFill>
                              <a:srgbClr val="000000"/>
                            </a:solidFill>
                            <a:latin typeface="Cambria Math" panose="02040503050406030204" pitchFamily="18" charset="0"/>
                            <a:ea typeface="Cambria Math" panose="02040503050406030204" pitchFamily="18" charset="0"/>
                          </a:rPr>
                          <m:t>+</m:t>
                        </m:r>
                      </m:sup>
                    </m:sSubSup>
                  </m:oMath>
                </a14:m>
                <a:r>
                  <a:rPr lang="en-US" dirty="0">
                    <a:solidFill>
                      <a:srgbClr val="000000"/>
                    </a:solidFill>
                    <a:latin typeface="Cambria Math" panose="02040503050406030204" pitchFamily="18" charset="0"/>
                    <a:ea typeface="Cambria Math" panose="02040503050406030204" pitchFamily="18" charset="0"/>
                  </a:rPr>
                  <a:t>.</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For practical transmission lines, reflections occur when impedances </a:t>
                </a:r>
              </a:p>
              <a:p>
                <a:r>
                  <a:rPr lang="en-US" dirty="0">
                    <a:solidFill>
                      <a:srgbClr val="000000"/>
                    </a:solidFill>
                    <a:latin typeface="Cambria Math" panose="02040503050406030204" pitchFamily="18" charset="0"/>
                    <a:ea typeface="Cambria Math" panose="02040503050406030204" pitchFamily="18" charset="0"/>
                  </a:rPr>
                  <a:t>     are not matched. Time for first reflection at z = l equals </a:t>
                </a:r>
                <a:r>
                  <a:rPr lang="en-US" dirty="0">
                    <a:latin typeface="Cambria Math" panose="02040503050406030204" pitchFamily="18" charset="0"/>
                    <a:ea typeface="Cambria Math" panose="02040503050406030204" pitchFamily="18" charset="0"/>
                  </a:rPr>
                  <a:t>T = l/u</a:t>
                </a:r>
                <a:r>
                  <a:rPr lang="en-US" baseline="-25000" dirty="0">
                    <a:latin typeface="Cambria Math" panose="02040503050406030204" pitchFamily="18" charset="0"/>
                    <a:ea typeface="Cambria Math" panose="02040503050406030204" pitchFamily="18" charset="0"/>
                  </a:rPr>
                  <a:t>p</a:t>
                </a:r>
                <a:r>
                  <a:rPr lang="en-US" dirty="0">
                    <a:latin typeface="Cambria Math" panose="02040503050406030204" pitchFamily="18" charset="0"/>
                    <a:ea typeface="Cambria Math" panose="02040503050406030204" pitchFamily="18" charset="0"/>
                  </a:rPr>
                  <a:t> where u</a:t>
                </a:r>
                <a:r>
                  <a:rPr lang="en-US" baseline="-25000" dirty="0">
                    <a:latin typeface="Cambria Math" panose="02040503050406030204" pitchFamily="18" charset="0"/>
                    <a:ea typeface="Cambria Math" panose="02040503050406030204" pitchFamily="18" charset="0"/>
                  </a:rPr>
                  <a:t>p</a:t>
                </a:r>
                <a:r>
                  <a:rPr lang="en-US" dirty="0">
                    <a:latin typeface="Cambria Math" panose="02040503050406030204" pitchFamily="18" charset="0"/>
                    <a:ea typeface="Cambria Math" panose="02040503050406030204" pitchFamily="18" charset="0"/>
                  </a:rPr>
                  <a:t> is the phase velocity of the waveform.</a:t>
                </a:r>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1038066"/>
                <a:ext cx="12003932" cy="4929426"/>
              </a:xfrm>
              <a:prstGeom prst="rect">
                <a:avLst/>
              </a:prstGeom>
              <a:blipFill>
                <a:blip r:embed="rId2"/>
                <a:stretch>
                  <a:fillRect l="-152" b="-244"/>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7046" y="1997422"/>
            <a:ext cx="3679226" cy="3320824"/>
          </a:xfrm>
          <a:prstGeom prst="rect">
            <a:avLst/>
          </a:prstGeom>
        </p:spPr>
      </p:pic>
    </p:spTree>
    <p:extLst>
      <p:ext uri="{BB962C8B-B14F-4D97-AF65-F5344CB8AC3E}">
        <p14:creationId xmlns:p14="http://schemas.microsoft.com/office/powerpoint/2010/main" val="3822012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anim calcmode="lin" valueType="num">
                                      <p:cBhvr additive="base">
                                        <p:cTn id="1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anim calcmode="lin" valueType="num">
                                      <p:cBhvr additive="base">
                                        <p:cTn id="1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anim calcmode="lin" valueType="num">
                                      <p:cBhvr additive="base">
                                        <p:cTn id="21"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anim calcmode="lin" valueType="num">
                                      <p:cBhvr additive="base">
                                        <p:cTn id="2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14" end="14"/>
                                            </p:txEl>
                                          </p:spTgt>
                                        </p:tgtEl>
                                        <p:attrNameLst>
                                          <p:attrName>style.visibility</p:attrName>
                                        </p:attrNameLst>
                                      </p:cBhvr>
                                      <p:to>
                                        <p:strVal val="visible"/>
                                      </p:to>
                                    </p:set>
                                    <p:anim calcmode="lin" valueType="num">
                                      <p:cBhvr additive="base">
                                        <p:cTn id="29"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094570" y="-55370"/>
            <a:ext cx="9514344" cy="553998"/>
          </a:xfrm>
        </p:spPr>
        <p:txBody>
          <a:bodyPr/>
          <a:lstStyle/>
          <a:p>
            <a:pPr algn="ctr"/>
            <a:r>
              <a:rPr lang="en-US" sz="4000" dirty="0"/>
              <a:t>Transients on Transmission Lines (Continued)</a:t>
            </a:r>
          </a:p>
        </p:txBody>
      </p:sp>
      <mc:AlternateContent xmlns:mc="http://schemas.openxmlformats.org/markup-compatibility/2006" xmlns:a14="http://schemas.microsoft.com/office/drawing/2010/main">
        <mc:Choice Requires="a14">
          <p:sp>
            <p:nvSpPr>
              <p:cNvPr id="4" name="Rectangle 3"/>
              <p:cNvSpPr/>
              <p:nvPr/>
            </p:nvSpPr>
            <p:spPr>
              <a:xfrm>
                <a:off x="107005" y="601784"/>
                <a:ext cx="12003932" cy="604723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Aft>
                    <a:spcPts val="1800"/>
                  </a:spcAft>
                </a:pPr>
                <a14:m>
                  <m:oMathPara xmlns:m="http://schemas.openxmlformats.org/officeDocument/2006/math">
                    <m:oMathParaPr>
                      <m:jc m:val="left"/>
                    </m:oMathParaPr>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Reflection</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Coefficient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the</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load</m:t>
                      </m:r>
                      <m:r>
                        <a:rPr lang="en-US" b="0" i="0" smtClean="0">
                          <a:solidFill>
                            <a:srgbClr val="000000"/>
                          </a:solidFill>
                          <a:latin typeface="Cambria Math" panose="02040503050406030204" pitchFamily="18" charset="0"/>
                          <a:ea typeface="Cambria Math" panose="02040503050406030204" pitchFamily="18" charset="0"/>
                        </a:rPr>
                        <m:t>: </m:t>
                      </m:r>
                      <m:sSub>
                        <m:sSubPr>
                          <m:ctrlPr>
                            <a:rPr lang="el-GR" i="1" smtClean="0">
                              <a:solidFill>
                                <a:srgbClr val="000000"/>
                              </a:solidFill>
                              <a:latin typeface="Cambria Math" panose="02040503050406030204" pitchFamily="18" charset="0"/>
                              <a:ea typeface="Cambria Math" panose="02040503050406030204" pitchFamily="18" charset="0"/>
                            </a:rPr>
                          </m:ctrlPr>
                        </m:sSubPr>
                        <m:e>
                          <m:r>
                            <m:rPr>
                              <m:sty m:val="p"/>
                            </m:rPr>
                            <a:rPr lang="el-GR" i="1">
                              <a:solidFill>
                                <a:srgbClr val="000000"/>
                              </a:solidFill>
                              <a:latin typeface="Cambria Math" panose="02040503050406030204" pitchFamily="18" charset="0"/>
                              <a:ea typeface="Cambria Math" panose="02040503050406030204" pitchFamily="18" charset="0"/>
                            </a:rPr>
                            <m:t>Γ</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b="0" i="0" smtClean="0">
                                  <a:solidFill>
                                    <a:srgbClr val="000000"/>
                                  </a:solidFill>
                                  <a:latin typeface="Cambria Math" panose="02040503050406030204" pitchFamily="18" charset="0"/>
                                  <a:ea typeface="Cambria Math" panose="02040503050406030204" pitchFamily="18" charset="0"/>
                                </a:rPr>
                                <m:t>0</m:t>
                              </m:r>
                            </m:sub>
                          </m:sSub>
                        </m:den>
                      </m:f>
                      <m:r>
                        <a:rPr lang="en-US" b="0" i="1" smtClean="0">
                          <a:solidFill>
                            <a:srgbClr val="000000"/>
                          </a:solidFill>
                          <a:latin typeface="Cambria Math" panose="02040503050406030204" pitchFamily="18" charset="0"/>
                          <a:ea typeface="Cambria Math" panose="02040503050406030204" pitchFamily="18" charset="0"/>
                        </a:rPr>
                        <m:t>=0.333</m:t>
                      </m:r>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cs typeface="Times New Roman" panose="02020603050405020304" pitchFamily="18" charset="0"/>
                </a:endParaRPr>
              </a:p>
              <a:p>
                <a:pPr>
                  <a:spcAft>
                    <a:spcPts val="1200"/>
                  </a:spcAft>
                </a:pPr>
                <a14:m>
                  <m:oMathPara xmlns:m="http://schemas.openxmlformats.org/officeDocument/2006/math">
                    <m:oMathParaPr>
                      <m:jc m:val="left"/>
                    </m:oMathParaPr>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Reflection</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Coefficient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the</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Generator</m:t>
                      </m:r>
                      <m:r>
                        <a:rPr lang="en-US" b="0" i="0" smtClean="0">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i="1">
                              <a:solidFill>
                                <a:srgbClr val="000000"/>
                              </a:solidFill>
                              <a:latin typeface="Cambria Math" panose="02040503050406030204" pitchFamily="18" charset="0"/>
                              <a:ea typeface="Cambria Math" panose="02040503050406030204" pitchFamily="18" charset="0"/>
                            </a:rPr>
                            <m:t>Γ</m:t>
                          </m:r>
                        </m:e>
                        <m:sub>
                          <m:r>
                            <m:rPr>
                              <m:sty m:val="p"/>
                            </m:rPr>
                            <a:rPr lang="en-US" b="0" i="0" smtClean="0">
                              <a:solidFill>
                                <a:srgbClr val="000000"/>
                              </a:solidFill>
                              <a:latin typeface="Cambria Math" panose="02040503050406030204" pitchFamily="18" charset="0"/>
                              <a:ea typeface="Cambria Math" panose="02040503050406030204" pitchFamily="18" charset="0"/>
                            </a:rPr>
                            <m:t>g</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g</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g</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den>
                      </m:f>
                      <m:r>
                        <a:rPr lang="en-US" b="0" i="1" smtClean="0">
                          <a:solidFill>
                            <a:srgbClr val="000000"/>
                          </a:solidFill>
                          <a:latin typeface="Cambria Math" panose="02040503050406030204" pitchFamily="18" charset="0"/>
                          <a:ea typeface="Cambria Math" panose="02040503050406030204" pitchFamily="18" charset="0"/>
                        </a:rPr>
                        <m:t>=0.6</m:t>
                      </m:r>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cs typeface="Times New Roman" panose="02020603050405020304" pitchFamily="18" charset="0"/>
                </a:endParaRPr>
              </a:p>
              <a:p>
                <a:pPr marL="285750" indent="-285750">
                  <a:spcAft>
                    <a:spcPts val="1800"/>
                  </a:spcAft>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Initial wave-front at generator end:</a:t>
                </a:r>
              </a:p>
              <a:p>
                <a:pPr lvl="1">
                  <a:spcAft>
                    <a:spcPts val="1800"/>
                  </a:spcAft>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1</m:t>
                          </m:r>
                        </m:sub>
                        <m:sup>
                          <m:r>
                            <a:rPr lang="en-US">
                              <a:solidFill>
                                <a:srgbClr val="000000"/>
                              </a:solidFill>
                              <a:latin typeface="Cambria Math" panose="02040503050406030204" pitchFamily="18" charset="0"/>
                              <a:ea typeface="Cambria Math" panose="02040503050406030204" pitchFamily="18" charset="0"/>
                            </a:rPr>
                            <m:t>+</m:t>
                          </m:r>
                        </m:sup>
                      </m:sSubSup>
                      <m:r>
                        <a:rPr lang="en-US">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I</m:t>
                          </m:r>
                        </m:e>
                        <m:sub>
                          <m:r>
                            <a:rPr lang="en-US">
                              <a:solidFill>
                                <a:srgbClr val="000000"/>
                              </a:solidFill>
                              <a:latin typeface="Cambria Math" panose="02040503050406030204" pitchFamily="18" charset="0"/>
                              <a:ea typeface="Cambria Math" panose="02040503050406030204" pitchFamily="18" charset="0"/>
                            </a:rPr>
                            <m:t>1</m:t>
                          </m:r>
                        </m:sub>
                        <m:sup>
                          <m:r>
                            <a:rPr lang="en-US">
                              <a:solidFill>
                                <a:srgbClr val="000000"/>
                              </a:solidFill>
                              <a:latin typeface="Cambria Math" panose="02040503050406030204" pitchFamily="18" charset="0"/>
                              <a:ea typeface="Cambria Math" panose="02040503050406030204" pitchFamily="18" charset="0"/>
                            </a:rPr>
                            <m:t>+</m:t>
                          </m:r>
                        </m:sup>
                      </m:sSubSup>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V</m:t>
                              </m:r>
                            </m:e>
                            <m:sub>
                              <m:r>
                                <m:rPr>
                                  <m:sty m:val="p"/>
                                </m:rPr>
                                <a:rPr lang="en-US">
                                  <a:solidFill>
                                    <a:srgbClr val="000000"/>
                                  </a:solidFill>
                                  <a:latin typeface="Cambria Math" panose="02040503050406030204" pitchFamily="18" charset="0"/>
                                  <a:ea typeface="Cambria Math" panose="02040503050406030204" pitchFamily="18" charset="0"/>
                                </a:rPr>
                                <m:t>g</m:t>
                              </m:r>
                            </m:sub>
                          </m:sSub>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g</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Z</m:t>
                              </m:r>
                            </m:e>
                            <m:sub>
                              <m:r>
                                <a:rPr lang="en-US">
                                  <a:solidFill>
                                    <a:srgbClr val="000000"/>
                                  </a:solidFill>
                                  <a:latin typeface="Cambria Math" panose="02040503050406030204" pitchFamily="18" charset="0"/>
                                  <a:ea typeface="Cambria Math" panose="02040503050406030204" pitchFamily="18" charset="0"/>
                                </a:rPr>
                                <m:t>0</m:t>
                              </m:r>
                            </m:sub>
                          </m:sSub>
                        </m:den>
                      </m:f>
                      <m:r>
                        <a:rPr lang="en-US">
                          <a:solidFill>
                            <a:srgbClr val="000000"/>
                          </a:solidFill>
                          <a:latin typeface="Cambria Math" panose="02040503050406030204" pitchFamily="18" charset="0"/>
                          <a:ea typeface="Cambria Math" panose="02040503050406030204" pitchFamily="18" charset="0"/>
                        </a:rPr>
                        <m:t>. </m:t>
                      </m:r>
                    </m:oMath>
                  </m:oMathPara>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First reflection from the load:</a:t>
                </a:r>
              </a:p>
              <a:p>
                <a:pPr lvl="2">
                  <a:spcAft>
                    <a:spcPts val="1800"/>
                  </a:spcAft>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b="0" i="0" smtClean="0">
                              <a:solidFill>
                                <a:srgbClr val="000000"/>
                              </a:solidFill>
                              <a:latin typeface="Cambria Math" panose="02040503050406030204" pitchFamily="18" charset="0"/>
                              <a:ea typeface="Cambria Math" panose="02040503050406030204" pitchFamily="18" charset="0"/>
                            </a:rPr>
                            <m:t>V</m:t>
                          </m:r>
                        </m:e>
                        <m:sub>
                          <m:r>
                            <a:rPr lang="en-US" i="0">
                              <a:solidFill>
                                <a:srgbClr val="000000"/>
                              </a:solidFill>
                              <a:latin typeface="Cambria Math" panose="02040503050406030204" pitchFamily="18" charset="0"/>
                              <a:ea typeface="Cambria Math" panose="02040503050406030204" pitchFamily="18" charset="0"/>
                            </a:rPr>
                            <m:t>1</m:t>
                          </m:r>
                        </m:sub>
                        <m:sup>
                          <m:r>
                            <a:rPr lang="en-US" b="0" i="0" smtClean="0">
                              <a:solidFill>
                                <a:srgbClr val="000000"/>
                              </a:solidFill>
                              <a:latin typeface="Cambria Math" panose="02040503050406030204" pitchFamily="18" charset="0"/>
                              <a:ea typeface="Cambria Math" panose="02040503050406030204" pitchFamily="18" charset="0"/>
                            </a:rPr>
                            <m:t>−</m:t>
                          </m:r>
                        </m:sup>
                      </m:sSubSup>
                      <m:r>
                        <a:rPr lang="en-US" i="0">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sSub>
                            <m:sSubPr>
                              <m:ctrlPr>
                                <a:rPr lang="en-US" i="1">
                                  <a:latin typeface="Cambria Math" panose="02040503050406030204" pitchFamily="18" charset="0"/>
                                </a:rPr>
                              </m:ctrlPr>
                            </m:sSubPr>
                            <m:e>
                              <m:r>
                                <m:rPr>
                                  <m:sty m:val="p"/>
                                </m:rPr>
                                <a:rPr lang="en-US">
                                  <a:latin typeface="Cambria Math" panose="02040503050406030204" pitchFamily="18" charset="0"/>
                                </a:rPr>
                                <m:t>Γ</m:t>
                              </m:r>
                            </m:e>
                            <m:sub>
                              <m:r>
                                <m:rPr>
                                  <m:sty m:val="p"/>
                                </m:rPr>
                                <a:rPr lang="en-US">
                                  <a:latin typeface="Cambria Math" panose="02040503050406030204" pitchFamily="18" charset="0"/>
                                </a:rPr>
                                <m:t>L</m:t>
                              </m:r>
                            </m:sub>
                          </m:sSub>
                          <m:r>
                            <m:rPr>
                              <m:sty m:val="p"/>
                            </m:rPr>
                            <a:rPr lang="en-US" b="0" i="0" smtClean="0">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1</m:t>
                          </m:r>
                        </m:sub>
                        <m:sup>
                          <m:r>
                            <a:rPr lang="en-US">
                              <a:solidFill>
                                <a:srgbClr val="000000"/>
                              </a:solidFill>
                              <a:latin typeface="Cambria Math" panose="02040503050406030204" pitchFamily="18" charset="0"/>
                              <a:ea typeface="Cambria Math" panose="02040503050406030204" pitchFamily="18" charset="0"/>
                            </a:rPr>
                            <m:t>+</m:t>
                          </m:r>
                        </m:sup>
                      </m:sSubSup>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First returning reflection from the generator end:</a:t>
                </a:r>
              </a:p>
              <a:p>
                <a:pPr lvl="2">
                  <a:spcAft>
                    <a:spcPts val="1800"/>
                  </a:spcAft>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b="0" i="1" smtClean="0">
                              <a:solidFill>
                                <a:srgbClr val="000000"/>
                              </a:solidFill>
                              <a:latin typeface="Cambria Math" panose="02040503050406030204" pitchFamily="18" charset="0"/>
                              <a:ea typeface="Cambria Math" panose="02040503050406030204" pitchFamily="18" charset="0"/>
                            </a:rPr>
                            <m:t>2</m:t>
                          </m:r>
                        </m:sub>
                        <m:sup>
                          <m:r>
                            <a:rPr lang="en-US" b="0" i="0" smtClean="0">
                              <a:solidFill>
                                <a:srgbClr val="000000"/>
                              </a:solidFill>
                              <a:latin typeface="Cambria Math" panose="02040503050406030204" pitchFamily="18" charset="0"/>
                              <a:ea typeface="Cambria Math" panose="02040503050406030204" pitchFamily="18" charset="0"/>
                            </a:rPr>
                            <m:t>+</m:t>
                          </m:r>
                        </m:sup>
                      </m:sSubSup>
                      <m:r>
                        <a:rPr lang="en-US">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sSub>
                            <m:sSubPr>
                              <m:ctrlPr>
                                <a:rPr lang="en-US" i="1">
                                  <a:latin typeface="Cambria Math" panose="02040503050406030204" pitchFamily="18" charset="0"/>
                                </a:rPr>
                              </m:ctrlPr>
                            </m:sSubPr>
                            <m:e>
                              <m:r>
                                <m:rPr>
                                  <m:sty m:val="p"/>
                                </m:rPr>
                                <a:rPr lang="en-US">
                                  <a:latin typeface="Cambria Math" panose="02040503050406030204" pitchFamily="18" charset="0"/>
                                </a:rPr>
                                <m:t>Γ</m:t>
                              </m:r>
                            </m:e>
                            <m:sub>
                              <m:r>
                                <m:rPr>
                                  <m:sty m:val="p"/>
                                </m:rPr>
                                <a:rPr lang="en-US" b="0" i="0" smtClean="0">
                                  <a:latin typeface="Cambria Math" panose="02040503050406030204" pitchFamily="18" charset="0"/>
                                </a:rPr>
                                <m:t>g</m:t>
                              </m:r>
                            </m:sub>
                          </m:sSub>
                          <m:r>
                            <m:rPr>
                              <m:sty m:val="p"/>
                            </m:rPr>
                            <a:rPr lang="en-US">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1</m:t>
                          </m:r>
                        </m:sub>
                        <m:sup>
                          <m:r>
                            <a:rPr lang="en-US" b="0" i="0" smtClean="0">
                              <a:solidFill>
                                <a:srgbClr val="000000"/>
                              </a:solidFill>
                              <a:latin typeface="Cambria Math" panose="02040503050406030204" pitchFamily="18" charset="0"/>
                              <a:ea typeface="Cambria Math" panose="02040503050406030204" pitchFamily="18" charset="0"/>
                            </a:rPr>
                            <m:t>−</m:t>
                          </m:r>
                        </m:sup>
                      </m:sSubSup>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Second reflection from the load:</a:t>
                </a:r>
              </a:p>
              <a:p>
                <a:pPr lvl="2">
                  <a:spcAft>
                    <a:spcPts val="1800"/>
                  </a:spcAft>
                </a:pPr>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b="0" i="0" smtClean="0">
                              <a:solidFill>
                                <a:srgbClr val="000000"/>
                              </a:solidFill>
                              <a:latin typeface="Cambria Math" panose="02040503050406030204" pitchFamily="18" charset="0"/>
                              <a:ea typeface="Cambria Math" panose="02040503050406030204" pitchFamily="18" charset="0"/>
                            </a:rPr>
                            <m:t>2</m:t>
                          </m:r>
                        </m:sub>
                        <m:sup>
                          <m:r>
                            <a:rPr lang="en-US">
                              <a:solidFill>
                                <a:srgbClr val="000000"/>
                              </a:solidFill>
                              <a:latin typeface="Cambria Math" panose="02040503050406030204" pitchFamily="18" charset="0"/>
                              <a:ea typeface="Cambria Math" panose="02040503050406030204" pitchFamily="18" charset="0"/>
                            </a:rPr>
                            <m:t>−</m:t>
                          </m:r>
                        </m:sup>
                      </m:sSubSup>
                      <m:r>
                        <a:rPr lang="en-US">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sSub>
                            <m:sSubPr>
                              <m:ctrlPr>
                                <a:rPr lang="en-US" i="1">
                                  <a:latin typeface="Cambria Math" panose="02040503050406030204" pitchFamily="18" charset="0"/>
                                </a:rPr>
                              </m:ctrlPr>
                            </m:sSubPr>
                            <m:e>
                              <m:r>
                                <m:rPr>
                                  <m:sty m:val="p"/>
                                </m:rPr>
                                <a:rPr lang="en-US">
                                  <a:latin typeface="Cambria Math" panose="02040503050406030204" pitchFamily="18" charset="0"/>
                                </a:rPr>
                                <m:t>Γ</m:t>
                              </m:r>
                            </m:e>
                            <m:sub>
                              <m:r>
                                <m:rPr>
                                  <m:sty m:val="p"/>
                                </m:rPr>
                                <a:rPr lang="en-US">
                                  <a:latin typeface="Cambria Math" panose="02040503050406030204" pitchFamily="18" charset="0"/>
                                </a:rPr>
                                <m:t>L</m:t>
                              </m:r>
                            </m:sub>
                          </m:sSub>
                          <m:r>
                            <m:rPr>
                              <m:sty m:val="p"/>
                            </m:rPr>
                            <a:rPr lang="en-US">
                              <a:solidFill>
                                <a:srgbClr val="000000"/>
                              </a:solidFill>
                              <a:latin typeface="Cambria Math" panose="02040503050406030204" pitchFamily="18" charset="0"/>
                              <a:ea typeface="Cambria Math" panose="02040503050406030204" pitchFamily="18" charset="0"/>
                            </a:rPr>
                            <m:t>V</m:t>
                          </m:r>
                        </m:e>
                        <m:sub>
                          <m:r>
                            <a:rPr lang="en-US" b="0" i="0" smtClean="0">
                              <a:solidFill>
                                <a:srgbClr val="000000"/>
                              </a:solidFill>
                              <a:latin typeface="Cambria Math" panose="02040503050406030204" pitchFamily="18" charset="0"/>
                              <a:ea typeface="Cambria Math" panose="02040503050406030204" pitchFamily="18" charset="0"/>
                            </a:rPr>
                            <m:t>2</m:t>
                          </m:r>
                        </m:sub>
                        <m:sup>
                          <m:r>
                            <a:rPr lang="en-US">
                              <a:solidFill>
                                <a:srgbClr val="000000"/>
                              </a:solidFill>
                              <a:latin typeface="Cambria Math" panose="02040503050406030204" pitchFamily="18" charset="0"/>
                              <a:ea typeface="Cambria Math" panose="02040503050406030204" pitchFamily="18" charset="0"/>
                            </a:rPr>
                            <m:t>+</m:t>
                          </m:r>
                        </m:sup>
                      </m:sSubSup>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Second returning reflection from the generator end:</a:t>
                </a:r>
              </a:p>
              <a:p>
                <a:pPr lvl="2"/>
                <a14:m>
                  <m:oMathPara xmlns:m="http://schemas.openxmlformats.org/officeDocument/2006/math">
                    <m:oMathParaPr>
                      <m:jc m:val="left"/>
                    </m:oMathParaPr>
                    <m:oMath xmlns:m="http://schemas.openxmlformats.org/officeDocument/2006/math">
                      <m:sSubSup>
                        <m:sSubSupPr>
                          <m:ctrlPr>
                            <a:rPr lang="en-US" i="1">
                              <a:solidFill>
                                <a:srgbClr val="000000"/>
                              </a:solidFill>
                              <a:latin typeface="Cambria Math" panose="02040503050406030204" pitchFamily="18" charset="0"/>
                              <a:ea typeface="Cambria Math" panose="02040503050406030204" pitchFamily="18" charset="0"/>
                            </a:rPr>
                          </m:ctrlPr>
                        </m:sSubSupPr>
                        <m:e>
                          <m:r>
                            <m:rPr>
                              <m:sty m:val="p"/>
                            </m:rPr>
                            <a:rPr lang="en-US">
                              <a:solidFill>
                                <a:srgbClr val="000000"/>
                              </a:solidFill>
                              <a:latin typeface="Cambria Math" panose="02040503050406030204" pitchFamily="18" charset="0"/>
                              <a:ea typeface="Cambria Math" panose="02040503050406030204" pitchFamily="18" charset="0"/>
                            </a:rPr>
                            <m:t>V</m:t>
                          </m:r>
                        </m:e>
                        <m:sub>
                          <m:r>
                            <a:rPr lang="en-US" b="0" i="1" smtClean="0">
                              <a:solidFill>
                                <a:srgbClr val="000000"/>
                              </a:solidFill>
                              <a:latin typeface="Cambria Math" panose="02040503050406030204" pitchFamily="18" charset="0"/>
                              <a:ea typeface="Cambria Math" panose="02040503050406030204" pitchFamily="18" charset="0"/>
                            </a:rPr>
                            <m:t>3</m:t>
                          </m:r>
                        </m:sub>
                        <m:sup>
                          <m:r>
                            <a:rPr lang="en-US">
                              <a:solidFill>
                                <a:srgbClr val="000000"/>
                              </a:solidFill>
                              <a:latin typeface="Cambria Math" panose="02040503050406030204" pitchFamily="18" charset="0"/>
                              <a:ea typeface="Cambria Math" panose="02040503050406030204" pitchFamily="18" charset="0"/>
                            </a:rPr>
                            <m:t>+</m:t>
                          </m:r>
                        </m:sup>
                      </m:sSubSup>
                      <m:r>
                        <a:rPr lang="en-US">
                          <a:solidFill>
                            <a:srgbClr val="000000"/>
                          </a:solidFill>
                          <a:latin typeface="Cambria Math" panose="02040503050406030204" pitchFamily="18" charset="0"/>
                          <a:ea typeface="Cambria Math" panose="02040503050406030204" pitchFamily="18" charset="0"/>
                        </a:rPr>
                        <m:t>=</m:t>
                      </m:r>
                      <m:sSubSup>
                        <m:sSubSupPr>
                          <m:ctrlPr>
                            <a:rPr lang="en-US" i="1">
                              <a:solidFill>
                                <a:srgbClr val="000000"/>
                              </a:solidFill>
                              <a:latin typeface="Cambria Math" panose="02040503050406030204" pitchFamily="18" charset="0"/>
                              <a:ea typeface="Cambria Math" panose="02040503050406030204" pitchFamily="18" charset="0"/>
                            </a:rPr>
                          </m:ctrlPr>
                        </m:sSubSupPr>
                        <m:e>
                          <m:sSub>
                            <m:sSubPr>
                              <m:ctrlPr>
                                <a:rPr lang="en-US" i="1">
                                  <a:latin typeface="Cambria Math" panose="02040503050406030204" pitchFamily="18" charset="0"/>
                                </a:rPr>
                              </m:ctrlPr>
                            </m:sSubPr>
                            <m:e>
                              <m:r>
                                <m:rPr>
                                  <m:sty m:val="p"/>
                                </m:rPr>
                                <a:rPr lang="en-US">
                                  <a:latin typeface="Cambria Math" panose="02040503050406030204" pitchFamily="18" charset="0"/>
                                </a:rPr>
                                <m:t>Γ</m:t>
                              </m:r>
                            </m:e>
                            <m:sub>
                              <m:r>
                                <m:rPr>
                                  <m:sty m:val="p"/>
                                </m:rPr>
                                <a:rPr lang="en-US">
                                  <a:latin typeface="Cambria Math" panose="02040503050406030204" pitchFamily="18" charset="0"/>
                                </a:rPr>
                                <m:t>g</m:t>
                              </m:r>
                            </m:sub>
                          </m:sSub>
                          <m:r>
                            <m:rPr>
                              <m:sty m:val="p"/>
                            </m:rPr>
                            <a:rPr lang="en-US">
                              <a:solidFill>
                                <a:srgbClr val="000000"/>
                              </a:solidFill>
                              <a:latin typeface="Cambria Math" panose="02040503050406030204" pitchFamily="18" charset="0"/>
                              <a:ea typeface="Cambria Math" panose="02040503050406030204" pitchFamily="18" charset="0"/>
                            </a:rPr>
                            <m:t>V</m:t>
                          </m:r>
                        </m:e>
                        <m:sub>
                          <m:r>
                            <a:rPr lang="en-US" b="0" i="0" smtClean="0">
                              <a:solidFill>
                                <a:srgbClr val="000000"/>
                              </a:solidFill>
                              <a:latin typeface="Cambria Math" panose="02040503050406030204" pitchFamily="18" charset="0"/>
                              <a:ea typeface="Cambria Math" panose="02040503050406030204" pitchFamily="18" charset="0"/>
                            </a:rPr>
                            <m:t>2</m:t>
                          </m:r>
                        </m:sub>
                        <m:sup>
                          <m:r>
                            <a:rPr lang="en-US" b="0" i="0" smtClean="0">
                              <a:solidFill>
                                <a:srgbClr val="000000"/>
                              </a:solidFill>
                              <a:latin typeface="Cambria Math" panose="02040503050406030204" pitchFamily="18" charset="0"/>
                              <a:ea typeface="Cambria Math" panose="02040503050406030204" pitchFamily="18" charset="0"/>
                            </a:rPr>
                            <m:t>−</m:t>
                          </m:r>
                        </m:sup>
                      </m:sSubSup>
                      <m:r>
                        <a:rPr lang="en-US" i="1">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601784"/>
                <a:ext cx="12003932" cy="6047233"/>
              </a:xfrm>
              <a:prstGeom prst="rect">
                <a:avLst/>
              </a:prstGeom>
              <a:blipFill>
                <a:blip r:embed="rId2"/>
                <a:stretch>
                  <a:fillRect l="-152"/>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7403" y="2467055"/>
            <a:ext cx="6452970" cy="404083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191" y="769666"/>
            <a:ext cx="3352416" cy="1410100"/>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10511724" y="1136965"/>
                <a:ext cx="835677" cy="4791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solidFill>
                                <a:schemeClr val="bg1"/>
                              </a:solidFill>
                              <a:latin typeface="Cambria Math" panose="02040503050406030204" pitchFamily="18" charset="0"/>
                              <a:ea typeface="Cambria Math" panose="02040503050406030204" pitchFamily="18" charset="0"/>
                            </a:rPr>
                          </m:ctrlPr>
                        </m:sSubPr>
                        <m:e>
                          <m:r>
                            <a:rPr lang="en-US" sz="1200" b="0" i="1" smtClean="0">
                              <a:solidFill>
                                <a:schemeClr val="bg1"/>
                              </a:solidFill>
                              <a:latin typeface="Cambria Math" panose="02040503050406030204" pitchFamily="18" charset="0"/>
                              <a:ea typeface="Cambria Math" panose="02040503050406030204" pitchFamily="18" charset="0"/>
                            </a:rPr>
                            <m:t>𝑅</m:t>
                          </m:r>
                        </m:e>
                        <m:sub>
                          <m:r>
                            <a:rPr lang="en-US" sz="1200" b="0" i="1" smtClean="0">
                              <a:solidFill>
                                <a:schemeClr val="bg1"/>
                              </a:solidFill>
                              <a:latin typeface="Cambria Math" panose="02040503050406030204" pitchFamily="18" charset="0"/>
                              <a:ea typeface="Cambria Math" panose="02040503050406030204" pitchFamily="18" charset="0"/>
                            </a:rPr>
                            <m:t>𝑔</m:t>
                          </m:r>
                        </m:sub>
                      </m:sSub>
                      <m:r>
                        <a:rPr lang="en-US" sz="1200" b="0" i="1" smtClean="0">
                          <a:solidFill>
                            <a:schemeClr val="bg1"/>
                          </a:solidFill>
                          <a:latin typeface="Cambria Math" panose="02040503050406030204" pitchFamily="18" charset="0"/>
                          <a:ea typeface="Cambria Math" panose="02040503050406030204" pitchFamily="18" charset="0"/>
                        </a:rPr>
                        <m:t>=4</m:t>
                      </m:r>
                      <m:sSub>
                        <m:sSubPr>
                          <m:ctrlPr>
                            <a:rPr lang="en-US" sz="1200" b="0" i="1" smtClean="0">
                              <a:solidFill>
                                <a:schemeClr val="bg1"/>
                              </a:solidFill>
                              <a:latin typeface="Cambria Math" panose="02040503050406030204" pitchFamily="18" charset="0"/>
                              <a:ea typeface="Cambria Math" panose="02040503050406030204" pitchFamily="18" charset="0"/>
                            </a:rPr>
                          </m:ctrlPr>
                        </m:sSubPr>
                        <m:e>
                          <m:r>
                            <a:rPr lang="en-US" sz="1200" b="0" i="1" smtClean="0">
                              <a:solidFill>
                                <a:schemeClr val="bg1"/>
                              </a:solidFill>
                              <a:latin typeface="Cambria Math" panose="02040503050406030204" pitchFamily="18" charset="0"/>
                              <a:ea typeface="Cambria Math" panose="02040503050406030204" pitchFamily="18" charset="0"/>
                            </a:rPr>
                            <m:t>𝑍</m:t>
                          </m:r>
                        </m:e>
                        <m:sub>
                          <m:r>
                            <a:rPr lang="en-US" sz="1200" b="0" i="1" smtClean="0">
                              <a:solidFill>
                                <a:schemeClr val="bg1"/>
                              </a:solidFill>
                              <a:latin typeface="Cambria Math" panose="02040503050406030204" pitchFamily="18" charset="0"/>
                              <a:ea typeface="Cambria Math" panose="02040503050406030204" pitchFamily="18" charset="0"/>
                            </a:rPr>
                            <m:t>0</m:t>
                          </m:r>
                        </m:sub>
                      </m:sSub>
                    </m:oMath>
                  </m:oMathPara>
                </a14:m>
                <a:endParaRPr lang="en-US" sz="1200" i="1"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200" i="1">
                              <a:solidFill>
                                <a:schemeClr val="bg1"/>
                              </a:solidFill>
                              <a:latin typeface="Cambria Math" panose="02040503050406030204" pitchFamily="18" charset="0"/>
                              <a:ea typeface="Cambria Math" panose="02040503050406030204" pitchFamily="18" charset="0"/>
                            </a:rPr>
                          </m:ctrlPr>
                        </m:sSubPr>
                        <m:e>
                          <m:r>
                            <a:rPr lang="en-US" sz="1200" i="1">
                              <a:solidFill>
                                <a:schemeClr val="bg1"/>
                              </a:solidFill>
                              <a:latin typeface="Cambria Math" panose="02040503050406030204" pitchFamily="18" charset="0"/>
                              <a:ea typeface="Cambria Math" panose="02040503050406030204" pitchFamily="18" charset="0"/>
                            </a:rPr>
                            <m:t>𝑅</m:t>
                          </m:r>
                        </m:e>
                        <m:sub>
                          <m:r>
                            <a:rPr lang="en-US" sz="1200" i="1">
                              <a:solidFill>
                                <a:schemeClr val="bg1"/>
                              </a:solidFill>
                              <a:latin typeface="Cambria Math" panose="02040503050406030204" pitchFamily="18" charset="0"/>
                              <a:ea typeface="Cambria Math" panose="02040503050406030204" pitchFamily="18" charset="0"/>
                            </a:rPr>
                            <m:t>𝐿</m:t>
                          </m:r>
                        </m:sub>
                      </m:sSub>
                      <m:r>
                        <a:rPr lang="en-US" sz="1200" i="1">
                          <a:solidFill>
                            <a:schemeClr val="bg1"/>
                          </a:solidFill>
                          <a:latin typeface="Cambria Math" panose="02040503050406030204" pitchFamily="18" charset="0"/>
                          <a:ea typeface="Cambria Math" panose="02040503050406030204" pitchFamily="18" charset="0"/>
                        </a:rPr>
                        <m:t>=2</m:t>
                      </m:r>
                      <m:sSub>
                        <m:sSubPr>
                          <m:ctrlPr>
                            <a:rPr lang="en-US" sz="1200" i="1">
                              <a:solidFill>
                                <a:schemeClr val="bg1"/>
                              </a:solidFill>
                              <a:latin typeface="Cambria Math" panose="02040503050406030204" pitchFamily="18" charset="0"/>
                              <a:ea typeface="Cambria Math" panose="02040503050406030204" pitchFamily="18" charset="0"/>
                            </a:rPr>
                          </m:ctrlPr>
                        </m:sSubPr>
                        <m:e>
                          <m:r>
                            <a:rPr lang="en-US" sz="1200" i="1">
                              <a:solidFill>
                                <a:schemeClr val="bg1"/>
                              </a:solidFill>
                              <a:latin typeface="Cambria Math" panose="02040503050406030204" pitchFamily="18" charset="0"/>
                              <a:ea typeface="Cambria Math" panose="02040503050406030204" pitchFamily="18" charset="0"/>
                            </a:rPr>
                            <m:t>𝑍</m:t>
                          </m:r>
                        </m:e>
                        <m:sub>
                          <m:r>
                            <a:rPr lang="en-US" sz="1200" i="1">
                              <a:solidFill>
                                <a:schemeClr val="bg1"/>
                              </a:solidFill>
                              <a:latin typeface="Cambria Math" panose="02040503050406030204" pitchFamily="18" charset="0"/>
                              <a:ea typeface="Cambria Math" panose="02040503050406030204" pitchFamily="18" charset="0"/>
                            </a:rPr>
                            <m:t>0</m:t>
                          </m:r>
                        </m:sub>
                      </m:sSub>
                    </m:oMath>
                  </m:oMathPara>
                </a14:m>
                <a:endParaRPr lang="en-US" sz="1200" i="1"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0511724" y="1136965"/>
                <a:ext cx="835677" cy="47917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967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 calcmode="lin" valueType="num">
                                      <p:cBhvr additive="base">
                                        <p:cTn id="1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 calcmode="lin" valueType="num">
                                      <p:cBhvr additive="base">
                                        <p:cTn id="2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 calcmode="lin" valueType="num">
                                      <p:cBhvr additive="base">
                                        <p:cTn id="2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 calcmode="lin" valueType="num">
                                      <p:cBhvr additive="base">
                                        <p:cTn id="3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 calcmode="lin" valueType="num">
                                      <p:cBhvr additive="base">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anim calcmode="lin" valueType="num">
                                      <p:cBhvr additive="base">
                                        <p:cTn id="4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 calcmode="lin" valueType="num">
                                      <p:cBhvr additive="base">
                                        <p:cTn id="4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anim calcmode="lin" valueType="num">
                                      <p:cBhvr additive="base">
                                        <p:cTn id="51"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870627" y="-16458"/>
            <a:ext cx="10476688" cy="553998"/>
          </a:xfrm>
        </p:spPr>
        <p:txBody>
          <a:bodyPr/>
          <a:lstStyle/>
          <a:p>
            <a:pPr algn="ctr"/>
            <a:r>
              <a:rPr lang="en-US" sz="4000" dirty="0"/>
              <a:t>Transients on Transmission Lines (Continued)</a:t>
            </a:r>
          </a:p>
        </p:txBody>
      </p:sp>
      <mc:AlternateContent xmlns:mc="http://schemas.openxmlformats.org/markup-compatibility/2006" xmlns:a14="http://schemas.microsoft.com/office/drawing/2010/main">
        <mc:Choice Requires="a14">
          <p:sp>
            <p:nvSpPr>
              <p:cNvPr id="4" name="Rectangle 3"/>
              <p:cNvSpPr/>
              <p:nvPr/>
            </p:nvSpPr>
            <p:spPr>
              <a:xfrm>
                <a:off x="107005" y="663436"/>
                <a:ext cx="12003932" cy="60374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The multiple reflection process continues indefinitely, and</a:t>
                </a:r>
              </a:p>
              <a:p>
                <a:r>
                  <a:rPr lang="en-US" dirty="0">
                    <a:solidFill>
                      <a:srgbClr val="000000"/>
                    </a:solidFill>
                    <a:latin typeface="Cambria Math" panose="02040503050406030204" pitchFamily="18" charset="0"/>
                    <a:ea typeface="Cambria Math" panose="02040503050406030204" pitchFamily="18" charset="0"/>
                  </a:rPr>
                  <a:t>      the ultimate value that V(z, t) reaches as t approaches +∞ is</a:t>
                </a:r>
              </a:p>
              <a:p>
                <a:r>
                  <a:rPr lang="en-US" dirty="0">
                    <a:solidFill>
                      <a:srgbClr val="000000"/>
                    </a:solidFill>
                    <a:latin typeface="Cambria Math" panose="02040503050406030204" pitchFamily="18" charset="0"/>
                    <a:ea typeface="Cambria Math" panose="02040503050406030204" pitchFamily="18" charset="0"/>
                  </a:rPr>
                  <a:t>      the same at all locations on the transmission line.</a:t>
                </a:r>
              </a:p>
              <a:p>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0" lvl="1"/>
                <a:r>
                  <a:rPr lang="en-US" dirty="0">
                    <a:solidFill>
                      <a:srgbClr val="000000"/>
                    </a:solidFill>
                    <a:latin typeface="Cambria Math" panose="02040503050406030204" pitchFamily="18" charset="0"/>
                    <a:ea typeface="Cambria Math" panose="02040503050406030204" pitchFamily="18" charset="0"/>
                  </a:rPr>
                  <a:t>Steady-state line voltage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V</m:t>
                        </m:r>
                      </m:e>
                      <m:sub>
                        <m:r>
                          <a:rPr lang="en-US" i="0">
                            <a:solidFill>
                              <a:srgbClr val="000000"/>
                            </a:solidFill>
                            <a:latin typeface="Cambria Math" panose="02040503050406030204" pitchFamily="18" charset="0"/>
                            <a:ea typeface="Cambria Math" panose="02040503050406030204" pitchFamily="18" charset="0"/>
                          </a:rPr>
                          <m:t>∞</m:t>
                        </m:r>
                      </m:sub>
                    </m:sSub>
                    <m:r>
                      <a:rPr lang="en-US" i="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V</m:t>
                            </m:r>
                          </m:e>
                          <m:sub>
                            <m:r>
                              <m:rPr>
                                <m:sty m:val="p"/>
                              </m:rPr>
                              <a:rPr lang="en-US" i="0">
                                <a:solidFill>
                                  <a:srgbClr val="000000"/>
                                </a:solidFill>
                                <a:latin typeface="Cambria Math" panose="02040503050406030204" pitchFamily="18" charset="0"/>
                                <a:ea typeface="Cambria Math" panose="02040503050406030204" pitchFamily="18" charset="0"/>
                              </a:rPr>
                              <m:t>g</m:t>
                            </m:r>
                          </m:sub>
                        </m:sSub>
                        <m:sSub>
                          <m:sSubPr>
                            <m:ctrlPr>
                              <a:rPr lang="en-US" i="1">
                                <a:solidFill>
                                  <a:srgbClr val="000000"/>
                                </a:solidFill>
                                <a:latin typeface="Cambria Math" panose="02040503050406030204" pitchFamily="18" charset="0"/>
                                <a:ea typeface="Cambria Math" panose="02040503050406030204" pitchFamily="18" charset="0"/>
                              </a:rPr>
                            </m:ctrlPr>
                          </m:sSubPr>
                          <m:e>
                            <m:r>
                              <a:rPr lang="en-US" i="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R</m:t>
                            </m:r>
                          </m:e>
                          <m:sub>
                            <m:r>
                              <m:rPr>
                                <m:sty m:val="p"/>
                              </m:rPr>
                              <a:rPr lang="en-US" i="0">
                                <a:solidFill>
                                  <a:srgbClr val="000000"/>
                                </a:solidFill>
                                <a:latin typeface="Cambria Math" panose="02040503050406030204" pitchFamily="18" charset="0"/>
                                <a:ea typeface="Cambria Math" panose="02040503050406030204" pitchFamily="18" charset="0"/>
                              </a:rPr>
                              <m:t>g</m:t>
                            </m:r>
                          </m:sub>
                        </m:sSub>
                        <m:r>
                          <a:rPr lang="en-US" i="0">
                            <a:solidFill>
                              <a:srgbClr val="000000"/>
                            </a:solidFill>
                            <a:latin typeface="Cambria Math" panose="02040503050406030204" pitchFamily="18" charset="0"/>
                            <a:ea typeface="Cambria Math" panose="02040503050406030204" pitchFamily="18" charset="0"/>
                          </a:rPr>
                          <m:t>+</m:t>
                        </m:r>
                        <m:sSub>
                          <m:sSubPr>
                            <m:ctrlPr>
                              <a:rPr lang="en-US" i="1" smtClean="0">
                                <a:solidFill>
                                  <a:srgbClr val="000000"/>
                                </a:solidFill>
                                <a:latin typeface="Cambria Math" panose="02040503050406030204" pitchFamily="18" charset="0"/>
                                <a:ea typeface="Cambria Math" panose="02040503050406030204" pitchFamily="18" charset="0"/>
                              </a:rPr>
                            </m:ctrlPr>
                          </m:sSubPr>
                          <m:e>
                            <m:r>
                              <a:rPr lang="en-US" i="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den>
                    </m:f>
                    <m:r>
                      <a:rPr lang="en-US">
                        <a:solidFill>
                          <a:srgbClr val="000000"/>
                        </a:solidFill>
                        <a:latin typeface="Cambria Math" panose="02040503050406030204" pitchFamily="18" charset="0"/>
                        <a:ea typeface="Cambria Math" panose="02040503050406030204" pitchFamily="18" charset="0"/>
                      </a:rPr>
                      <m:t>. </m:t>
                    </m:r>
                  </m:oMath>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0" lvl="1"/>
                <a:r>
                  <a:rPr lang="en-US" dirty="0">
                    <a:solidFill>
                      <a:srgbClr val="000000"/>
                    </a:solidFill>
                    <a:latin typeface="Cambria Math" panose="02040503050406030204" pitchFamily="18" charset="0"/>
                    <a:ea typeface="Cambria Math" panose="02040503050406030204" pitchFamily="18" charset="0"/>
                  </a:rPr>
                  <a:t>Steady-state line current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I</m:t>
                        </m:r>
                      </m:e>
                      <m:sub>
                        <m:r>
                          <a:rPr lang="en-US">
                            <a:solidFill>
                              <a:srgbClr val="000000"/>
                            </a:solidFill>
                            <a:latin typeface="Cambria Math" panose="02040503050406030204" pitchFamily="18" charset="0"/>
                            <a:ea typeface="Cambria Math" panose="02040503050406030204" pitchFamily="18" charset="0"/>
                          </a:rPr>
                          <m:t>∞</m:t>
                        </m:r>
                      </m:sub>
                    </m:sSub>
                    <m:r>
                      <a:rPr lang="en-US">
                        <a:solidFill>
                          <a:srgbClr val="000000"/>
                        </a:solidFill>
                        <a:latin typeface="Cambria Math" panose="02040503050406030204" pitchFamily="18" charset="0"/>
                        <a:ea typeface="Cambria Math" panose="02040503050406030204" pitchFamily="18" charset="0"/>
                      </a:rPr>
                      <m:t>=</m:t>
                    </m:r>
                    <m:f>
                      <m:fPr>
                        <m:ctrlPr>
                          <a:rPr lang="en-US" i="1" smtClean="0">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V</m:t>
                            </m:r>
                          </m:e>
                          <m:sub>
                            <m:r>
                              <a:rPr lang="en-US">
                                <a:solidFill>
                                  <a:srgbClr val="000000"/>
                                </a:solidFill>
                                <a:latin typeface="Cambria Math" panose="02040503050406030204" pitchFamily="18" charset="0"/>
                                <a:ea typeface="Cambria Math" panose="02040503050406030204" pitchFamily="18" charset="0"/>
                              </a:rPr>
                              <m:t>∞</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den>
                    </m:f>
                    <m:r>
                      <a:rPr lang="en-US" b="0" i="1"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V</m:t>
                            </m:r>
                          </m:e>
                          <m:sub>
                            <m:r>
                              <m:rPr>
                                <m:sty m:val="p"/>
                              </m:rPr>
                              <a:rPr lang="en-US">
                                <a:solidFill>
                                  <a:srgbClr val="000000"/>
                                </a:solidFill>
                                <a:latin typeface="Cambria Math" panose="02040503050406030204" pitchFamily="18" charset="0"/>
                                <a:ea typeface="Cambria Math" panose="02040503050406030204" pitchFamily="18" charset="0"/>
                              </a:rPr>
                              <m:t>g</m:t>
                            </m:r>
                          </m:sub>
                        </m:sSub>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g</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a:rPr lang="en-US" i="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m:t>
                            </m:r>
                          </m:e>
                          <m:sub>
                            <m:r>
                              <m:rPr>
                                <m:sty m:val="p"/>
                              </m:rPr>
                              <a:rPr lang="en-US" b="0" i="0" smtClean="0">
                                <a:solidFill>
                                  <a:srgbClr val="000000"/>
                                </a:solidFill>
                                <a:latin typeface="Cambria Math" panose="02040503050406030204" pitchFamily="18" charset="0"/>
                                <a:ea typeface="Cambria Math" panose="02040503050406030204" pitchFamily="18" charset="0"/>
                              </a:rPr>
                              <m:t>L</m:t>
                            </m:r>
                          </m:sub>
                        </m:sSub>
                      </m:den>
                    </m:f>
                    <m:r>
                      <a:rPr lang="en-US">
                        <a:solidFill>
                          <a:srgbClr val="000000"/>
                        </a:solidFill>
                        <a:latin typeface="Cambria Math" panose="02040503050406030204" pitchFamily="18" charset="0"/>
                        <a:ea typeface="Cambria Math" panose="02040503050406030204" pitchFamily="18" charset="0"/>
                      </a:rPr>
                      <m:t>. </m:t>
                    </m:r>
                  </m:oMath>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What about reflections occurring between </a:t>
                </a:r>
                <a:r>
                  <a:rPr lang="en-US" dirty="0" err="1">
                    <a:solidFill>
                      <a:srgbClr val="000000"/>
                    </a:solidFill>
                    <a:latin typeface="Cambria Math" panose="02040503050406030204" pitchFamily="18" charset="0"/>
                    <a:ea typeface="Cambria Math" panose="02040503050406030204" pitchFamily="18" charset="0"/>
                  </a:rPr>
                  <a:t>R</a:t>
                </a:r>
                <a:r>
                  <a:rPr lang="en-US" baseline="-25000" dirty="0" err="1">
                    <a:solidFill>
                      <a:srgbClr val="000000"/>
                    </a:solidFill>
                    <a:latin typeface="Cambria Math" panose="02040503050406030204" pitchFamily="18" charset="0"/>
                    <a:ea typeface="Cambria Math" panose="02040503050406030204" pitchFamily="18" charset="0"/>
                  </a:rPr>
                  <a:t>g</a:t>
                </a:r>
                <a:r>
                  <a:rPr lang="en-US" dirty="0">
                    <a:solidFill>
                      <a:srgbClr val="000000"/>
                    </a:solidFill>
                    <a:latin typeface="Cambria Math" panose="02040503050406030204" pitchFamily="18" charset="0"/>
                    <a:ea typeface="Cambria Math" panose="02040503050406030204" pitchFamily="18" charset="0"/>
                  </a:rPr>
                  <a:t> and </a:t>
                </a:r>
              </a:p>
              <a:p>
                <a:r>
                  <a:rPr lang="en-US" dirty="0">
                    <a:solidFill>
                      <a:srgbClr val="000000"/>
                    </a:solidFill>
                    <a:latin typeface="Cambria Math" panose="02040503050406030204" pitchFamily="18" charset="0"/>
                    <a:ea typeface="Cambria Math" panose="02040503050406030204" pitchFamily="18" charset="0"/>
                  </a:rPr>
                  <a:t>the generator terminals for </a:t>
                </a:r>
                <a:r>
                  <a:rPr lang="en-US" dirty="0" err="1">
                    <a:solidFill>
                      <a:srgbClr val="000000"/>
                    </a:solidFill>
                    <a:latin typeface="Cambria Math" panose="02040503050406030204" pitchFamily="18" charset="0"/>
                    <a:ea typeface="Cambria Math" panose="02040503050406030204" pitchFamily="18" charset="0"/>
                  </a:rPr>
                  <a:t>R</a:t>
                </a:r>
                <a:r>
                  <a:rPr lang="en-US" baseline="-25000" dirty="0" err="1">
                    <a:solidFill>
                      <a:srgbClr val="000000"/>
                    </a:solidFill>
                    <a:latin typeface="Cambria Math" panose="02040503050406030204" pitchFamily="18" charset="0"/>
                    <a:ea typeface="Cambria Math" panose="02040503050406030204" pitchFamily="18" charset="0"/>
                  </a:rPr>
                  <a:t>g</a:t>
                </a:r>
                <a:r>
                  <a:rPr lang="en-US" dirty="0">
                    <a:solidFill>
                      <a:srgbClr val="000000"/>
                    </a:solidFill>
                    <a:latin typeface="Cambria Math" panose="02040503050406030204" pitchFamily="18" charset="0"/>
                    <a:ea typeface="Cambria Math" panose="02040503050406030204" pitchFamily="18" charset="0"/>
                  </a:rPr>
                  <a:t> ≠ Z</a:t>
                </a:r>
                <a:r>
                  <a:rPr lang="en-US" baseline="-25000" dirty="0">
                    <a:solidFill>
                      <a:srgbClr val="000000"/>
                    </a:solidFill>
                    <a:latin typeface="Cambria Math" panose="02040503050406030204" pitchFamily="18" charset="0"/>
                    <a:ea typeface="Cambria Math" panose="02040503050406030204" pitchFamily="18" charset="0"/>
                  </a:rPr>
                  <a:t>0</a:t>
                </a:r>
                <a:r>
                  <a:rPr lang="en-US" dirty="0">
                    <a:solidFill>
                      <a:srgbClr val="00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r>
                  <a:rPr lang="en-US" dirty="0">
                    <a:solidFill>
                      <a:srgbClr val="000000"/>
                    </a:solidFill>
                    <a:latin typeface="Cambria Math" panose="02040503050406030204" pitchFamily="18" charset="0"/>
                    <a:ea typeface="Cambria Math" panose="02040503050406030204" pitchFamily="18" charset="0"/>
                  </a:rPr>
                  <a:t>This distance is often electrically short, so usually</a:t>
                </a:r>
              </a:p>
              <a:p>
                <a:r>
                  <a:rPr lang="en-US" dirty="0">
                    <a:solidFill>
                      <a:srgbClr val="000000"/>
                    </a:solidFill>
                    <a:latin typeface="Cambria Math" panose="02040503050406030204" pitchFamily="18" charset="0"/>
                    <a:ea typeface="Cambria Math" panose="02040503050406030204" pitchFamily="18" charset="0"/>
                  </a:rPr>
                  <a:t>can be ignored.</a:t>
                </a:r>
              </a:p>
              <a:p>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663436"/>
                <a:ext cx="12003932" cy="6037422"/>
              </a:xfrm>
              <a:prstGeom prst="rect">
                <a:avLst/>
              </a:prstGeom>
              <a:blipFill>
                <a:blip r:embed="rId2"/>
                <a:stretch>
                  <a:fillRect l="-253"/>
                </a:stretch>
              </a:blipFill>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1191" y="769666"/>
            <a:ext cx="3352416" cy="141010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10511724" y="1136965"/>
                <a:ext cx="835677" cy="4791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solidFill>
                                <a:schemeClr val="bg1"/>
                              </a:solidFill>
                              <a:latin typeface="Cambria Math" panose="02040503050406030204" pitchFamily="18" charset="0"/>
                              <a:ea typeface="Cambria Math" panose="02040503050406030204" pitchFamily="18" charset="0"/>
                            </a:rPr>
                          </m:ctrlPr>
                        </m:sSubPr>
                        <m:e>
                          <m:r>
                            <a:rPr lang="en-US" sz="1200" b="0" i="1" smtClean="0">
                              <a:solidFill>
                                <a:schemeClr val="bg1"/>
                              </a:solidFill>
                              <a:latin typeface="Cambria Math" panose="02040503050406030204" pitchFamily="18" charset="0"/>
                              <a:ea typeface="Cambria Math" panose="02040503050406030204" pitchFamily="18" charset="0"/>
                            </a:rPr>
                            <m:t>𝑅</m:t>
                          </m:r>
                        </m:e>
                        <m:sub>
                          <m:r>
                            <a:rPr lang="en-US" sz="1200" b="0" i="1" smtClean="0">
                              <a:solidFill>
                                <a:schemeClr val="bg1"/>
                              </a:solidFill>
                              <a:latin typeface="Cambria Math" panose="02040503050406030204" pitchFamily="18" charset="0"/>
                              <a:ea typeface="Cambria Math" panose="02040503050406030204" pitchFamily="18" charset="0"/>
                            </a:rPr>
                            <m:t>𝑔</m:t>
                          </m:r>
                        </m:sub>
                      </m:sSub>
                      <m:r>
                        <a:rPr lang="en-US" sz="1200" b="0" i="1" smtClean="0">
                          <a:solidFill>
                            <a:schemeClr val="bg1"/>
                          </a:solidFill>
                          <a:latin typeface="Cambria Math" panose="02040503050406030204" pitchFamily="18" charset="0"/>
                          <a:ea typeface="Cambria Math" panose="02040503050406030204" pitchFamily="18" charset="0"/>
                        </a:rPr>
                        <m:t>=4</m:t>
                      </m:r>
                      <m:sSub>
                        <m:sSubPr>
                          <m:ctrlPr>
                            <a:rPr lang="en-US" sz="1200" b="0" i="1" smtClean="0">
                              <a:solidFill>
                                <a:schemeClr val="bg1"/>
                              </a:solidFill>
                              <a:latin typeface="Cambria Math" panose="02040503050406030204" pitchFamily="18" charset="0"/>
                              <a:ea typeface="Cambria Math" panose="02040503050406030204" pitchFamily="18" charset="0"/>
                            </a:rPr>
                          </m:ctrlPr>
                        </m:sSubPr>
                        <m:e>
                          <m:r>
                            <a:rPr lang="en-US" sz="1200" b="0" i="1" smtClean="0">
                              <a:solidFill>
                                <a:schemeClr val="bg1"/>
                              </a:solidFill>
                              <a:latin typeface="Cambria Math" panose="02040503050406030204" pitchFamily="18" charset="0"/>
                              <a:ea typeface="Cambria Math" panose="02040503050406030204" pitchFamily="18" charset="0"/>
                            </a:rPr>
                            <m:t>𝑍</m:t>
                          </m:r>
                        </m:e>
                        <m:sub>
                          <m:r>
                            <a:rPr lang="en-US" sz="1200" b="0" i="1" smtClean="0">
                              <a:solidFill>
                                <a:schemeClr val="bg1"/>
                              </a:solidFill>
                              <a:latin typeface="Cambria Math" panose="02040503050406030204" pitchFamily="18" charset="0"/>
                              <a:ea typeface="Cambria Math" panose="02040503050406030204" pitchFamily="18" charset="0"/>
                            </a:rPr>
                            <m:t>0</m:t>
                          </m:r>
                        </m:sub>
                      </m:sSub>
                    </m:oMath>
                  </m:oMathPara>
                </a14:m>
                <a:endParaRPr lang="en-US" sz="1200" i="1"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200" i="1">
                              <a:solidFill>
                                <a:schemeClr val="bg1"/>
                              </a:solidFill>
                              <a:latin typeface="Cambria Math" panose="02040503050406030204" pitchFamily="18" charset="0"/>
                              <a:ea typeface="Cambria Math" panose="02040503050406030204" pitchFamily="18" charset="0"/>
                            </a:rPr>
                          </m:ctrlPr>
                        </m:sSubPr>
                        <m:e>
                          <m:r>
                            <a:rPr lang="en-US" sz="1200" i="1">
                              <a:solidFill>
                                <a:schemeClr val="bg1"/>
                              </a:solidFill>
                              <a:latin typeface="Cambria Math" panose="02040503050406030204" pitchFamily="18" charset="0"/>
                              <a:ea typeface="Cambria Math" panose="02040503050406030204" pitchFamily="18" charset="0"/>
                            </a:rPr>
                            <m:t>𝑅</m:t>
                          </m:r>
                        </m:e>
                        <m:sub>
                          <m:r>
                            <a:rPr lang="en-US" sz="1200" i="1">
                              <a:solidFill>
                                <a:schemeClr val="bg1"/>
                              </a:solidFill>
                              <a:latin typeface="Cambria Math" panose="02040503050406030204" pitchFamily="18" charset="0"/>
                              <a:ea typeface="Cambria Math" panose="02040503050406030204" pitchFamily="18" charset="0"/>
                            </a:rPr>
                            <m:t>𝐿</m:t>
                          </m:r>
                        </m:sub>
                      </m:sSub>
                      <m:r>
                        <a:rPr lang="en-US" sz="1200" i="1">
                          <a:solidFill>
                            <a:schemeClr val="bg1"/>
                          </a:solidFill>
                          <a:latin typeface="Cambria Math" panose="02040503050406030204" pitchFamily="18" charset="0"/>
                          <a:ea typeface="Cambria Math" panose="02040503050406030204" pitchFamily="18" charset="0"/>
                        </a:rPr>
                        <m:t>=2</m:t>
                      </m:r>
                      <m:sSub>
                        <m:sSubPr>
                          <m:ctrlPr>
                            <a:rPr lang="en-US" sz="1200" i="1">
                              <a:solidFill>
                                <a:schemeClr val="bg1"/>
                              </a:solidFill>
                              <a:latin typeface="Cambria Math" panose="02040503050406030204" pitchFamily="18" charset="0"/>
                              <a:ea typeface="Cambria Math" panose="02040503050406030204" pitchFamily="18" charset="0"/>
                            </a:rPr>
                          </m:ctrlPr>
                        </m:sSubPr>
                        <m:e>
                          <m:r>
                            <a:rPr lang="en-US" sz="1200" i="1">
                              <a:solidFill>
                                <a:schemeClr val="bg1"/>
                              </a:solidFill>
                              <a:latin typeface="Cambria Math" panose="02040503050406030204" pitchFamily="18" charset="0"/>
                              <a:ea typeface="Cambria Math" panose="02040503050406030204" pitchFamily="18" charset="0"/>
                            </a:rPr>
                            <m:t>𝑍</m:t>
                          </m:r>
                        </m:e>
                        <m:sub>
                          <m:r>
                            <a:rPr lang="en-US" sz="1200" i="1">
                              <a:solidFill>
                                <a:schemeClr val="bg1"/>
                              </a:solidFill>
                              <a:latin typeface="Cambria Math" panose="02040503050406030204" pitchFamily="18" charset="0"/>
                              <a:ea typeface="Cambria Math" panose="02040503050406030204" pitchFamily="18" charset="0"/>
                            </a:rPr>
                            <m:t>0</m:t>
                          </m:r>
                        </m:sub>
                      </m:sSub>
                    </m:oMath>
                  </m:oMathPara>
                </a14:m>
                <a:endParaRPr lang="en-US" sz="1200" i="1" dirty="0">
                  <a:solidFill>
                    <a:schemeClr val="bg1"/>
                  </a:solidFill>
                  <a:latin typeface="Cambria Math" panose="02040503050406030204" pitchFamily="18" charset="0"/>
                  <a:ea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0511724" y="1136965"/>
                <a:ext cx="835677" cy="479170"/>
              </a:xfrm>
              <a:prstGeom prst="rect">
                <a:avLst/>
              </a:prstGeom>
              <a:blipFill rotWithShape="0">
                <a:blip r:embed="rId5"/>
                <a:stretch>
                  <a:fillRect/>
                </a:stretch>
              </a:blipFill>
            </p:spPr>
            <p:txBody>
              <a:bodyPr/>
              <a:lstStyle/>
              <a:p>
                <a:r>
                  <a:rPr lang="en-US">
                    <a:noFill/>
                  </a:rPr>
                  <a:t> </a:t>
                </a:r>
              </a:p>
            </p:txBody>
          </p:sp>
        </mc:Fallback>
      </mc:AlternateContent>
      <p:pic>
        <p:nvPicPr>
          <p:cNvPr id="5" name="Picture 4" descr="Diagram&#10;&#10;Description automatically generated">
            <a:extLst>
              <a:ext uri="{FF2B5EF4-FFF2-40B4-BE49-F238E27FC236}">
                <a16:creationId xmlns:a16="http://schemas.microsoft.com/office/drawing/2014/main" id="{7F9DFF68-1E5E-B6B4-5E87-42BAE63F26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52736" y="2357975"/>
            <a:ext cx="6449325" cy="4039164"/>
          </a:xfrm>
          <a:prstGeom prst="rect">
            <a:avLst/>
          </a:prstGeom>
        </p:spPr>
      </p:pic>
    </p:spTree>
    <p:extLst>
      <p:ext uri="{BB962C8B-B14F-4D97-AF65-F5344CB8AC3E}">
        <p14:creationId xmlns:p14="http://schemas.microsoft.com/office/powerpoint/2010/main" val="3157609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2" end="12"/>
                                            </p:txEl>
                                          </p:spTgt>
                                        </p:tgtEl>
                                        <p:attrNameLst>
                                          <p:attrName>style.visibility</p:attrName>
                                        </p:attrNameLst>
                                      </p:cBhvr>
                                      <p:to>
                                        <p:strVal val="visible"/>
                                      </p:to>
                                    </p:set>
                                    <p:anim calcmode="lin" valueType="num">
                                      <p:cBhvr additive="base">
                                        <p:cTn id="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3" end="13"/>
                                            </p:txEl>
                                          </p:spTgt>
                                        </p:tgtEl>
                                        <p:attrNameLst>
                                          <p:attrName>style.visibility</p:attrName>
                                        </p:attrNameLst>
                                      </p:cBhvr>
                                      <p:to>
                                        <p:strVal val="visible"/>
                                      </p:to>
                                    </p:set>
                                    <p:anim calcmode="lin" valueType="num">
                                      <p:cBhvr additive="base">
                                        <p:cTn id="11"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15" end="15"/>
                                            </p:txEl>
                                          </p:spTgt>
                                        </p:tgtEl>
                                        <p:attrNameLst>
                                          <p:attrName>style.visibility</p:attrName>
                                        </p:attrNameLst>
                                      </p:cBhvr>
                                      <p:to>
                                        <p:strVal val="visible"/>
                                      </p:to>
                                    </p:set>
                                    <p:anim calcmode="lin" valueType="num">
                                      <p:cBhvr additive="base">
                                        <p:cTn id="17"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16" end="16"/>
                                            </p:txEl>
                                          </p:spTgt>
                                        </p:tgtEl>
                                        <p:attrNameLst>
                                          <p:attrName>style.visibility</p:attrName>
                                        </p:attrNameLst>
                                      </p:cBhvr>
                                      <p:to>
                                        <p:strVal val="visible"/>
                                      </p:to>
                                    </p:set>
                                    <p:anim calcmode="lin" valueType="num">
                                      <p:cBhvr additive="base">
                                        <p:cTn id="21"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82403" y="-17021"/>
            <a:ext cx="6853136" cy="553998"/>
          </a:xfrm>
        </p:spPr>
        <p:txBody>
          <a:bodyPr/>
          <a:lstStyle/>
          <a:p>
            <a:pPr algn="ctr"/>
            <a:r>
              <a:rPr lang="en-US" sz="4000" dirty="0"/>
              <a:t>Bounce Diagrams</a:t>
            </a:r>
          </a:p>
        </p:txBody>
      </p:sp>
      <p:sp>
        <p:nvSpPr>
          <p:cNvPr id="4" name="Rectangle 3"/>
          <p:cNvSpPr/>
          <p:nvPr/>
        </p:nvSpPr>
        <p:spPr>
          <a:xfrm>
            <a:off x="107005" y="624524"/>
            <a:ext cx="12003932"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Graphical representation of multiple reflections.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x-axis corresponds to distance along transmission line.</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y-axis corresponds to time, with T corresponding to the </a:t>
            </a:r>
          </a:p>
          <a:p>
            <a:r>
              <a:rPr lang="en-US" dirty="0">
                <a:solidFill>
                  <a:srgbClr val="000000"/>
                </a:solidFill>
                <a:latin typeface="Cambria Math" panose="02040503050406030204" pitchFamily="18" charset="0"/>
                <a:ea typeface="Cambria Math" panose="02040503050406030204" pitchFamily="18" charset="0"/>
              </a:rPr>
              <a:t>one way travel time along the transmission line.</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Use reflection coefficients at load and generator to</a:t>
            </a:r>
          </a:p>
          <a:p>
            <a:r>
              <a:rPr lang="en-US" dirty="0">
                <a:solidFill>
                  <a:srgbClr val="000000"/>
                </a:solidFill>
                <a:latin typeface="Cambria Math" panose="02040503050406030204" pitchFamily="18" charset="0"/>
                <a:ea typeface="Cambria Math" panose="02040503050406030204" pitchFamily="18" charset="0"/>
              </a:rPr>
              <a:t>determine magnitude associated with zig-zag lines.</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Can construct resulting voltage or current at a given</a:t>
            </a:r>
          </a:p>
          <a:p>
            <a:r>
              <a:rPr lang="en-US" dirty="0">
                <a:solidFill>
                  <a:srgbClr val="000000"/>
                </a:solidFill>
                <a:latin typeface="Cambria Math" panose="02040503050406030204" pitchFamily="18" charset="0"/>
                <a:ea typeface="Cambria Math" panose="02040503050406030204" pitchFamily="18" charset="0"/>
              </a:rPr>
              <a:t>distance along the transmission line utilizing vertical lines</a:t>
            </a:r>
          </a:p>
          <a:p>
            <a:r>
              <a:rPr lang="en-US" dirty="0">
                <a:solidFill>
                  <a:srgbClr val="000000"/>
                </a:solidFill>
                <a:latin typeface="Cambria Math" panose="02040503050406030204" pitchFamily="18" charset="0"/>
                <a:ea typeface="Cambria Math" panose="02040503050406030204" pitchFamily="18" charset="0"/>
              </a:rPr>
              <a:t>at the desired distance. Total voltage or current is the</a:t>
            </a:r>
          </a:p>
          <a:p>
            <a:r>
              <a:rPr lang="en-US" dirty="0">
                <a:solidFill>
                  <a:srgbClr val="000000"/>
                </a:solidFill>
                <a:latin typeface="Cambria Math" panose="02040503050406030204" pitchFamily="18" charset="0"/>
                <a:ea typeface="Cambria Math" panose="02040503050406030204" pitchFamily="18" charset="0"/>
              </a:rPr>
              <a:t>algebraic sum of individual zig-zag lines intersecting the</a:t>
            </a:r>
          </a:p>
          <a:p>
            <a:r>
              <a:rPr lang="en-US" dirty="0">
                <a:solidFill>
                  <a:srgbClr val="000000"/>
                </a:solidFill>
                <a:latin typeface="Cambria Math" panose="02040503050406030204" pitchFamily="18" charset="0"/>
                <a:ea typeface="Cambria Math" panose="02040503050406030204" pitchFamily="18" charset="0"/>
              </a:rPr>
              <a:t>associated vertical line.</a:t>
            </a: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The adjacent voltage versus time diagram is for a </a:t>
            </a:r>
          </a:p>
          <a:p>
            <a:r>
              <a:rPr lang="en-US" dirty="0">
                <a:solidFill>
                  <a:srgbClr val="000000"/>
                </a:solidFill>
                <a:latin typeface="Cambria Math" panose="02040503050406030204" pitchFamily="18" charset="0"/>
                <a:ea typeface="Cambria Math" panose="02040503050406030204" pitchFamily="18" charset="0"/>
              </a:rPr>
              <a:t>distance of l/4 down the line from the generator , which </a:t>
            </a:r>
          </a:p>
          <a:p>
            <a:r>
              <a:rPr lang="en-US" dirty="0">
                <a:solidFill>
                  <a:srgbClr val="000000"/>
                </a:solidFill>
                <a:latin typeface="Cambria Math" panose="02040503050406030204" pitchFamily="18" charset="0"/>
                <a:ea typeface="Cambria Math" panose="02040503050406030204" pitchFamily="18" charset="0"/>
              </a:rPr>
              <a:t>is why the voltage equals zero until time t = T/4. </a:t>
            </a:r>
          </a:p>
          <a:p>
            <a:endParaRPr lang="en-US" dirty="0">
              <a:solidFill>
                <a:srgbClr val="000000"/>
              </a:solidFill>
              <a:latin typeface="Cambria Math" panose="02040503050406030204" pitchFamily="18" charset="0"/>
              <a:ea typeface="Cambria Math" panose="020405030504060302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3056" y="1031515"/>
            <a:ext cx="6079786" cy="5244177"/>
          </a:xfrm>
          <a:prstGeom prst="rect">
            <a:avLst/>
          </a:prstGeom>
        </p:spPr>
      </p:pic>
    </p:spTree>
    <p:extLst>
      <p:ext uri="{BB962C8B-B14F-4D97-AF65-F5344CB8AC3E}">
        <p14:creationId xmlns:p14="http://schemas.microsoft.com/office/powerpoint/2010/main" val="17127013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anim calcmode="lin" valueType="num">
                                      <p:cBhvr additive="base">
                                        <p:cTn id="1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2" end="12"/>
                                            </p:txEl>
                                          </p:spTgt>
                                        </p:tgtEl>
                                        <p:attrNameLst>
                                          <p:attrName>style.visibility</p:attrName>
                                        </p:attrNameLst>
                                      </p:cBhvr>
                                      <p:to>
                                        <p:strVal val="visible"/>
                                      </p:to>
                                    </p:set>
                                    <p:anim calcmode="lin" valueType="num">
                                      <p:cBhvr additive="base">
                                        <p:cTn id="1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3" end="13"/>
                                            </p:txEl>
                                          </p:spTgt>
                                        </p:tgtEl>
                                        <p:attrNameLst>
                                          <p:attrName>style.visibility</p:attrName>
                                        </p:attrNameLst>
                                      </p:cBhvr>
                                      <p:to>
                                        <p:strVal val="visible"/>
                                      </p:to>
                                    </p:set>
                                    <p:anim calcmode="lin" valueType="num">
                                      <p:cBhvr additive="base">
                                        <p:cTn id="23"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anim calcmode="lin" valueType="num">
                                      <p:cBhvr additive="base">
                                        <p:cTn id="27"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5" end="15"/>
                                            </p:txEl>
                                          </p:spTgt>
                                        </p:tgtEl>
                                        <p:attrNameLst>
                                          <p:attrName>style.visibility</p:attrName>
                                        </p:attrNameLst>
                                      </p:cBhvr>
                                      <p:to>
                                        <p:strVal val="visible"/>
                                      </p:to>
                                    </p:set>
                                    <p:anim calcmode="lin" valueType="num">
                                      <p:cBhvr additive="base">
                                        <p:cTn id="31"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17" end="17"/>
                                            </p:txEl>
                                          </p:spTgt>
                                        </p:tgtEl>
                                        <p:attrNameLst>
                                          <p:attrName>style.visibility</p:attrName>
                                        </p:attrNameLst>
                                      </p:cBhvr>
                                      <p:to>
                                        <p:strVal val="visible"/>
                                      </p:to>
                                    </p:set>
                                    <p:anim calcmode="lin" valueType="num">
                                      <p:cBhvr additive="base">
                                        <p:cTn id="37"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7" end="1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18" end="18"/>
                                            </p:txEl>
                                          </p:spTgt>
                                        </p:tgtEl>
                                        <p:attrNameLst>
                                          <p:attrName>style.visibility</p:attrName>
                                        </p:attrNameLst>
                                      </p:cBhvr>
                                      <p:to>
                                        <p:strVal val="visible"/>
                                      </p:to>
                                    </p:set>
                                    <p:anim calcmode="lin" valueType="num">
                                      <p:cBhvr additive="base">
                                        <p:cTn id="41" dur="500" fill="hold"/>
                                        <p:tgtEl>
                                          <p:spTgt spid="4">
                                            <p:txEl>
                                              <p:pRg st="18" end="1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18" end="1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19" end="19"/>
                                            </p:txEl>
                                          </p:spTgt>
                                        </p:tgtEl>
                                        <p:attrNameLst>
                                          <p:attrName>style.visibility</p:attrName>
                                        </p:attrNameLst>
                                      </p:cBhvr>
                                      <p:to>
                                        <p:strVal val="visible"/>
                                      </p:to>
                                    </p:set>
                                    <p:anim calcmode="lin" valueType="num">
                                      <p:cBhvr additive="base">
                                        <p:cTn id="45" dur="500" fill="hold"/>
                                        <p:tgtEl>
                                          <p:spTgt spid="4">
                                            <p:txEl>
                                              <p:pRg st="19" end="1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682403" y="-9478"/>
            <a:ext cx="6853136" cy="553998"/>
          </a:xfrm>
        </p:spPr>
        <p:txBody>
          <a:bodyPr/>
          <a:lstStyle/>
          <a:p>
            <a:pPr algn="ctr"/>
            <a:r>
              <a:rPr lang="en-US" sz="4000" dirty="0"/>
              <a:t>Transient Response Example</a:t>
            </a:r>
          </a:p>
        </p:txBody>
      </p:sp>
      <mc:AlternateContent xmlns:mc="http://schemas.openxmlformats.org/markup-compatibility/2006" xmlns:a14="http://schemas.microsoft.com/office/drawing/2010/main">
        <mc:Choice Requires="a14">
          <p:sp>
            <p:nvSpPr>
              <p:cNvPr id="4" name="Rectangle 3"/>
              <p:cNvSpPr/>
              <p:nvPr/>
            </p:nvSpPr>
            <p:spPr>
              <a:xfrm>
                <a:off x="107005" y="637936"/>
                <a:ext cx="12003932" cy="613802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the adjacent circuit with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g</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10 V,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g</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75 Ω and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0</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75 Ω,</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determine the resulting transient response waveform at switch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closure time t = 0 for the voltage at the input to the transmission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line, i.e., z = 0. The time T = l/u</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where u</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phase velocity of</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waveform down the transmission line.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num>
                        <m:den>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d>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7</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 Ω</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637936"/>
                <a:ext cx="12003932" cy="6138027"/>
              </a:xfrm>
              <a:prstGeom prst="rect">
                <a:avLst/>
              </a:prstGeom>
              <a:blipFill>
                <a:blip r:embed="rId2"/>
                <a:stretch>
                  <a:fillRect l="-253" t="-295"/>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788" y="717602"/>
            <a:ext cx="5153025" cy="2257425"/>
          </a:xfrm>
          <a:prstGeom prst="rect">
            <a:avLst/>
          </a:prstGeom>
        </p:spPr>
      </p:pic>
      <p:pic>
        <p:nvPicPr>
          <p:cNvPr id="11" name="Picture 10">
            <a:extLst>
              <a:ext uri="{FF2B5EF4-FFF2-40B4-BE49-F238E27FC236}">
                <a16:creationId xmlns:a16="http://schemas.microsoft.com/office/drawing/2014/main" id="{D8145D19-303D-9190-FF3D-893BA12B87C6}"/>
              </a:ext>
            </a:extLst>
          </p:cNvPr>
          <p:cNvPicPr>
            <a:picLocks noChangeAspect="1"/>
          </p:cNvPicPr>
          <p:nvPr/>
        </p:nvPicPr>
        <p:blipFill>
          <a:blip r:embed="rId4"/>
          <a:stretch>
            <a:fillRect/>
          </a:stretch>
        </p:blipFill>
        <p:spPr>
          <a:xfrm>
            <a:off x="5259981" y="2830277"/>
            <a:ext cx="2486171" cy="3668247"/>
          </a:xfrm>
          <a:prstGeom prst="rect">
            <a:avLst/>
          </a:prstGeom>
        </p:spPr>
      </p:pic>
      <p:cxnSp>
        <p:nvCxnSpPr>
          <p:cNvPr id="9" name="Straight Arrow Connector 8"/>
          <p:cNvCxnSpPr>
            <a:cxnSpLocks/>
          </p:cNvCxnSpPr>
          <p:nvPr/>
        </p:nvCxnSpPr>
        <p:spPr>
          <a:xfrm>
            <a:off x="5734670" y="3132161"/>
            <a:ext cx="1638300" cy="695354"/>
          </a:xfrm>
          <a:prstGeom prst="straightConnector1">
            <a:avLst/>
          </a:prstGeom>
          <a:ln w="25400">
            <a:solidFill>
              <a:srgbClr val="008FFA"/>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H="1">
            <a:off x="5734670" y="3838605"/>
            <a:ext cx="1635350" cy="660364"/>
          </a:xfrm>
          <a:prstGeom prst="straightConnector1">
            <a:avLst/>
          </a:prstGeom>
          <a:ln w="25400">
            <a:solidFill>
              <a:srgbClr val="008FFA"/>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572870" y="3254219"/>
            <a:ext cx="8001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0C0"/>
                </a:solidFill>
                <a:effectLst/>
                <a:uLnTx/>
                <a:uFillTx/>
                <a:latin typeface="Cambria" panose="02040503050406030204"/>
                <a:ea typeface="+mn-ea"/>
                <a:cs typeface="+mn-cs"/>
              </a:rPr>
              <a:t>5 V</a:t>
            </a:r>
          </a:p>
        </p:txBody>
      </p:sp>
      <p:sp>
        <p:nvSpPr>
          <p:cNvPr id="18" name="TextBox 17"/>
          <p:cNvSpPr txBox="1"/>
          <p:nvPr/>
        </p:nvSpPr>
        <p:spPr>
          <a:xfrm>
            <a:off x="6172820" y="3890320"/>
            <a:ext cx="8001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0C0"/>
                </a:solidFill>
                <a:effectLst/>
                <a:uLnTx/>
                <a:uFillTx/>
                <a:latin typeface="Cambria" panose="02040503050406030204"/>
                <a:ea typeface="+mn-ea"/>
                <a:cs typeface="+mn-cs"/>
              </a:rPr>
              <a:t>-5 V</a:t>
            </a:r>
          </a:p>
        </p:txBody>
      </p:sp>
    </p:spTree>
    <p:extLst>
      <p:ext uri="{BB962C8B-B14F-4D97-AF65-F5344CB8AC3E}">
        <p14:creationId xmlns:p14="http://schemas.microsoft.com/office/powerpoint/2010/main" val="8701861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 calcmode="lin" valueType="num">
                                      <p:cBhvr additive="base">
                                        <p:cTn id="25"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anim calcmode="lin" valueType="num">
                                      <p:cBhvr additive="base">
                                        <p:cTn id="43"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985818" y="-12272"/>
            <a:ext cx="8654473" cy="626478"/>
          </a:xfrm>
        </p:spPr>
        <p:txBody>
          <a:bodyPr/>
          <a:lstStyle/>
          <a:p>
            <a:pPr algn="ctr"/>
            <a:r>
              <a:rPr lang="en-US" sz="4000" dirty="0"/>
              <a:t>Transient Response Example (Continued)</a:t>
            </a:r>
          </a:p>
        </p:txBody>
      </p:sp>
      <p:sp>
        <p:nvSpPr>
          <p:cNvPr id="4" name="Rectangle 3"/>
          <p:cNvSpPr/>
          <p:nvPr/>
        </p:nvSpPr>
        <p:spPr>
          <a:xfrm>
            <a:off x="107005" y="621049"/>
            <a:ext cx="12003932"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For the adjacent circuit with V</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g</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10 V,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g</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75 Ω and Z</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0</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75 Ω,</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determine the resulting transient response waveform at switch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closure time t = 0 for the voltage at the input to the transmission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line, i.e., z = 0. The time T = l/u</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where u</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is the phase velocity 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 waveform down the transmission line.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Vertical distance lines from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Bounce Diagram provide the necessary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information to plot the resulting waveforms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any distance 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788" y="753880"/>
            <a:ext cx="5153025" cy="2257425"/>
          </a:xfrm>
          <a:prstGeom prst="rect">
            <a:avLst/>
          </a:prstGeom>
        </p:spPr>
      </p:pic>
      <p:sp>
        <p:nvSpPr>
          <p:cNvPr id="12" name="TextBox 11">
            <a:extLst>
              <a:ext uri="{FF2B5EF4-FFF2-40B4-BE49-F238E27FC236}">
                <a16:creationId xmlns:a16="http://schemas.microsoft.com/office/drawing/2014/main" id="{E2C8F7BB-F94E-4047-A406-02A25AC85340}"/>
              </a:ext>
            </a:extLst>
          </p:cNvPr>
          <p:cNvSpPr txBox="1"/>
          <p:nvPr/>
        </p:nvSpPr>
        <p:spPr>
          <a:xfrm>
            <a:off x="8132385" y="3477364"/>
            <a:ext cx="15926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rPr>
              <a:t>Poll Questions</a:t>
            </a:r>
          </a:p>
        </p:txBody>
      </p:sp>
      <p:grpSp>
        <p:nvGrpSpPr>
          <p:cNvPr id="10" name="Group 9">
            <a:extLst>
              <a:ext uri="{FF2B5EF4-FFF2-40B4-BE49-F238E27FC236}">
                <a16:creationId xmlns:a16="http://schemas.microsoft.com/office/drawing/2014/main" id="{9354FEF8-60EE-F37F-64A4-21637A8C7D0F}"/>
              </a:ext>
            </a:extLst>
          </p:cNvPr>
          <p:cNvGrpSpPr/>
          <p:nvPr/>
        </p:nvGrpSpPr>
        <p:grpSpPr>
          <a:xfrm>
            <a:off x="7187994" y="4487396"/>
            <a:ext cx="4566018" cy="2266632"/>
            <a:chOff x="6613822" y="4487396"/>
            <a:chExt cx="4566018" cy="2266632"/>
          </a:xfrm>
        </p:grpSpPr>
        <p:sp>
          <p:nvSpPr>
            <p:cNvPr id="21" name="TextBox 20">
              <a:extLst>
                <a:ext uri="{FF2B5EF4-FFF2-40B4-BE49-F238E27FC236}">
                  <a16:creationId xmlns:a16="http://schemas.microsoft.com/office/drawing/2014/main" id="{03E58CDA-08A5-D62F-B1C4-06A0CC631A00}"/>
                </a:ext>
              </a:extLst>
            </p:cNvPr>
            <p:cNvSpPr txBox="1"/>
            <p:nvPr/>
          </p:nvSpPr>
          <p:spPr>
            <a:xfrm>
              <a:off x="7558213" y="4487396"/>
              <a:ext cx="281359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panose="02040503050406030204"/>
                  <a:ea typeface="+mn-ea"/>
                  <a:cs typeface="+mn-cs"/>
                </a:rPr>
                <a:t>V(t) at distance z = l, i.e., Load.</a:t>
              </a:r>
            </a:p>
          </p:txBody>
        </p:sp>
        <p:pic>
          <p:nvPicPr>
            <p:cNvPr id="7" name="Picture 6">
              <a:extLst>
                <a:ext uri="{FF2B5EF4-FFF2-40B4-BE49-F238E27FC236}">
                  <a16:creationId xmlns:a16="http://schemas.microsoft.com/office/drawing/2014/main" id="{E97D465E-0DC3-86C2-9331-602344B52D35}"/>
                </a:ext>
              </a:extLst>
            </p:cNvPr>
            <p:cNvPicPr>
              <a:picLocks noChangeAspect="1"/>
            </p:cNvPicPr>
            <p:nvPr/>
          </p:nvPicPr>
          <p:blipFill>
            <a:blip r:embed="rId3"/>
            <a:stretch>
              <a:fillRect/>
            </a:stretch>
          </p:blipFill>
          <p:spPr>
            <a:xfrm>
              <a:off x="6613822" y="4834381"/>
              <a:ext cx="4566018" cy="1919647"/>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941A3CC-5762-54FD-785B-85ACD909D0A0}"/>
                    </a:ext>
                  </a:extLst>
                </p:cNvPr>
                <p:cNvSpPr txBox="1"/>
                <p:nvPr/>
              </p:nvSpPr>
              <p:spPr>
                <a:xfrm>
                  <a:off x="7092957" y="5523358"/>
                  <a:ext cx="225305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SupPr>
                          <m:e>
                            <m:r>
                              <m:rPr>
                                <m:sty m:val="p"/>
                              </m:rP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and</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Sup>
                          <m:sSubSup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cancel</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each</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other</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m:oMathPara>
                  </a14:m>
                  <a:endParaRPr kumimoji="0" lang="en-US" sz="14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out</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at</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load</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at</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this</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time</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4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15" name="TextBox 14">
                  <a:extLst>
                    <a:ext uri="{FF2B5EF4-FFF2-40B4-BE49-F238E27FC236}">
                      <a16:creationId xmlns:a16="http://schemas.microsoft.com/office/drawing/2014/main" id="{0941A3CC-5762-54FD-785B-85ACD909D0A0}"/>
                    </a:ext>
                  </a:extLst>
                </p:cNvPr>
                <p:cNvSpPr txBox="1">
                  <a:spLocks noRot="1" noChangeAspect="1" noMove="1" noResize="1" noEditPoints="1" noAdjustHandles="1" noChangeArrowheads="1" noChangeShapeType="1" noTextEdit="1"/>
                </p:cNvSpPr>
                <p:nvPr/>
              </p:nvSpPr>
              <p:spPr>
                <a:xfrm>
                  <a:off x="7092957" y="5523358"/>
                  <a:ext cx="2253059" cy="523220"/>
                </a:xfrm>
                <a:prstGeom prst="rect">
                  <a:avLst/>
                </a:prstGeom>
                <a:blipFill>
                  <a:blip r:embed="rId4"/>
                  <a:stretch>
                    <a:fillRect r="-813"/>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F2EF14C3-674E-3250-DD8E-4B178512CF9B}"/>
                </a:ext>
              </a:extLst>
            </p:cNvPr>
            <p:cNvCxnSpPr/>
            <p:nvPr/>
          </p:nvCxnSpPr>
          <p:spPr>
            <a:xfrm>
              <a:off x="7887270" y="6055814"/>
              <a:ext cx="0" cy="27374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14" name="Picture 13" descr="Chart, diagram, schematic&#10;&#10;Description automatically generated">
            <a:extLst>
              <a:ext uri="{FF2B5EF4-FFF2-40B4-BE49-F238E27FC236}">
                <a16:creationId xmlns:a16="http://schemas.microsoft.com/office/drawing/2014/main" id="{AAB4629C-77D8-CC26-584B-F08DBD839D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2003" y="1944341"/>
            <a:ext cx="1968986" cy="2906285"/>
          </a:xfrm>
          <a:prstGeom prst="rect">
            <a:avLst/>
          </a:prstGeom>
        </p:spPr>
      </p:pic>
      <p:grpSp>
        <p:nvGrpSpPr>
          <p:cNvPr id="16" name="Group 15">
            <a:extLst>
              <a:ext uri="{FF2B5EF4-FFF2-40B4-BE49-F238E27FC236}">
                <a16:creationId xmlns:a16="http://schemas.microsoft.com/office/drawing/2014/main" id="{F37F1929-B9B9-3B8E-DA5B-B044668D89EF}"/>
              </a:ext>
            </a:extLst>
          </p:cNvPr>
          <p:cNvGrpSpPr/>
          <p:nvPr/>
        </p:nvGrpSpPr>
        <p:grpSpPr>
          <a:xfrm>
            <a:off x="289778" y="4478687"/>
            <a:ext cx="4395390" cy="2108949"/>
            <a:chOff x="289778" y="4478687"/>
            <a:chExt cx="4395390" cy="2108949"/>
          </a:xfrm>
        </p:grpSpPr>
        <p:grpSp>
          <p:nvGrpSpPr>
            <p:cNvPr id="20" name="Group 19">
              <a:extLst>
                <a:ext uri="{FF2B5EF4-FFF2-40B4-BE49-F238E27FC236}">
                  <a16:creationId xmlns:a16="http://schemas.microsoft.com/office/drawing/2014/main" id="{7ACBC7C7-8375-61BC-5DF1-6768BDC1F522}"/>
                </a:ext>
              </a:extLst>
            </p:cNvPr>
            <p:cNvGrpSpPr/>
            <p:nvPr/>
          </p:nvGrpSpPr>
          <p:grpSpPr>
            <a:xfrm>
              <a:off x="289778" y="4478687"/>
              <a:ext cx="4395390" cy="2108949"/>
              <a:chOff x="289778" y="4150130"/>
              <a:chExt cx="4935946" cy="2446473"/>
            </a:xfrm>
          </p:grpSpPr>
          <p:sp>
            <p:nvSpPr>
              <p:cNvPr id="3" name="TextBox 2"/>
              <p:cNvSpPr txBox="1"/>
              <p:nvPr/>
            </p:nvSpPr>
            <p:spPr>
              <a:xfrm>
                <a:off x="1089260" y="4150130"/>
                <a:ext cx="3814290" cy="39273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panose="02040503050406030204"/>
                    <a:ea typeface="+mn-ea"/>
                    <a:cs typeface="+mn-cs"/>
                  </a:rPr>
                  <a:t>V(t) at distance z = 0, i.e., Generator.</a:t>
                </a:r>
              </a:p>
            </p:txBody>
          </p:sp>
          <p:pic>
            <p:nvPicPr>
              <p:cNvPr id="19" name="Picture 18">
                <a:extLst>
                  <a:ext uri="{FF2B5EF4-FFF2-40B4-BE49-F238E27FC236}">
                    <a16:creationId xmlns:a16="http://schemas.microsoft.com/office/drawing/2014/main" id="{B7CAA826-ED93-06A4-EFB0-A6C8BCDC7017}"/>
                  </a:ext>
                </a:extLst>
              </p:cNvPr>
              <p:cNvPicPr>
                <a:picLocks noChangeAspect="1"/>
              </p:cNvPicPr>
              <p:nvPr/>
            </p:nvPicPr>
            <p:blipFill>
              <a:blip r:embed="rId6"/>
              <a:stretch>
                <a:fillRect/>
              </a:stretch>
            </p:blipFill>
            <p:spPr>
              <a:xfrm>
                <a:off x="289778" y="4518833"/>
                <a:ext cx="4935946" cy="2077770"/>
              </a:xfrm>
              <a:prstGeom prst="rect">
                <a:avLst/>
              </a:prstGeom>
            </p:spPr>
          </p:pic>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478ABD5-7639-3FDC-2032-9D1563AA85DF}"/>
                    </a:ext>
                  </a:extLst>
                </p:cNvPr>
                <p:cNvSpPr txBox="1"/>
                <p:nvPr/>
              </p:nvSpPr>
              <p:spPr>
                <a:xfrm>
                  <a:off x="1360943" y="4925903"/>
                  <a:ext cx="259436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SupPr>
                          <m:e>
                            <m:r>
                              <m:rPr>
                                <m:sty m:val="p"/>
                              </m:rP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and</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Sup>
                          <m:sSubSup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cancel</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each</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other</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out</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oMath>
                    </m:oMathPara>
                  </a14:m>
                  <a:endParaRPr kumimoji="0" lang="en-US" sz="1400" b="0" i="0"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at</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the</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generator</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at</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this</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time</m:t>
                        </m:r>
                        <m:r>
                          <a:rPr kumimoji="0" lang="en-US" sz="14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m:oMathPara>
                  </a14:m>
                  <a:endParaRPr kumimoji="0" lang="en-US" sz="14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22" name="TextBox 21">
                  <a:extLst>
                    <a:ext uri="{FF2B5EF4-FFF2-40B4-BE49-F238E27FC236}">
                      <a16:creationId xmlns:a16="http://schemas.microsoft.com/office/drawing/2014/main" id="{E478ABD5-7639-3FDC-2032-9D1563AA85DF}"/>
                    </a:ext>
                  </a:extLst>
                </p:cNvPr>
                <p:cNvSpPr txBox="1">
                  <a:spLocks noRot="1" noChangeAspect="1" noMove="1" noResize="1" noEditPoints="1" noAdjustHandles="1" noChangeArrowheads="1" noChangeShapeType="1" noTextEdit="1"/>
                </p:cNvSpPr>
                <p:nvPr/>
              </p:nvSpPr>
              <p:spPr>
                <a:xfrm>
                  <a:off x="1360943" y="4925903"/>
                  <a:ext cx="2594369" cy="523220"/>
                </a:xfrm>
                <a:prstGeom prst="rect">
                  <a:avLst/>
                </a:prstGeom>
                <a:blipFill>
                  <a:blip r:embed="rId7"/>
                  <a:stretch>
                    <a:fillRect b="-3488"/>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A40EDDFE-1A7D-2A21-AD17-6A6C33054B92}"/>
                </a:ext>
              </a:extLst>
            </p:cNvPr>
            <p:cNvCxnSpPr/>
            <p:nvPr/>
          </p:nvCxnSpPr>
          <p:spPr>
            <a:xfrm>
              <a:off x="2446944" y="5437098"/>
              <a:ext cx="0" cy="27374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7860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anim calcmode="lin" valueType="num">
                                      <p:cBhvr additive="base">
                                        <p:cTn id="1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anim calcmode="lin" valueType="num">
                                      <p:cBhvr additive="base">
                                        <p:cTn id="1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anim calcmode="lin" valueType="num">
                                      <p:cBhvr additive="base">
                                        <p:cTn id="1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888440" y="-24714"/>
            <a:ext cx="6463607" cy="553998"/>
          </a:xfrm>
        </p:spPr>
        <p:txBody>
          <a:bodyPr/>
          <a:lstStyle/>
          <a:p>
            <a:pPr algn="ctr"/>
            <a:r>
              <a:rPr lang="en-US" sz="4000" dirty="0"/>
              <a:t>Digital Logic Bounce Diagram</a:t>
            </a:r>
          </a:p>
        </p:txBody>
      </p:sp>
      <mc:AlternateContent xmlns:mc="http://schemas.openxmlformats.org/markup-compatibility/2006" xmlns:a14="http://schemas.microsoft.com/office/drawing/2010/main">
        <mc:Choice Requires="a14">
          <p:sp>
            <p:nvSpPr>
              <p:cNvPr id="4" name="Rectangle 3"/>
              <p:cNvSpPr/>
              <p:nvPr/>
            </p:nvSpPr>
            <p:spPr>
              <a:xfrm>
                <a:off x="168463" y="625282"/>
                <a:ext cx="11903563" cy="606525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up>
                      </m:sSub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g</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)(50Ω)</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 Ω+50Ω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=4.</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545</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up>
                      </m:sSub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=4.545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5 Ω</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 Ω</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5 Ω+50 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=−0.8181.   </m:t>
                      </m:r>
                    </m:oMath>
                  </m:oMathPara>
                </a14:m>
                <a:endParaRPr kumimoji="0" lang="en-US" sz="1800" b="0" i="1"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0.8181.</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Ω</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Ω+30 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=1.00.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=1.000.</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68463" y="625282"/>
                <a:ext cx="11903563" cy="6065250"/>
              </a:xfrm>
              <a:prstGeom prst="rect">
                <a:avLst/>
              </a:prstGeom>
              <a:blipFill>
                <a:blip r:embed="rId2"/>
                <a:stretch>
                  <a:fillRect/>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05744F0D-738B-4FF6-BD19-1299A316DD44}"/>
              </a:ext>
            </a:extLst>
          </p:cNvPr>
          <p:cNvPicPr>
            <a:picLocks noChangeAspect="1"/>
          </p:cNvPicPr>
          <p:nvPr/>
        </p:nvPicPr>
        <p:blipFill>
          <a:blip r:embed="rId3"/>
          <a:stretch>
            <a:fillRect/>
          </a:stretch>
        </p:blipFill>
        <p:spPr>
          <a:xfrm>
            <a:off x="303962" y="982542"/>
            <a:ext cx="4877638" cy="1775233"/>
          </a:xfrm>
          <a:prstGeom prst="rect">
            <a:avLst/>
          </a:prstGeom>
        </p:spPr>
      </p:pic>
      <p:pic>
        <p:nvPicPr>
          <p:cNvPr id="23" name="Picture 22">
            <a:extLst>
              <a:ext uri="{FF2B5EF4-FFF2-40B4-BE49-F238E27FC236}">
                <a16:creationId xmlns:a16="http://schemas.microsoft.com/office/drawing/2014/main" id="{7B645734-F637-4FCB-A540-6A548B2C0A9A}"/>
              </a:ext>
            </a:extLst>
          </p:cNvPr>
          <p:cNvPicPr>
            <a:picLocks noChangeAspect="1"/>
          </p:cNvPicPr>
          <p:nvPr/>
        </p:nvPicPr>
        <p:blipFill>
          <a:blip r:embed="rId4"/>
          <a:stretch>
            <a:fillRect/>
          </a:stretch>
        </p:blipFill>
        <p:spPr>
          <a:xfrm>
            <a:off x="5333984" y="724930"/>
            <a:ext cx="6677902" cy="5041557"/>
          </a:xfrm>
          <a:prstGeom prst="rect">
            <a:avLst/>
          </a:prstGeom>
        </p:spPr>
      </p:pic>
    </p:spTree>
    <p:extLst>
      <p:ext uri="{BB962C8B-B14F-4D97-AF65-F5344CB8AC3E}">
        <p14:creationId xmlns:p14="http://schemas.microsoft.com/office/powerpoint/2010/main" val="15136744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anim calcmode="lin" valueType="num">
                                      <p:cBhvr additive="base">
                                        <p:cTn id="11"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13" end="13"/>
                                            </p:txEl>
                                          </p:spTgt>
                                        </p:tgtEl>
                                        <p:attrNameLst>
                                          <p:attrName>style.visibility</p:attrName>
                                        </p:attrNameLst>
                                      </p:cBhvr>
                                      <p:to>
                                        <p:strVal val="visible"/>
                                      </p:to>
                                    </p:set>
                                    <p:anim calcmode="lin" valueType="num">
                                      <p:cBhvr additive="base">
                                        <p:cTn id="17"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15" end="15"/>
                                            </p:txEl>
                                          </p:spTgt>
                                        </p:tgtEl>
                                        <p:attrNameLst>
                                          <p:attrName>style.visibility</p:attrName>
                                        </p:attrNameLst>
                                      </p:cBhvr>
                                      <p:to>
                                        <p:strVal val="visible"/>
                                      </p:to>
                                    </p:set>
                                    <p:anim calcmode="lin" valueType="num">
                                      <p:cBhvr additive="base">
                                        <p:cTn id="21"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17" end="17"/>
                                            </p:txEl>
                                          </p:spTgt>
                                        </p:tgtEl>
                                        <p:attrNameLst>
                                          <p:attrName>style.visibility</p:attrName>
                                        </p:attrNameLst>
                                      </p:cBhvr>
                                      <p:to>
                                        <p:strVal val="visible"/>
                                      </p:to>
                                    </p:set>
                                    <p:anim calcmode="lin" valueType="num">
                                      <p:cBhvr additive="base">
                                        <p:cTn id="25"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596201" y="-41189"/>
            <a:ext cx="9048085" cy="1107996"/>
          </a:xfrm>
        </p:spPr>
        <p:txBody>
          <a:bodyPr/>
          <a:lstStyle/>
          <a:p>
            <a:pPr algn="ctr"/>
            <a:r>
              <a:rPr lang="en-US" sz="4000" dirty="0"/>
              <a:t>Digital Logic Bounce Diagram Continued)</a:t>
            </a:r>
          </a:p>
        </p:txBody>
      </p:sp>
      <mc:AlternateContent xmlns:mc="http://schemas.openxmlformats.org/markup-compatibility/2006" xmlns:a14="http://schemas.microsoft.com/office/drawing/2010/main">
        <mc:Choice Requires="a14">
          <p:sp>
            <p:nvSpPr>
              <p:cNvPr id="4" name="Rectangle 3"/>
              <p:cNvSpPr/>
              <p:nvPr/>
            </p:nvSpPr>
            <p:spPr>
              <a:xfrm>
                <a:off x="168463" y="625282"/>
                <a:ext cx="11903563" cy="54991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57200">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a:defRPr/>
                </a:pPr>
                <a:endParaRPr lang="en-US" i="1" dirty="0">
                  <a:solidFill>
                    <a:srgbClr val="000000"/>
                  </a:solidFill>
                  <a:latin typeface="Cambria Math" panose="02040503050406030204" pitchFamily="18" charset="0"/>
                </a:endParaRPr>
              </a:p>
              <a:p>
                <a:pPr marL="457200">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a:defRPr/>
                </a:pPr>
                <a:endParaRPr lang="en-US" i="1" dirty="0">
                  <a:solidFill>
                    <a:srgbClr val="000000"/>
                  </a:solidFill>
                  <a:latin typeface="Cambria Math" panose="02040503050406030204" pitchFamily="18" charset="0"/>
                </a:endParaRPr>
              </a:p>
              <a:p>
                <a:pPr marL="457200">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a:defRPr/>
                </a:pPr>
                <a:endParaRPr lang="en-US" i="1" dirty="0">
                  <a:solidFill>
                    <a:srgbClr val="000000"/>
                  </a:solidFill>
                  <a:latin typeface="Cambria Math" panose="02040503050406030204" pitchFamily="18" charset="0"/>
                </a:endParaRPr>
              </a:p>
              <a:p>
                <a:pPr marL="457200">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457200" lvl="0">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up>
                      </m:sSub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=4.545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=1.000.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sSub>
                        <m:sSubPr>
                          <m:ctrlPr>
                            <a:rPr lang="en-US" i="1">
                              <a:solidFill>
                                <a:srgbClr val="000000"/>
                              </a:solidFill>
                              <a:latin typeface="Cambria Math" panose="02040503050406030204" pitchFamily="18" charset="0"/>
                            </a:rPr>
                          </m:ctrlPr>
                        </m:sSubPr>
                        <m:e>
                          <m:r>
                            <m:rPr>
                              <m:sty m:val="p"/>
                            </m:rPr>
                            <a:rPr lang="el-GR">
                              <a:solidFill>
                                <a:srgbClr val="000000"/>
                              </a:solidFill>
                              <a:latin typeface="Cambria Math" panose="02040503050406030204" pitchFamily="18" charset="0"/>
                            </a:rPr>
                            <m:t>Γ</m:t>
                          </m:r>
                        </m:e>
                        <m:sub>
                          <m:r>
                            <m:rPr>
                              <m:sty m:val="p"/>
                            </m:rPr>
                            <a:rPr lang="en-US">
                              <a:solidFill>
                                <a:srgbClr val="000000"/>
                              </a:solidFill>
                              <a:latin typeface="Cambria Math" panose="02040503050406030204" pitchFamily="18" charset="0"/>
                            </a:rPr>
                            <m:t>g</m:t>
                          </m:r>
                        </m:sub>
                      </m:sSub>
                      <m:r>
                        <a:rPr lang="en-US">
                          <a:solidFill>
                            <a:srgbClr val="000000"/>
                          </a:solidFill>
                          <a:latin typeface="Cambria Math" panose="02040503050406030204" pitchFamily="18" charset="0"/>
                        </a:rPr>
                        <m:t>=</m:t>
                      </m:r>
                      <m:r>
                        <a:rPr lang="en-US" i="1">
                          <a:solidFill>
                            <a:srgbClr val="000000"/>
                          </a:solidFill>
                          <a:latin typeface="Cambria Math" panose="02040503050406030204" pitchFamily="18" charset="0"/>
                        </a:rPr>
                        <m:t>−</m:t>
                      </m:r>
                      <m:r>
                        <a:rPr lang="en-US">
                          <a:solidFill>
                            <a:srgbClr val="000000"/>
                          </a:solidFill>
                          <a:latin typeface="Cambria Math" panose="02040503050406030204" pitchFamily="18" charset="0"/>
                        </a:rPr>
                        <m:t>0.8181.</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4.545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3.718</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3.718</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3.042</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3.042</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2.489</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4</m:t>
                              </m:r>
                            </m:sup>
                          </m:sSub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2.48</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9 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Cambria" panose="02040503050406030204"/>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68463" y="625282"/>
                <a:ext cx="11903563" cy="5499198"/>
              </a:xfrm>
              <a:prstGeom prst="rect">
                <a:avLst/>
              </a:prstGeom>
              <a:blipFill>
                <a:blip r:embed="rId2"/>
                <a:stretch>
                  <a:fillRect/>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05744F0D-738B-4FF6-BD19-1299A316DD44}"/>
              </a:ext>
            </a:extLst>
          </p:cNvPr>
          <p:cNvPicPr>
            <a:picLocks noChangeAspect="1"/>
          </p:cNvPicPr>
          <p:nvPr/>
        </p:nvPicPr>
        <p:blipFill>
          <a:blip r:embed="rId3"/>
          <a:stretch>
            <a:fillRect/>
          </a:stretch>
        </p:blipFill>
        <p:spPr>
          <a:xfrm>
            <a:off x="807301" y="707359"/>
            <a:ext cx="4877638" cy="1775233"/>
          </a:xfrm>
          <a:prstGeom prst="rect">
            <a:avLst/>
          </a:prstGeom>
        </p:spPr>
      </p:pic>
      <p:pic>
        <p:nvPicPr>
          <p:cNvPr id="6" name="Picture 5" descr="A close up of a map&#10;&#10;Description automatically generated">
            <a:extLst>
              <a:ext uri="{FF2B5EF4-FFF2-40B4-BE49-F238E27FC236}">
                <a16:creationId xmlns:a16="http://schemas.microsoft.com/office/drawing/2014/main" id="{40CBEC81-F66F-4DE0-84BB-E9AAAAFCAB5B}"/>
              </a:ext>
            </a:extLst>
          </p:cNvPr>
          <p:cNvPicPr/>
          <p:nvPr/>
        </p:nvPicPr>
        <p:blipFill>
          <a:blip r:embed="rId4"/>
          <a:stretch>
            <a:fillRect/>
          </a:stretch>
        </p:blipFill>
        <p:spPr>
          <a:xfrm>
            <a:off x="8081318" y="677257"/>
            <a:ext cx="2820190" cy="4862985"/>
          </a:xfrm>
          <a:prstGeom prst="rect">
            <a:avLst/>
          </a:prstGeom>
        </p:spPr>
      </p:pic>
    </p:spTree>
    <p:extLst>
      <p:ext uri="{BB962C8B-B14F-4D97-AF65-F5344CB8AC3E}">
        <p14:creationId xmlns:p14="http://schemas.microsoft.com/office/powerpoint/2010/main" val="3952038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anim calcmode="lin" valueType="num">
                                      <p:cBhvr additive="base">
                                        <p:cTn id="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2" end="12"/>
                                            </p:txEl>
                                          </p:spTgt>
                                        </p:tgtEl>
                                        <p:attrNameLst>
                                          <p:attrName>style.visibility</p:attrName>
                                        </p:attrNameLst>
                                      </p:cBhvr>
                                      <p:to>
                                        <p:strVal val="visible"/>
                                      </p:to>
                                    </p:set>
                                    <p:anim calcmode="lin" valueType="num">
                                      <p:cBhvr additive="base">
                                        <p:cTn id="13"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anim calcmode="lin" valueType="num">
                                      <p:cBhvr additive="base">
                                        <p:cTn id="19"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596201" y="-41189"/>
            <a:ext cx="9048085" cy="1107996"/>
          </a:xfrm>
        </p:spPr>
        <p:txBody>
          <a:bodyPr/>
          <a:lstStyle/>
          <a:p>
            <a:pPr algn="ctr"/>
            <a:r>
              <a:rPr lang="en-US" sz="4000" dirty="0"/>
              <a:t>Digital Logic Bounce Diagram Continued)</a:t>
            </a:r>
          </a:p>
        </p:txBody>
      </p:sp>
      <p:sp>
        <p:nvSpPr>
          <p:cNvPr id="4" name="Rectangle 3"/>
          <p:cNvSpPr/>
          <p:nvPr/>
        </p:nvSpPr>
        <p:spPr>
          <a:xfrm>
            <a:off x="197281" y="626390"/>
            <a:ext cx="11903563" cy="618630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p:pic>
        <p:nvPicPr>
          <p:cNvPr id="22" name="Picture 21">
            <a:extLst>
              <a:ext uri="{FF2B5EF4-FFF2-40B4-BE49-F238E27FC236}">
                <a16:creationId xmlns:a16="http://schemas.microsoft.com/office/drawing/2014/main" id="{05744F0D-738B-4FF6-BD19-1299A316DD44}"/>
              </a:ext>
            </a:extLst>
          </p:cNvPr>
          <p:cNvPicPr>
            <a:picLocks noChangeAspect="1"/>
          </p:cNvPicPr>
          <p:nvPr/>
        </p:nvPicPr>
        <p:blipFill>
          <a:blip r:embed="rId2"/>
          <a:stretch>
            <a:fillRect/>
          </a:stretch>
        </p:blipFill>
        <p:spPr>
          <a:xfrm>
            <a:off x="312200" y="715322"/>
            <a:ext cx="4877638" cy="1775233"/>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44090A92-4A3C-4D88-86C8-1D263F61EA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1797" y="715322"/>
            <a:ext cx="3180805" cy="5865763"/>
          </a:xfrm>
          <a:prstGeom prst="rect">
            <a:avLst/>
          </a:prstGeom>
        </p:spPr>
      </p:pic>
      <p:sp>
        <p:nvSpPr>
          <p:cNvPr id="7" name="TextBox 6">
            <a:extLst>
              <a:ext uri="{FF2B5EF4-FFF2-40B4-BE49-F238E27FC236}">
                <a16:creationId xmlns:a16="http://schemas.microsoft.com/office/drawing/2014/main" id="{68559269-2B97-41FB-BF0A-BC7E74C54C04}"/>
              </a:ext>
            </a:extLst>
          </p:cNvPr>
          <p:cNvSpPr txBox="1"/>
          <p:nvPr/>
        </p:nvSpPr>
        <p:spPr>
          <a:xfrm>
            <a:off x="11238764" y="1889262"/>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9.090 V</a:t>
            </a:r>
          </a:p>
        </p:txBody>
      </p:sp>
      <p:sp>
        <p:nvSpPr>
          <p:cNvPr id="9" name="TextBox 8">
            <a:extLst>
              <a:ext uri="{FF2B5EF4-FFF2-40B4-BE49-F238E27FC236}">
                <a16:creationId xmlns:a16="http://schemas.microsoft.com/office/drawing/2014/main" id="{00FBDFD3-946C-499A-98FE-0AA7AD95EBDF}"/>
              </a:ext>
            </a:extLst>
          </p:cNvPr>
          <p:cNvSpPr txBox="1"/>
          <p:nvPr/>
        </p:nvSpPr>
        <p:spPr>
          <a:xfrm>
            <a:off x="7382049" y="2425284"/>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5.372 V</a:t>
            </a:r>
          </a:p>
        </p:txBody>
      </p:sp>
      <p:sp>
        <p:nvSpPr>
          <p:cNvPr id="10" name="TextBox 9">
            <a:extLst>
              <a:ext uri="{FF2B5EF4-FFF2-40B4-BE49-F238E27FC236}">
                <a16:creationId xmlns:a16="http://schemas.microsoft.com/office/drawing/2014/main" id="{BD6576B3-169D-4C26-9449-829D501C4656}"/>
              </a:ext>
            </a:extLst>
          </p:cNvPr>
          <p:cNvSpPr txBox="1"/>
          <p:nvPr/>
        </p:nvSpPr>
        <p:spPr>
          <a:xfrm>
            <a:off x="11238764" y="2972939"/>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1.654 V</a:t>
            </a:r>
          </a:p>
        </p:txBody>
      </p:sp>
      <p:sp>
        <p:nvSpPr>
          <p:cNvPr id="11" name="TextBox 10">
            <a:extLst>
              <a:ext uri="{FF2B5EF4-FFF2-40B4-BE49-F238E27FC236}">
                <a16:creationId xmlns:a16="http://schemas.microsoft.com/office/drawing/2014/main" id="{942BF178-0E4C-4987-9B3D-BDD476279FA9}"/>
              </a:ext>
            </a:extLst>
          </p:cNvPr>
          <p:cNvSpPr txBox="1"/>
          <p:nvPr/>
        </p:nvSpPr>
        <p:spPr>
          <a:xfrm>
            <a:off x="7394404" y="3502553"/>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4.696 V</a:t>
            </a:r>
          </a:p>
        </p:txBody>
      </p:sp>
      <p:sp>
        <p:nvSpPr>
          <p:cNvPr id="12" name="TextBox 11">
            <a:extLst>
              <a:ext uri="{FF2B5EF4-FFF2-40B4-BE49-F238E27FC236}">
                <a16:creationId xmlns:a16="http://schemas.microsoft.com/office/drawing/2014/main" id="{0EA30E80-1006-46A7-9D2C-3EA04B2AF5CF}"/>
              </a:ext>
            </a:extLst>
          </p:cNvPr>
          <p:cNvSpPr txBox="1"/>
          <p:nvPr/>
        </p:nvSpPr>
        <p:spPr>
          <a:xfrm>
            <a:off x="7394404" y="4581973"/>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5.249 V</a:t>
            </a:r>
          </a:p>
        </p:txBody>
      </p:sp>
      <p:sp>
        <p:nvSpPr>
          <p:cNvPr id="13" name="TextBox 12">
            <a:extLst>
              <a:ext uri="{FF2B5EF4-FFF2-40B4-BE49-F238E27FC236}">
                <a16:creationId xmlns:a16="http://schemas.microsoft.com/office/drawing/2014/main" id="{CC5F9F23-816D-4AEC-A630-1DB6A437973F}"/>
              </a:ext>
            </a:extLst>
          </p:cNvPr>
          <p:cNvSpPr txBox="1"/>
          <p:nvPr/>
        </p:nvSpPr>
        <p:spPr>
          <a:xfrm>
            <a:off x="11201695" y="4089568"/>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7.738 V</a:t>
            </a:r>
          </a:p>
        </p:txBody>
      </p:sp>
      <p:sp>
        <p:nvSpPr>
          <p:cNvPr id="14" name="TextBox 13">
            <a:extLst>
              <a:ext uri="{FF2B5EF4-FFF2-40B4-BE49-F238E27FC236}">
                <a16:creationId xmlns:a16="http://schemas.microsoft.com/office/drawing/2014/main" id="{63D793A3-07EA-4AFE-9F9A-EAB6CCD337DD}"/>
              </a:ext>
            </a:extLst>
          </p:cNvPr>
          <p:cNvSpPr txBox="1"/>
          <p:nvPr/>
        </p:nvSpPr>
        <p:spPr>
          <a:xfrm>
            <a:off x="11201695" y="5181437"/>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2.760 V</a:t>
            </a:r>
          </a:p>
        </p:txBody>
      </p:sp>
      <p:sp>
        <p:nvSpPr>
          <p:cNvPr id="16" name="TextBox 15">
            <a:extLst>
              <a:ext uri="{FF2B5EF4-FFF2-40B4-BE49-F238E27FC236}">
                <a16:creationId xmlns:a16="http://schemas.microsoft.com/office/drawing/2014/main" id="{6733F275-6E42-41D2-88FB-DB6A1A03B256}"/>
              </a:ext>
            </a:extLst>
          </p:cNvPr>
          <p:cNvSpPr txBox="1"/>
          <p:nvPr/>
        </p:nvSpPr>
        <p:spPr>
          <a:xfrm>
            <a:off x="7382048" y="1342979"/>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4.545 V</a:t>
            </a:r>
          </a:p>
        </p:txBody>
      </p:sp>
      <p:grpSp>
        <p:nvGrpSpPr>
          <p:cNvPr id="29" name="Group 28">
            <a:extLst>
              <a:ext uri="{FF2B5EF4-FFF2-40B4-BE49-F238E27FC236}">
                <a16:creationId xmlns:a16="http://schemas.microsoft.com/office/drawing/2014/main" id="{EAD4E65E-6976-4120-A96A-32ABA7E0FDE8}"/>
              </a:ext>
            </a:extLst>
          </p:cNvPr>
          <p:cNvGrpSpPr/>
          <p:nvPr/>
        </p:nvGrpSpPr>
        <p:grpSpPr>
          <a:xfrm>
            <a:off x="214432" y="2586901"/>
            <a:ext cx="6750956" cy="4158307"/>
            <a:chOff x="214432" y="2586901"/>
            <a:chExt cx="6750956" cy="4158307"/>
          </a:xfrm>
        </p:grpSpPr>
        <p:grpSp>
          <p:nvGrpSpPr>
            <p:cNvPr id="26" name="Group 25">
              <a:extLst>
                <a:ext uri="{FF2B5EF4-FFF2-40B4-BE49-F238E27FC236}">
                  <a16:creationId xmlns:a16="http://schemas.microsoft.com/office/drawing/2014/main" id="{98B1331E-D91A-4CE9-BA05-AAC1627ED1B4}"/>
                </a:ext>
              </a:extLst>
            </p:cNvPr>
            <p:cNvGrpSpPr/>
            <p:nvPr/>
          </p:nvGrpSpPr>
          <p:grpSpPr>
            <a:xfrm>
              <a:off x="214432" y="2586901"/>
              <a:ext cx="6750956" cy="4158307"/>
              <a:chOff x="214432" y="2586901"/>
              <a:chExt cx="6750956" cy="4158307"/>
            </a:xfrm>
          </p:grpSpPr>
          <p:pic>
            <p:nvPicPr>
              <p:cNvPr id="15" name="Picture 14">
                <a:extLst>
                  <a:ext uri="{FF2B5EF4-FFF2-40B4-BE49-F238E27FC236}">
                    <a16:creationId xmlns:a16="http://schemas.microsoft.com/office/drawing/2014/main" id="{2091E4CF-6C6B-4BF3-8028-5F161FB3C719}"/>
                  </a:ext>
                </a:extLst>
              </p:cNvPr>
              <p:cNvPicPr>
                <a:picLocks noChangeAspect="1"/>
              </p:cNvPicPr>
              <p:nvPr/>
            </p:nvPicPr>
            <p:blipFill>
              <a:blip r:embed="rId4"/>
              <a:stretch>
                <a:fillRect/>
              </a:stretch>
            </p:blipFill>
            <p:spPr>
              <a:xfrm>
                <a:off x="214432" y="2586901"/>
                <a:ext cx="6750956" cy="4158307"/>
              </a:xfrm>
              <a:prstGeom prst="rect">
                <a:avLst/>
              </a:prstGeom>
            </p:spPr>
          </p:pic>
          <p:sp>
            <p:nvSpPr>
              <p:cNvPr id="17" name="TextBox 16">
                <a:extLst>
                  <a:ext uri="{FF2B5EF4-FFF2-40B4-BE49-F238E27FC236}">
                    <a16:creationId xmlns:a16="http://schemas.microsoft.com/office/drawing/2014/main" id="{EFD0359F-ABD5-4C8A-9454-BF6B03DF80E4}"/>
                  </a:ext>
                </a:extLst>
              </p:cNvPr>
              <p:cNvSpPr txBox="1"/>
              <p:nvPr/>
            </p:nvSpPr>
            <p:spPr>
              <a:xfrm>
                <a:off x="993605" y="4581234"/>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4.545 V</a:t>
                </a:r>
              </a:p>
            </p:txBody>
          </p:sp>
          <p:sp>
            <p:nvSpPr>
              <p:cNvPr id="18" name="TextBox 17">
                <a:extLst>
                  <a:ext uri="{FF2B5EF4-FFF2-40B4-BE49-F238E27FC236}">
                    <a16:creationId xmlns:a16="http://schemas.microsoft.com/office/drawing/2014/main" id="{A47C4845-27C1-45CA-AEE4-927F009140B4}"/>
                  </a:ext>
                </a:extLst>
              </p:cNvPr>
              <p:cNvSpPr txBox="1"/>
              <p:nvPr/>
            </p:nvSpPr>
            <p:spPr>
              <a:xfrm>
                <a:off x="2446970" y="4245865"/>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5.372 V</a:t>
                </a:r>
              </a:p>
            </p:txBody>
          </p:sp>
          <p:sp>
            <p:nvSpPr>
              <p:cNvPr id="19" name="TextBox 18">
                <a:extLst>
                  <a:ext uri="{FF2B5EF4-FFF2-40B4-BE49-F238E27FC236}">
                    <a16:creationId xmlns:a16="http://schemas.microsoft.com/office/drawing/2014/main" id="{6F24D623-1519-40F4-A1B3-BA89CDCDE1CC}"/>
                  </a:ext>
                </a:extLst>
              </p:cNvPr>
              <p:cNvSpPr txBox="1"/>
              <p:nvPr/>
            </p:nvSpPr>
            <p:spPr>
              <a:xfrm>
                <a:off x="4156902" y="4506156"/>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4.696 V</a:t>
                </a:r>
              </a:p>
            </p:txBody>
          </p:sp>
          <p:sp>
            <p:nvSpPr>
              <p:cNvPr id="20" name="TextBox 19">
                <a:extLst>
                  <a:ext uri="{FF2B5EF4-FFF2-40B4-BE49-F238E27FC236}">
                    <a16:creationId xmlns:a16="http://schemas.microsoft.com/office/drawing/2014/main" id="{CE5824C4-C3D2-418C-B693-5F502C11A886}"/>
                  </a:ext>
                </a:extLst>
              </p:cNvPr>
              <p:cNvSpPr txBox="1"/>
              <p:nvPr/>
            </p:nvSpPr>
            <p:spPr>
              <a:xfrm>
                <a:off x="5721180" y="4273457"/>
                <a:ext cx="10626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5.249 V</a:t>
                </a:r>
              </a:p>
            </p:txBody>
          </p:sp>
          <p:sp>
            <p:nvSpPr>
              <p:cNvPr id="21" name="TextBox 20">
                <a:extLst>
                  <a:ext uri="{FF2B5EF4-FFF2-40B4-BE49-F238E27FC236}">
                    <a16:creationId xmlns:a16="http://schemas.microsoft.com/office/drawing/2014/main" id="{6F3448CB-43DE-4151-8659-83201FBC931B}"/>
                  </a:ext>
                </a:extLst>
              </p:cNvPr>
              <p:cNvSpPr txBox="1"/>
              <p:nvPr/>
            </p:nvSpPr>
            <p:spPr>
              <a:xfrm>
                <a:off x="1662105" y="2842943"/>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9.090 V</a:t>
                </a:r>
              </a:p>
            </p:txBody>
          </p:sp>
          <p:sp>
            <p:nvSpPr>
              <p:cNvPr id="23" name="TextBox 22">
                <a:extLst>
                  <a:ext uri="{FF2B5EF4-FFF2-40B4-BE49-F238E27FC236}">
                    <a16:creationId xmlns:a16="http://schemas.microsoft.com/office/drawing/2014/main" id="{33C55114-CE5D-416A-9B87-F36E9027BD15}"/>
                  </a:ext>
                </a:extLst>
              </p:cNvPr>
              <p:cNvSpPr txBox="1"/>
              <p:nvPr/>
            </p:nvSpPr>
            <p:spPr>
              <a:xfrm>
                <a:off x="3339178" y="5646417"/>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1.654 V</a:t>
                </a:r>
              </a:p>
            </p:txBody>
          </p:sp>
          <p:sp>
            <p:nvSpPr>
              <p:cNvPr id="24" name="TextBox 23">
                <a:extLst>
                  <a:ext uri="{FF2B5EF4-FFF2-40B4-BE49-F238E27FC236}">
                    <a16:creationId xmlns:a16="http://schemas.microsoft.com/office/drawing/2014/main" id="{AF7D2733-5C93-4B7B-BAD3-825CEB3E2114}"/>
                  </a:ext>
                </a:extLst>
              </p:cNvPr>
              <p:cNvSpPr txBox="1"/>
              <p:nvPr/>
            </p:nvSpPr>
            <p:spPr>
              <a:xfrm>
                <a:off x="4917812" y="3340426"/>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7.738 V</a:t>
                </a:r>
              </a:p>
            </p:txBody>
          </p:sp>
          <p:sp>
            <p:nvSpPr>
              <p:cNvPr id="25" name="TextBox 24">
                <a:extLst>
                  <a:ext uri="{FF2B5EF4-FFF2-40B4-BE49-F238E27FC236}">
                    <a16:creationId xmlns:a16="http://schemas.microsoft.com/office/drawing/2014/main" id="{89780ABB-D7B5-4478-98D1-2BD2438DAEB8}"/>
                  </a:ext>
                </a:extLst>
              </p:cNvPr>
              <p:cNvSpPr txBox="1"/>
              <p:nvPr/>
            </p:nvSpPr>
            <p:spPr>
              <a:xfrm>
                <a:off x="6152755" y="5209807"/>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2.760 V</a:t>
                </a:r>
              </a:p>
            </p:txBody>
          </p:sp>
        </p:grpSp>
        <p:sp>
          <p:nvSpPr>
            <p:cNvPr id="27" name="TextBox 26">
              <a:extLst>
                <a:ext uri="{FF2B5EF4-FFF2-40B4-BE49-F238E27FC236}">
                  <a16:creationId xmlns:a16="http://schemas.microsoft.com/office/drawing/2014/main" id="{68E4446D-4C12-40DD-B377-CBC9FA4847B2}"/>
                </a:ext>
              </a:extLst>
            </p:cNvPr>
            <p:cNvSpPr txBox="1"/>
            <p:nvPr/>
          </p:nvSpPr>
          <p:spPr>
            <a:xfrm>
              <a:off x="460481" y="6273308"/>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0.000 V</a:t>
              </a:r>
            </a:p>
          </p:txBody>
        </p:sp>
      </p:grpSp>
      <p:sp>
        <p:nvSpPr>
          <p:cNvPr id="28" name="TextBox 27">
            <a:extLst>
              <a:ext uri="{FF2B5EF4-FFF2-40B4-BE49-F238E27FC236}">
                <a16:creationId xmlns:a16="http://schemas.microsoft.com/office/drawing/2014/main" id="{C5A14166-5D8D-40A5-85ED-86E0E4AA10DD}"/>
              </a:ext>
            </a:extLst>
          </p:cNvPr>
          <p:cNvSpPr txBox="1"/>
          <p:nvPr/>
        </p:nvSpPr>
        <p:spPr>
          <a:xfrm>
            <a:off x="11201695" y="1316155"/>
            <a:ext cx="7683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Cambria" panose="02040503050406030204"/>
                <a:ea typeface="+mn-ea"/>
                <a:cs typeface="+mn-cs"/>
              </a:rPr>
              <a:t>0.000 V</a:t>
            </a:r>
          </a:p>
        </p:txBody>
      </p:sp>
      <p:sp>
        <p:nvSpPr>
          <p:cNvPr id="3" name="TextBox 2">
            <a:extLst>
              <a:ext uri="{FF2B5EF4-FFF2-40B4-BE49-F238E27FC236}">
                <a16:creationId xmlns:a16="http://schemas.microsoft.com/office/drawing/2014/main" id="{50F18690-A299-E5D1-EAAF-8434F97B6323}"/>
              </a:ext>
            </a:extLst>
          </p:cNvPr>
          <p:cNvSpPr txBox="1"/>
          <p:nvPr/>
        </p:nvSpPr>
        <p:spPr>
          <a:xfrm>
            <a:off x="5583029" y="1836299"/>
            <a:ext cx="2315429" cy="307777"/>
          </a:xfrm>
          <a:prstGeom prst="rect">
            <a:avLst/>
          </a:prstGeom>
          <a:noFill/>
        </p:spPr>
        <p:txBody>
          <a:bodyPr wrap="square" rtlCol="0">
            <a:spAutoFit/>
          </a:bodyPr>
          <a:lstStyle/>
          <a:p>
            <a:pPr lvl="0">
              <a:defRPr/>
            </a:pPr>
            <a:r>
              <a:rPr kumimoji="0" lang="en-US" sz="1400" b="0" i="0" u="none" strike="noStrike" kern="1200" cap="none" spc="0" normalizeH="0" baseline="0" noProof="0" dirty="0">
                <a:ln>
                  <a:noFill/>
                </a:ln>
                <a:solidFill>
                  <a:srgbClr val="00B050"/>
                </a:solidFill>
                <a:effectLst/>
                <a:uLnTx/>
                <a:uFillTx/>
                <a:latin typeface="Cambria" panose="02040503050406030204"/>
                <a:ea typeface="+mn-ea"/>
                <a:cs typeface="+mn-cs"/>
              </a:rPr>
              <a:t>4.545 V </a:t>
            </a:r>
            <a:r>
              <a:rPr lang="en-US" sz="1400" dirty="0">
                <a:solidFill>
                  <a:srgbClr val="00B050"/>
                </a:solidFill>
              </a:rPr>
              <a:t>+ 4.545 V = </a:t>
            </a:r>
            <a:r>
              <a:rPr lang="en-US" sz="1400" dirty="0">
                <a:solidFill>
                  <a:srgbClr val="C00000"/>
                </a:solidFill>
              </a:rPr>
              <a:t>9.090 V.</a:t>
            </a:r>
            <a:endParaRPr kumimoji="0" lang="en-US" sz="1400" b="0" i="0" u="none" strike="noStrike" kern="1200" cap="none" spc="0" normalizeH="0" baseline="0" noProof="0" dirty="0">
              <a:ln>
                <a:noFill/>
              </a:ln>
              <a:solidFill>
                <a:srgbClr val="C00000"/>
              </a:solidFill>
              <a:effectLst/>
              <a:uLnTx/>
              <a:uFillTx/>
              <a:latin typeface="Cambria" panose="02040503050406030204"/>
            </a:endParaRPr>
          </a:p>
        </p:txBody>
      </p:sp>
      <p:cxnSp>
        <p:nvCxnSpPr>
          <p:cNvPr id="8" name="Straight Arrow Connector 7">
            <a:extLst>
              <a:ext uri="{FF2B5EF4-FFF2-40B4-BE49-F238E27FC236}">
                <a16:creationId xmlns:a16="http://schemas.microsoft.com/office/drawing/2014/main" id="{E2AF1307-4C13-6AF0-F93F-048CF466ACB9}"/>
              </a:ext>
            </a:extLst>
          </p:cNvPr>
          <p:cNvCxnSpPr>
            <a:cxnSpLocks/>
          </p:cNvCxnSpPr>
          <p:nvPr/>
        </p:nvCxnSpPr>
        <p:spPr>
          <a:xfrm>
            <a:off x="7925744" y="1978692"/>
            <a:ext cx="2400075" cy="5852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524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additive="base">
                                        <p:cTn id="65" dur="500" fill="hold"/>
                                        <p:tgtEl>
                                          <p:spTgt spid="14"/>
                                        </p:tgtEl>
                                        <p:attrNameLst>
                                          <p:attrName>ppt_x</p:attrName>
                                        </p:attrNameLst>
                                      </p:cBhvr>
                                      <p:tavLst>
                                        <p:tav tm="0">
                                          <p:val>
                                            <p:strVal val="#ppt_x"/>
                                          </p:val>
                                        </p:tav>
                                        <p:tav tm="100000">
                                          <p:val>
                                            <p:strVal val="#ppt_x"/>
                                          </p:val>
                                        </p:tav>
                                      </p:tavLst>
                                    </p:anim>
                                    <p:anim calcmode="lin" valueType="num">
                                      <p:cBhvr additive="base">
                                        <p:cTn id="6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6" grpId="0"/>
      <p:bldP spid="28"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97598" y="-24714"/>
            <a:ext cx="11576692" cy="1107996"/>
          </a:xfrm>
        </p:spPr>
        <p:txBody>
          <a:bodyPr/>
          <a:lstStyle/>
          <a:p>
            <a:pPr algn="ctr"/>
            <a:r>
              <a:rPr lang="en-US" sz="4000" dirty="0"/>
              <a:t>Digital Logic Bounce Diagram with Termination Resistor</a:t>
            </a:r>
          </a:p>
        </p:txBody>
      </p:sp>
      <mc:AlternateContent xmlns:mc="http://schemas.openxmlformats.org/markup-compatibility/2006" xmlns:a14="http://schemas.microsoft.com/office/drawing/2010/main">
        <mc:Choice Requires="a14">
          <p:sp>
            <p:nvSpPr>
              <p:cNvPr id="4" name="Rectangle 3"/>
              <p:cNvSpPr/>
              <p:nvPr/>
            </p:nvSpPr>
            <p:spPr>
              <a:xfrm>
                <a:off x="168463" y="584092"/>
                <a:ext cx="11903563" cy="606544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up>
                      </m:sSub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g</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)(50Ω)</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0Ω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4</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545</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ctrlPr>
                        </m:sSub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1</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sup>
                      </m:sSub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4.545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V</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pitchFamily="18" charset="0"/>
                  <a:ea typeface="Times New Roman" panose="02020603050405020304" pitchFamily="18"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Ω</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Ω</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8181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m:oMathPara>
                </a14:m>
                <a:endParaRPr kumimoji="0" lang="en-US" sz="1800" b="0" i="1"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g</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8181</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Z</m:t>
                              </m:r>
                            </m:e>
                            <m: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Ω</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Ω</m:t>
                          </m:r>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10</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Ω+</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0 Ω</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0.3333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=0.3333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panose="02040503050406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68463" y="584092"/>
                <a:ext cx="11903563" cy="6065443"/>
              </a:xfrm>
              <a:prstGeom prst="rect">
                <a:avLst/>
              </a:prstGeom>
              <a:blipFill>
                <a:blip r:embed="rId2"/>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54B35B98-4B5E-4EF9-823E-20A15B24EF75}"/>
              </a:ext>
            </a:extLst>
          </p:cNvPr>
          <p:cNvPicPr>
            <a:picLocks noChangeAspect="1"/>
          </p:cNvPicPr>
          <p:nvPr/>
        </p:nvPicPr>
        <p:blipFill>
          <a:blip r:embed="rId3"/>
          <a:stretch>
            <a:fillRect/>
          </a:stretch>
        </p:blipFill>
        <p:spPr>
          <a:xfrm>
            <a:off x="5463960" y="733167"/>
            <a:ext cx="6487330" cy="4885037"/>
          </a:xfrm>
          <a:prstGeom prst="rect">
            <a:avLst/>
          </a:prstGeom>
        </p:spPr>
      </p:pic>
      <p:pic>
        <p:nvPicPr>
          <p:cNvPr id="9" name="Picture 8">
            <a:extLst>
              <a:ext uri="{FF2B5EF4-FFF2-40B4-BE49-F238E27FC236}">
                <a16:creationId xmlns:a16="http://schemas.microsoft.com/office/drawing/2014/main" id="{E2E61FC5-496A-46BC-BC2F-FAC20D92BC4A}"/>
              </a:ext>
            </a:extLst>
          </p:cNvPr>
          <p:cNvPicPr>
            <a:picLocks noChangeAspect="1"/>
          </p:cNvPicPr>
          <p:nvPr/>
        </p:nvPicPr>
        <p:blipFill>
          <a:blip r:embed="rId4"/>
          <a:stretch>
            <a:fillRect/>
          </a:stretch>
        </p:blipFill>
        <p:spPr>
          <a:xfrm>
            <a:off x="374598" y="926280"/>
            <a:ext cx="4650484" cy="1871536"/>
          </a:xfrm>
          <a:prstGeom prst="rect">
            <a:avLst/>
          </a:prstGeom>
        </p:spPr>
      </p:pic>
    </p:spTree>
    <p:extLst>
      <p:ext uri="{BB962C8B-B14F-4D97-AF65-F5344CB8AC3E}">
        <p14:creationId xmlns:p14="http://schemas.microsoft.com/office/powerpoint/2010/main" val="1970317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1" end="11"/>
                                            </p:txEl>
                                          </p:spTgt>
                                        </p:tgtEl>
                                        <p:attrNameLst>
                                          <p:attrName>style.visibility</p:attrName>
                                        </p:attrNameLst>
                                      </p:cBhvr>
                                      <p:to>
                                        <p:strVal val="visible"/>
                                      </p:to>
                                    </p:set>
                                    <p:anim calcmode="lin" valueType="num">
                                      <p:cBhvr additive="base">
                                        <p:cTn id="11"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13" end="13"/>
                                            </p:txEl>
                                          </p:spTgt>
                                        </p:tgtEl>
                                        <p:attrNameLst>
                                          <p:attrName>style.visibility</p:attrName>
                                        </p:attrNameLst>
                                      </p:cBhvr>
                                      <p:to>
                                        <p:strVal val="visible"/>
                                      </p:to>
                                    </p:set>
                                    <p:anim calcmode="lin" valueType="num">
                                      <p:cBhvr additive="base">
                                        <p:cTn id="17"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15" end="15"/>
                                            </p:txEl>
                                          </p:spTgt>
                                        </p:tgtEl>
                                        <p:attrNameLst>
                                          <p:attrName>style.visibility</p:attrName>
                                        </p:attrNameLst>
                                      </p:cBhvr>
                                      <p:to>
                                        <p:strVal val="visible"/>
                                      </p:to>
                                    </p:set>
                                    <p:anim calcmode="lin" valueType="num">
                                      <p:cBhvr additive="base">
                                        <p:cTn id="21"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5" end="1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17" end="17"/>
                                            </p:txEl>
                                          </p:spTgt>
                                        </p:tgtEl>
                                        <p:attrNameLst>
                                          <p:attrName>style.visibility</p:attrName>
                                        </p:attrNameLst>
                                      </p:cBhvr>
                                      <p:to>
                                        <p:strVal val="visible"/>
                                      </p:to>
                                    </p:set>
                                    <p:anim calcmode="lin" valueType="num">
                                      <p:cBhvr additive="base">
                                        <p:cTn id="25"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583213" y="-51089"/>
            <a:ext cx="11358210" cy="553998"/>
          </a:xfrm>
        </p:spPr>
        <p:txBody>
          <a:bodyPr/>
          <a:lstStyle/>
          <a:p>
            <a:pPr algn="ctr"/>
            <a:r>
              <a:rPr lang="en-US" sz="4000" dirty="0"/>
              <a:t>Transient Response Measurement</a:t>
            </a:r>
          </a:p>
        </p:txBody>
      </p:sp>
      <mc:AlternateContent xmlns:mc="http://schemas.openxmlformats.org/markup-compatibility/2006" xmlns:a14="http://schemas.microsoft.com/office/drawing/2010/main">
        <mc:Choice Requires="a14">
          <p:sp>
            <p:nvSpPr>
              <p:cNvPr id="5" name="Rectangle 4"/>
              <p:cNvSpPr/>
              <p:nvPr/>
            </p:nvSpPr>
            <p:spPr>
              <a:xfrm>
                <a:off x="121938" y="669236"/>
                <a:ext cx="11819485" cy="54168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Use Function Generator with relatively low-frequency square wave output with 20 V pk-pk amplitude for fast rise-time edge.</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Use coaxial cable with Z</a:t>
                </a:r>
                <a:r>
                  <a:rPr lang="en-US" baseline="-25000" dirty="0">
                    <a:solidFill>
                      <a:srgbClr val="000000"/>
                    </a:solidFill>
                    <a:latin typeface="Cambria Math" panose="02040503050406030204" pitchFamily="18" charset="0"/>
                    <a:ea typeface="Cambria Math" panose="02040503050406030204" pitchFamily="18" charset="0"/>
                  </a:rPr>
                  <a:t>0</a:t>
                </a:r>
                <a:r>
                  <a:rPr lang="en-US" dirty="0">
                    <a:solidFill>
                      <a:srgbClr val="000000"/>
                    </a:solidFill>
                    <a:latin typeface="Cambria Math" panose="02040503050406030204" pitchFamily="18" charset="0"/>
                    <a:ea typeface="Cambria Math" panose="02040503050406030204" pitchFamily="18" charset="0"/>
                  </a:rPr>
                  <a:t> ≈ </a:t>
                </a:r>
                <a:r>
                  <a:rPr lang="en-US" dirty="0" err="1">
                    <a:solidFill>
                      <a:srgbClr val="000000"/>
                    </a:solidFill>
                    <a:latin typeface="Cambria Math" panose="02040503050406030204" pitchFamily="18" charset="0"/>
                    <a:ea typeface="Cambria Math" panose="02040503050406030204" pitchFamily="18" charset="0"/>
                  </a:rPr>
                  <a:t>R</a:t>
                </a:r>
                <a:r>
                  <a:rPr lang="en-US" baseline="-25000" dirty="0" err="1">
                    <a:solidFill>
                      <a:srgbClr val="000000"/>
                    </a:solidFill>
                    <a:latin typeface="Cambria Math" panose="02040503050406030204" pitchFamily="18" charset="0"/>
                    <a:ea typeface="Cambria Math" panose="02040503050406030204" pitchFamily="18" charset="0"/>
                  </a:rPr>
                  <a:t>g</a:t>
                </a:r>
                <a:r>
                  <a:rPr lang="en-US" dirty="0">
                    <a:solidFill>
                      <a:srgbClr val="00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lvl="1"/>
                <a:endParaRPr lang="en-US" b="0" i="0" dirty="0">
                  <a:solidFill>
                    <a:srgbClr val="000000"/>
                  </a:solidFill>
                  <a:latin typeface="Cambria Math" panose="02040503050406030204" pitchFamily="18" charset="0"/>
                  <a:ea typeface="Cambria Math" panose="02040503050406030204" pitchFamily="18" charset="0"/>
                </a:endParaRPr>
              </a:p>
              <a:p>
                <a:pPr lvl="1"/>
                <a:endParaRPr lang="en-US" b="0" i="0" dirty="0">
                  <a:solidFill>
                    <a:srgbClr val="000000"/>
                  </a:solidFill>
                  <a:latin typeface="Cambria Math" panose="02040503050406030204" pitchFamily="18" charset="0"/>
                  <a:ea typeface="Cambria Math" panose="02040503050406030204" pitchFamily="18" charset="0"/>
                </a:endParaRPr>
              </a:p>
              <a:p>
                <a:pPr lvl="1"/>
                <a:endParaRPr lang="en-US" b="0" i="0" dirty="0">
                  <a:solidFill>
                    <a:srgbClr val="000000"/>
                  </a:solidFill>
                  <a:latin typeface="Cambria Math" panose="02040503050406030204" pitchFamily="18" charset="0"/>
                  <a:ea typeface="Cambria Math" panose="02040503050406030204" pitchFamily="18" charset="0"/>
                </a:endParaRPr>
              </a:p>
              <a:p>
                <a:pPr lvl="1"/>
                <a:endParaRPr lang="en-US" b="0" i="0" dirty="0">
                  <a:solidFill>
                    <a:srgbClr val="000000"/>
                  </a:solidFill>
                  <a:latin typeface="Cambria Math" panose="02040503050406030204" pitchFamily="18" charset="0"/>
                  <a:ea typeface="Cambria Math" panose="02040503050406030204" pitchFamily="18" charset="0"/>
                </a:endParaRPr>
              </a:p>
              <a:p>
                <a:pPr lvl="1"/>
                <a:endParaRPr lang="en-US" b="0" i="0" dirty="0">
                  <a:solidFill>
                    <a:srgbClr val="000000"/>
                  </a:solidFill>
                  <a:latin typeface="Cambria Math" panose="02040503050406030204" pitchFamily="18" charset="0"/>
                  <a:ea typeface="Cambria Math" panose="02040503050406030204" pitchFamily="18" charset="0"/>
                </a:endParaRPr>
              </a:p>
              <a:p>
                <a:pPr lvl="1"/>
                <a14:m>
                  <m:oMathPara xmlns:m="http://schemas.openxmlformats.org/officeDocument/2006/math">
                    <m:oMathParaPr>
                      <m:jc m:val="left"/>
                    </m:oMathParaPr>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Travel</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Time</m:t>
                      </m:r>
                      <m:r>
                        <a:rPr lang="en-US" b="0" i="1"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from</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Generator</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to</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Load</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and</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Back</m:t>
                      </m:r>
                      <m:r>
                        <a:rPr lang="en-US" b="0" i="1"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t</m:t>
                          </m:r>
                        </m:e>
                        <m:sub>
                          <m:r>
                            <m:rPr>
                              <m:sty m:val="p"/>
                            </m:rPr>
                            <a:rPr lang="en-US">
                              <a:solidFill>
                                <a:srgbClr val="000000"/>
                              </a:solidFill>
                              <a:latin typeface="Cambria Math" panose="02040503050406030204" pitchFamily="18" charset="0"/>
                              <a:ea typeface="Cambria Math" panose="02040503050406030204" pitchFamily="18" charset="0"/>
                            </a:rPr>
                            <m:t>two</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way</m:t>
                          </m:r>
                        </m:sub>
                      </m:sSub>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0" smtClean="0">
                              <a:solidFill>
                                <a:srgbClr val="000000"/>
                              </a:solidFill>
                              <a:latin typeface="Cambria Math" panose="02040503050406030204" pitchFamily="18" charset="0"/>
                              <a:ea typeface="Cambria Math" panose="02040503050406030204" pitchFamily="18" charset="0"/>
                            </a:rPr>
                            <m:t>2</m:t>
                          </m:r>
                          <m:r>
                            <m:rPr>
                              <m:sty m:val="p"/>
                            </m:rPr>
                            <a:rPr lang="en-US" b="0" i="0" smtClean="0">
                              <a:solidFill>
                                <a:srgbClr val="000000"/>
                              </a:solidFill>
                              <a:latin typeface="Cambria Math" panose="02040503050406030204" pitchFamily="18" charset="0"/>
                              <a:ea typeface="Cambria Math" panose="02040503050406030204" pitchFamily="18" charset="0"/>
                            </a:rPr>
                            <m:t>l</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u</m:t>
                              </m:r>
                            </m:e>
                            <m:sub>
                              <m:r>
                                <m:rPr>
                                  <m:sty m:val="p"/>
                                </m:rPr>
                                <a:rPr lang="en-US">
                                  <a:solidFill>
                                    <a:srgbClr val="000000"/>
                                  </a:solidFill>
                                  <a:latin typeface="Cambria Math" panose="02040503050406030204" pitchFamily="18" charset="0"/>
                                  <a:ea typeface="Cambria Math" panose="02040503050406030204" pitchFamily="18" charset="0"/>
                                </a:rPr>
                                <m:t>p</m:t>
                              </m:r>
                            </m:sub>
                          </m:sSub>
                        </m:den>
                      </m:f>
                      <m:r>
                        <a:rPr lang="en-US" b="0" i="0" smtClean="0">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lvl="1"/>
                <a14:m>
                  <m:oMathPara xmlns:m="http://schemas.openxmlformats.org/officeDocument/2006/math">
                    <m:oMathParaPr>
                      <m:jc m:val="left"/>
                    </m:oMathParaPr>
                    <m:oMath xmlns:m="http://schemas.openxmlformats.org/officeDocument/2006/math">
                      <m:r>
                        <m:rPr>
                          <m:sty m:val="p"/>
                        </m:rPr>
                        <a:rPr lang="en-US" b="0" i="0" smtClean="0">
                          <a:solidFill>
                            <a:srgbClr val="000000"/>
                          </a:solidFill>
                          <a:latin typeface="Cambria Math" panose="02040503050406030204" pitchFamily="18" charset="0"/>
                          <a:ea typeface="Cambria Math" panose="02040503050406030204" pitchFamily="18" charset="0"/>
                        </a:rPr>
                        <m:t>Knowing</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u</m:t>
                          </m:r>
                        </m:e>
                        <m:sub>
                          <m:r>
                            <m:rPr>
                              <m:sty m:val="p"/>
                            </m:rPr>
                            <a:rPr lang="en-US" b="0" i="0" smtClean="0">
                              <a:solidFill>
                                <a:srgbClr val="000000"/>
                              </a:solidFill>
                              <a:latin typeface="Cambria Math" panose="02040503050406030204" pitchFamily="18" charset="0"/>
                              <a:ea typeface="Cambria Math" panose="02040503050406030204" pitchFamily="18" charset="0"/>
                            </a:rPr>
                            <m:t>p</m:t>
                          </m:r>
                        </m:sub>
                      </m:sSub>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allows</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for</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measurement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of</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length</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m:t>
                      </m:r>
                      <m:r>
                        <a:rPr lang="en-US" i="1">
                          <a:solidFill>
                            <a:srgbClr val="000000"/>
                          </a:solidFill>
                          <a:latin typeface="Cambria Math" panose="02040503050406030204" pitchFamily="18" charset="0"/>
                          <a:ea typeface="Cambria Math" panose="02040503050406030204" pitchFamily="18" charset="0"/>
                        </a:rPr>
                        <m:t>=</m:t>
                      </m:r>
                      <m:f>
                        <m:fPr>
                          <m:ctrlPr>
                            <a:rPr lang="en-US" i="1" smtClean="0">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u</m:t>
                                  </m:r>
                                </m:e>
                                <m:sub>
                                  <m:r>
                                    <m:rPr>
                                      <m:sty m:val="p"/>
                                    </m:rPr>
                                    <a:rPr lang="en-US">
                                      <a:solidFill>
                                        <a:srgbClr val="000000"/>
                                      </a:solidFill>
                                      <a:latin typeface="Cambria Math" panose="02040503050406030204" pitchFamily="18" charset="0"/>
                                      <a:ea typeface="Cambria Math" panose="02040503050406030204" pitchFamily="18" charset="0"/>
                                    </a:rPr>
                                    <m:t>p</m:t>
                                  </m:r>
                                </m:sub>
                              </m:sSub>
                              <m:r>
                                <m:rPr>
                                  <m:sty m:val="p"/>
                                </m:rPr>
                                <a:rPr lang="en-US">
                                  <a:solidFill>
                                    <a:srgbClr val="000000"/>
                                  </a:solidFill>
                                  <a:latin typeface="Cambria Math" panose="02040503050406030204" pitchFamily="18" charset="0"/>
                                  <a:ea typeface="Cambria Math" panose="02040503050406030204" pitchFamily="18" charset="0"/>
                                </a:rPr>
                                <m:t>t</m:t>
                              </m:r>
                            </m:e>
                            <m:sub>
                              <m:r>
                                <m:rPr>
                                  <m:sty m:val="p"/>
                                </m:rPr>
                                <a:rPr lang="en-US">
                                  <a:solidFill>
                                    <a:srgbClr val="000000"/>
                                  </a:solidFill>
                                  <a:latin typeface="Cambria Math" panose="02040503050406030204" pitchFamily="18" charset="0"/>
                                  <a:ea typeface="Cambria Math" panose="02040503050406030204" pitchFamily="18" charset="0"/>
                                </a:rPr>
                                <m:t>two</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way</m:t>
                              </m:r>
                            </m:sub>
                          </m:sSub>
                        </m:num>
                        <m:den>
                          <m:r>
                            <a:rPr lang="en-US" b="0" i="1" smtClean="0">
                              <a:solidFill>
                                <a:srgbClr val="000000"/>
                              </a:solidFill>
                              <a:latin typeface="Cambria Math" panose="02040503050406030204" pitchFamily="18" charset="0"/>
                              <a:ea typeface="Cambria Math" panose="02040503050406030204" pitchFamily="18" charset="0"/>
                            </a:rPr>
                            <m:t>2</m:t>
                          </m:r>
                        </m:den>
                      </m:f>
                      <m:r>
                        <a:rPr lang="en-US" b="0" i="0" smtClean="0">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pPr lvl="1"/>
                <a:endParaRPr lang="en-US" dirty="0">
                  <a:solidFill>
                    <a:srgbClr val="000000"/>
                  </a:solidFill>
                  <a:latin typeface="Cambria Math" panose="02040503050406030204" pitchFamily="18" charset="0"/>
                  <a:ea typeface="Cambria Math" panose="02040503050406030204" pitchFamily="18" charset="0"/>
                </a:endParaRPr>
              </a:p>
              <a:p>
                <a:pPr lvl="1"/>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rPr>
                        <m:t>Knowing</m:t>
                      </m:r>
                      <m:r>
                        <a:rPr lang="en-US">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length</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l</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allows</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for</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measurement</m:t>
                      </m:r>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of</m:t>
                      </m:r>
                      <m:r>
                        <a:rPr lang="en-US">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propagation</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velocity</m:t>
                      </m:r>
                      <m:r>
                        <a:rPr lang="en-US">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u</m:t>
                          </m:r>
                        </m:e>
                        <m:sub>
                          <m:r>
                            <m:rPr>
                              <m:sty m:val="p"/>
                            </m:rPr>
                            <a:rPr lang="en-US">
                              <a:solidFill>
                                <a:srgbClr val="000000"/>
                              </a:solidFill>
                              <a:latin typeface="Cambria Math" panose="02040503050406030204" pitchFamily="18" charset="0"/>
                              <a:ea typeface="Cambria Math" panose="02040503050406030204" pitchFamily="18" charset="0"/>
                            </a:rPr>
                            <m:t>p</m:t>
                          </m:r>
                        </m:sub>
                      </m:sSub>
                      <m:r>
                        <a:rPr lang="en-US" b="0" i="1"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u</m:t>
                          </m:r>
                        </m:e>
                        <m:sub>
                          <m:r>
                            <m:rPr>
                              <m:sty m:val="p"/>
                            </m:rPr>
                            <a:rPr lang="en-US">
                              <a:solidFill>
                                <a:srgbClr val="000000"/>
                              </a:solidFill>
                              <a:latin typeface="Cambria Math" panose="02040503050406030204" pitchFamily="18" charset="0"/>
                              <a:ea typeface="Cambria Math" panose="02040503050406030204" pitchFamily="18" charset="0"/>
                            </a:rPr>
                            <m:t>p</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2</m:t>
                          </m:r>
                          <m:r>
                            <m:rPr>
                              <m:sty m:val="p"/>
                            </m:rPr>
                            <a:rPr lang="en-US" b="0" i="0" smtClean="0">
                              <a:solidFill>
                                <a:srgbClr val="000000"/>
                              </a:solidFill>
                              <a:latin typeface="Cambria Math" panose="02040503050406030204" pitchFamily="18" charset="0"/>
                              <a:ea typeface="Cambria Math" panose="02040503050406030204" pitchFamily="18" charset="0"/>
                            </a:rPr>
                            <m:t>l</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t</m:t>
                              </m:r>
                            </m:e>
                            <m:sub>
                              <m:r>
                                <m:rPr>
                                  <m:sty m:val="p"/>
                                </m:rPr>
                                <a:rPr lang="en-US">
                                  <a:solidFill>
                                    <a:srgbClr val="000000"/>
                                  </a:solidFill>
                                  <a:latin typeface="Cambria Math" panose="02040503050406030204" pitchFamily="18" charset="0"/>
                                  <a:ea typeface="Cambria Math" panose="02040503050406030204" pitchFamily="18" charset="0"/>
                                </a:rPr>
                                <m:t>two</m:t>
                              </m:r>
                              <m:r>
                                <a:rPr lang="en-US">
                                  <a:solidFill>
                                    <a:srgbClr val="000000"/>
                                  </a:solidFill>
                                  <a:latin typeface="Cambria Math" panose="02040503050406030204" pitchFamily="18" charset="0"/>
                                  <a:ea typeface="Cambria Math" panose="02040503050406030204" pitchFamily="18" charset="0"/>
                                </a:rPr>
                                <m:t>_</m:t>
                              </m:r>
                              <m:r>
                                <m:rPr>
                                  <m:sty m:val="p"/>
                                </m:rPr>
                                <a:rPr lang="en-US">
                                  <a:solidFill>
                                    <a:srgbClr val="000000"/>
                                  </a:solidFill>
                                  <a:latin typeface="Cambria Math" panose="02040503050406030204" pitchFamily="18" charset="0"/>
                                  <a:ea typeface="Cambria Math" panose="02040503050406030204" pitchFamily="18" charset="0"/>
                                </a:rPr>
                                <m:t>way</m:t>
                              </m:r>
                            </m:sub>
                          </m:sSub>
                        </m:den>
                      </m:f>
                      <m:r>
                        <a:rPr lang="en-US">
                          <a:solidFill>
                            <a:srgbClr val="000000"/>
                          </a:solidFill>
                          <a:latin typeface="Cambria Math" panose="02040503050406030204" pitchFamily="18" charset="0"/>
                          <a:ea typeface="Cambria Math" panose="02040503050406030204" pitchFamily="18" charset="0"/>
                        </a:rPr>
                        <m:t>.</m:t>
                      </m:r>
                    </m:oMath>
                  </m:oMathPara>
                </a14:m>
                <a:endParaRPr lang="en-US" dirty="0">
                  <a:solidFill>
                    <a:srgbClr val="000000"/>
                  </a:solidFill>
                  <a:latin typeface="Cambria Math" panose="02040503050406030204" pitchFamily="18" charset="0"/>
                  <a:ea typeface="Cambria Math" panose="02040503050406030204" pitchFamily="18" charset="0"/>
                </a:endParaRPr>
              </a:p>
              <a:p>
                <a:pPr lvl="1"/>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21938" y="669236"/>
                <a:ext cx="11819485" cy="5416868"/>
              </a:xfrm>
              <a:prstGeom prst="rect">
                <a:avLst/>
              </a:prstGeom>
              <a:blipFill>
                <a:blip r:embed="rId3"/>
                <a:stretch>
                  <a:fillRect l="-103" t="-33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BA562160-4A49-4E8D-9D8D-FD0B9B8FF6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9438" y="1129425"/>
            <a:ext cx="5993704" cy="2016893"/>
          </a:xfrm>
          <a:prstGeom prst="rect">
            <a:avLst/>
          </a:prstGeom>
        </p:spPr>
      </p:pic>
    </p:spTree>
    <p:extLst>
      <p:ext uri="{BB962C8B-B14F-4D97-AF65-F5344CB8AC3E}">
        <p14:creationId xmlns:p14="http://schemas.microsoft.com/office/powerpoint/2010/main" val="2458582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 calcmode="lin" valueType="num">
                                      <p:cBhvr additive="base">
                                        <p:cTn id="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anim calcmode="lin" valueType="num">
                                      <p:cBhvr additive="base">
                                        <p:cTn id="1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1" end="1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13" end="13"/>
                                            </p:txEl>
                                          </p:spTgt>
                                        </p:tgtEl>
                                        <p:attrNameLst>
                                          <p:attrName>style.visibility</p:attrName>
                                        </p:attrNameLst>
                                      </p:cBhvr>
                                      <p:to>
                                        <p:strVal val="visible"/>
                                      </p:to>
                                    </p:set>
                                    <p:anim calcmode="lin" valueType="num">
                                      <p:cBhvr additive="base">
                                        <p:cTn id="17"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583213" y="-2964"/>
            <a:ext cx="11358210" cy="553998"/>
          </a:xfrm>
        </p:spPr>
        <p:txBody>
          <a:bodyPr/>
          <a:lstStyle/>
          <a:p>
            <a:pPr algn="ctr"/>
            <a:r>
              <a:rPr lang="en-US" sz="4000" dirty="0"/>
              <a:t>Transient Response Measurement Example</a:t>
            </a:r>
          </a:p>
        </p:txBody>
      </p:sp>
      <mc:AlternateContent xmlns:mc="http://schemas.openxmlformats.org/markup-compatibility/2006" xmlns:a14="http://schemas.microsoft.com/office/drawing/2010/main">
        <mc:Choice Requires="a14">
          <p:sp>
            <p:nvSpPr>
              <p:cNvPr id="5" name="Rectangle 4"/>
              <p:cNvSpPr/>
              <p:nvPr/>
            </p:nvSpPr>
            <p:spPr>
              <a:xfrm>
                <a:off x="121938" y="669236"/>
                <a:ext cx="11819485" cy="57474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Use Function Generator with relatively low-frequency square wave output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with 20 V pk-pk amplitude for fast rise-time edge.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Knowing</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length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=75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allows</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measurement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propagation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velocity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u</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u</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two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way</m:t>
                              </m:r>
                            </m:sub>
                          </m:sSub>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 = 75 ft = 22.86 meters.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two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way</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232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nS</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Calculate the </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propagation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velocity</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u</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u</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p</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num>
                        <m:den>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two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_</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way</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22.86 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e>
                          </m:d>
                        </m:num>
                        <m:den>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232 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ns</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=197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10</m:t>
                          </m:r>
                        </m:e>
                        <m: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6</m:t>
                          </m:r>
                        </m:sup>
                      </m:s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m:t>
                          </m:r>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u</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m:t>
                              </m:r>
                            </m:sub>
                          </m:sSub>
                        </m:num>
                        <m:den>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197 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10</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6</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den>
                          </m:f>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300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x</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10</m:t>
                              </m:r>
                            </m:e>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6</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den>
                          </m:f>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=0.657</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m:t>
                              </m:r>
                            </m:den>
                          </m:f>
                        </m:e>
                      </m:d>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=0.667</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121938" y="669236"/>
                <a:ext cx="11819485" cy="5747407"/>
              </a:xfrm>
              <a:prstGeom prst="rect">
                <a:avLst/>
              </a:prstGeom>
              <a:blipFill>
                <a:blip r:embed="rId3"/>
                <a:stretch>
                  <a:fillRect l="-205" t="-315"/>
                </a:stretch>
              </a:blipFill>
            </p:spPr>
            <p:txBody>
              <a:bodyPr/>
              <a:lstStyle/>
              <a:p>
                <a:r>
                  <a:rPr lang="en-US">
                    <a:noFill/>
                  </a:rPr>
                  <a:t> </a:t>
                </a:r>
              </a:p>
            </p:txBody>
          </p:sp>
        </mc:Fallback>
      </mc:AlternateContent>
      <p:pic>
        <p:nvPicPr>
          <p:cNvPr id="4" name="Picture 3" descr="A picture containing text, electronics, display, screenshot&#10;&#10;Description automatically generated">
            <a:extLst>
              <a:ext uri="{FF2B5EF4-FFF2-40B4-BE49-F238E27FC236}">
                <a16:creationId xmlns:a16="http://schemas.microsoft.com/office/drawing/2014/main" id="{0F15C122-A4A2-4861-B7FC-16451FE761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6803" y="998288"/>
            <a:ext cx="6417693" cy="3500560"/>
          </a:xfrm>
          <a:prstGeom prst="rect">
            <a:avLst/>
          </a:prstGeom>
        </p:spPr>
      </p:pic>
      <p:pic>
        <p:nvPicPr>
          <p:cNvPr id="7" name="Picture 6" descr="A picture containing table&#10;&#10;Description automatically generated">
            <a:extLst>
              <a:ext uri="{FF2B5EF4-FFF2-40B4-BE49-F238E27FC236}">
                <a16:creationId xmlns:a16="http://schemas.microsoft.com/office/drawing/2014/main" id="{8893FAD0-5922-50B7-80BE-EF61368418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443" y="1314519"/>
            <a:ext cx="4100535" cy="1386096"/>
          </a:xfrm>
          <a:prstGeom prst="rect">
            <a:avLst/>
          </a:prstGeom>
        </p:spPr>
      </p:pic>
    </p:spTree>
    <p:extLst>
      <p:ext uri="{BB962C8B-B14F-4D97-AF65-F5344CB8AC3E}">
        <p14:creationId xmlns:p14="http://schemas.microsoft.com/office/powerpoint/2010/main" val="3545828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2" end="12"/>
                                            </p:txEl>
                                          </p:spTgt>
                                        </p:tgtEl>
                                        <p:attrNameLst>
                                          <p:attrName>style.visibility</p:attrName>
                                        </p:attrNameLst>
                                      </p:cBhvr>
                                      <p:to>
                                        <p:strVal val="visible"/>
                                      </p:to>
                                    </p:set>
                                    <p:anim calcmode="lin" valueType="num">
                                      <p:cBhvr additive="base">
                                        <p:cTn id="7"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3" end="13"/>
                                            </p:txEl>
                                          </p:spTgt>
                                        </p:tgtEl>
                                        <p:attrNameLst>
                                          <p:attrName>style.visibility</p:attrName>
                                        </p:attrNameLst>
                                      </p:cBhvr>
                                      <p:to>
                                        <p:strVal val="visible"/>
                                      </p:to>
                                    </p:set>
                                    <p:anim calcmode="lin" valueType="num">
                                      <p:cBhvr additive="base">
                                        <p:cTn id="13"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4" end="14"/>
                                            </p:txEl>
                                          </p:spTgt>
                                        </p:tgtEl>
                                        <p:attrNameLst>
                                          <p:attrName>style.visibility</p:attrName>
                                        </p:attrNameLst>
                                      </p:cBhvr>
                                      <p:to>
                                        <p:strVal val="visible"/>
                                      </p:to>
                                    </p:set>
                                    <p:anim calcmode="lin" valueType="num">
                                      <p:cBhvr additive="base">
                                        <p:cTn id="19"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0" y="0"/>
            <a:ext cx="12191999" cy="498598"/>
          </a:xfrm>
        </p:spPr>
        <p:txBody>
          <a:bodyPr/>
          <a:lstStyle/>
          <a:p>
            <a:pPr algn="ctr"/>
            <a:r>
              <a:rPr lang="en-US" sz="3600" dirty="0"/>
              <a:t>Time Domain Reflectometer (TDR) for Cable Testing</a:t>
            </a:r>
          </a:p>
        </p:txBody>
      </p:sp>
      <mc:AlternateContent xmlns:mc="http://schemas.openxmlformats.org/markup-compatibility/2006" xmlns:a14="http://schemas.microsoft.com/office/drawing/2010/main">
        <mc:Choice Requires="a14">
          <p:sp>
            <p:nvSpPr>
              <p:cNvPr id="4" name="Rectangle 3"/>
              <p:cNvSpPr/>
              <p:nvPr/>
            </p:nvSpPr>
            <p:spPr>
              <a:xfrm>
                <a:off x="384240" y="634751"/>
                <a:ext cx="11235448" cy="563930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TDRs consists of fast (&lt; 200 </a:t>
                </a:r>
                <a:r>
                  <a:rPr lang="en-US" dirty="0" err="1">
                    <a:latin typeface="Cambria Math" panose="02040503050406030204" pitchFamily="18" charset="0"/>
                    <a:ea typeface="Cambria Math" panose="02040503050406030204" pitchFamily="18" charset="0"/>
                    <a:cs typeface="Arial" panose="020B0604020202020204" pitchFamily="34" charset="0"/>
                  </a:rPr>
                  <a:t>ps</a:t>
                </a:r>
                <a:r>
                  <a:rPr lang="en-US" dirty="0">
                    <a:latin typeface="Cambria Math" panose="02040503050406030204" pitchFamily="18" charset="0"/>
                    <a:ea typeface="Cambria Math" panose="02040503050406030204" pitchFamily="18" charset="0"/>
                    <a:cs typeface="Arial" panose="020B0604020202020204" pitchFamily="34" charset="0"/>
                  </a:rPr>
                  <a:t>) step generator and </a:t>
                </a:r>
              </a:p>
              <a:p>
                <a:r>
                  <a:rPr lang="en-US" dirty="0">
                    <a:latin typeface="Cambria Math" panose="02040503050406030204" pitchFamily="18" charset="0"/>
                    <a:ea typeface="Cambria Math" panose="02040503050406030204" pitchFamily="18" charset="0"/>
                    <a:cs typeface="Arial" panose="020B0604020202020204" pitchFamily="34" charset="0"/>
                  </a:rPr>
                  <a:t>fast sampler to measure the resulting signal voltage.</a:t>
                </a:r>
              </a:p>
              <a:p>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Expensive to dig up and repair buried cable. </a:t>
                </a:r>
              </a:p>
              <a:p>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m:rPr>
                            <m:sty m:val="p"/>
                          </m:rPr>
                          <a:rPr lang="en-US" b="0" i="0" smtClean="0">
                            <a:latin typeface="Cambria Math" panose="02040503050406030204" pitchFamily="18" charset="0"/>
                            <a:cs typeface="Arial" panose="020B0604020202020204" pitchFamily="34" charset="0"/>
                          </a:rPr>
                          <m:t>u</m:t>
                        </m:r>
                      </m:e>
                      <m:sub>
                        <m:r>
                          <m:rPr>
                            <m:sty m:val="p"/>
                          </m:rPr>
                          <a:rPr lang="en-US" b="0" i="0" smtClean="0">
                            <a:latin typeface="Cambria Math" panose="02040503050406030204" pitchFamily="18" charset="0"/>
                            <a:cs typeface="Arial" panose="020B0604020202020204" pitchFamily="34" charset="0"/>
                          </a:rPr>
                          <m:t>P</m:t>
                        </m:r>
                      </m:sub>
                    </m:sSub>
                    <m:r>
                      <a:rPr lang="en-US">
                        <a:latin typeface="Cambria Math" panose="02040503050406030204" pitchFamily="18" charset="0"/>
                        <a:cs typeface="Arial" panose="020B0604020202020204" pitchFamily="34" charset="0"/>
                      </a:rPr>
                      <m:t>= </m:t>
                    </m:r>
                    <m:f>
                      <m:fPr>
                        <m:type m:val="lin"/>
                        <m:ctrlPr>
                          <a:rPr lang="en-US" i="1">
                            <a:latin typeface="Cambria Math" panose="02040503050406030204" pitchFamily="18" charset="0"/>
                            <a:cs typeface="Arial" panose="020B0604020202020204" pitchFamily="34" charset="0"/>
                          </a:rPr>
                        </m:ctrlPr>
                      </m:fPr>
                      <m:num>
                        <m:r>
                          <m:rPr>
                            <m:sty m:val="p"/>
                          </m:rPr>
                          <a:rPr lang="en-US">
                            <a:latin typeface="Cambria Math" panose="02040503050406030204" pitchFamily="18" charset="0"/>
                            <a:cs typeface="Arial" panose="020B0604020202020204" pitchFamily="34" charset="0"/>
                          </a:rPr>
                          <m:t>c</m:t>
                        </m:r>
                      </m:num>
                      <m:den>
                        <m:rad>
                          <m:radPr>
                            <m:degHide m:val="on"/>
                            <m:ctrlPr>
                              <a:rPr lang="en-US" i="1">
                                <a:latin typeface="Cambria Math" panose="02040503050406030204" pitchFamily="18" charset="0"/>
                                <a:cs typeface="Arial" panose="020B0604020202020204" pitchFamily="34" charset="0"/>
                              </a:rPr>
                            </m:ctrlPr>
                          </m:radPr>
                          <m:deg/>
                          <m:e>
                            <m:sSub>
                              <m:sSubPr>
                                <m:ctrlPr>
                                  <a:rPr lang="en-US" i="1">
                                    <a:latin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latin typeface="Cambria Math" panose="02040503050406030204" pitchFamily="18" charset="0"/>
                                    <a:cs typeface="Arial" panose="020B0604020202020204" pitchFamily="34" charset="0"/>
                                  </a:rPr>
                                  <m:t>r</m:t>
                                </m:r>
                              </m:sub>
                            </m:sSub>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ea typeface="Cambria Math" panose="02040503050406030204" pitchFamily="18" charset="0"/>
                                    <a:cs typeface="Arial" panose="020B0604020202020204" pitchFamily="34" charset="0"/>
                                  </a:rPr>
                                  <m:t>μ</m:t>
                                </m:r>
                              </m:e>
                              <m:sub>
                                <m:r>
                                  <m:rPr>
                                    <m:sty m:val="p"/>
                                  </m:rPr>
                                  <a:rPr lang="en-US">
                                    <a:latin typeface="Cambria Math" panose="02040503050406030204" pitchFamily="18" charset="0"/>
                                    <a:ea typeface="Cambria Math" panose="02040503050406030204" pitchFamily="18" charset="0"/>
                                    <a:cs typeface="Arial" panose="020B0604020202020204" pitchFamily="34" charset="0"/>
                                  </a:rPr>
                                  <m:t>r</m:t>
                                </m:r>
                              </m:sub>
                            </m:sSub>
                          </m:e>
                        </m:rad>
                      </m:den>
                    </m:f>
                    <m:r>
                      <a:rPr lang="en-US">
                        <a:latin typeface="Cambria Math" panose="02040503050406030204" pitchFamily="18" charset="0"/>
                        <a:ea typeface="Cambria Math" panose="02040503050406030204" pitchFamily="18" charset="0"/>
                        <a:cs typeface="Arial" panose="020B0604020202020204" pitchFamily="34" charset="0"/>
                      </a:rPr>
                      <m:t>=</m:t>
                    </m:r>
                  </m:oMath>
                </a14:m>
                <a:r>
                  <a:rPr lang="en-US" dirty="0">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f>
                      <m:fPr>
                        <m:type m:val="lin"/>
                        <m:ctrlPr>
                          <a:rPr lang="en-US" i="1">
                            <a:latin typeface="Cambria Math" panose="02040503050406030204" pitchFamily="18" charset="0"/>
                            <a:cs typeface="Arial" panose="020B0604020202020204" pitchFamily="34" charset="0"/>
                          </a:rPr>
                        </m:ctrlPr>
                      </m:fPr>
                      <m:num>
                        <m:r>
                          <m:rPr>
                            <m:sty m:val="p"/>
                          </m:rPr>
                          <a:rPr lang="en-US">
                            <a:latin typeface="Cambria Math" panose="02040503050406030204" pitchFamily="18" charset="0"/>
                            <a:cs typeface="Arial" panose="020B0604020202020204" pitchFamily="34" charset="0"/>
                          </a:rPr>
                          <m:t>c</m:t>
                        </m:r>
                      </m:num>
                      <m:den>
                        <m:rad>
                          <m:radPr>
                            <m:degHide m:val="on"/>
                            <m:ctrlPr>
                              <a:rPr lang="en-US" i="1">
                                <a:latin typeface="Cambria Math" panose="02040503050406030204" pitchFamily="18" charset="0"/>
                                <a:cs typeface="Arial" panose="020B0604020202020204" pitchFamily="34" charset="0"/>
                              </a:rPr>
                            </m:ctrlPr>
                          </m:radPr>
                          <m:deg/>
                          <m:e>
                            <m:sSub>
                              <m:sSubPr>
                                <m:ctrlPr>
                                  <a:rPr lang="en-US" i="1">
                                    <a:latin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latin typeface="Cambria Math" panose="02040503050406030204" pitchFamily="18" charset="0"/>
                                    <a:cs typeface="Arial" panose="020B0604020202020204" pitchFamily="34" charset="0"/>
                                  </a:rPr>
                                  <m:t>r</m:t>
                                </m:r>
                              </m:sub>
                            </m:sSub>
                          </m:e>
                        </m:rad>
                      </m:den>
                    </m:f>
                  </m:oMath>
                </a14:m>
                <a:r>
                  <a:rPr lang="en-US" dirty="0">
                    <a:latin typeface="Cambria Math" panose="02040503050406030204" pitchFamily="18" charset="0"/>
                    <a:ea typeface="Cambria Math" panose="02040503050406030204" pitchFamily="18" charset="0"/>
                    <a:cs typeface="Arial" panose="020B0604020202020204" pitchFamily="34" charset="0"/>
                  </a:rPr>
                  <a:t>  for µ</a:t>
                </a:r>
                <a:r>
                  <a:rPr lang="en-US" baseline="-25000" dirty="0">
                    <a:latin typeface="Cambria Math" panose="02040503050406030204" pitchFamily="18" charset="0"/>
                    <a:ea typeface="Cambria Math" panose="02040503050406030204" pitchFamily="18" charset="0"/>
                    <a:cs typeface="Arial" panose="020B0604020202020204" pitchFamily="34" charset="0"/>
                  </a:rPr>
                  <a:t>r</a:t>
                </a:r>
                <a:r>
                  <a:rPr lang="en-US" dirty="0">
                    <a:latin typeface="Cambria Math" panose="02040503050406030204" pitchFamily="18" charset="0"/>
                    <a:ea typeface="Cambria Math" panose="02040503050406030204" pitchFamily="18" charset="0"/>
                    <a:cs typeface="Arial" panose="020B0604020202020204" pitchFamily="34" charset="0"/>
                  </a:rPr>
                  <a:t> = 1 which is </a:t>
                </a:r>
              </a:p>
              <a:p>
                <a:r>
                  <a:rPr lang="en-US" dirty="0">
                    <a:latin typeface="Cambria Math" panose="02040503050406030204" pitchFamily="18" charset="0"/>
                    <a:ea typeface="Cambria Math" panose="02040503050406030204" pitchFamily="18" charset="0"/>
                    <a:cs typeface="Arial" panose="020B0604020202020204" pitchFamily="34" charset="0"/>
                  </a:rPr>
                  <a:t>true for most cables.</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Location of unwanted impedance mismatch </a:t>
                </a:r>
              </a:p>
              <a:p>
                <a:r>
                  <a:rPr lang="en-US" dirty="0">
                    <a:latin typeface="Cambria Math" panose="02040503050406030204" pitchFamily="18" charset="0"/>
                    <a:ea typeface="Cambria Math" panose="02040503050406030204" pitchFamily="18" charset="0"/>
                    <a:cs typeface="Arial" panose="020B0604020202020204" pitchFamily="34" charset="0"/>
                  </a:rPr>
                  <a:t>can be determined by means of a TDR.</a:t>
                </a:r>
              </a:p>
              <a:p>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384240" y="634751"/>
                <a:ext cx="11235448" cy="5639301"/>
              </a:xfrm>
              <a:prstGeom prst="rect">
                <a:avLst/>
              </a:prstGeom>
              <a:blipFill rotWithShape="0">
                <a:blip r:embed="rId2"/>
                <a:stretch>
                  <a:fillRect l="-216" t="-214"/>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4895" y="1112109"/>
            <a:ext cx="5765742" cy="4391620"/>
          </a:xfrm>
          <a:prstGeom prst="rect">
            <a:avLst/>
          </a:prstGeom>
        </p:spPr>
      </p:pic>
    </p:spTree>
    <p:extLst>
      <p:ext uri="{BB962C8B-B14F-4D97-AF65-F5344CB8AC3E}">
        <p14:creationId xmlns:p14="http://schemas.microsoft.com/office/powerpoint/2010/main" val="91834009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0" y="0"/>
            <a:ext cx="12191999" cy="498598"/>
          </a:xfrm>
        </p:spPr>
        <p:txBody>
          <a:bodyPr/>
          <a:lstStyle/>
          <a:p>
            <a:pPr algn="ctr"/>
            <a:r>
              <a:rPr lang="en-US" sz="3600" dirty="0"/>
              <a:t>Soil Moisture Measurements Using Permittivity</a:t>
            </a:r>
          </a:p>
        </p:txBody>
      </p:sp>
      <mc:AlternateContent xmlns:mc="http://schemas.openxmlformats.org/markup-compatibility/2006" xmlns:a14="http://schemas.microsoft.com/office/drawing/2010/main">
        <mc:Choice Requires="a14">
          <p:sp>
            <p:nvSpPr>
              <p:cNvPr id="4" name="Rectangle 3"/>
              <p:cNvSpPr/>
              <p:nvPr/>
            </p:nvSpPr>
            <p:spPr>
              <a:xfrm>
                <a:off x="359526" y="750081"/>
                <a:ext cx="11235448" cy="401969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cs typeface="Arial" pitchFamily="34" charset="0"/>
                  </a:rPr>
                  <a:t>Irrigation water becoming a more precious resource.</a:t>
                </a:r>
              </a:p>
              <a:p>
                <a:endParaRPr lang="en-US" dirty="0">
                  <a:solidFill>
                    <a:srgbClr val="000000"/>
                  </a:solidFill>
                  <a:latin typeface="Cambria Math" panose="02040503050406030204" pitchFamily="18" charset="0"/>
                  <a:ea typeface="Cambria Math" panose="02040503050406030204" pitchFamily="18" charset="0"/>
                  <a:cs typeface="Arial" pitchFamily="34"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cs typeface="Arial" pitchFamily="34" charset="0"/>
                  </a:rPr>
                  <a:t>Air has </a:t>
                </a:r>
                <a:r>
                  <a:rPr lang="en-US" dirty="0" err="1">
                    <a:solidFill>
                      <a:srgbClr val="000000"/>
                    </a:solidFill>
                    <a:latin typeface="Cambria Math" panose="02040503050406030204" pitchFamily="18" charset="0"/>
                    <a:ea typeface="Cambria Math" panose="02040503050406030204" pitchFamily="18" charset="0"/>
                    <a:cs typeface="Arial" panose="020B0604020202020204" pitchFamily="34" charset="0"/>
                  </a:rPr>
                  <a:t>ε</a:t>
                </a:r>
                <a:r>
                  <a:rPr lang="en-US" baseline="-25000" dirty="0" err="1">
                    <a:solidFill>
                      <a:srgbClr val="000000"/>
                    </a:solidFill>
                    <a:latin typeface="Cambria Math" panose="02040503050406030204" pitchFamily="18" charset="0"/>
                    <a:ea typeface="Cambria Math" panose="02040503050406030204" pitchFamily="18" charset="0"/>
                    <a:cs typeface="Arial" panose="020B0604020202020204" pitchFamily="34" charset="0"/>
                  </a:rPr>
                  <a:t>r</a:t>
                </a:r>
                <a:r>
                  <a:rPr lang="en-US" baseline="-25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essentially equal to 1. Liquid </a:t>
                </a:r>
                <a:r>
                  <a:rPr lang="en-US" dirty="0">
                    <a:solidFill>
                      <a:srgbClr val="000000"/>
                    </a:solidFill>
                    <a:latin typeface="Cambria Math" panose="02040503050406030204" pitchFamily="18" charset="0"/>
                    <a:ea typeface="Cambria Math" panose="02040503050406030204" pitchFamily="18" charset="0"/>
                  </a:rPr>
                  <a:t>H</a:t>
                </a:r>
                <a:r>
                  <a:rPr lang="en-US" baseline="-25000" dirty="0">
                    <a:solidFill>
                      <a:srgbClr val="000000"/>
                    </a:solidFill>
                    <a:latin typeface="Cambria Math" panose="02040503050406030204" pitchFamily="18" charset="0"/>
                    <a:ea typeface="Cambria Math" panose="02040503050406030204" pitchFamily="18" charset="0"/>
                  </a:rPr>
                  <a:t>2</a:t>
                </a:r>
                <a:r>
                  <a:rPr lang="en-US" dirty="0">
                    <a:solidFill>
                      <a:srgbClr val="000000"/>
                    </a:solidFill>
                    <a:latin typeface="Cambria Math" panose="02040503050406030204" pitchFamily="18" charset="0"/>
                    <a:ea typeface="Cambria Math" panose="02040503050406030204" pitchFamily="18" charset="0"/>
                  </a:rPr>
                  <a:t>O has </a:t>
                </a:r>
                <a:r>
                  <a:rPr lang="en-US" dirty="0" err="1">
                    <a:solidFill>
                      <a:srgbClr val="000000"/>
                    </a:solidFill>
                    <a:latin typeface="Cambria Math" panose="02040503050406030204" pitchFamily="18" charset="0"/>
                    <a:ea typeface="Cambria Math" panose="02040503050406030204" pitchFamily="18" charset="0"/>
                    <a:cs typeface="Arial" panose="020B0604020202020204" pitchFamily="34" charset="0"/>
                  </a:rPr>
                  <a:t>ε</a:t>
                </a:r>
                <a:r>
                  <a:rPr lang="en-US" baseline="-25000" dirty="0" err="1">
                    <a:solidFill>
                      <a:srgbClr val="000000"/>
                    </a:solidFill>
                    <a:latin typeface="Cambria Math" panose="02040503050406030204" pitchFamily="18" charset="0"/>
                    <a:ea typeface="Cambria Math" panose="02040503050406030204" pitchFamily="18" charset="0"/>
                    <a:cs typeface="Arial" panose="020B0604020202020204" pitchFamily="34" charset="0"/>
                  </a:rPr>
                  <a:t>r</a:t>
                </a:r>
                <a:r>
                  <a:rPr lang="en-US" baseline="-25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 80 @ 20 °C. Other soil constituents have </a:t>
                </a:r>
                <a:r>
                  <a:rPr lang="en-US" dirty="0" err="1">
                    <a:solidFill>
                      <a:srgbClr val="000000"/>
                    </a:solidFill>
                    <a:latin typeface="Cambria Math" panose="02040503050406030204" pitchFamily="18" charset="0"/>
                    <a:ea typeface="Cambria Math" panose="02040503050406030204" pitchFamily="18" charset="0"/>
                    <a:cs typeface="Arial" panose="020B0604020202020204" pitchFamily="34" charset="0"/>
                  </a:rPr>
                  <a:t>ε</a:t>
                </a:r>
                <a:r>
                  <a:rPr lang="en-US" baseline="-25000" dirty="0" err="1">
                    <a:solidFill>
                      <a:srgbClr val="000000"/>
                    </a:solidFill>
                    <a:latin typeface="Cambria Math" panose="02040503050406030204" pitchFamily="18" charset="0"/>
                    <a:ea typeface="Cambria Math" panose="02040503050406030204" pitchFamily="18" charset="0"/>
                    <a:cs typeface="Arial" panose="020B0604020202020204" pitchFamily="34" charset="0"/>
                  </a:rPr>
                  <a:t>r</a:t>
                </a:r>
                <a:r>
                  <a:rPr lang="en-US" baseline="-25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&lt; 10.</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Therefore, </a:t>
                </a:r>
                <a14:m>
                  <m:oMath xmlns:m="http://schemas.openxmlformats.org/officeDocument/2006/math">
                    <m:sSub>
                      <m:sSubPr>
                        <m:ctrlPr>
                          <a:rPr lang="en-US" i="1">
                            <a:solidFill>
                              <a:srgbClr val="000000"/>
                            </a:solidFill>
                            <a:latin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cs typeface="Arial" panose="020B0604020202020204" pitchFamily="34" charset="0"/>
                          </a:rPr>
                          <m:t>u</m:t>
                        </m:r>
                      </m:e>
                      <m:sub>
                        <m:r>
                          <m:rPr>
                            <m:sty m:val="p"/>
                          </m:rPr>
                          <a:rPr lang="en-US">
                            <a:solidFill>
                              <a:srgbClr val="000000"/>
                            </a:solidFill>
                            <a:latin typeface="Cambria Math" panose="02040503050406030204" pitchFamily="18" charset="0"/>
                            <a:cs typeface="Arial" panose="020B0604020202020204" pitchFamily="34" charset="0"/>
                          </a:rPr>
                          <m:t>P</m:t>
                        </m:r>
                      </m:sub>
                    </m:sSub>
                  </m:oMath>
                </a14:m>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 is a strong function of water content of soil.</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i="1" smtClean="0">
                            <a:solidFill>
                              <a:srgbClr val="000000"/>
                            </a:solidFill>
                            <a:latin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cs typeface="Arial" panose="020B0604020202020204" pitchFamily="34" charset="0"/>
                          </a:rPr>
                          <m:t>u</m:t>
                        </m:r>
                      </m:e>
                      <m:sub>
                        <m:r>
                          <m:rPr>
                            <m:sty m:val="p"/>
                          </m:rPr>
                          <a:rPr lang="en-US">
                            <a:solidFill>
                              <a:srgbClr val="000000"/>
                            </a:solidFill>
                            <a:latin typeface="Cambria Math" panose="02040503050406030204" pitchFamily="18" charset="0"/>
                            <a:cs typeface="Arial" panose="020B0604020202020204" pitchFamily="34" charset="0"/>
                          </a:rPr>
                          <m:t>p</m:t>
                        </m:r>
                      </m:sub>
                    </m:sSub>
                    <m:r>
                      <a:rPr lang="en-US">
                        <a:solidFill>
                          <a:srgbClr val="000000"/>
                        </a:solidFill>
                        <a:latin typeface="Cambria Math" panose="02040503050406030204" pitchFamily="18" charset="0"/>
                        <a:cs typeface="Arial" panose="020B0604020202020204" pitchFamily="34" charset="0"/>
                      </a:rPr>
                      <m:t>= </m:t>
                    </m:r>
                    <m:f>
                      <m:fPr>
                        <m:type m:val="lin"/>
                        <m:ctrlPr>
                          <a:rPr lang="en-US" i="1">
                            <a:solidFill>
                              <a:srgbClr val="000000"/>
                            </a:solidFill>
                            <a:latin typeface="Cambria Math" panose="02040503050406030204" pitchFamily="18" charset="0"/>
                            <a:cs typeface="Arial" panose="020B0604020202020204" pitchFamily="34" charset="0"/>
                          </a:rPr>
                        </m:ctrlPr>
                      </m:fPr>
                      <m:num>
                        <m:r>
                          <m:rPr>
                            <m:sty m:val="p"/>
                          </m:rPr>
                          <a:rPr lang="en-US">
                            <a:solidFill>
                              <a:srgbClr val="000000"/>
                            </a:solidFill>
                            <a:latin typeface="Cambria Math" panose="02040503050406030204" pitchFamily="18" charset="0"/>
                            <a:cs typeface="Arial" panose="020B0604020202020204" pitchFamily="34" charset="0"/>
                          </a:rPr>
                          <m:t>c</m:t>
                        </m:r>
                      </m:num>
                      <m:den>
                        <m:rad>
                          <m:radPr>
                            <m:degHide m:val="on"/>
                            <m:ctrlPr>
                              <a:rPr lang="en-US" i="1">
                                <a:solidFill>
                                  <a:srgbClr val="000000"/>
                                </a:solidFill>
                                <a:latin typeface="Cambria Math" panose="02040503050406030204" pitchFamily="18" charset="0"/>
                                <a:cs typeface="Arial" panose="020B0604020202020204" pitchFamily="34" charset="0"/>
                              </a:rPr>
                            </m:ctrlPr>
                          </m:radPr>
                          <m:deg/>
                          <m:e>
                            <m:sSub>
                              <m:sSubPr>
                                <m:ctrlPr>
                                  <a:rPr lang="en-US" i="1">
                                    <a:solidFill>
                                      <a:srgbClr val="000000"/>
                                    </a:solidFill>
                                    <a:latin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solidFill>
                                      <a:srgbClr val="000000"/>
                                    </a:solidFill>
                                    <a:latin typeface="Cambria Math" panose="02040503050406030204" pitchFamily="18" charset="0"/>
                                    <a:cs typeface="Arial" panose="020B0604020202020204" pitchFamily="34" charset="0"/>
                                  </a:rPr>
                                  <m:t>r</m:t>
                                </m:r>
                              </m:sub>
                            </m:sSub>
                            <m:sSub>
                              <m:sSub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μ</m:t>
                                </m:r>
                              </m:e>
                              <m:sub>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r</m:t>
                                </m:r>
                              </m:sub>
                            </m:sSub>
                          </m:e>
                        </m:rad>
                      </m:den>
                    </m:f>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f>
                      <m:fPr>
                        <m:type m:val="lin"/>
                        <m:ctrlPr>
                          <a:rPr lang="en-US" i="1">
                            <a:solidFill>
                              <a:srgbClr val="000000"/>
                            </a:solidFill>
                            <a:latin typeface="Cambria Math" panose="02040503050406030204" pitchFamily="18" charset="0"/>
                            <a:cs typeface="Arial" panose="020B0604020202020204" pitchFamily="34" charset="0"/>
                          </a:rPr>
                        </m:ctrlPr>
                      </m:fPr>
                      <m:num>
                        <m:r>
                          <m:rPr>
                            <m:sty m:val="p"/>
                          </m:rPr>
                          <a:rPr lang="en-US">
                            <a:solidFill>
                              <a:srgbClr val="000000"/>
                            </a:solidFill>
                            <a:latin typeface="Cambria Math" panose="02040503050406030204" pitchFamily="18" charset="0"/>
                            <a:cs typeface="Arial" panose="020B0604020202020204" pitchFamily="34" charset="0"/>
                          </a:rPr>
                          <m:t>c</m:t>
                        </m:r>
                      </m:num>
                      <m:den>
                        <m:rad>
                          <m:radPr>
                            <m:degHide m:val="on"/>
                            <m:ctrlPr>
                              <a:rPr lang="en-US" i="1">
                                <a:solidFill>
                                  <a:srgbClr val="000000"/>
                                </a:solidFill>
                                <a:latin typeface="Cambria Math" panose="02040503050406030204" pitchFamily="18" charset="0"/>
                                <a:cs typeface="Arial" panose="020B0604020202020204" pitchFamily="34" charset="0"/>
                              </a:rPr>
                            </m:ctrlPr>
                          </m:radPr>
                          <m:deg/>
                          <m:e>
                            <m:sSub>
                              <m:sSubPr>
                                <m:ctrlPr>
                                  <a:rPr lang="en-US" i="1">
                                    <a:solidFill>
                                      <a:srgbClr val="000000"/>
                                    </a:solidFill>
                                    <a:latin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solidFill>
                                      <a:srgbClr val="000000"/>
                                    </a:solidFill>
                                    <a:latin typeface="Cambria Math" panose="02040503050406030204" pitchFamily="18" charset="0"/>
                                    <a:cs typeface="Arial" panose="020B0604020202020204" pitchFamily="34" charset="0"/>
                                  </a:rPr>
                                  <m:t>r</m:t>
                                </m:r>
                              </m:sub>
                            </m:sSub>
                          </m:e>
                        </m:rad>
                      </m:den>
                    </m:f>
                  </m:oMath>
                </a14:m>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  for µ</a:t>
                </a:r>
                <a:r>
                  <a:rPr lang="en-US" baseline="-25000" dirty="0">
                    <a:solidFill>
                      <a:srgbClr val="000000"/>
                    </a:solidFill>
                    <a:latin typeface="Cambria Math" panose="02040503050406030204" pitchFamily="18" charset="0"/>
                    <a:ea typeface="Cambria Math" panose="02040503050406030204" pitchFamily="18" charset="0"/>
                    <a:cs typeface="Arial" panose="020B0604020202020204" pitchFamily="34" charset="0"/>
                  </a:rPr>
                  <a:t>r</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 = 1 which is true for soils.</a:t>
                </a:r>
              </a:p>
              <a:p>
                <a:endParaRPr lang="en-US" dirty="0">
                  <a:solidFill>
                    <a:srgbClr val="000000"/>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i="1">
                            <a:solidFill>
                              <a:srgbClr val="000000"/>
                            </a:solidFill>
                            <a:latin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cs typeface="Arial" panose="020B0604020202020204" pitchFamily="34" charset="0"/>
                          </a:rPr>
                          <m:t>u</m:t>
                        </m:r>
                      </m:e>
                      <m:sub>
                        <m:r>
                          <m:rPr>
                            <m:sty m:val="p"/>
                          </m:rPr>
                          <a:rPr lang="en-US">
                            <a:solidFill>
                              <a:srgbClr val="000000"/>
                            </a:solidFill>
                            <a:latin typeface="Cambria Math" panose="02040503050406030204" pitchFamily="18" charset="0"/>
                            <a:cs typeface="Arial" panose="020B0604020202020204" pitchFamily="34" charset="0"/>
                          </a:rPr>
                          <m:t>p</m:t>
                        </m:r>
                      </m:sub>
                    </m:sSub>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m:t>
                    </m:r>
                    <m:f>
                      <m:fPr>
                        <m:type m:val="lin"/>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fPr>
                      <m:num>
                        <m: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1</m:t>
                        </m:r>
                      </m:num>
                      <m:den>
                        <m:rad>
                          <m:radPr>
                            <m:degHide m:val="on"/>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radPr>
                          <m:deg/>
                          <m:e>
                            <m:sSub>
                              <m:sSubPr>
                                <m:ctrlP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solidFill>
                                      <a:srgbClr val="000000"/>
                                    </a:solidFill>
                                    <a:latin typeface="Cambria Math" panose="02040503050406030204" pitchFamily="18" charset="0"/>
                                    <a:ea typeface="Cambria Math" panose="02040503050406030204" pitchFamily="18" charset="0"/>
                                    <a:cs typeface="Arial" panose="020B0604020202020204" pitchFamily="34" charset="0"/>
                                  </a:rPr>
                                  <m:t>r</m:t>
                                </m:r>
                              </m:sub>
                            </m:sSub>
                          </m:e>
                        </m:rad>
                      </m:den>
                    </m:f>
                  </m:oMath>
                </a14:m>
                <a:r>
                  <a:rPr lang="en-US" dirty="0">
                    <a:solidFill>
                      <a:srgbClr val="000000"/>
                    </a:solidFill>
                    <a:latin typeface="Arial" panose="020B0604020202020204" pitchFamily="34" charset="0"/>
                    <a:cs typeface="Arial" panose="020B0604020202020204" pitchFamily="34" charset="0"/>
                  </a:rPr>
                  <a:t> </a:t>
                </a: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in soils.</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Permittivity sensors are commonly used to arrive at soil water content.</a:t>
                </a:r>
              </a:p>
              <a:p>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rPr>
                  <a:t>Standard equations available to convert from permittivity to soil water content.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359526" y="750081"/>
                <a:ext cx="11235448" cy="4019690"/>
              </a:xfrm>
              <a:prstGeom prst="rect">
                <a:avLst/>
              </a:prstGeom>
              <a:blipFill rotWithShape="0">
                <a:blip r:embed="rId2"/>
                <a:stretch>
                  <a:fillRect l="-162" t="-299"/>
                </a:stretch>
              </a:blipFill>
            </p:spPr>
            <p:txBody>
              <a:bodyPr/>
              <a:lstStyle/>
              <a:p>
                <a:r>
                  <a:rPr lang="en-US">
                    <a:noFill/>
                  </a:rPr>
                  <a:t> </a:t>
                </a:r>
              </a:p>
            </p:txBody>
          </p:sp>
        </mc:Fallback>
      </mc:AlternateContent>
    </p:spTree>
    <p:extLst>
      <p:ext uri="{BB962C8B-B14F-4D97-AF65-F5344CB8AC3E}">
        <p14:creationId xmlns:p14="http://schemas.microsoft.com/office/powerpoint/2010/main" val="81522403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0" y="0"/>
            <a:ext cx="12191999" cy="498598"/>
          </a:xfrm>
        </p:spPr>
        <p:txBody>
          <a:bodyPr/>
          <a:lstStyle/>
          <a:p>
            <a:pPr algn="ctr"/>
            <a:r>
              <a:rPr lang="en-US" sz="3600" dirty="0"/>
              <a:t>Time Domain Reflectometer (TDR) for Soil Moisture Measurements</a:t>
            </a:r>
          </a:p>
        </p:txBody>
      </p:sp>
      <p:sp>
        <p:nvSpPr>
          <p:cNvPr id="4" name="Rectangle 3"/>
          <p:cNvSpPr/>
          <p:nvPr/>
        </p:nvSpPr>
        <p:spPr>
          <a:xfrm>
            <a:off x="384240" y="634751"/>
            <a:ext cx="11235448"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TDRs consists of fast (&lt; 200 </a:t>
            </a:r>
            <a:r>
              <a:rPr lang="en-US" dirty="0" err="1">
                <a:latin typeface="Cambria Math" panose="02040503050406030204" pitchFamily="18" charset="0"/>
                <a:ea typeface="Cambria Math" panose="02040503050406030204" pitchFamily="18" charset="0"/>
                <a:cs typeface="Arial" panose="020B0604020202020204" pitchFamily="34" charset="0"/>
              </a:rPr>
              <a:t>ps</a:t>
            </a:r>
            <a:r>
              <a:rPr lang="en-US" dirty="0">
                <a:latin typeface="Cambria Math" panose="02040503050406030204" pitchFamily="18" charset="0"/>
                <a:ea typeface="Cambria Math" panose="02040503050406030204" pitchFamily="18" charset="0"/>
                <a:cs typeface="Arial" panose="020B0604020202020204" pitchFamily="34" charset="0"/>
              </a:rPr>
              <a:t>) step generator and fast sampler to measure the resulting signal voltage.</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Provides an excellent way to measure permittivity for soil water content.</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TDR is preferred way to measure soil moisture content by research scientists.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TDR100 used for soil moisture measurements and costs ≈ $4000.</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Less expensive TDR for soil moisture measurements is desirable and being pursued by multiple companies.</a:t>
            </a:r>
          </a:p>
        </p:txBody>
      </p:sp>
      <p:grpSp>
        <p:nvGrpSpPr>
          <p:cNvPr id="5" name="Group 4"/>
          <p:cNvGrpSpPr/>
          <p:nvPr/>
        </p:nvGrpSpPr>
        <p:grpSpPr>
          <a:xfrm>
            <a:off x="1878225" y="3428107"/>
            <a:ext cx="7936333" cy="3347515"/>
            <a:chOff x="1878225" y="3428107"/>
            <a:chExt cx="7936333" cy="3347515"/>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8225" y="3428107"/>
              <a:ext cx="7936333" cy="3347515"/>
            </a:xfrm>
            <a:prstGeom prst="rect">
              <a:avLst/>
            </a:prstGeom>
          </p:spPr>
        </p:pic>
        <p:sp>
          <p:nvSpPr>
            <p:cNvPr id="3" name="TextBox 2"/>
            <p:cNvSpPr txBox="1"/>
            <p:nvPr/>
          </p:nvSpPr>
          <p:spPr>
            <a:xfrm>
              <a:off x="6673998" y="5784189"/>
              <a:ext cx="3062249" cy="369332"/>
            </a:xfrm>
            <a:prstGeom prst="rect">
              <a:avLst/>
            </a:prstGeom>
            <a:noFill/>
          </p:spPr>
          <p:txBody>
            <a:bodyPr wrap="none" rtlCol="0">
              <a:spAutoFit/>
            </a:bodyPr>
            <a:lstStyle/>
            <a:p>
              <a:r>
                <a:rPr lang="en-US" dirty="0">
                  <a:solidFill>
                    <a:schemeClr val="bg1"/>
                  </a:solidFill>
                </a:rPr>
                <a:t>Open-Ended Transmission Line</a:t>
              </a:r>
            </a:p>
          </p:txBody>
        </p:sp>
      </p:grpSp>
    </p:spTree>
    <p:extLst>
      <p:ext uri="{BB962C8B-B14F-4D97-AF65-F5344CB8AC3E}">
        <p14:creationId xmlns:p14="http://schemas.microsoft.com/office/powerpoint/2010/main" val="3920337439"/>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0" y="0"/>
            <a:ext cx="12191999" cy="498598"/>
          </a:xfrm>
        </p:spPr>
        <p:txBody>
          <a:bodyPr/>
          <a:lstStyle/>
          <a:p>
            <a:pPr algn="ctr"/>
            <a:r>
              <a:rPr lang="en-US" sz="3600" dirty="0"/>
              <a:t>TDR for Soil Moisture Measurements (Continued)</a:t>
            </a:r>
          </a:p>
        </p:txBody>
      </p:sp>
      <mc:AlternateContent xmlns:mc="http://schemas.openxmlformats.org/markup-compatibility/2006" xmlns:a14="http://schemas.microsoft.com/office/drawing/2010/main">
        <mc:Choice Requires="a14">
          <p:sp>
            <p:nvSpPr>
              <p:cNvPr id="4" name="Rectangle 3"/>
              <p:cNvSpPr/>
              <p:nvPr/>
            </p:nvSpPr>
            <p:spPr>
              <a:xfrm>
                <a:off x="1211091" y="634751"/>
                <a:ext cx="8730577" cy="930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Down and back travel time on TDR probe equals </a:t>
                </a:r>
                <a:r>
                  <a:rPr lang="el-GR" dirty="0">
                    <a:latin typeface="Cambria Math" panose="02040503050406030204" pitchFamily="18" charset="0"/>
                    <a:ea typeface="Cambria Math" panose="02040503050406030204" pitchFamily="18" charset="0"/>
                    <a:cs typeface="Arial" panose="020B0604020202020204" pitchFamily="34" charset="0"/>
                  </a:rPr>
                  <a:t>Δ</a:t>
                </a:r>
                <a:r>
                  <a:rPr lang="en-US" dirty="0">
                    <a:latin typeface="Cambria Math" panose="02040503050406030204" pitchFamily="18" charset="0"/>
                    <a:ea typeface="Cambria Math" panose="02040503050406030204" pitchFamily="18" charset="0"/>
                    <a:cs typeface="Arial" panose="020B0604020202020204" pitchFamily="34" charset="0"/>
                  </a:rPr>
                  <a:t>t = t2 – t1.</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u</m:t>
                        </m:r>
                      </m:e>
                      <m:sub>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P</m:t>
                        </m:r>
                      </m:sub>
                    </m:sSub>
                    <m:r>
                      <a:rPr lang="en-US" b="0" i="0"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0" smtClean="0">
                            <a:latin typeface="Cambria Math" panose="02040503050406030204" pitchFamily="18" charset="0"/>
                            <a:ea typeface="Cambria Math" panose="02040503050406030204" pitchFamily="18" charset="0"/>
                            <a:cs typeface="Arial" panose="020B0604020202020204" pitchFamily="34" charset="0"/>
                          </a:rPr>
                          <m:t>2</m:t>
                        </m:r>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l</m:t>
                        </m:r>
                      </m:num>
                      <m:den>
                        <m:r>
                          <a:rPr lang="en-US" b="0" i="0" smtClean="0">
                            <a:latin typeface="Cambria Math" panose="02040503050406030204" pitchFamily="18" charset="0"/>
                            <a:ea typeface="Cambria Math" panose="02040503050406030204" pitchFamily="18" charset="0"/>
                            <a:cs typeface="Arial" panose="020B0604020202020204" pitchFamily="34" charset="0"/>
                          </a:rPr>
                          <m:t>∆</m:t>
                        </m:r>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t</m:t>
                        </m:r>
                        <m:r>
                          <a:rPr lang="en-US">
                            <a:latin typeface="Cambria Math" panose="02040503050406030204" pitchFamily="18" charset="0"/>
                            <a:ea typeface="Cambria Math" panose="02040503050406030204" pitchFamily="18" charset="0"/>
                            <a:cs typeface="Arial" panose="020B0604020202020204" pitchFamily="34" charset="0"/>
                          </a:rPr>
                          <m:t>∝</m:t>
                        </m:r>
                        <m:f>
                          <m:fPr>
                            <m:type m:val="lin"/>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a:latin typeface="Cambria Math" panose="02040503050406030204" pitchFamily="18" charset="0"/>
                                <a:ea typeface="Cambria Math" panose="02040503050406030204" pitchFamily="18" charset="0"/>
                                <a:cs typeface="Arial" panose="020B0604020202020204" pitchFamily="34" charset="0"/>
                              </a:rPr>
                              <m:t>1</m:t>
                            </m:r>
                          </m:num>
                          <m:den>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latin typeface="Cambria Math" panose="02040503050406030204" pitchFamily="18" charset="0"/>
                                        <a:ea typeface="Cambria Math" panose="02040503050406030204" pitchFamily="18" charset="0"/>
                                        <a:cs typeface="Arial" panose="020B0604020202020204" pitchFamily="34" charset="0"/>
                                      </a:rPr>
                                      <m:t>r</m:t>
                                    </m:r>
                                  </m:sub>
                                </m:sSub>
                              </m:e>
                            </m:rad>
                          </m:den>
                        </m:f>
                        <m:r>
                          <a:rPr lang="en-US" b="0" i="0" smtClean="0">
                            <a:latin typeface="Cambria Math" panose="02040503050406030204" pitchFamily="18" charset="0"/>
                            <a:ea typeface="Cambria Math" panose="02040503050406030204" pitchFamily="18" charset="0"/>
                            <a:cs typeface="Arial" panose="020B0604020202020204" pitchFamily="34" charset="0"/>
                          </a:rPr>
                          <m:t>.</m:t>
                        </m:r>
                      </m:den>
                    </m:f>
                  </m:oMath>
                </a14:m>
                <a:r>
                  <a:rPr lang="en-US" dirty="0">
                    <a:latin typeface="Cambria Math" panose="02040503050406030204" pitchFamily="18" charset="0"/>
                    <a:ea typeface="Cambria Math" panose="02040503050406030204" pitchFamily="18" charset="0"/>
                    <a:cs typeface="Arial" panose="020B0604020202020204" pitchFamily="34" charset="0"/>
                  </a:rPr>
                  <a:t> Standard equations convert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latin typeface="Cambria Math" panose="02040503050406030204" pitchFamily="18" charset="0"/>
                            <a:ea typeface="Cambria Math" panose="02040503050406030204" pitchFamily="18" charset="0"/>
                            <a:cs typeface="Arial" panose="020B0604020202020204" pitchFamily="34" charset="0"/>
                          </a:rPr>
                          <m:t>r</m:t>
                        </m:r>
                      </m:sub>
                    </m:sSub>
                  </m:oMath>
                </a14:m>
                <a:r>
                  <a:rPr lang="en-US" dirty="0">
                    <a:latin typeface="Cambria Math" panose="02040503050406030204" pitchFamily="18" charset="0"/>
                    <a:ea typeface="Cambria Math" panose="02040503050406030204" pitchFamily="18" charset="0"/>
                    <a:cs typeface="Arial" panose="020B0604020202020204" pitchFamily="34" charset="0"/>
                  </a:rPr>
                  <a:t> to soil water content.</a:t>
                </a:r>
              </a:p>
            </p:txBody>
          </p:sp>
        </mc:Choice>
        <mc:Fallback xmlns="">
          <p:sp>
            <p:nvSpPr>
              <p:cNvPr id="4" name="Rectangle 3"/>
              <p:cNvSpPr>
                <a:spLocks noRot="1" noChangeAspect="1" noMove="1" noResize="1" noEditPoints="1" noAdjustHandles="1" noChangeArrowheads="1" noChangeShapeType="1" noTextEdit="1"/>
              </p:cNvSpPr>
              <p:nvPr/>
            </p:nvSpPr>
            <p:spPr>
              <a:xfrm>
                <a:off x="1211091" y="634751"/>
                <a:ext cx="8730577" cy="930319"/>
              </a:xfrm>
              <a:prstGeom prst="rect">
                <a:avLst/>
              </a:prstGeom>
              <a:blipFill rotWithShape="0">
                <a:blip r:embed="rId2"/>
                <a:stretch>
                  <a:fillRect l="-208" t="-1235" b="-62346"/>
                </a:stretch>
              </a:blipFill>
            </p:spPr>
            <p:txBody>
              <a:bodyPr/>
              <a:lstStyle/>
              <a:p>
                <a:r>
                  <a:rPr lang="en-US">
                    <a:noFill/>
                  </a:rPr>
                  <a:t> </a:t>
                </a:r>
              </a:p>
            </p:txBody>
          </p:sp>
        </mc:Fallback>
      </mc:AlternateContent>
      <p:grpSp>
        <p:nvGrpSpPr>
          <p:cNvPr id="3" name="Group 2"/>
          <p:cNvGrpSpPr/>
          <p:nvPr/>
        </p:nvGrpSpPr>
        <p:grpSpPr>
          <a:xfrm>
            <a:off x="1211090" y="1694234"/>
            <a:ext cx="8730577" cy="4871936"/>
            <a:chOff x="1211090" y="1694234"/>
            <a:chExt cx="8730577" cy="4871936"/>
          </a:xfrm>
        </p:grpSpPr>
        <p:sp>
          <p:nvSpPr>
            <p:cNvPr id="7" name="Rectangle 6"/>
            <p:cNvSpPr/>
            <p:nvPr/>
          </p:nvSpPr>
          <p:spPr bwMode="auto">
            <a:xfrm>
              <a:off x="1211090" y="1694234"/>
              <a:ext cx="8730577" cy="4871936"/>
            </a:xfrm>
            <a:prstGeom prst="rect">
              <a:avLst/>
            </a:prstGeom>
            <a:ln>
              <a:noFill/>
              <a:headEnd type="none" w="med" len="med"/>
              <a:tailEnd type="none" w="med" len="med"/>
            </a:ln>
            <a:effectLst/>
            <a:scene3d>
              <a:camera prst="orthographicFront" fov="0">
                <a:rot lat="0" lon="0" rev="0"/>
              </a:camera>
              <a:lightRig rig="glow" dir="t">
                <a:rot lat="0" lon="0" rev="6360000"/>
              </a:lightRig>
            </a:scene3d>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cxnSp>
          <p:nvCxnSpPr>
            <p:cNvPr id="28" name="Straight Arrow Connector 27"/>
            <p:cNvCxnSpPr/>
            <p:nvPr/>
          </p:nvCxnSpPr>
          <p:spPr>
            <a:xfrm>
              <a:off x="2715647" y="5911446"/>
              <a:ext cx="6324600" cy="0"/>
            </a:xfrm>
            <a:prstGeom prst="straightConnector1">
              <a:avLst/>
            </a:prstGeom>
            <a:noFill/>
            <a:ln w="19050" cap="flat" cmpd="sng" algn="ctr">
              <a:solidFill>
                <a:sysClr val="windowText" lastClr="000000">
                  <a:shade val="95000"/>
                  <a:satMod val="105000"/>
                </a:sysClr>
              </a:solidFill>
              <a:prstDash val="solid"/>
              <a:tailEnd type="triangle"/>
            </a:ln>
            <a:effectLst/>
          </p:spPr>
        </p:cxnSp>
        <p:cxnSp>
          <p:nvCxnSpPr>
            <p:cNvPr id="29" name="Straight Arrow Connector 28"/>
            <p:cNvCxnSpPr/>
            <p:nvPr/>
          </p:nvCxnSpPr>
          <p:spPr>
            <a:xfrm flipV="1">
              <a:off x="2715647" y="2300540"/>
              <a:ext cx="6927" cy="3613883"/>
            </a:xfrm>
            <a:prstGeom prst="straightConnector1">
              <a:avLst/>
            </a:prstGeom>
            <a:noFill/>
            <a:ln w="19050" cap="flat" cmpd="sng" algn="ctr">
              <a:solidFill>
                <a:sysClr val="windowText" lastClr="000000">
                  <a:shade val="95000"/>
                  <a:satMod val="105000"/>
                </a:sysClr>
              </a:solidFill>
              <a:prstDash val="solid"/>
              <a:tailEnd type="triangle"/>
            </a:ln>
            <a:effectLst/>
          </p:spPr>
        </p:cxnSp>
        <p:sp>
          <p:nvSpPr>
            <p:cNvPr id="30" name="TextBox 29"/>
            <p:cNvSpPr txBox="1"/>
            <p:nvPr/>
          </p:nvSpPr>
          <p:spPr>
            <a:xfrm>
              <a:off x="2322524" y="1925405"/>
              <a:ext cx="800100" cy="307777"/>
            </a:xfrm>
            <a:prstGeom prst="rect">
              <a:avLst/>
            </a:prstGeom>
            <a:noFill/>
          </p:spPr>
          <p:txBody>
            <a:bodyPr wrap="square" rtlCol="0">
              <a:spAutoFit/>
            </a:bodyPr>
            <a:lstStyle/>
            <a:p>
              <a:r>
                <a:rPr lang="en-US" sz="1400" dirty="0">
                  <a:solidFill>
                    <a:prstClr val="black"/>
                  </a:solidFill>
                  <a:latin typeface="Arial" panose="020B0604020202020204" pitchFamily="34" charset="0"/>
                  <a:cs typeface="Arial" panose="020B0604020202020204" pitchFamily="34" charset="0"/>
                </a:rPr>
                <a:t>Voltage</a:t>
              </a:r>
            </a:p>
          </p:txBody>
        </p:sp>
        <p:sp>
          <p:nvSpPr>
            <p:cNvPr id="31" name="TextBox 30"/>
            <p:cNvSpPr txBox="1"/>
            <p:nvPr/>
          </p:nvSpPr>
          <p:spPr>
            <a:xfrm>
              <a:off x="8354447" y="5946906"/>
              <a:ext cx="685800" cy="338554"/>
            </a:xfrm>
            <a:prstGeom prst="rect">
              <a:avLst/>
            </a:prstGeom>
            <a:noFill/>
          </p:spPr>
          <p:txBody>
            <a:bodyPr wrap="square" rtlCol="0">
              <a:spAutoFit/>
            </a:bodyPr>
            <a:lstStyle/>
            <a:p>
              <a:r>
                <a:rPr lang="en-US" sz="1600" dirty="0">
                  <a:solidFill>
                    <a:prstClr val="black"/>
                  </a:solidFill>
                  <a:latin typeface="Arial" panose="020B0604020202020204" pitchFamily="34" charset="0"/>
                  <a:cs typeface="Arial" panose="020B0604020202020204" pitchFamily="34" charset="0"/>
                </a:rPr>
                <a:t>Time</a:t>
              </a:r>
            </a:p>
          </p:txBody>
        </p:sp>
        <p:sp>
          <p:nvSpPr>
            <p:cNvPr id="32" name="TextBox 31"/>
            <p:cNvSpPr txBox="1"/>
            <p:nvPr/>
          </p:nvSpPr>
          <p:spPr>
            <a:xfrm>
              <a:off x="4085517" y="5911446"/>
              <a:ext cx="381000" cy="307777"/>
            </a:xfrm>
            <a:prstGeom prst="rect">
              <a:avLst/>
            </a:prstGeom>
            <a:noFill/>
          </p:spPr>
          <p:txBody>
            <a:bodyPr wrap="square" rtlCol="0">
              <a:spAutoFit/>
            </a:bodyPr>
            <a:lstStyle/>
            <a:p>
              <a:r>
                <a:rPr lang="en-US" sz="1400" dirty="0">
                  <a:solidFill>
                    <a:prstClr val="black"/>
                  </a:solidFill>
                  <a:latin typeface="Arial" panose="020B0604020202020204" pitchFamily="34" charset="0"/>
                  <a:cs typeface="Arial" panose="020B0604020202020204" pitchFamily="34" charset="0"/>
                </a:rPr>
                <a:t>t1</a:t>
              </a:r>
            </a:p>
          </p:txBody>
        </p:sp>
        <p:sp>
          <p:nvSpPr>
            <p:cNvPr id="33" name="TextBox 32"/>
            <p:cNvSpPr txBox="1"/>
            <p:nvPr/>
          </p:nvSpPr>
          <p:spPr>
            <a:xfrm>
              <a:off x="5931980" y="5905697"/>
              <a:ext cx="381000" cy="307777"/>
            </a:xfrm>
            <a:prstGeom prst="rect">
              <a:avLst/>
            </a:prstGeom>
            <a:noFill/>
          </p:spPr>
          <p:txBody>
            <a:bodyPr wrap="square" rtlCol="0">
              <a:spAutoFit/>
            </a:bodyPr>
            <a:lstStyle/>
            <a:p>
              <a:r>
                <a:rPr lang="en-US" sz="1400" dirty="0">
                  <a:solidFill>
                    <a:prstClr val="black"/>
                  </a:solidFill>
                  <a:latin typeface="Arial" panose="020B0604020202020204" pitchFamily="34" charset="0"/>
                  <a:cs typeface="Arial" panose="020B0604020202020204" pitchFamily="34" charset="0"/>
                </a:rPr>
                <a:t>t2</a:t>
              </a:r>
            </a:p>
          </p:txBody>
        </p:sp>
        <p:cxnSp>
          <p:nvCxnSpPr>
            <p:cNvPr id="34" name="Straight Connector 33"/>
            <p:cNvCxnSpPr/>
            <p:nvPr/>
          </p:nvCxnSpPr>
          <p:spPr>
            <a:xfrm>
              <a:off x="4232028" y="3845319"/>
              <a:ext cx="0" cy="2060378"/>
            </a:xfrm>
            <a:prstGeom prst="line">
              <a:avLst/>
            </a:prstGeom>
            <a:noFill/>
            <a:ln w="25400" cap="flat" cmpd="sng" algn="ctr">
              <a:solidFill>
                <a:sysClr val="windowText" lastClr="000000"/>
              </a:solidFill>
              <a:prstDash val="solid"/>
              <a:headEnd type="triangle"/>
            </a:ln>
            <a:effectLst>
              <a:outerShdw blurRad="40000" dist="20000" dir="5400000" rotWithShape="0">
                <a:srgbClr val="000000">
                  <a:alpha val="38000"/>
                </a:srgbClr>
              </a:outerShdw>
            </a:effectLst>
          </p:spPr>
        </p:cxnSp>
        <p:cxnSp>
          <p:nvCxnSpPr>
            <p:cNvPr id="35" name="Straight Connector 34"/>
            <p:cNvCxnSpPr/>
            <p:nvPr/>
          </p:nvCxnSpPr>
          <p:spPr>
            <a:xfrm flipH="1">
              <a:off x="6068447" y="4484451"/>
              <a:ext cx="1613" cy="1421246"/>
            </a:xfrm>
            <a:prstGeom prst="line">
              <a:avLst/>
            </a:prstGeom>
            <a:noFill/>
            <a:ln w="25400" cap="flat" cmpd="sng" algn="ctr">
              <a:solidFill>
                <a:sysClr val="windowText" lastClr="000000"/>
              </a:solidFill>
              <a:prstDash val="solid"/>
              <a:headEnd type="triangle"/>
            </a:ln>
            <a:effectLst>
              <a:outerShdw blurRad="40000" dist="20000" dir="5400000" rotWithShape="0">
                <a:srgbClr val="000000">
                  <a:alpha val="38000"/>
                </a:srgbClr>
              </a:outerShdw>
            </a:effectLst>
          </p:spPr>
        </p:cxnSp>
        <p:sp>
          <p:nvSpPr>
            <p:cNvPr id="36" name="Freeform 35"/>
            <p:cNvSpPr/>
            <p:nvPr/>
          </p:nvSpPr>
          <p:spPr>
            <a:xfrm>
              <a:off x="3232422" y="2743783"/>
              <a:ext cx="4172989" cy="3161914"/>
            </a:xfrm>
            <a:custGeom>
              <a:avLst/>
              <a:gdLst>
                <a:gd name="connsiteX0" fmla="*/ 0 w 4172989"/>
                <a:gd name="connsiteY0" fmla="*/ 3161914 h 3161914"/>
                <a:gd name="connsiteX1" fmla="*/ 299258 w 4172989"/>
                <a:gd name="connsiteY1" fmla="*/ 1299863 h 3161914"/>
                <a:gd name="connsiteX2" fmla="*/ 290945 w 4172989"/>
                <a:gd name="connsiteY2" fmla="*/ 1299863 h 3161914"/>
                <a:gd name="connsiteX3" fmla="*/ 340821 w 4172989"/>
                <a:gd name="connsiteY3" fmla="*/ 1141921 h 3161914"/>
                <a:gd name="connsiteX4" fmla="*/ 448887 w 4172989"/>
                <a:gd name="connsiteY4" fmla="*/ 1042169 h 3161914"/>
                <a:gd name="connsiteX5" fmla="*/ 673330 w 4172989"/>
                <a:gd name="connsiteY5" fmla="*/ 1042169 h 3161914"/>
                <a:gd name="connsiteX6" fmla="*/ 922712 w 4172989"/>
                <a:gd name="connsiteY6" fmla="*/ 1033856 h 3161914"/>
                <a:gd name="connsiteX7" fmla="*/ 1014152 w 4172989"/>
                <a:gd name="connsiteY7" fmla="*/ 867601 h 3161914"/>
                <a:gd name="connsiteX8" fmla="*/ 1105592 w 4172989"/>
                <a:gd name="connsiteY8" fmla="*/ 1100358 h 3161914"/>
                <a:gd name="connsiteX9" fmla="*/ 1213658 w 4172989"/>
                <a:gd name="connsiteY9" fmla="*/ 1549245 h 3161914"/>
                <a:gd name="connsiteX10" fmla="*/ 1446414 w 4172989"/>
                <a:gd name="connsiteY10" fmla="*/ 1640685 h 3161914"/>
                <a:gd name="connsiteX11" fmla="*/ 2510443 w 4172989"/>
                <a:gd name="connsiteY11" fmla="*/ 1682249 h 3161914"/>
                <a:gd name="connsiteX12" fmla="*/ 2793076 w 4172989"/>
                <a:gd name="connsiteY12" fmla="*/ 1615747 h 3161914"/>
                <a:gd name="connsiteX13" fmla="*/ 2901141 w 4172989"/>
                <a:gd name="connsiteY13" fmla="*/ 1324801 h 3161914"/>
                <a:gd name="connsiteX14" fmla="*/ 3075709 w 4172989"/>
                <a:gd name="connsiteY14" fmla="*/ 285710 h 3161914"/>
                <a:gd name="connsiteX15" fmla="*/ 3208712 w 4172989"/>
                <a:gd name="connsiteY15" fmla="*/ 44641 h 3161914"/>
                <a:gd name="connsiteX16" fmla="*/ 3566160 w 4172989"/>
                <a:gd name="connsiteY16" fmla="*/ 3078 h 3161914"/>
                <a:gd name="connsiteX17" fmla="*/ 4172989 w 4172989"/>
                <a:gd name="connsiteY17" fmla="*/ 3078 h 3161914"/>
                <a:gd name="connsiteX18" fmla="*/ 4172989 w 4172989"/>
                <a:gd name="connsiteY18" fmla="*/ 3078 h 316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172989" h="3161914">
                  <a:moveTo>
                    <a:pt x="0" y="3161914"/>
                  </a:moveTo>
                  <a:cubicBezTo>
                    <a:pt x="99753" y="2541230"/>
                    <a:pt x="250767" y="1610205"/>
                    <a:pt x="299258" y="1299863"/>
                  </a:cubicBezTo>
                  <a:cubicBezTo>
                    <a:pt x="347749" y="989521"/>
                    <a:pt x="284018" y="1326187"/>
                    <a:pt x="290945" y="1299863"/>
                  </a:cubicBezTo>
                  <a:cubicBezTo>
                    <a:pt x="297872" y="1273539"/>
                    <a:pt x="314497" y="1184870"/>
                    <a:pt x="340821" y="1141921"/>
                  </a:cubicBezTo>
                  <a:cubicBezTo>
                    <a:pt x="367145" y="1098972"/>
                    <a:pt x="393469" y="1058794"/>
                    <a:pt x="448887" y="1042169"/>
                  </a:cubicBezTo>
                  <a:cubicBezTo>
                    <a:pt x="504305" y="1025544"/>
                    <a:pt x="594359" y="1043554"/>
                    <a:pt x="673330" y="1042169"/>
                  </a:cubicBezTo>
                  <a:cubicBezTo>
                    <a:pt x="752301" y="1040784"/>
                    <a:pt x="865908" y="1062951"/>
                    <a:pt x="922712" y="1033856"/>
                  </a:cubicBezTo>
                  <a:cubicBezTo>
                    <a:pt x="979516" y="1004761"/>
                    <a:pt x="983672" y="856517"/>
                    <a:pt x="1014152" y="867601"/>
                  </a:cubicBezTo>
                  <a:cubicBezTo>
                    <a:pt x="1044632" y="878685"/>
                    <a:pt x="1072341" y="986751"/>
                    <a:pt x="1105592" y="1100358"/>
                  </a:cubicBezTo>
                  <a:cubicBezTo>
                    <a:pt x="1138843" y="1213965"/>
                    <a:pt x="1156854" y="1459190"/>
                    <a:pt x="1213658" y="1549245"/>
                  </a:cubicBezTo>
                  <a:cubicBezTo>
                    <a:pt x="1270462" y="1639299"/>
                    <a:pt x="1230283" y="1618518"/>
                    <a:pt x="1446414" y="1640685"/>
                  </a:cubicBezTo>
                  <a:cubicBezTo>
                    <a:pt x="1662545" y="1662852"/>
                    <a:pt x="2285999" y="1686405"/>
                    <a:pt x="2510443" y="1682249"/>
                  </a:cubicBezTo>
                  <a:cubicBezTo>
                    <a:pt x="2734887" y="1678093"/>
                    <a:pt x="2727960" y="1675322"/>
                    <a:pt x="2793076" y="1615747"/>
                  </a:cubicBezTo>
                  <a:cubicBezTo>
                    <a:pt x="2858192" y="1556172"/>
                    <a:pt x="2854036" y="1546474"/>
                    <a:pt x="2901141" y="1324801"/>
                  </a:cubicBezTo>
                  <a:cubicBezTo>
                    <a:pt x="2948246" y="1103128"/>
                    <a:pt x="3024447" y="499070"/>
                    <a:pt x="3075709" y="285710"/>
                  </a:cubicBezTo>
                  <a:cubicBezTo>
                    <a:pt x="3126971" y="72350"/>
                    <a:pt x="3126970" y="91746"/>
                    <a:pt x="3208712" y="44641"/>
                  </a:cubicBezTo>
                  <a:cubicBezTo>
                    <a:pt x="3290454" y="-2464"/>
                    <a:pt x="3405447" y="10005"/>
                    <a:pt x="3566160" y="3078"/>
                  </a:cubicBezTo>
                  <a:cubicBezTo>
                    <a:pt x="3726873" y="-3849"/>
                    <a:pt x="4172989" y="3078"/>
                    <a:pt x="4172989" y="3078"/>
                  </a:cubicBezTo>
                  <a:lnTo>
                    <a:pt x="4172989" y="3078"/>
                  </a:lnTo>
                </a:path>
              </a:pathLst>
            </a:custGeom>
            <a:noFill/>
            <a:ln w="25400" cap="flat" cmpd="sng" algn="ctr">
              <a:solidFill>
                <a:srgbClr val="C0504D"/>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cxnSp>
          <p:nvCxnSpPr>
            <p:cNvPr id="37" name="Straight Connector 36"/>
            <p:cNvCxnSpPr>
              <a:endCxn id="36" idx="0"/>
            </p:cNvCxnSpPr>
            <p:nvPr/>
          </p:nvCxnSpPr>
          <p:spPr>
            <a:xfrm>
              <a:off x="2715647" y="5905697"/>
              <a:ext cx="516775" cy="0"/>
            </a:xfrm>
            <a:prstGeom prst="line">
              <a:avLst/>
            </a:prstGeom>
            <a:noFill/>
            <a:ln w="25400" cap="flat" cmpd="sng" algn="ctr">
              <a:solidFill>
                <a:srgbClr val="C0504D"/>
              </a:solidFill>
              <a:prstDash val="solid"/>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153098830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0" y="0"/>
            <a:ext cx="12191999" cy="498598"/>
          </a:xfrm>
        </p:spPr>
        <p:txBody>
          <a:bodyPr/>
          <a:lstStyle/>
          <a:p>
            <a:pPr algn="ctr"/>
            <a:r>
              <a:rPr lang="en-US" sz="3600" dirty="0"/>
              <a:t>Transmission Line Oscillator</a:t>
            </a:r>
          </a:p>
        </p:txBody>
      </p:sp>
      <mc:AlternateContent xmlns:mc="http://schemas.openxmlformats.org/markup-compatibility/2006" xmlns:a14="http://schemas.microsoft.com/office/drawing/2010/main">
        <mc:Choice Requires="a14">
          <p:sp>
            <p:nvSpPr>
              <p:cNvPr id="4" name="Rectangle 3"/>
              <p:cNvSpPr/>
              <p:nvPr/>
            </p:nvSpPr>
            <p:spPr>
              <a:xfrm>
                <a:off x="359526" y="618276"/>
                <a:ext cx="11235448" cy="454900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itchFamily="34" charset="0"/>
                </a:endParaRP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itchFamily="34" charset="0"/>
                  </a:rPr>
                  <a:t>Cost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m:t>
                    </m:r>
                  </m:oMath>
                </a14:m>
                <a:r>
                  <a:rPr lang="en-US" dirty="0">
                    <a:latin typeface="Cambria Math" panose="02040503050406030204" pitchFamily="18" charset="0"/>
                    <a:ea typeface="Cambria Math" panose="02040503050406030204" pitchFamily="18" charset="0"/>
                    <a:cs typeface="Arial" panose="020B0604020202020204" pitchFamily="34" charset="0"/>
                  </a:rPr>
                  <a:t>$200 per sensor.</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Two rods inserted into the soil, forming an </a:t>
                </a:r>
              </a:p>
              <a:p>
                <a:r>
                  <a:rPr lang="en-US" dirty="0">
                    <a:latin typeface="Cambria Math" panose="02040503050406030204" pitchFamily="18" charset="0"/>
                    <a:ea typeface="Cambria Math" panose="02040503050406030204" pitchFamily="18" charset="0"/>
                    <a:cs typeface="Arial" panose="020B0604020202020204" pitchFamily="34" charset="0"/>
                  </a:rPr>
                  <a:t>      open-ended transmission line.</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Returning reflections trigger launching of </a:t>
                </a:r>
              </a:p>
              <a:p>
                <a:r>
                  <a:rPr lang="en-US" dirty="0">
                    <a:latin typeface="Cambria Math" panose="02040503050406030204" pitchFamily="18" charset="0"/>
                    <a:ea typeface="Cambria Math" panose="02040503050406030204" pitchFamily="18" charset="0"/>
                    <a:cs typeface="Arial" panose="020B0604020202020204" pitchFamily="34" charset="0"/>
                  </a:rPr>
                  <a:t>      opposite polarity differential signal.</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Oscillation frequency decreases for increasing water content, because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cs typeface="Arial" panose="020B0604020202020204" pitchFamily="34" charset="0"/>
                          </a:rPr>
                          <m:t>u</m:t>
                        </m:r>
                      </m:e>
                      <m:sub>
                        <m:r>
                          <m:rPr>
                            <m:sty m:val="p"/>
                          </m:rPr>
                          <a:rPr lang="en-US">
                            <a:latin typeface="Cambria Math" panose="02040503050406030204" pitchFamily="18" charset="0"/>
                            <a:cs typeface="Arial" panose="020B0604020202020204" pitchFamily="34" charset="0"/>
                          </a:rPr>
                          <m:t>p</m:t>
                        </m:r>
                      </m:sub>
                    </m:sSub>
                    <m:r>
                      <a:rPr lang="en-US">
                        <a:latin typeface="Cambria Math" panose="02040503050406030204" pitchFamily="18" charset="0"/>
                        <a:ea typeface="Cambria Math" panose="02040503050406030204" pitchFamily="18" charset="0"/>
                        <a:cs typeface="Arial" panose="020B0604020202020204" pitchFamily="34" charset="0"/>
                      </a:rPr>
                      <m:t>∝</m:t>
                    </m:r>
                    <m:f>
                      <m:fPr>
                        <m:type m:val="lin"/>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a:latin typeface="Cambria Math" panose="02040503050406030204" pitchFamily="18" charset="0"/>
                            <a:ea typeface="Cambria Math" panose="02040503050406030204" pitchFamily="18" charset="0"/>
                            <a:cs typeface="Arial" panose="020B0604020202020204" pitchFamily="34" charset="0"/>
                          </a:rPr>
                          <m:t>1</m:t>
                        </m:r>
                      </m:num>
                      <m:den>
                        <m:rad>
                          <m:radPr>
                            <m:degHide m:val="on"/>
                            <m:ctrlPr>
                              <a:rPr lang="en-US" i="1">
                                <a:latin typeface="Cambria Math" panose="02040503050406030204" pitchFamily="18" charset="0"/>
                                <a:ea typeface="Cambria Math" panose="02040503050406030204" pitchFamily="18" charset="0"/>
                                <a:cs typeface="Arial" panose="020B0604020202020204" pitchFamily="34" charset="0"/>
                              </a:rPr>
                            </m:ctrlPr>
                          </m:radPr>
                          <m:deg/>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a:latin typeface="Cambria Math" panose="02040503050406030204" pitchFamily="18" charset="0"/>
                                    <a:ea typeface="Cambria Math" panose="02040503050406030204" pitchFamily="18" charset="0"/>
                                    <a:cs typeface="Arial" panose="020B0604020202020204" pitchFamily="34" charset="0"/>
                                  </a:rPr>
                                  <m:t>ε</m:t>
                                </m:r>
                              </m:e>
                              <m:sub>
                                <m:r>
                                  <m:rPr>
                                    <m:sty m:val="p"/>
                                  </m:rPr>
                                  <a:rPr lang="en-US">
                                    <a:latin typeface="Cambria Math" panose="02040503050406030204" pitchFamily="18" charset="0"/>
                                    <a:ea typeface="Cambria Math" panose="02040503050406030204" pitchFamily="18" charset="0"/>
                                    <a:cs typeface="Arial" panose="020B0604020202020204" pitchFamily="34" charset="0"/>
                                  </a:rPr>
                                  <m:t>r</m:t>
                                </m:r>
                              </m:sub>
                            </m:sSub>
                          </m:e>
                        </m:rad>
                      </m:den>
                    </m:f>
                  </m:oMath>
                </a14:m>
                <a:r>
                  <a:rPr lang="en-US" dirty="0">
                    <a:latin typeface="Cambria Math" panose="02040503050406030204" pitchFamily="18" charset="0"/>
                    <a:ea typeface="Cambria Math" panose="02040503050406030204" pitchFamily="18" charset="0"/>
                    <a:cs typeface="Arial" panose="020B0604020202020204" pitchFamily="34" charset="0"/>
                  </a:rPr>
                  <a:t>.</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Referred to as TDR (Time Domain Reflectometry) oscillator.</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cs typeface="Arial" panose="020B0604020202020204" pitchFamily="34" charset="0"/>
                  </a:rPr>
                  <a:t>Some Soils have appreciable electrical conductivity which complicates measurements.</a:t>
                </a:r>
              </a:p>
              <a:p>
                <a:pPr marL="285750" indent="-285750">
                  <a:buFont typeface="Arial" panose="020B0604020202020204" pitchFamily="34" charset="0"/>
                  <a:buChar char="•"/>
                </a:pPr>
                <a:endParaRPr lang="en-US"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359526" y="618276"/>
                <a:ext cx="11235448" cy="4549002"/>
              </a:xfrm>
              <a:prstGeom prst="rect">
                <a:avLst/>
              </a:prstGeom>
              <a:blipFill rotWithShape="0">
                <a:blip r:embed="rId2"/>
                <a:stretch>
                  <a:fillRect l="-162"/>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4872" y="890125"/>
            <a:ext cx="5498463" cy="2354355"/>
          </a:xfrm>
          <a:prstGeom prst="rect">
            <a:avLst/>
          </a:prstGeom>
        </p:spPr>
      </p:pic>
    </p:spTree>
    <p:extLst>
      <p:ext uri="{BB962C8B-B14F-4D97-AF65-F5344CB8AC3E}">
        <p14:creationId xmlns:p14="http://schemas.microsoft.com/office/powerpoint/2010/main" val="416184678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930877" y="105237"/>
            <a:ext cx="8966464" cy="553998"/>
          </a:xfrm>
        </p:spPr>
        <p:txBody>
          <a:bodyPr/>
          <a:lstStyle/>
          <a:p>
            <a:pPr algn="ctr"/>
            <a:r>
              <a:rPr lang="en-US" sz="4000"/>
              <a:t>ECEN 390 – Electromagnetics Topics</a:t>
            </a:r>
          </a:p>
        </p:txBody>
      </p:sp>
      <p:sp>
        <p:nvSpPr>
          <p:cNvPr id="4" name="Title 6"/>
          <p:cNvSpPr txBox="1">
            <a:spLocks/>
          </p:cNvSpPr>
          <p:nvPr/>
        </p:nvSpPr>
        <p:spPr>
          <a:xfrm>
            <a:off x="4448874" y="1086228"/>
            <a:ext cx="1212094" cy="423219"/>
          </a:xfrm>
          <a:prstGeom prst="rect">
            <a:avLst/>
          </a:prstGeom>
          <a:solidFill>
            <a:srgbClr val="FFFF00"/>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Waves and Phasors  </a:t>
            </a:r>
          </a:p>
        </p:txBody>
      </p:sp>
      <p:sp>
        <p:nvSpPr>
          <p:cNvPr id="5" name="Title 6"/>
          <p:cNvSpPr txBox="1">
            <a:spLocks/>
          </p:cNvSpPr>
          <p:nvPr/>
        </p:nvSpPr>
        <p:spPr>
          <a:xfrm>
            <a:off x="4448873" y="2544732"/>
            <a:ext cx="1212095" cy="333632"/>
          </a:xfrm>
          <a:prstGeom prst="rect">
            <a:avLst/>
          </a:prstGeom>
          <a:solidFill>
            <a:schemeClr val="tx1"/>
          </a:solidFill>
          <a:ln w="25400" cap="flat" cmpd="sng" algn="ctr">
            <a:solidFill>
              <a:sysClr val="windowText" lastClr="000000"/>
            </a:solidFill>
            <a:prstDash val="solid"/>
          </a:ln>
          <a:effectLst/>
        </p:spPr>
        <p:txBody>
          <a:bodyPr vert="horz" lIns="68580" tIns="34290" rIns="68580" bIns="3429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Electrostatics</a:t>
            </a:r>
          </a:p>
        </p:txBody>
      </p:sp>
      <p:cxnSp>
        <p:nvCxnSpPr>
          <p:cNvPr id="19" name="Straight Arrow Connector 18"/>
          <p:cNvCxnSpPr>
            <a:cxnSpLocks/>
            <a:stCxn id="34" idx="2"/>
          </p:cNvCxnSpPr>
          <p:nvPr/>
        </p:nvCxnSpPr>
        <p:spPr>
          <a:xfrm>
            <a:off x="6981689" y="2487095"/>
            <a:ext cx="3469" cy="1058090"/>
          </a:xfrm>
          <a:prstGeom prst="straightConnector1">
            <a:avLst/>
          </a:prstGeom>
          <a:noFill/>
          <a:ln w="38100" cap="flat" cmpd="sng" algn="ctr">
            <a:solidFill>
              <a:sysClr val="windowText" lastClr="000000"/>
            </a:solidFill>
            <a:prstDash val="dash"/>
            <a:tailEnd type="triangle"/>
          </a:ln>
          <a:effectLst>
            <a:outerShdw blurRad="40000" dist="23000" dir="5400000" rotWithShape="0">
              <a:srgbClr val="000000">
                <a:alpha val="35000"/>
              </a:srgbClr>
            </a:outerShdw>
          </a:effectLst>
        </p:spPr>
      </p:cxnSp>
      <p:cxnSp>
        <p:nvCxnSpPr>
          <p:cNvPr id="20" name="Straight Arrow Connector 19"/>
          <p:cNvCxnSpPr/>
          <p:nvPr/>
        </p:nvCxnSpPr>
        <p:spPr>
          <a:xfrm flipH="1">
            <a:off x="5656205" y="4749241"/>
            <a:ext cx="1328953" cy="4763"/>
          </a:xfrm>
          <a:prstGeom prst="straightConnector1">
            <a:avLst/>
          </a:prstGeom>
          <a:noFill/>
          <a:ln w="38100" cap="flat" cmpd="sng" algn="ctr">
            <a:solidFill>
              <a:sysClr val="windowText" lastClr="000000"/>
            </a:solidFill>
            <a:prstDash val="dash"/>
            <a:tailEnd type="triangle"/>
          </a:ln>
          <a:effectLst>
            <a:outerShdw blurRad="40000" dist="23000" dir="5400000" rotWithShape="0">
              <a:srgbClr val="000000">
                <a:alpha val="35000"/>
              </a:srgbClr>
            </a:outerShdw>
          </a:effectLst>
        </p:spPr>
      </p:cxnSp>
      <p:cxnSp>
        <p:nvCxnSpPr>
          <p:cNvPr id="21" name="Straight Arrow Connector 20"/>
          <p:cNvCxnSpPr>
            <a:stCxn id="4" idx="2"/>
            <a:endCxn id="35" idx="0"/>
          </p:cNvCxnSpPr>
          <p:nvPr/>
        </p:nvCxnSpPr>
        <p:spPr>
          <a:xfrm>
            <a:off x="5054921" y="1509447"/>
            <a:ext cx="0" cy="296201"/>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22" name="Straight Arrow Connector 21"/>
          <p:cNvCxnSpPr>
            <a:endCxn id="4" idx="3"/>
          </p:cNvCxnSpPr>
          <p:nvPr/>
        </p:nvCxnSpPr>
        <p:spPr>
          <a:xfrm flipH="1">
            <a:off x="5660968" y="1297837"/>
            <a:ext cx="712748" cy="1"/>
          </a:xfrm>
          <a:prstGeom prst="straightConnector1">
            <a:avLst/>
          </a:prstGeom>
          <a:noFill/>
          <a:ln w="38100" cap="flat" cmpd="sng" algn="ctr">
            <a:solidFill>
              <a:sysClr val="windowText" lastClr="000000"/>
            </a:solidFill>
            <a:prstDash val="solid"/>
            <a:headEnd type="triangle"/>
            <a:tailEnd type="none"/>
          </a:ln>
          <a:effectLst>
            <a:outerShdw blurRad="40000" dist="23000" dir="5400000" rotWithShape="0">
              <a:srgbClr val="000000">
                <a:alpha val="35000"/>
              </a:srgbClr>
            </a:outerShdw>
          </a:effectLst>
        </p:spPr>
      </p:cxnSp>
      <p:sp>
        <p:nvSpPr>
          <p:cNvPr id="34" name="Title 6"/>
          <p:cNvSpPr txBox="1">
            <a:spLocks/>
          </p:cNvSpPr>
          <p:nvPr/>
        </p:nvSpPr>
        <p:spPr>
          <a:xfrm>
            <a:off x="6365478" y="1037268"/>
            <a:ext cx="1232421" cy="1449827"/>
          </a:xfrm>
          <a:prstGeom prst="rect">
            <a:avLst/>
          </a:prstGeom>
          <a:solidFill>
            <a:srgbClr val="FFFF00"/>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Transmission Lines  </a:t>
            </a:r>
          </a:p>
        </p:txBody>
      </p:sp>
      <p:sp>
        <p:nvSpPr>
          <p:cNvPr id="35" name="Title 6"/>
          <p:cNvSpPr txBox="1">
            <a:spLocks/>
          </p:cNvSpPr>
          <p:nvPr/>
        </p:nvSpPr>
        <p:spPr>
          <a:xfrm>
            <a:off x="4448873" y="1805648"/>
            <a:ext cx="1212095"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Vector Calculus</a:t>
            </a:r>
          </a:p>
        </p:txBody>
      </p:sp>
      <p:sp>
        <p:nvSpPr>
          <p:cNvPr id="36" name="Title 6"/>
          <p:cNvSpPr txBox="1">
            <a:spLocks/>
          </p:cNvSpPr>
          <p:nvPr/>
        </p:nvSpPr>
        <p:spPr>
          <a:xfrm>
            <a:off x="4448873" y="3159595"/>
            <a:ext cx="1212095" cy="333632"/>
          </a:xfrm>
          <a:prstGeom prst="rect">
            <a:avLst/>
          </a:prstGeom>
          <a:solidFill>
            <a:schemeClr val="tx1"/>
          </a:solidFill>
          <a:ln w="25400" cap="flat" cmpd="sng" algn="ctr">
            <a:solidFill>
              <a:sysClr val="windowText" lastClr="000000"/>
            </a:solidFill>
            <a:prstDash val="solid"/>
          </a:ln>
          <a:effectLst/>
        </p:spPr>
        <p:txBody>
          <a:bodyPr vert="horz" lIns="68580" tIns="34290" rIns="68580" bIns="3429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Magnetostatics</a:t>
            </a:r>
          </a:p>
        </p:txBody>
      </p:sp>
      <p:sp>
        <p:nvSpPr>
          <p:cNvPr id="37" name="Title 6"/>
          <p:cNvSpPr txBox="1">
            <a:spLocks/>
          </p:cNvSpPr>
          <p:nvPr/>
        </p:nvSpPr>
        <p:spPr>
          <a:xfrm>
            <a:off x="4448874" y="3795192"/>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Time Varying Fields   </a:t>
            </a:r>
          </a:p>
        </p:txBody>
      </p:sp>
      <p:sp>
        <p:nvSpPr>
          <p:cNvPr id="38" name="Title 6"/>
          <p:cNvSpPr txBox="1">
            <a:spLocks/>
          </p:cNvSpPr>
          <p:nvPr/>
        </p:nvSpPr>
        <p:spPr>
          <a:xfrm>
            <a:off x="4448874" y="4537632"/>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Plane Wave Propagation   </a:t>
            </a:r>
          </a:p>
        </p:txBody>
      </p:sp>
      <p:sp>
        <p:nvSpPr>
          <p:cNvPr id="39" name="Title 6"/>
          <p:cNvSpPr txBox="1">
            <a:spLocks/>
          </p:cNvSpPr>
          <p:nvPr/>
        </p:nvSpPr>
        <p:spPr>
          <a:xfrm>
            <a:off x="4448873" y="5289598"/>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Radiation and Antennas   </a:t>
            </a:r>
          </a:p>
        </p:txBody>
      </p:sp>
      <p:cxnSp>
        <p:nvCxnSpPr>
          <p:cNvPr id="45" name="Straight Arrow Connector 44"/>
          <p:cNvCxnSpPr/>
          <p:nvPr/>
        </p:nvCxnSpPr>
        <p:spPr>
          <a:xfrm flipH="1">
            <a:off x="5054920" y="2233630"/>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7" name="Straight Arrow Connector 46"/>
          <p:cNvCxnSpPr>
            <a:stCxn id="5" idx="2"/>
            <a:endCxn id="36" idx="0"/>
          </p:cNvCxnSpPr>
          <p:nvPr/>
        </p:nvCxnSpPr>
        <p:spPr>
          <a:xfrm>
            <a:off x="5054921" y="2878364"/>
            <a:ext cx="0" cy="281231"/>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48" name="Straight Arrow Connector 47"/>
          <p:cNvCxnSpPr/>
          <p:nvPr/>
        </p:nvCxnSpPr>
        <p:spPr>
          <a:xfrm flipH="1">
            <a:off x="5054914" y="3486193"/>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55" name="Straight Arrow Connector 54"/>
          <p:cNvCxnSpPr/>
          <p:nvPr/>
        </p:nvCxnSpPr>
        <p:spPr>
          <a:xfrm flipH="1">
            <a:off x="5050151" y="4224711"/>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69" name="Straight Arrow Connector 68"/>
          <p:cNvCxnSpPr>
            <a:cxnSpLocks/>
          </p:cNvCxnSpPr>
          <p:nvPr/>
        </p:nvCxnSpPr>
        <p:spPr>
          <a:xfrm>
            <a:off x="6985158" y="3429000"/>
            <a:ext cx="0" cy="1338589"/>
          </a:xfrm>
          <a:prstGeom prst="straightConnector1">
            <a:avLst/>
          </a:prstGeom>
          <a:noFill/>
          <a:ln w="38100" cap="flat" cmpd="sng" algn="ctr">
            <a:solidFill>
              <a:sysClr val="windowText" lastClr="000000"/>
            </a:solidFill>
            <a:prstDash val="dash"/>
            <a:tailEnd type="none"/>
          </a:ln>
          <a:effectLst>
            <a:outerShdw blurRad="40000" dist="23000" dir="5400000" rotWithShape="0">
              <a:srgbClr val="000000">
                <a:alpha val="35000"/>
              </a:srgbClr>
            </a:outerShdw>
          </a:effectLst>
        </p:spPr>
      </p:cxnSp>
      <p:cxnSp>
        <p:nvCxnSpPr>
          <p:cNvPr id="78" name="Straight Arrow Connector 77"/>
          <p:cNvCxnSpPr/>
          <p:nvPr/>
        </p:nvCxnSpPr>
        <p:spPr>
          <a:xfrm flipH="1">
            <a:off x="5054914" y="4972055"/>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cxnSp>
        <p:nvCxnSpPr>
          <p:cNvPr id="23" name="Straight Arrow Connector 22">
            <a:extLst>
              <a:ext uri="{FF2B5EF4-FFF2-40B4-BE49-F238E27FC236}">
                <a16:creationId xmlns:a16="http://schemas.microsoft.com/office/drawing/2014/main" id="{0BC03239-5649-4BBB-9014-A398957A3BC0}"/>
              </a:ext>
            </a:extLst>
          </p:cNvPr>
          <p:cNvCxnSpPr/>
          <p:nvPr/>
        </p:nvCxnSpPr>
        <p:spPr>
          <a:xfrm flipH="1">
            <a:off x="5050002" y="5714389"/>
            <a:ext cx="1" cy="315865"/>
          </a:xfrm>
          <a:prstGeom prst="straightConnector1">
            <a:avLst/>
          </a:prstGeom>
          <a:noFill/>
          <a:ln w="38100" cap="flat" cmpd="sng" algn="ctr">
            <a:solidFill>
              <a:sysClr val="windowText" lastClr="000000"/>
            </a:solidFill>
            <a:prstDash val="solid"/>
            <a:tailEnd type="triangle"/>
          </a:ln>
          <a:effectLst>
            <a:outerShdw blurRad="40000" dist="23000" dir="5400000" rotWithShape="0">
              <a:srgbClr val="000000">
                <a:alpha val="35000"/>
              </a:srgbClr>
            </a:outerShdw>
          </a:effectLst>
        </p:spPr>
      </p:cxnSp>
      <p:sp>
        <p:nvSpPr>
          <p:cNvPr id="24" name="Title 6">
            <a:extLst>
              <a:ext uri="{FF2B5EF4-FFF2-40B4-BE49-F238E27FC236}">
                <a16:creationId xmlns:a16="http://schemas.microsoft.com/office/drawing/2014/main" id="{B14ED993-41B6-465F-B235-FEB48A32E55D}"/>
              </a:ext>
            </a:extLst>
          </p:cNvPr>
          <p:cNvSpPr txBox="1">
            <a:spLocks/>
          </p:cNvSpPr>
          <p:nvPr/>
        </p:nvSpPr>
        <p:spPr>
          <a:xfrm>
            <a:off x="4453787" y="6024193"/>
            <a:ext cx="1212094" cy="423219"/>
          </a:xfrm>
          <a:prstGeom prst="rect">
            <a:avLst/>
          </a:prstGeom>
          <a:solidFill>
            <a:schemeClr val="tx1"/>
          </a:solidFill>
          <a:ln w="25400" cap="flat" cmpd="sng" algn="ctr">
            <a:solidFill>
              <a:sysClr val="windowText" lastClr="000000"/>
            </a:solidFill>
            <a:prstDash val="solid"/>
          </a:ln>
          <a:effec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Satellites and Radar  </a:t>
            </a:r>
          </a:p>
        </p:txBody>
      </p:sp>
    </p:spTree>
    <p:extLst>
      <p:ext uri="{BB962C8B-B14F-4D97-AF65-F5344CB8AC3E}">
        <p14:creationId xmlns:p14="http://schemas.microsoft.com/office/powerpoint/2010/main" val="2372806092"/>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19136" y="2876427"/>
            <a:ext cx="2158313" cy="904741"/>
          </a:xfrm>
        </p:spPr>
        <p:txBody>
          <a:bodyPr/>
          <a:lstStyle/>
          <a:p>
            <a:r>
              <a:rPr lang="en-US" sz="6000" dirty="0"/>
              <a:t>Extra</a:t>
            </a:r>
          </a:p>
        </p:txBody>
      </p:sp>
    </p:spTree>
    <p:extLst>
      <p:ext uri="{BB962C8B-B14F-4D97-AF65-F5344CB8AC3E}">
        <p14:creationId xmlns:p14="http://schemas.microsoft.com/office/powerpoint/2010/main" val="30267984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2842054" y="-13941"/>
            <a:ext cx="5716433"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118537" y="608469"/>
                <a:ext cx="11981099" cy="62033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real</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part</m:t>
                          </m:r>
                        </m:e>
                      </m: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 </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Add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subtract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terms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to</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complete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square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Sup>
                                <m:sSub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e>
                              </m:d>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14:m>
                  <m:oMathPara xmlns:m="http://schemas.openxmlformats.org/officeDocument/2006/math">
                    <m:oMathParaPr>
                      <m:jc m:val="center"/>
                    </m:oMathParaPr>
                    <m:oMath xmlns:m="http://schemas.openxmlformats.org/officeDocument/2006/math">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Sup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sup>
                      </m:sSub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sup>
                      </m:sSup>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Equation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circle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terms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of</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variables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for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each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value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with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center</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m:t>
                        </m:r>
                      </m:e>
                    </m:d>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and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radius</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den>
                    </m:f>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18537" y="608469"/>
                <a:ext cx="11981099" cy="6203365"/>
              </a:xfrm>
              <a:prstGeom prst="rect">
                <a:avLst/>
              </a:prstGeom>
              <a:blipFill>
                <a:blip r:embed="rId2"/>
                <a:stretch>
                  <a:fillRect l="-101"/>
                </a:stretch>
              </a:blipFill>
            </p:spPr>
            <p:txBody>
              <a:bodyPr/>
              <a:lstStyle/>
              <a:p>
                <a:r>
                  <a:rPr lang="en-US">
                    <a:noFill/>
                  </a:rPr>
                  <a:t> </a:t>
                </a:r>
              </a:p>
            </p:txBody>
          </p:sp>
        </mc:Fallback>
      </mc:AlternateContent>
    </p:spTree>
    <p:extLst>
      <p:ext uri="{BB962C8B-B14F-4D97-AF65-F5344CB8AC3E}">
        <p14:creationId xmlns:p14="http://schemas.microsoft.com/office/powerpoint/2010/main" val="2524304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 calcmode="lin" valueType="num">
                                      <p:cBhvr additive="base">
                                        <p:cTn id="1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 calcmode="lin" valueType="num">
                                      <p:cBhvr additive="base">
                                        <p:cTn id="2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 calcmode="lin" valueType="num">
                                      <p:cBhvr additive="base">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758757" y="0"/>
            <a:ext cx="10068128" cy="553998"/>
          </a:xfrm>
        </p:spPr>
        <p:txBody>
          <a:bodyPr/>
          <a:lstStyle/>
          <a:p>
            <a:pPr algn="ctr"/>
            <a:r>
              <a:rPr lang="en-US" sz="4000" dirty="0"/>
              <a:t>SWR, Voltage Maxima and Minima</a:t>
            </a:r>
          </a:p>
        </p:txBody>
      </p:sp>
      <mc:AlternateContent xmlns:mc="http://schemas.openxmlformats.org/markup-compatibility/2006" xmlns:a14="http://schemas.microsoft.com/office/drawing/2010/main">
        <mc:Choice Requires="a14">
          <p:sp>
            <p:nvSpPr>
              <p:cNvPr id="4" name="Rectangle 3"/>
              <p:cNvSpPr/>
              <p:nvPr/>
            </p:nvSpPr>
            <p:spPr>
              <a:xfrm>
                <a:off x="168463" y="676678"/>
                <a:ext cx="11903563" cy="611590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smtClean="0">
                        <a:solidFill>
                          <a:srgbClr val="000000"/>
                        </a:solidFill>
                        <a:latin typeface="Cambria Math" panose="02040503050406030204" pitchFamily="18" charset="0"/>
                        <a:ea typeface="Cambria Math" panose="02040503050406030204" pitchFamily="18" charset="0"/>
                      </a:rPr>
                      <m:t>Voltage</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standing</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wave</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ratio</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i</m:t>
                    </m:r>
                    <m:r>
                      <a:rPr lang="en-US" smtClean="0">
                        <a:solidFill>
                          <a:srgbClr val="000000"/>
                        </a:solidFill>
                        <a:latin typeface="Cambria Math" panose="02040503050406030204" pitchFamily="18" charset="0"/>
                        <a:ea typeface="Cambria Math" panose="02040503050406030204" pitchFamily="18" charset="0"/>
                      </a:rPr>
                      <m:t>.</m:t>
                    </m:r>
                    <m:r>
                      <m:rPr>
                        <m:sty m:val="p"/>
                      </m:rPr>
                      <a:rPr lang="en-US" smtClean="0">
                        <a:solidFill>
                          <a:srgbClr val="000000"/>
                        </a:solidFill>
                        <a:latin typeface="Cambria Math" panose="02040503050406030204" pitchFamily="18" charset="0"/>
                        <a:ea typeface="Cambria Math" panose="02040503050406030204" pitchFamily="18" charset="0"/>
                      </a:rPr>
                      <m:t>e</m:t>
                    </m:r>
                    <m:r>
                      <a:rPr lang="en-US" smtClean="0">
                        <a:solidFill>
                          <a:srgbClr val="000000"/>
                        </a:solidFill>
                        <a:latin typeface="Cambria Math" panose="02040503050406030204" pitchFamily="18" charset="0"/>
                        <a:ea typeface="Cambria Math" panose="02040503050406030204" pitchFamily="18" charset="0"/>
                      </a:rPr>
                      <m:t>. ,</m:t>
                    </m:r>
                    <m:r>
                      <m:rPr>
                        <m:sty m:val="p"/>
                      </m:rPr>
                      <a:rPr lang="en-US" smtClean="0">
                        <a:solidFill>
                          <a:srgbClr val="000000"/>
                        </a:solidFill>
                        <a:latin typeface="Cambria Math" panose="02040503050406030204" pitchFamily="18" charset="0"/>
                        <a:ea typeface="Cambria Math" panose="02040503050406030204" pitchFamily="18" charset="0"/>
                      </a:rPr>
                      <m:t>VSWR</m:t>
                    </m:r>
                    <m:r>
                      <a:rPr lang="en-US" smtClean="0">
                        <a:solidFill>
                          <a:srgbClr val="000000"/>
                        </a:solidFill>
                        <a:latin typeface="Cambria Math" panose="02040503050406030204" pitchFamily="18" charset="0"/>
                        <a:ea typeface="Cambria Math" panose="02040503050406030204" pitchFamily="18" charset="0"/>
                      </a:rPr>
                      <m:t> − </m:t>
                    </m:r>
                    <m:r>
                      <m:rPr>
                        <m:sty m:val="p"/>
                      </m:rPr>
                      <a:rPr lang="en-US" smtClean="0">
                        <a:solidFill>
                          <a:srgbClr val="000000"/>
                        </a:solidFill>
                        <a:latin typeface="Cambria Math" panose="02040503050406030204" pitchFamily="18" charset="0"/>
                        <a:ea typeface="Cambria Math" panose="02040503050406030204" pitchFamily="18" charset="0"/>
                      </a:rPr>
                      <m:t>S</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d>
                          <m:dPr>
                            <m:begChr m:val="|"/>
                            <m:endChr m:val="|"/>
                            <m:ctrlPr>
                              <a:rPr lang="en-US" i="1">
                                <a:solidFill>
                                  <a:srgbClr val="000000"/>
                                </a:solidFill>
                                <a:latin typeface="Cambria Math" panose="02040503050406030204" pitchFamily="18" charset="0"/>
                                <a:ea typeface="Cambria Math" panose="02040503050406030204" pitchFamily="18" charset="0"/>
                              </a:rPr>
                            </m:ctrlPr>
                          </m:d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d>
                        <m:r>
                          <m:rPr>
                            <m:sty m:val="p"/>
                          </m:rPr>
                          <a:rPr lang="en-US">
                            <a:solidFill>
                              <a:srgbClr val="000000"/>
                            </a:solidFill>
                            <a:latin typeface="Cambria Math" panose="02040503050406030204" pitchFamily="18" charset="0"/>
                            <a:ea typeface="Cambria Math" panose="02040503050406030204" pitchFamily="18" charset="0"/>
                          </a:rPr>
                          <m:t>max</m:t>
                        </m:r>
                      </m:num>
                      <m:den>
                        <m:d>
                          <m:dPr>
                            <m:begChr m:val="|"/>
                            <m:endChr m:val="|"/>
                            <m:ctrlPr>
                              <a:rPr lang="en-US" i="1">
                                <a:solidFill>
                                  <a:srgbClr val="000000"/>
                                </a:solidFill>
                                <a:latin typeface="Cambria Math" panose="02040503050406030204" pitchFamily="18" charset="0"/>
                                <a:ea typeface="Cambria Math" panose="02040503050406030204" pitchFamily="18" charset="0"/>
                              </a:rPr>
                            </m:ctrlPr>
                          </m:d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d>
                        <m:r>
                          <m:rPr>
                            <m:sty m:val="p"/>
                          </m:rPr>
                          <a:rPr lang="en-US">
                            <a:solidFill>
                              <a:srgbClr val="000000"/>
                            </a:solidFill>
                            <a:latin typeface="Cambria Math" panose="02040503050406030204" pitchFamily="18" charset="0"/>
                            <a:ea typeface="Cambria Math" panose="02040503050406030204" pitchFamily="18" charset="0"/>
                          </a:rPr>
                          <m:t>min</m:t>
                        </m:r>
                      </m:den>
                    </m:f>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num>
                      <m:den>
                        <m:r>
                          <a:rPr lang="en-US" i="1">
                            <a:solidFill>
                              <a:srgbClr val="000000"/>
                            </a:solidFill>
                            <a:latin typeface="Cambria Math" panose="02040503050406030204" pitchFamily="18" charset="0"/>
                            <a:ea typeface="Cambria Math" panose="020405030504060302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den>
                    </m:f>
                    <m:r>
                      <a:rPr lang="en-US">
                        <a:solidFill>
                          <a:srgbClr val="000000"/>
                        </a:solidFill>
                        <a:latin typeface="Cambria Math" panose="02040503050406030204" pitchFamily="18" charset="0"/>
                        <a:ea typeface="Cambria Math" panose="02040503050406030204" pitchFamily="18" charset="0"/>
                      </a:rPr>
                      <m: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Rearranging</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results</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in</m:t>
                    </m:r>
                    <m:r>
                      <a:rPr lang="en-US" b="0" i="0" smtClean="0">
                        <a:solidFill>
                          <a:srgbClr val="000000"/>
                        </a:solidFill>
                        <a:latin typeface="Cambria Math" panose="02040503050406030204" pitchFamily="18" charset="0"/>
                        <a:ea typeface="Cambria Math" panose="02040503050406030204" pitchFamily="18" charset="0"/>
                      </a:rPr>
                      <m:t> </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b="0" i="0" smtClean="0">
                            <a:solidFill>
                              <a:srgbClr val="000000"/>
                            </a:solidFill>
                            <a:latin typeface="Cambria Math" panose="02040503050406030204" pitchFamily="18" charset="0"/>
                            <a:ea typeface="Cambria Math" panose="02040503050406030204" pitchFamily="18" charset="0"/>
                          </a:rPr>
                          <m:t>S</m:t>
                        </m:r>
                        <m:r>
                          <a:rPr lang="en-US" b="0" i="0" smtClean="0">
                            <a:solidFill>
                              <a:srgbClr val="000000"/>
                            </a:solidFill>
                            <a:latin typeface="Cambria Math" panose="02040503050406030204" pitchFamily="18" charset="0"/>
                            <a:ea typeface="Cambria Math" panose="02040503050406030204" pitchFamily="18" charset="0"/>
                          </a:rPr>
                          <m:t>−1</m:t>
                        </m:r>
                      </m:num>
                      <m:den>
                        <m:r>
                          <m:rPr>
                            <m:sty m:val="p"/>
                          </m:rPr>
                          <a:rPr lang="en-US" b="0" i="0" smtClean="0">
                            <a:solidFill>
                              <a:srgbClr val="000000"/>
                            </a:solidFill>
                            <a:latin typeface="Cambria Math" panose="02040503050406030204" pitchFamily="18" charset="0"/>
                            <a:ea typeface="Cambria Math" panose="02040503050406030204" pitchFamily="18" charset="0"/>
                          </a:rPr>
                          <m:t>S</m:t>
                        </m:r>
                        <m:r>
                          <a:rPr lang="en-US" b="0" i="0" smtClean="0">
                            <a:solidFill>
                              <a:srgbClr val="000000"/>
                            </a:solidFill>
                            <a:latin typeface="Cambria Math" panose="02040503050406030204" pitchFamily="18" charset="0"/>
                            <a:ea typeface="Cambria Math" panose="02040503050406030204" pitchFamily="18" charset="0"/>
                          </a:rPr>
                          <m:t>+1</m:t>
                        </m:r>
                      </m:den>
                    </m:f>
                    <m:r>
                      <a:rPr lang="en-US" b="0" i="0" smtClean="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r>
                  <a:rPr lang="en-US" dirty="0">
                    <a:solidFill>
                      <a:srgbClr val="000000"/>
                    </a:solidFill>
                    <a:latin typeface="Cambria Math" panose="02040503050406030204" pitchFamily="18" charset="0"/>
                    <a:ea typeface="Cambria Math" panose="02040503050406030204" pitchFamily="18" charset="0"/>
                  </a:rPr>
                  <a:t> </a:t>
                </a: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As a result the circle corresponding to a </a:t>
                </a:r>
              </a:p>
              <a:p>
                <a:r>
                  <a:rPr lang="en-US" dirty="0">
                    <a:solidFill>
                      <a:srgbClr val="000000"/>
                    </a:solidFill>
                    <a:latin typeface="Cambria Math" panose="02040503050406030204" pitchFamily="18" charset="0"/>
                    <a:ea typeface="Cambria Math" panose="02040503050406030204" pitchFamily="18" charset="0"/>
                  </a:rPr>
                  <a:t>     constant </a:t>
                </a:r>
                <a14:m>
                  <m:oMath xmlns:m="http://schemas.openxmlformats.org/officeDocument/2006/math">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oMath>
                </a14:m>
                <a:r>
                  <a:rPr lang="en-US" dirty="0">
                    <a:solidFill>
                      <a:srgbClr val="000000"/>
                    </a:solidFill>
                    <a:latin typeface="Cambria Math" panose="02040503050406030204" pitchFamily="18" charset="0"/>
                    <a:ea typeface="Cambria Math" panose="02040503050406030204" pitchFamily="18" charset="0"/>
                  </a:rPr>
                  <a:t> value also corresponds to a</a:t>
                </a:r>
              </a:p>
              <a:p>
                <a:r>
                  <a:rPr lang="en-US" dirty="0">
                    <a:solidFill>
                      <a:srgbClr val="000000"/>
                    </a:solidFill>
                    <a:latin typeface="Cambria Math" panose="02040503050406030204" pitchFamily="18" charset="0"/>
                    <a:ea typeface="Cambria Math" panose="02040503050406030204" pitchFamily="18" charset="0"/>
                  </a:rPr>
                  <a:t>     circle of constant </a:t>
                </a:r>
                <a14:m>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rPr>
                      <m:t>S</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num>
                      <m:den>
                        <m:r>
                          <a:rPr lang="en-US" i="1">
                            <a:solidFill>
                              <a:srgbClr val="000000"/>
                            </a:solidFill>
                            <a:latin typeface="Cambria Math" panose="02040503050406030204" pitchFamily="18" charset="0"/>
                            <a:ea typeface="Cambria Math" panose="020405030504060302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den>
                    </m:f>
                  </m:oMath>
                </a14:m>
                <a:r>
                  <a:rPr lang="en-US" dirty="0">
                    <a:solidFill>
                      <a:srgbClr val="000000"/>
                    </a:solidFill>
                    <a:latin typeface="Cambria Math" panose="02040503050406030204" pitchFamily="18" charset="0"/>
                    <a:ea typeface="Cambria Math" panose="02040503050406030204" pitchFamily="18" charset="0"/>
                  </a:rPr>
                  <a:t> value and vice versa.</a:t>
                </a:r>
              </a:p>
              <a:p>
                <a:endParaRPr lang="en-US" dirty="0">
                  <a:solidFill>
                    <a:srgbClr val="000000"/>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solidFill>
                            <a:srgbClr val="000000"/>
                          </a:solidFill>
                          <a:latin typeface="Cambria Math" panose="02040503050406030204" pitchFamily="18" charset="0"/>
                          <a:ea typeface="Cambria Math" panose="02040503050406030204" pitchFamily="18" charset="0"/>
                        </a:rPr>
                        <m:t>VSWR</m:t>
                      </m:r>
                      <m:r>
                        <a:rPr lang="en-US">
                          <a:solidFill>
                            <a:srgbClr val="000000"/>
                          </a:solidFill>
                          <a:latin typeface="Cambria Math" panose="02040503050406030204" pitchFamily="18" charset="0"/>
                          <a:ea typeface="Cambria Math" panose="02040503050406030204" pitchFamily="18" charset="0"/>
                        </a:rPr>
                        <m:t> − </m:t>
                      </m:r>
                      <m:r>
                        <m:rPr>
                          <m:sty m:val="p"/>
                        </m:rPr>
                        <a:rPr lang="en-US">
                          <a:solidFill>
                            <a:srgbClr val="000000"/>
                          </a:solidFill>
                          <a:latin typeface="Cambria Math" panose="02040503050406030204" pitchFamily="18" charset="0"/>
                          <a:ea typeface="Cambria Math" panose="02040503050406030204" pitchFamily="18" charset="0"/>
                        </a:rPr>
                        <m:t>S</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d>
                            <m:dPr>
                              <m:begChr m:val="|"/>
                              <m:endChr m:val="|"/>
                              <m:ctrlPr>
                                <a:rPr lang="en-US" i="1">
                                  <a:solidFill>
                                    <a:srgbClr val="000000"/>
                                  </a:solidFill>
                                  <a:latin typeface="Cambria Math" panose="02040503050406030204" pitchFamily="18" charset="0"/>
                                  <a:ea typeface="Cambria Math" panose="02040503050406030204" pitchFamily="18" charset="0"/>
                                </a:rPr>
                              </m:ctrlPr>
                            </m:d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d>
                          <m:r>
                            <m:rPr>
                              <m:sty m:val="p"/>
                            </m:rPr>
                            <a:rPr lang="en-US">
                              <a:solidFill>
                                <a:srgbClr val="000000"/>
                              </a:solidFill>
                              <a:latin typeface="Cambria Math" panose="02040503050406030204" pitchFamily="18" charset="0"/>
                              <a:ea typeface="Cambria Math" panose="02040503050406030204" pitchFamily="18" charset="0"/>
                            </a:rPr>
                            <m:t>max</m:t>
                          </m:r>
                        </m:num>
                        <m:den>
                          <m:d>
                            <m:dPr>
                              <m:begChr m:val="|"/>
                              <m:endChr m:val="|"/>
                              <m:ctrlPr>
                                <a:rPr lang="en-US" i="1">
                                  <a:solidFill>
                                    <a:srgbClr val="000000"/>
                                  </a:solidFill>
                                  <a:latin typeface="Cambria Math" panose="02040503050406030204" pitchFamily="18" charset="0"/>
                                  <a:ea typeface="Cambria Math" panose="02040503050406030204" pitchFamily="18" charset="0"/>
                                </a:rPr>
                              </m:ctrlPr>
                            </m:dPr>
                            <m:e>
                              <m:acc>
                                <m:accPr>
                                  <m:chr m:val="̃"/>
                                  <m:ctrlPr>
                                    <a:rPr lang="en-US" i="1">
                                      <a:solidFill>
                                        <a:srgbClr val="000000"/>
                                      </a:solidFill>
                                      <a:latin typeface="Cambria Math" panose="02040503050406030204" pitchFamily="18" charset="0"/>
                                      <a:ea typeface="Cambria Math" panose="02040503050406030204" pitchFamily="18" charset="0"/>
                                    </a:rPr>
                                  </m:ctrlPr>
                                </m:accPr>
                                <m:e>
                                  <m:r>
                                    <m:rPr>
                                      <m:sty m:val="p"/>
                                    </m:rPr>
                                    <a:rPr lang="en-US">
                                      <a:solidFill>
                                        <a:srgbClr val="000000"/>
                                      </a:solidFill>
                                      <a:latin typeface="Cambria Math" panose="02040503050406030204" pitchFamily="18" charset="0"/>
                                      <a:ea typeface="Cambria Math" panose="02040503050406030204" pitchFamily="18" charset="0"/>
                                    </a:rPr>
                                    <m:t>V</m:t>
                                  </m:r>
                                </m:e>
                              </m:acc>
                            </m:e>
                          </m:d>
                          <m:r>
                            <m:rPr>
                              <m:sty m:val="p"/>
                            </m:rPr>
                            <a:rPr lang="en-US">
                              <a:solidFill>
                                <a:srgbClr val="000000"/>
                              </a:solidFill>
                              <a:latin typeface="Cambria Math" panose="02040503050406030204" pitchFamily="18" charset="0"/>
                              <a:ea typeface="Cambria Math" panose="02040503050406030204" pitchFamily="18" charset="0"/>
                            </a:rPr>
                            <m:t>min</m:t>
                          </m:r>
                        </m:den>
                      </m:f>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a:rPr lang="en-US" i="1">
                              <a:solidFill>
                                <a:srgbClr val="000000"/>
                              </a:solidFill>
                              <a:latin typeface="Cambria Math" panose="02040503050406030204" pitchFamily="18" charset="0"/>
                              <a:ea typeface="Cambria Math" panose="020405030504060302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num>
                        <m:den>
                          <m:r>
                            <a:rPr lang="en-US" i="1">
                              <a:solidFill>
                                <a:srgbClr val="000000"/>
                              </a:solidFill>
                              <a:latin typeface="Cambria Math" panose="02040503050406030204" pitchFamily="18" charset="0"/>
                              <a:ea typeface="Cambria Math" panose="02040503050406030204" pitchFamily="18" charset="0"/>
                            </a:rPr>
                            <m:t>1−</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den>
                      </m:f>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where</m:t>
                      </m:r>
                      <m:r>
                        <a:rPr lang="en-US">
                          <a:solidFill>
                            <a:srgbClr val="000000"/>
                          </a:solidFill>
                          <a:latin typeface="Cambria Math" panose="02040503050406030204" pitchFamily="18" charset="0"/>
                          <a:ea typeface="Cambria Math" panose="02040503050406030204" pitchFamily="18" charset="0"/>
                        </a:rPr>
                        <m:t> </m:t>
                      </m:r>
                      <m:r>
                        <m:rPr>
                          <m:sty m:val="p"/>
                        </m:rPr>
                        <a:rPr lang="el-GR" i="1">
                          <a:solidFill>
                            <a:srgbClr val="000000"/>
                          </a:solidFill>
                          <a:latin typeface="Cambria Math" panose="02040503050406030204" pitchFamily="18" charset="0"/>
                          <a:ea typeface="Cambria Math" panose="02040503050406030204" pitchFamily="18" charset="0"/>
                        </a:rPr>
                        <m:t>Γ</m:t>
                      </m:r>
                      <m:r>
                        <a:rPr lang="en-US">
                          <a:solidFill>
                            <a:srgbClr val="000000"/>
                          </a:solidFill>
                          <a:latin typeface="Cambria Math" panose="02040503050406030204" pitchFamily="18" charset="0"/>
                          <a:ea typeface="Cambria Math" panose="02040503050406030204" pitchFamily="18" charset="0"/>
                        </a:rPr>
                        <m:t>=</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sSup>
                        <m:sSupPr>
                          <m:ctrlPr>
                            <a:rPr lang="en-US" i="1">
                              <a:solidFill>
                                <a:srgbClr val="000000"/>
                              </a:solidFill>
                              <a:latin typeface="Cambria Math" panose="02040503050406030204" pitchFamily="18" charset="0"/>
                              <a:ea typeface="Cambria Math" panose="02040503050406030204" pitchFamily="18" charset="0"/>
                            </a:rPr>
                          </m:ctrlPr>
                        </m:sSupPr>
                        <m:e>
                          <m:r>
                            <m:rPr>
                              <m:sty m:val="p"/>
                            </m:rPr>
                            <a:rPr lang="en-US">
                              <a:solidFill>
                                <a:srgbClr val="000000"/>
                              </a:solidFill>
                              <a:latin typeface="Cambria Math" panose="02040503050406030204" pitchFamily="18" charset="0"/>
                              <a:ea typeface="Cambria Math" panose="02040503050406030204" pitchFamily="18" charset="0"/>
                            </a:rPr>
                            <m:t>e</m:t>
                          </m:r>
                        </m:e>
                        <m:sup>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θ</m:t>
                              </m:r>
                            </m:e>
                            <m:sub>
                              <m:r>
                                <m:rPr>
                                  <m:sty m:val="p"/>
                                </m:rPr>
                                <a:rPr lang="en-US">
                                  <a:solidFill>
                                    <a:srgbClr val="000000"/>
                                  </a:solidFill>
                                  <a:latin typeface="Cambria Math" panose="02040503050406030204" pitchFamily="18" charset="0"/>
                                  <a:ea typeface="Cambria Math" panose="02040503050406030204" pitchFamily="18" charset="0"/>
                                </a:rPr>
                                <m:t>r</m:t>
                              </m:r>
                            </m:sub>
                          </m:sSub>
                        </m:sup>
                      </m:sSup>
                    </m:oMath>
                  </m:oMathPara>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Points </a:t>
                </a:r>
                <a:r>
                  <a:rPr lang="en-US" dirty="0" err="1">
                    <a:solidFill>
                      <a:srgbClr val="000000"/>
                    </a:solidFill>
                    <a:latin typeface="Cambria Math" panose="02040503050406030204" pitchFamily="18" charset="0"/>
                    <a:ea typeface="Cambria Math" panose="02040503050406030204" pitchFamily="18" charset="0"/>
                  </a:rPr>
                  <a:t>P</a:t>
                </a:r>
                <a:r>
                  <a:rPr lang="en-US" baseline="-25000" dirty="0" err="1">
                    <a:solidFill>
                      <a:srgbClr val="000000"/>
                    </a:solidFill>
                    <a:latin typeface="Cambria Math" panose="02040503050406030204" pitchFamily="18" charset="0"/>
                    <a:ea typeface="Cambria Math" panose="02040503050406030204" pitchFamily="18" charset="0"/>
                  </a:rPr>
                  <a:t>max</a:t>
                </a:r>
                <a:r>
                  <a:rPr lang="en-US" dirty="0">
                    <a:solidFill>
                      <a:srgbClr val="000000"/>
                    </a:solidFill>
                    <a:latin typeface="Cambria Math" panose="02040503050406030204" pitchFamily="18" charset="0"/>
                    <a:ea typeface="Cambria Math" panose="02040503050406030204" pitchFamily="18" charset="0"/>
                  </a:rPr>
                  <a:t> and </a:t>
                </a:r>
                <a:r>
                  <a:rPr lang="en-US" dirty="0" err="1">
                    <a:solidFill>
                      <a:srgbClr val="000000"/>
                    </a:solidFill>
                    <a:latin typeface="Cambria Math" panose="02040503050406030204" pitchFamily="18" charset="0"/>
                    <a:ea typeface="Cambria Math" panose="02040503050406030204" pitchFamily="18" charset="0"/>
                  </a:rPr>
                  <a:t>P</a:t>
                </a:r>
                <a:r>
                  <a:rPr lang="en-US" baseline="-25000" dirty="0" err="1">
                    <a:solidFill>
                      <a:srgbClr val="000000"/>
                    </a:solidFill>
                    <a:latin typeface="Cambria Math" panose="02040503050406030204" pitchFamily="18" charset="0"/>
                    <a:ea typeface="Cambria Math" panose="02040503050406030204" pitchFamily="18" charset="0"/>
                  </a:rPr>
                  <a:t>min</a:t>
                </a:r>
                <a:r>
                  <a:rPr lang="en-US" dirty="0">
                    <a:solidFill>
                      <a:srgbClr val="000000"/>
                    </a:solidFill>
                    <a:latin typeface="Cambria Math" panose="02040503050406030204" pitchFamily="18" charset="0"/>
                    <a:ea typeface="Cambria Math" panose="02040503050406030204" pitchFamily="18" charset="0"/>
                  </a:rPr>
                  <a:t> correspond to </a:t>
                </a:r>
                <a14:m>
                  <m:oMath xmlns:m="http://schemas.openxmlformats.org/officeDocument/2006/math">
                    <m:sSub>
                      <m:sSubPr>
                        <m:ctrlPr>
                          <a:rPr lang="el-GR" i="1" smtClean="0">
                            <a:solidFill>
                              <a:srgbClr val="000000"/>
                            </a:solidFill>
                            <a:latin typeface="Cambria Math" panose="02040503050406030204" pitchFamily="18" charset="0"/>
                            <a:ea typeface="Cambria Math" panose="02040503050406030204" pitchFamily="18" charset="0"/>
                          </a:rPr>
                        </m:ctrlPr>
                      </m:sSubPr>
                      <m:e>
                        <m:r>
                          <m:rPr>
                            <m:sty m:val="p"/>
                          </m:rPr>
                          <a:rPr lang="el-GR" i="0">
                            <a:solidFill>
                              <a:srgbClr val="000000"/>
                            </a:solidFill>
                            <a:latin typeface="Cambria Math" panose="02040503050406030204" pitchFamily="18" charset="0"/>
                            <a:ea typeface="Cambria Math" panose="02040503050406030204" pitchFamily="18" charset="0"/>
                          </a:rPr>
                          <m:t>Γ</m:t>
                        </m:r>
                      </m:e>
                      <m:sub>
                        <m:r>
                          <m:rPr>
                            <m:sty m:val="p"/>
                          </m:rPr>
                          <a:rPr lang="en-US" b="0" i="0" smtClean="0">
                            <a:solidFill>
                              <a:srgbClr val="000000"/>
                            </a:solidFill>
                            <a:latin typeface="Cambria Math" panose="02040503050406030204" pitchFamily="18" charset="0"/>
                            <a:ea typeface="Cambria Math" panose="02040503050406030204" pitchFamily="18" charset="0"/>
                          </a:rPr>
                          <m:t>i</m:t>
                        </m:r>
                      </m:sub>
                    </m:sSub>
                    <m:r>
                      <a:rPr lang="en-US" b="0" i="1" smtClean="0">
                        <a:solidFill>
                          <a:srgbClr val="000000"/>
                        </a:solidFill>
                        <a:latin typeface="Cambria Math" panose="02040503050406030204" pitchFamily="18" charset="0"/>
                        <a:ea typeface="Cambria Math" panose="02040503050406030204" pitchFamily="18" charset="0"/>
                      </a:rPr>
                      <m:t>=0.</m:t>
                    </m:r>
                  </m:oMath>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m:rPr>
                        <m:sty m:val="p"/>
                      </m:rPr>
                      <a:rPr lang="el-GR" i="1">
                        <a:solidFill>
                          <a:srgbClr val="000000"/>
                        </a:solidFill>
                        <a:latin typeface="Cambria Math" panose="02040503050406030204" pitchFamily="18" charset="0"/>
                        <a:ea typeface="Cambria Math" panose="02040503050406030204" pitchFamily="18" charset="0"/>
                      </a:rPr>
                      <m:t>Γ</m:t>
                    </m:r>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i="1">
                            <a:solidFill>
                              <a:srgbClr val="000000"/>
                            </a:solidFill>
                            <a:latin typeface="Cambria Math" panose="02040503050406030204" pitchFamily="18" charset="0"/>
                            <a:ea typeface="Cambria Math" panose="02040503050406030204" pitchFamily="18" charset="0"/>
                          </a:rPr>
                          <m:t>+1</m:t>
                        </m:r>
                      </m:den>
                    </m:f>
                  </m:oMath>
                </a14:m>
                <a:r>
                  <a:rPr lang="en-US" dirty="0">
                    <a:solidFill>
                      <a:srgbClr val="000000"/>
                    </a:solidFill>
                    <a:latin typeface="Cambria Math" panose="02040503050406030204" pitchFamily="18" charset="0"/>
                    <a:ea typeface="Cambria Math" panose="02040503050406030204" pitchFamily="18" charset="0"/>
                  </a:rPr>
                  <a:t>, where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z</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b="0" i="1" smtClean="0">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jx</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a:solidFill>
                          <a:srgbClr val="000000"/>
                        </a:solidFill>
                        <a:latin typeface="Cambria Math" panose="02040503050406030204" pitchFamily="18" charset="0"/>
                        <a:ea typeface="Cambria Math" panose="02040503050406030204" pitchFamily="18" charset="0"/>
                      </a:rPr>
                      <m:t>.</m:t>
                    </m:r>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For</m:t>
                    </m:r>
                    <m:r>
                      <a:rPr lang="en-US" b="0" i="0" smtClean="0">
                        <a:solidFill>
                          <a:srgbClr val="000000"/>
                        </a:solidFill>
                        <a:latin typeface="Cambria Math" panose="02040503050406030204" pitchFamily="18" charset="0"/>
                        <a:ea typeface="Cambria Math" panose="02040503050406030204" pitchFamily="18" charset="0"/>
                      </a:rPr>
                      <m:t> </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i</m:t>
                        </m:r>
                      </m:sub>
                    </m:sSub>
                    <m:r>
                      <a:rPr lang="en-US" i="1">
                        <a:solidFill>
                          <a:srgbClr val="000000"/>
                        </a:solidFill>
                        <a:latin typeface="Cambria Math" panose="02040503050406030204" pitchFamily="18" charset="0"/>
                        <a:ea typeface="Cambria Math" panose="02040503050406030204" pitchFamily="18" charset="0"/>
                      </a:rPr>
                      <m:t>=0</m:t>
                    </m:r>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x</m:t>
                        </m:r>
                      </m:e>
                      <m:sub>
                        <m:r>
                          <m:rPr>
                            <m:sty m:val="p"/>
                          </m:rPr>
                          <a:rPr lang="en-US">
                            <a:solidFill>
                              <a:srgbClr val="000000"/>
                            </a:solidFill>
                            <a:latin typeface="Cambria Math" panose="02040503050406030204" pitchFamily="18" charset="0"/>
                            <a:ea typeface="Cambria Math" panose="02040503050406030204" pitchFamily="18" charset="0"/>
                          </a:rPr>
                          <m:t>L</m:t>
                        </m:r>
                      </m:sub>
                    </m:sSub>
                    <m:r>
                      <a:rPr lang="en-US" b="0" i="1" smtClean="0">
                        <a:solidFill>
                          <a:srgbClr val="000000"/>
                        </a:solidFill>
                        <a:latin typeface="Cambria Math" panose="02040503050406030204" pitchFamily="18" charset="0"/>
                        <a:ea typeface="Cambria Math" panose="02040503050406030204" pitchFamily="18" charset="0"/>
                      </a:rPr>
                      <m:t>=0</m:t>
                    </m:r>
                    <m:r>
                      <a:rPr lang="en-US">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solidFill>
                      <a:srgbClr val="000000"/>
                    </a:solidFill>
                    <a:latin typeface="Cambria Math" panose="02040503050406030204" pitchFamily="18" charset="0"/>
                    <a:ea typeface="Cambria Math" panose="02040503050406030204" pitchFamily="18" charset="0"/>
                  </a:rPr>
                  <a:t>Therefore, </a:t>
                </a:r>
                <a14:m>
                  <m:oMath xmlns:m="http://schemas.openxmlformats.org/officeDocument/2006/math">
                    <m:r>
                      <m:rPr>
                        <m:sty m:val="p"/>
                      </m:rPr>
                      <a:rPr lang="el-GR" i="1">
                        <a:solidFill>
                          <a:srgbClr val="000000"/>
                        </a:solidFill>
                        <a:latin typeface="Cambria Math" panose="02040503050406030204" pitchFamily="18" charset="0"/>
                        <a:ea typeface="Cambria Math" panose="02040503050406030204" pitchFamily="18" charset="0"/>
                      </a:rPr>
                      <m:t>Γ</m:t>
                    </m:r>
                    <m:r>
                      <a:rPr lang="en-US" i="1">
                        <a:solidFill>
                          <a:srgbClr val="000000"/>
                        </a:solidFill>
                        <a:latin typeface="Cambria Math" panose="02040503050406030204" pitchFamily="18" charset="0"/>
                        <a:ea typeface="Cambria Math" panose="02040503050406030204" pitchFamily="18" charset="0"/>
                      </a:rPr>
                      <m:t>=</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b="0" i="0" smtClean="0">
                            <a:solidFill>
                              <a:srgbClr val="000000"/>
                            </a:solidFill>
                            <a:latin typeface="Cambria Math" panose="02040503050406030204" pitchFamily="18" charset="0"/>
                            <a:ea typeface="Cambria Math" panose="02040503050406030204" pitchFamily="18" charset="0"/>
                          </a:rPr>
                          <m:t>r</m:t>
                        </m:r>
                      </m:sub>
                    </m:sSub>
                    <m:r>
                      <a:rPr lang="en-US" i="1">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a:rPr lang="en-US" b="0" i="0" smtClean="0">
                                <a:solidFill>
                                  <a:srgbClr val="000000"/>
                                </a:solidFill>
                                <a:latin typeface="Cambria Math" panose="02040503050406030204" pitchFamily="18" charset="0"/>
                                <a:ea typeface="Cambria Math" panose="02040503050406030204" pitchFamily="18" charset="0"/>
                              </a:rPr>
                              <m:t>0</m:t>
                            </m:r>
                          </m:sub>
                        </m:sSub>
                        <m:r>
                          <a:rPr lang="en-US" i="1">
                            <a:solidFill>
                              <a:srgbClr val="000000"/>
                            </a:solidFill>
                            <a:latin typeface="Cambria Math" panose="02040503050406030204" pitchFamily="18" charset="0"/>
                            <a:ea typeface="Cambria Math" panose="02040503050406030204" pitchFamily="18" charset="0"/>
                          </a:rPr>
                          <m:t>−1</m:t>
                        </m:r>
                      </m:num>
                      <m:den>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r</m:t>
                            </m:r>
                          </m:e>
                          <m:sub>
                            <m:r>
                              <a:rPr lang="en-US" b="0" i="0" smtClean="0">
                                <a:solidFill>
                                  <a:srgbClr val="000000"/>
                                </a:solidFill>
                                <a:latin typeface="Cambria Math" panose="02040503050406030204" pitchFamily="18" charset="0"/>
                                <a:ea typeface="Cambria Math" panose="02040503050406030204" pitchFamily="18" charset="0"/>
                              </a:rPr>
                              <m:t>0</m:t>
                            </m:r>
                          </m:sub>
                        </m:sSub>
                        <m:r>
                          <a:rPr lang="en-US" i="1">
                            <a:solidFill>
                              <a:srgbClr val="000000"/>
                            </a:solidFill>
                            <a:latin typeface="Cambria Math" panose="02040503050406030204" pitchFamily="18" charset="0"/>
                            <a:ea typeface="Cambria Math" panose="02040503050406030204" pitchFamily="18" charset="0"/>
                          </a:rPr>
                          <m:t>+1</m:t>
                        </m:r>
                      </m:den>
                    </m:f>
                    <m:r>
                      <m:rPr>
                        <m:nor/>
                      </m:rPr>
                      <a:rPr lang="en-US" b="0" i="0" smtClean="0">
                        <a:solidFill>
                          <a:srgbClr val="000000"/>
                        </a:solidFill>
                        <a:latin typeface="Cambria Math" panose="02040503050406030204" pitchFamily="18" charset="0"/>
                        <a:ea typeface="Cambria Math" panose="02040503050406030204" pitchFamily="18" charset="0"/>
                      </a:rPr>
                      <m:t> </m:t>
                    </m:r>
                    <m:r>
                      <m:rPr>
                        <m:nor/>
                      </m:rPr>
                      <a:rPr lang="en-US" b="0" i="0" smtClean="0">
                        <a:solidFill>
                          <a:srgbClr val="000000"/>
                        </a:solidFill>
                        <a:latin typeface="Cambria Math" panose="02040503050406030204" pitchFamily="18" charset="0"/>
                        <a:ea typeface="Cambria Math" panose="02040503050406030204" pitchFamily="18" charset="0"/>
                      </a:rPr>
                      <m:t>for</m:t>
                    </m:r>
                    <m:r>
                      <m:rPr>
                        <m:nor/>
                      </m:rPr>
                      <a:rPr lang="en-US" b="0" i="0" smtClean="0">
                        <a:solidFill>
                          <a:srgbClr val="000000"/>
                        </a:solidFill>
                        <a:latin typeface="Cambria Math" panose="02040503050406030204" pitchFamily="18" charset="0"/>
                        <a:ea typeface="Cambria Math" panose="02040503050406030204" pitchFamily="18" charset="0"/>
                      </a:rPr>
                      <m:t> </m:t>
                    </m:r>
                    <m:r>
                      <m:rPr>
                        <m:nor/>
                      </m:rPr>
                      <a:rPr lang="en-US" b="0" i="0" smtClean="0">
                        <a:solidFill>
                          <a:srgbClr val="000000"/>
                        </a:solidFill>
                        <a:latin typeface="Cambria Math" panose="02040503050406030204" pitchFamily="18" charset="0"/>
                        <a:ea typeface="Cambria Math" panose="02040503050406030204" pitchFamily="18" charset="0"/>
                      </a:rPr>
                      <m:t>points</m:t>
                    </m:r>
                    <m:r>
                      <m:rPr>
                        <m:nor/>
                      </m:rPr>
                      <a:rPr lang="en-US" b="0" i="0"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P</m:t>
                        </m:r>
                      </m:e>
                      <m:sub>
                        <m:r>
                          <m:rPr>
                            <m:sty m:val="p"/>
                          </m:rPr>
                          <a:rPr lang="en-US">
                            <a:solidFill>
                              <a:srgbClr val="000000"/>
                            </a:solidFill>
                            <a:latin typeface="Cambria Math" panose="02040503050406030204" pitchFamily="18" charset="0"/>
                            <a:ea typeface="Cambria Math" panose="02040503050406030204" pitchFamily="18" charset="0"/>
                          </a:rPr>
                          <m:t>max</m:t>
                        </m:r>
                      </m:sub>
                    </m:sSub>
                    <m:r>
                      <a:rPr lang="en-US">
                        <a:solidFill>
                          <a:srgbClr val="000000"/>
                        </a:solidFill>
                        <a:latin typeface="Cambria Math" panose="02040503050406030204" pitchFamily="18" charset="0"/>
                        <a:ea typeface="Cambria Math" panose="02040503050406030204" pitchFamily="18" charset="0"/>
                      </a:rPr>
                      <m:t> </m:t>
                    </m:r>
                    <m:r>
                      <m:rPr>
                        <m:sty m:val="p"/>
                      </m:rPr>
                      <a:rPr lang="en-US">
                        <a:solidFill>
                          <a:srgbClr val="000000"/>
                        </a:solidFill>
                        <a:latin typeface="Cambria Math" panose="02040503050406030204" pitchFamily="18" charset="0"/>
                        <a:ea typeface="Cambria Math" panose="02040503050406030204" pitchFamily="18" charset="0"/>
                      </a:rPr>
                      <m:t>and</m:t>
                    </m:r>
                    <m:r>
                      <a:rPr lang="en-US">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P</m:t>
                        </m:r>
                      </m:e>
                      <m:sub>
                        <m:r>
                          <m:rPr>
                            <m:sty m:val="p"/>
                          </m:rPr>
                          <a:rPr lang="en-US">
                            <a:solidFill>
                              <a:srgbClr val="000000"/>
                            </a:solidFill>
                            <a:latin typeface="Cambria Math" panose="02040503050406030204" pitchFamily="18" charset="0"/>
                            <a:ea typeface="Cambria Math" panose="02040503050406030204" pitchFamily="18" charset="0"/>
                          </a:rPr>
                          <m:t>min</m:t>
                        </m:r>
                      </m:sub>
                    </m:sSub>
                    <m:r>
                      <m:rPr>
                        <m:nor/>
                      </m:rPr>
                      <a:rPr lang="en-US" dirty="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r>
                  <a:rPr lang="en-US" dirty="0">
                    <a:solidFill>
                      <a:srgbClr val="000000"/>
                    </a:solidFill>
                    <a:latin typeface="Cambria Math" panose="02040503050406030204" pitchFamily="18" charset="0"/>
                    <a:ea typeface="Cambria Math" panose="02040503050406030204" pitchFamily="18" charset="0"/>
                  </a:rPr>
                  <a:t>where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a:rPr lang="en-US" b="0" i="0" smtClean="0">
                            <a:solidFill>
                              <a:srgbClr val="000000"/>
                            </a:solidFill>
                            <a:latin typeface="Cambria Math" panose="02040503050406030204" pitchFamily="18" charset="0"/>
                            <a:ea typeface="Cambria Math" panose="02040503050406030204" pitchFamily="18" charset="0"/>
                          </a:rPr>
                          <m:t>0</m:t>
                        </m:r>
                      </m:sub>
                    </m:sSub>
                    <m:r>
                      <a:rPr lang="en-US" i="1">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r</m:t>
                        </m:r>
                      </m:e>
                      <m:sub>
                        <m:r>
                          <m:rPr>
                            <m:sty m:val="p"/>
                          </m:rPr>
                          <a:rPr lang="en-US">
                            <a:solidFill>
                              <a:srgbClr val="000000"/>
                            </a:solidFill>
                            <a:latin typeface="Cambria Math" panose="02040503050406030204" pitchFamily="18" charset="0"/>
                            <a:ea typeface="Cambria Math" panose="02040503050406030204" pitchFamily="18" charset="0"/>
                          </a:rPr>
                          <m:t>L</m:t>
                        </m:r>
                      </m:sub>
                    </m:sSub>
                  </m:oMath>
                </a14:m>
                <a:r>
                  <a:rPr lang="en-US" dirty="0">
                    <a:solidFill>
                      <a:srgbClr val="000000"/>
                    </a:solidFill>
                    <a:latin typeface="Cambria Math" panose="02040503050406030204" pitchFamily="18" charset="0"/>
                    <a:ea typeface="Cambria Math" panose="02040503050406030204" pitchFamily="18" charset="0"/>
                  </a:rPr>
                  <a:t> at intersection points </a:t>
                </a:r>
                <a14:m>
                  <m:oMath xmlns:m="http://schemas.openxmlformats.org/officeDocument/2006/math">
                    <m:sSub>
                      <m:sSubPr>
                        <m:ctrlPr>
                          <a:rPr lang="en-US"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P</m:t>
                        </m:r>
                      </m:e>
                      <m:sub>
                        <m:r>
                          <m:rPr>
                            <m:sty m:val="p"/>
                          </m:rPr>
                          <a:rPr lang="en-US" b="0" i="0" smtClean="0">
                            <a:solidFill>
                              <a:srgbClr val="000000"/>
                            </a:solidFill>
                            <a:latin typeface="Cambria Math" panose="02040503050406030204" pitchFamily="18" charset="0"/>
                            <a:ea typeface="Cambria Math" panose="02040503050406030204" pitchFamily="18" charset="0"/>
                          </a:rPr>
                          <m:t>max</m:t>
                        </m:r>
                      </m:sub>
                    </m:sSub>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and</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b="0" i="1" smtClean="0">
                            <a:solidFill>
                              <a:srgbClr val="000000"/>
                            </a:solidFill>
                            <a:latin typeface="Cambria Math" panose="02040503050406030204" pitchFamily="18" charset="0"/>
                            <a:ea typeface="Cambria Math" panose="02040503050406030204" pitchFamily="18" charset="0"/>
                          </a:rPr>
                        </m:ctrlPr>
                      </m:sSubPr>
                      <m:e>
                        <m:r>
                          <m:rPr>
                            <m:sty m:val="p"/>
                          </m:rPr>
                          <a:rPr lang="en-US" b="0" i="0" smtClean="0">
                            <a:solidFill>
                              <a:srgbClr val="000000"/>
                            </a:solidFill>
                            <a:latin typeface="Cambria Math" panose="02040503050406030204" pitchFamily="18" charset="0"/>
                            <a:ea typeface="Cambria Math" panose="02040503050406030204" pitchFamily="18" charset="0"/>
                          </a:rPr>
                          <m:t>P</m:t>
                        </m:r>
                      </m:e>
                      <m:sub>
                        <m:r>
                          <m:rPr>
                            <m:sty m:val="p"/>
                          </m:rPr>
                          <a:rPr lang="en-US" b="0" i="0" smtClean="0">
                            <a:solidFill>
                              <a:srgbClr val="000000"/>
                            </a:solidFill>
                            <a:latin typeface="Cambria Math" panose="02040503050406030204" pitchFamily="18" charset="0"/>
                            <a:ea typeface="Cambria Math" panose="02040503050406030204" pitchFamily="18" charset="0"/>
                          </a:rPr>
                          <m:t>min</m:t>
                        </m:r>
                      </m:sub>
                    </m:sSub>
                    <m:r>
                      <a:rPr lang="en-US" b="0" i="1" smtClean="0">
                        <a:solidFill>
                          <a:srgbClr val="000000"/>
                        </a:solidFill>
                        <a:latin typeface="Cambria Math" panose="02040503050406030204" pitchFamily="18" charset="0"/>
                        <a:ea typeface="Cambria Math" panose="02040503050406030204" pitchFamily="18" charset="0"/>
                      </a:rPr>
                      <m:t>.</m:t>
                    </m:r>
                  </m:oMath>
                </a14:m>
                <a:endParaRPr lang="en-US" dirty="0">
                  <a:solidFill>
                    <a:srgbClr val="000000"/>
                  </a:solidFill>
                  <a:latin typeface="Cambria Math" panose="02040503050406030204" pitchFamily="18" charset="0"/>
                  <a:ea typeface="Cambria Math" panose="02040503050406030204" pitchFamily="18" charset="0"/>
                </a:endParaRPr>
              </a:p>
              <a:p>
                <a:endParaRPr lang="en-US" dirty="0">
                  <a:solidFill>
                    <a:srgbClr val="000000"/>
                  </a:solidFill>
                  <a:latin typeface="Cambria Math" panose="02040503050406030204" pitchFamily="18" charset="0"/>
                  <a:ea typeface="Cambria Math" panose="02040503050406030204" pitchFamily="18" charset="0"/>
                </a:endParaRPr>
              </a:p>
              <a:p>
                <a14:m>
                  <m:oMath xmlns:m="http://schemas.openxmlformats.org/officeDocument/2006/math">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r>
                      <a:rPr lang="en-US">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S</m:t>
                        </m:r>
                        <m:r>
                          <a:rPr lang="en-US">
                            <a:solidFill>
                              <a:srgbClr val="000000"/>
                            </a:solidFill>
                            <a:latin typeface="Cambria Math" panose="02040503050406030204" pitchFamily="18" charset="0"/>
                            <a:ea typeface="Cambria Math" panose="02040503050406030204" pitchFamily="18" charset="0"/>
                          </a:rPr>
                          <m:t>−1</m:t>
                        </m:r>
                      </m:num>
                      <m:den>
                        <m:r>
                          <m:rPr>
                            <m:sty m:val="p"/>
                          </m:rPr>
                          <a:rPr lang="en-US">
                            <a:solidFill>
                              <a:srgbClr val="000000"/>
                            </a:solidFill>
                            <a:latin typeface="Cambria Math" panose="02040503050406030204" pitchFamily="18" charset="0"/>
                            <a:ea typeface="Cambria Math" panose="02040503050406030204" pitchFamily="18" charset="0"/>
                          </a:rPr>
                          <m:t>S</m:t>
                        </m:r>
                        <m:r>
                          <a:rPr lang="en-US">
                            <a:solidFill>
                              <a:srgbClr val="000000"/>
                            </a:solidFill>
                            <a:latin typeface="Cambria Math" panose="02040503050406030204" pitchFamily="18" charset="0"/>
                            <a:ea typeface="Cambria Math" panose="02040503050406030204" pitchFamily="18" charset="0"/>
                          </a:rPr>
                          <m:t>+1</m:t>
                        </m:r>
                      </m:den>
                    </m:f>
                    <m:r>
                      <a:rPr lang="en-US" b="0" i="0" smtClean="0">
                        <a:solidFill>
                          <a:srgbClr val="000000"/>
                        </a:solidFill>
                        <a:latin typeface="Cambria Math" panose="02040503050406030204" pitchFamily="18" charset="0"/>
                        <a:ea typeface="Cambria Math" panose="02040503050406030204" pitchFamily="18" charset="0"/>
                      </a:rPr>
                      <m:t>. </m:t>
                    </m:r>
                    <m:r>
                      <m:rPr>
                        <m:sty m:val="p"/>
                      </m:rPr>
                      <a:rPr lang="en-US" b="0" i="0" smtClean="0">
                        <a:solidFill>
                          <a:srgbClr val="000000"/>
                        </a:solidFill>
                        <a:latin typeface="Cambria Math" panose="02040503050406030204" pitchFamily="18" charset="0"/>
                        <a:ea typeface="Cambria Math" panose="02040503050406030204" pitchFamily="18" charset="0"/>
                      </a:rPr>
                      <m:t>At</m:t>
                    </m:r>
                    <m:r>
                      <a:rPr lang="en-US" b="0" i="0" smtClean="0">
                        <a:solidFill>
                          <a:srgbClr val="000000"/>
                        </a:solidFill>
                        <a:latin typeface="Cambria Math" panose="02040503050406030204" pitchFamily="18" charset="0"/>
                        <a:ea typeface="Cambria Math" panose="02040503050406030204" pitchFamily="18" charset="0"/>
                      </a:rPr>
                      <m:t> </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P</m:t>
                        </m:r>
                      </m:e>
                      <m:sub>
                        <m:r>
                          <m:rPr>
                            <m:sty m:val="p"/>
                          </m:rPr>
                          <a:rPr lang="en-US">
                            <a:solidFill>
                              <a:srgbClr val="000000"/>
                            </a:solidFill>
                            <a:latin typeface="Cambria Math" panose="02040503050406030204" pitchFamily="18" charset="0"/>
                            <a:ea typeface="Cambria Math" panose="02040503050406030204" pitchFamily="18" charset="0"/>
                          </a:rPr>
                          <m:t>max</m:t>
                        </m:r>
                      </m:sub>
                    </m:sSub>
                    <m:r>
                      <a:rPr lang="en-US" b="0" i="1" smtClean="0">
                        <a:solidFill>
                          <a:srgbClr val="000000"/>
                        </a:solidFill>
                        <a:latin typeface="Cambria Math" panose="02040503050406030204" pitchFamily="18" charset="0"/>
                        <a:ea typeface="Cambria Math" panose="02040503050406030204" pitchFamily="18" charset="0"/>
                      </a:rPr>
                      <m:t>,</m:t>
                    </m:r>
                    <m:d>
                      <m:dPr>
                        <m:begChr m:val="|"/>
                        <m:endChr m:val="|"/>
                        <m:ctrlPr>
                          <a:rPr lang="en-US" i="1">
                            <a:solidFill>
                              <a:srgbClr val="000000"/>
                            </a:solidFill>
                            <a:latin typeface="Cambria Math" panose="02040503050406030204" pitchFamily="18" charset="0"/>
                            <a:ea typeface="Cambria Math" panose="02040503050406030204" pitchFamily="18" charset="0"/>
                          </a:rPr>
                        </m:ctrlPr>
                      </m:dPr>
                      <m:e>
                        <m:r>
                          <m:rPr>
                            <m:sty m:val="p"/>
                          </m:rPr>
                          <a:rPr lang="el-GR" i="1">
                            <a:solidFill>
                              <a:srgbClr val="000000"/>
                            </a:solidFill>
                            <a:latin typeface="Cambria Math" panose="02040503050406030204" pitchFamily="18" charset="0"/>
                            <a:ea typeface="Cambria Math" panose="02040503050406030204" pitchFamily="18" charset="0"/>
                          </a:rPr>
                          <m:t>Γ</m:t>
                        </m:r>
                      </m:e>
                    </m:d>
                    <m:r>
                      <a:rPr lang="en-US">
                        <a:solidFill>
                          <a:srgbClr val="000000"/>
                        </a:solidFill>
                        <a:latin typeface="Cambria Math" panose="02040503050406030204" pitchFamily="18" charset="0"/>
                        <a:ea typeface="Cambria Math" panose="02040503050406030204" pitchFamily="18" charset="0"/>
                      </a:rPr>
                      <m:t>=</m:t>
                    </m:r>
                    <m:sSub>
                      <m:sSubPr>
                        <m:ctrlPr>
                          <a:rPr lang="el-GR" i="1">
                            <a:solidFill>
                              <a:srgbClr val="000000"/>
                            </a:solidFill>
                            <a:latin typeface="Cambria Math" panose="02040503050406030204" pitchFamily="18" charset="0"/>
                            <a:ea typeface="Cambria Math" panose="02040503050406030204" pitchFamily="18" charset="0"/>
                          </a:rPr>
                        </m:ctrlPr>
                      </m:sSubPr>
                      <m:e>
                        <m:r>
                          <m:rPr>
                            <m:sty m:val="p"/>
                          </m:rPr>
                          <a:rPr lang="el-GR">
                            <a:solidFill>
                              <a:srgbClr val="000000"/>
                            </a:solidFill>
                            <a:latin typeface="Cambria Math" panose="02040503050406030204" pitchFamily="18" charset="0"/>
                            <a:ea typeface="Cambria Math" panose="02040503050406030204" pitchFamily="18" charset="0"/>
                          </a:rPr>
                          <m:t>Γ</m:t>
                        </m:r>
                      </m:e>
                      <m:sub>
                        <m:r>
                          <m:rPr>
                            <m:sty m:val="p"/>
                          </m:rPr>
                          <a:rPr lang="en-US">
                            <a:solidFill>
                              <a:srgbClr val="000000"/>
                            </a:solidFill>
                            <a:latin typeface="Cambria Math" panose="02040503050406030204" pitchFamily="18" charset="0"/>
                            <a:ea typeface="Cambria Math" panose="02040503050406030204" pitchFamily="18" charset="0"/>
                          </a:rPr>
                          <m:t>r</m:t>
                        </m:r>
                      </m:sub>
                    </m:sSub>
                    <m:r>
                      <a:rPr lang="en-US" b="0" i="0" smtClean="0">
                        <a:solidFill>
                          <a:srgbClr val="000000"/>
                        </a:solidFill>
                        <a:latin typeface="Cambria Math" panose="02040503050406030204" pitchFamily="18" charset="0"/>
                        <a:ea typeface="Cambria Math" panose="02040503050406030204" pitchFamily="18" charset="0"/>
                      </a:rPr>
                      <m:t>=</m:t>
                    </m:r>
                    <m:f>
                      <m:fPr>
                        <m:ctrlPr>
                          <a:rPr lang="en-US" i="1">
                            <a:solidFill>
                              <a:srgbClr val="000000"/>
                            </a:solidFill>
                            <a:latin typeface="Cambria Math" panose="02040503050406030204" pitchFamily="18" charset="0"/>
                            <a:ea typeface="Cambria Math" panose="02040503050406030204" pitchFamily="18" charset="0"/>
                          </a:rPr>
                        </m:ctrlPr>
                      </m:fPr>
                      <m:num>
                        <m:r>
                          <m:rPr>
                            <m:sty m:val="p"/>
                          </m:rPr>
                          <a:rPr lang="en-US">
                            <a:solidFill>
                              <a:srgbClr val="000000"/>
                            </a:solidFill>
                            <a:latin typeface="Cambria Math" panose="02040503050406030204" pitchFamily="18" charset="0"/>
                            <a:ea typeface="Cambria Math" panose="02040503050406030204" pitchFamily="18" charset="0"/>
                          </a:rPr>
                          <m:t>S</m:t>
                        </m:r>
                        <m:r>
                          <a:rPr lang="en-US">
                            <a:solidFill>
                              <a:srgbClr val="000000"/>
                            </a:solidFill>
                            <a:latin typeface="Cambria Math" panose="02040503050406030204" pitchFamily="18" charset="0"/>
                            <a:ea typeface="Cambria Math" panose="02040503050406030204" pitchFamily="18" charset="0"/>
                          </a:rPr>
                          <m:t>−1</m:t>
                        </m:r>
                      </m:num>
                      <m:den>
                        <m:r>
                          <m:rPr>
                            <m:sty m:val="p"/>
                          </m:rPr>
                          <a:rPr lang="en-US">
                            <a:solidFill>
                              <a:srgbClr val="000000"/>
                            </a:solidFill>
                            <a:latin typeface="Cambria Math" panose="02040503050406030204" pitchFamily="18" charset="0"/>
                            <a:ea typeface="Cambria Math" panose="02040503050406030204" pitchFamily="18" charset="0"/>
                          </a:rPr>
                          <m:t>S</m:t>
                        </m:r>
                        <m:r>
                          <a:rPr lang="en-US">
                            <a:solidFill>
                              <a:srgbClr val="000000"/>
                            </a:solidFill>
                            <a:latin typeface="Cambria Math" panose="02040503050406030204" pitchFamily="18" charset="0"/>
                            <a:ea typeface="Cambria Math" panose="02040503050406030204" pitchFamily="18" charset="0"/>
                          </a:rPr>
                          <m:t>+1</m:t>
                        </m:r>
                      </m:den>
                    </m:f>
                  </m:oMath>
                </a14:m>
                <a:r>
                  <a:rPr lang="en-US" dirty="0">
                    <a:solidFill>
                      <a:srgbClr val="000000"/>
                    </a:solidFill>
                    <a:latin typeface="Cambria Math" panose="02040503050406030204" pitchFamily="18" charset="0"/>
                    <a:ea typeface="Cambria Math" panose="02040503050406030204" pitchFamily="18" charset="0"/>
                  </a:rPr>
                  <a:t>.</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68463" y="676678"/>
                <a:ext cx="11903563" cy="6115905"/>
              </a:xfrm>
              <a:prstGeom prst="rect">
                <a:avLst/>
              </a:prstGeom>
              <a:blipFill>
                <a:blip r:embed="rId2"/>
                <a:stretch>
                  <a:fillRect l="-255"/>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7483" y="1303507"/>
            <a:ext cx="6481053" cy="5184842"/>
          </a:xfrm>
          <a:prstGeom prst="rect">
            <a:avLst/>
          </a:prstGeom>
        </p:spPr>
      </p:pic>
    </p:spTree>
    <p:extLst>
      <p:ext uri="{BB962C8B-B14F-4D97-AF65-F5344CB8AC3E}">
        <p14:creationId xmlns:p14="http://schemas.microsoft.com/office/powerpoint/2010/main" val="2634384018"/>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758757" y="0"/>
            <a:ext cx="10068128" cy="553998"/>
          </a:xfrm>
        </p:spPr>
        <p:txBody>
          <a:bodyPr/>
          <a:lstStyle/>
          <a:p>
            <a:pPr algn="ctr"/>
            <a:r>
              <a:rPr lang="en-US" sz="4000" dirty="0"/>
              <a:t>Impedance Matching using Open Circuit Stubs</a:t>
            </a:r>
          </a:p>
        </p:txBody>
      </p:sp>
      <p:sp>
        <p:nvSpPr>
          <p:cNvPr id="4" name="Rectangle 3"/>
          <p:cNvSpPr/>
          <p:nvPr/>
        </p:nvSpPr>
        <p:spPr>
          <a:xfrm>
            <a:off x="168463" y="676678"/>
            <a:ext cx="11903563"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p:pic>
        <p:nvPicPr>
          <p:cNvPr id="6" name="Picture 5">
            <a:extLst>
              <a:ext uri="{FF2B5EF4-FFF2-40B4-BE49-F238E27FC236}">
                <a16:creationId xmlns:a16="http://schemas.microsoft.com/office/drawing/2014/main" id="{E97DB8A8-9EB7-201D-85A3-2E107C17119B}"/>
              </a:ext>
            </a:extLst>
          </p:cNvPr>
          <p:cNvPicPr>
            <a:picLocks noChangeAspect="1"/>
          </p:cNvPicPr>
          <p:nvPr/>
        </p:nvPicPr>
        <p:blipFill>
          <a:blip r:embed="rId2"/>
          <a:stretch>
            <a:fillRect/>
          </a:stretch>
        </p:blipFill>
        <p:spPr>
          <a:xfrm>
            <a:off x="5542156" y="1106541"/>
            <a:ext cx="5644010" cy="5375647"/>
          </a:xfrm>
          <a:prstGeom prst="rect">
            <a:avLst/>
          </a:prstGeom>
        </p:spPr>
      </p:pic>
    </p:spTree>
    <p:extLst>
      <p:ext uri="{BB962C8B-B14F-4D97-AF65-F5344CB8AC3E}">
        <p14:creationId xmlns:p14="http://schemas.microsoft.com/office/powerpoint/2010/main" val="189382351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070919" y="0"/>
            <a:ext cx="9574733" cy="1107996"/>
          </a:xfrm>
        </p:spPr>
        <p:txBody>
          <a:bodyPr/>
          <a:lstStyle/>
          <a:p>
            <a:pPr algn="ctr"/>
            <a:r>
              <a:rPr lang="en-US" sz="4000" dirty="0"/>
              <a:t>SWR, Voltage Maxima and Minima (Continued) </a:t>
            </a:r>
          </a:p>
        </p:txBody>
      </p:sp>
      <mc:AlternateContent xmlns:mc="http://schemas.openxmlformats.org/markup-compatibility/2006" xmlns:a14="http://schemas.microsoft.com/office/drawing/2010/main">
        <mc:Choice Requires="a14">
          <p:sp>
            <p:nvSpPr>
              <p:cNvPr id="4" name="Rectangle 3"/>
              <p:cNvSpPr/>
              <p:nvPr/>
            </p:nvSpPr>
            <p:spPr>
              <a:xfrm>
                <a:off x="168463" y="676678"/>
                <a:ext cx="11903563" cy="606499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Constant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therefore S corresponds to circles with center located at origin, i.e., </a:t>
                </a:r>
                <a14:m>
                  <m:oMath xmlns:m="http://schemas.openxmlformats.org/officeDocument/2006/math">
                    <m:sSub>
                      <m:sSubPr>
                        <m:ctrl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 </a:t>
                </a:r>
                <a14:m>
                  <m:oMath xmlns:m="http://schemas.openxmlformats.org/officeDocument/2006/math">
                    <m:sSub>
                      <m:sSubPr>
                        <m:ctrl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VSWR</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S</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max</m:t>
                        </m:r>
                      </m:num>
                      <m:den>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min</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den>
                    </m:f>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where</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Times New Roman" panose="02020603050405020304" pitchFamily="18" charset="0"/>
                          </a:rPr>
                          <m:t>d</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p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e</m:t>
                        </m:r>
                      </m:e>
                      <m:sup>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βd</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max</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=0,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 which is the condition for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max</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2</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βd</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π</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3</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π</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 which is the condition for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panose="02040503050406030204"/>
                    <a:ea typeface="Cambria Math" panose="02040503050406030204" pitchFamily="18" charset="0"/>
                    <a:cs typeface="+mn-cs"/>
                  </a:rPr>
                  <a:t>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max</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corresponds to point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max</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located on the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axis (</a:t>
                </a:r>
                <a14:m>
                  <m:oMath xmlns:m="http://schemas.openxmlformats.org/officeDocument/2006/math">
                    <m:sSub>
                      <m:sSubPr>
                        <m:ctrl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the right of the chart center.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corresponds to point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min</a:t>
                </a:r>
                <a:r>
                  <a:rPr kumimoji="0" lang="en-US" sz="1800" b="0" i="0" u="none" strike="noStrike" kern="1200" cap="none" spc="0" normalizeH="0" baseline="-2500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located on the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axis (</a:t>
                </a:r>
                <a14:m>
                  <m:oMath xmlns:m="http://schemas.openxmlformats.org/officeDocument/2006/math">
                    <m:sSub>
                      <m:sSubPr>
                        <m:ctrl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 the left of the chart center.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max</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 </a:t>
                </a:r>
                <a:r>
                  <a:rPr kumimoji="0" lang="en-US" sz="1800" b="0" i="0" u="none" strike="noStrike" kern="1200" cap="none" spc="0" normalizeH="0" baseline="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P</a:t>
                </a:r>
                <a:r>
                  <a:rPr kumimoji="0" lang="en-US" sz="1800" b="0" i="0" u="none" strike="noStrike" kern="1200" cap="none" spc="0" normalizeH="0" baseline="-25000" noProof="0" dirty="0" err="1">
                    <a:ln>
                      <a:noFill/>
                    </a:ln>
                    <a:solidFill>
                      <a:srgbClr val="000000"/>
                    </a:solidFill>
                    <a:effectLst/>
                    <a:uLnTx/>
                    <a:uFillTx/>
                    <a:latin typeface="Cambria Math" panose="02040503050406030204" pitchFamily="18" charset="0"/>
                    <a:ea typeface="Cambria Math" panose="02040503050406030204" pitchFamily="18" charset="0"/>
                    <a:cs typeface="+mn-cs"/>
                  </a:rPr>
                  <a:t>min</a:t>
                </a: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represent locations of </a:t>
                </a:r>
                <a14:m>
                  <m:oMath xmlns:m="http://schemas.openxmlformats.org/officeDocument/2006/math">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max</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and</a:t>
                </a:r>
                <a14:m>
                  <m:oMath xmlns:m="http://schemas.openxmlformats.org/officeDocument/2006/math">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in</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and not power.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Total distance around the Smith chart is </a:t>
                </a:r>
                <a14:m>
                  <m:oMath xmlns:m="http://schemas.openxmlformats.org/officeDocument/2006/math">
                    <m:f>
                      <m:fPr>
                        <m:type m:val="li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λ</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2</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Therefore, distance from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max</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to </a:t>
                </a:r>
                <a14:m>
                  <m:oMath xmlns:m="http://schemas.openxmlformats.org/officeDocument/2006/math">
                    <m:d>
                      <m:dPr>
                        <m:begChr m:val="|"/>
                        <m:end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V</m:t>
                            </m:r>
                          </m:e>
                        </m:acc>
                      </m:e>
                    </m:d>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min</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a:t>
                </a:r>
                <a14:m>
                  <m:oMath xmlns:m="http://schemas.openxmlformats.org/officeDocument/2006/math">
                    <m:f>
                      <m:fPr>
                        <m:type m:val="li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λ</m:t>
                        </m:r>
                      </m:num>
                      <m:den>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4</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68463" y="676678"/>
                <a:ext cx="11903563" cy="6064994"/>
              </a:xfrm>
              <a:prstGeom prst="rect">
                <a:avLst/>
              </a:prstGeom>
              <a:blipFill>
                <a:blip r:embed="rId2"/>
                <a:stretch>
                  <a:fillRect l="-255" t="-199" b="-9064"/>
                </a:stretch>
              </a:blipFill>
            </p:spPr>
            <p:txBody>
              <a:bodyPr/>
              <a:lstStyle/>
              <a:p>
                <a:r>
                  <a:rPr lang="en-US">
                    <a:noFill/>
                  </a:rPr>
                  <a:t> </a:t>
                </a:r>
              </a:p>
            </p:txBody>
          </p:sp>
        </mc:Fallback>
      </mc:AlternateContent>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9984" y="1707162"/>
            <a:ext cx="5043265" cy="4034612"/>
          </a:xfrm>
          <a:prstGeom prst="rect">
            <a:avLst/>
          </a:prstGeom>
        </p:spPr>
      </p:pic>
    </p:spTree>
    <p:extLst>
      <p:ext uri="{BB962C8B-B14F-4D97-AF65-F5344CB8AC3E}">
        <p14:creationId xmlns:p14="http://schemas.microsoft.com/office/powerpoint/2010/main" val="1838648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anim calcmode="lin" valueType="num">
                                      <p:cBhvr additive="base">
                                        <p:cTn id="1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2" end="12"/>
                                            </p:txEl>
                                          </p:spTgt>
                                        </p:tgtEl>
                                        <p:attrNameLst>
                                          <p:attrName>style.visibility</p:attrName>
                                        </p:attrNameLst>
                                      </p:cBhvr>
                                      <p:to>
                                        <p:strVal val="visible"/>
                                      </p:to>
                                    </p:set>
                                    <p:anim calcmode="lin" valueType="num">
                                      <p:cBhvr additive="base">
                                        <p:cTn id="1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4" end="14"/>
                                            </p:txEl>
                                          </p:spTgt>
                                        </p:tgtEl>
                                        <p:attrNameLst>
                                          <p:attrName>style.visibility</p:attrName>
                                        </p:attrNameLst>
                                      </p:cBhvr>
                                      <p:to>
                                        <p:strVal val="visible"/>
                                      </p:to>
                                    </p:set>
                                    <p:anim calcmode="lin" valueType="num">
                                      <p:cBhvr additive="base">
                                        <p:cTn id="23"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5" end="15"/>
                                            </p:txEl>
                                          </p:spTgt>
                                        </p:tgtEl>
                                        <p:attrNameLst>
                                          <p:attrName>style.visibility</p:attrName>
                                        </p:attrNameLst>
                                      </p:cBhvr>
                                      <p:to>
                                        <p:strVal val="visible"/>
                                      </p:to>
                                    </p:set>
                                    <p:anim calcmode="lin" valueType="num">
                                      <p:cBhvr additive="base">
                                        <p:cTn id="27"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17" end="17"/>
                                            </p:txEl>
                                          </p:spTgt>
                                        </p:tgtEl>
                                        <p:attrNameLst>
                                          <p:attrName>style.visibility</p:attrName>
                                        </p:attrNameLst>
                                      </p:cBhvr>
                                      <p:to>
                                        <p:strVal val="visible"/>
                                      </p:to>
                                    </p:set>
                                    <p:anim calcmode="lin" valueType="num">
                                      <p:cBhvr additive="base">
                                        <p:cTn id="33"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7" end="1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19" end="19"/>
                                            </p:txEl>
                                          </p:spTgt>
                                        </p:tgtEl>
                                        <p:attrNameLst>
                                          <p:attrName>style.visibility</p:attrName>
                                        </p:attrNameLst>
                                      </p:cBhvr>
                                      <p:to>
                                        <p:strVal val="visible"/>
                                      </p:to>
                                    </p:set>
                                    <p:anim calcmode="lin" valueType="num">
                                      <p:cBhvr additive="base">
                                        <p:cTn id="37" dur="500" fill="hold"/>
                                        <p:tgtEl>
                                          <p:spTgt spid="4">
                                            <p:txEl>
                                              <p:pRg st="19" end="1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609513" y="-34737"/>
            <a:ext cx="10739361" cy="498598"/>
          </a:xfrm>
        </p:spPr>
        <p:txBody>
          <a:bodyPr/>
          <a:lstStyle/>
          <a:p>
            <a:pPr algn="ctr"/>
            <a:r>
              <a:rPr lang="en-US" sz="3600" dirty="0"/>
              <a:t>Lumped Element Matching Example (Continued)</a:t>
            </a:r>
          </a:p>
        </p:txBody>
      </p:sp>
      <mc:AlternateContent xmlns:mc="http://schemas.openxmlformats.org/markup-compatibility/2006" xmlns:a14="http://schemas.microsoft.com/office/drawing/2010/main">
        <mc:Choice Requires="a14">
          <p:sp>
            <p:nvSpPr>
              <p:cNvPr id="4" name="Rectangle 3"/>
              <p:cNvSpPr/>
              <p:nvPr/>
            </p:nvSpPr>
            <p:spPr>
              <a:xfrm>
                <a:off x="107005" y="507528"/>
                <a:ext cx="12003932" cy="62399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285750">
                  <a:spcAft>
                    <a:spcPts val="1200"/>
                  </a:spcAft>
                  <a:buFont typeface="Arial" panose="020B0604020202020204" pitchFamily="34" charset="0"/>
                  <a:buChar char="•"/>
                </a:pPr>
                <a:r>
                  <a:rPr lang="en-US" dirty="0">
                    <a:latin typeface="Cambria Math" panose="02040503050406030204" pitchFamily="18" charset="0"/>
                    <a:ea typeface="Cambria Math" panose="02040503050406030204" pitchFamily="18" charset="0"/>
                  </a:rPr>
                  <a:t>Solve for shunt admittance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sub>
                    </m:sSub>
                  </m:oMath>
                </a14:m>
                <a:r>
                  <a:rPr lang="en-US" dirty="0">
                    <a:latin typeface="Cambria Math" panose="02040503050406030204" pitchFamily="18" charset="0"/>
                    <a:ea typeface="Cambria Math" panose="02040503050406030204" pitchFamily="18" charset="0"/>
                  </a:rPr>
                  <a:t> so that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in</m:t>
                        </m:r>
                      </m:sub>
                    </m:sSub>
                    <m:r>
                      <a:rPr lang="en-US" i="1">
                        <a:latin typeface="Cambria Math" panose="02040503050406030204" pitchFamily="18" charset="0"/>
                        <a:ea typeface="Cambria Math" panose="02040503050406030204" pitchFamily="18" charset="0"/>
                      </a:rPr>
                      <m:t>=1+</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0=</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sub>
                    </m:sSub>
                    <m:r>
                      <a:rPr lang="en-US">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d</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sub>
                    </m:sSub>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d</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where</m:t>
                    </m:r>
                    <m:r>
                      <a:rPr lang="en-US" b="0" i="0"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b="0" i="0" smtClean="0">
                            <a:latin typeface="Cambria Math" panose="02040503050406030204" pitchFamily="18" charset="0"/>
                            <a:ea typeface="Cambria Math" panose="02040503050406030204" pitchFamily="18" charset="0"/>
                          </a:rPr>
                          <m:t>d</m:t>
                        </m:r>
                      </m:sub>
                    </m:sSub>
                    <m:r>
                      <a:rPr lang="en-US" i="1">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b</m:t>
                        </m:r>
                      </m:e>
                      <m:sub>
                        <m:r>
                          <m:rPr>
                            <m:sty m:val="p"/>
                          </m:rPr>
                          <a:rPr lang="en-US">
                            <a:solidFill>
                              <a:srgbClr val="000000"/>
                            </a:solidFill>
                            <a:latin typeface="Cambria Math" panose="02040503050406030204" pitchFamily="18" charset="0"/>
                            <a:ea typeface="Cambria Math" panose="02040503050406030204" pitchFamily="18" charset="0"/>
                          </a:rPr>
                          <m:t>d</m:t>
                        </m:r>
                      </m:sub>
                    </m:sSub>
                    <m:r>
                      <a:rPr lang="en-US" b="0" i="1" smtClean="0">
                        <a:solidFill>
                          <a:srgbClr val="000000"/>
                        </a:solidFill>
                        <a:latin typeface="Cambria Math" panose="02040503050406030204" pitchFamily="18" charset="0"/>
                        <a:ea typeface="Cambria Math" panose="02040503050406030204" pitchFamily="18" charset="0"/>
                      </a:rPr>
                      <m:t>.</m:t>
                    </m:r>
                  </m:oMath>
                </a14:m>
                <a:endParaRPr lang="en-US" dirty="0">
                  <a:latin typeface="Cambria Math" panose="02040503050406030204" pitchFamily="18" charset="0"/>
                  <a:ea typeface="Cambria Math" panose="02040503050406030204" pitchFamily="18" charset="0"/>
                </a:endParaRPr>
              </a:p>
              <a:p>
                <a:pPr lvl="1">
                  <a:spcAft>
                    <a:spcPts val="600"/>
                  </a:spcAft>
                </a:pPr>
                <a:r>
                  <a:rPr lang="en-US" b="1" dirty="0">
                    <a:latin typeface="Cambria Math" panose="02040503050406030204" pitchFamily="18" charset="0"/>
                    <a:ea typeface="Cambria Math" panose="02040503050406030204" pitchFamily="18" charset="0"/>
                  </a:rPr>
                  <a:t>Point C</a:t>
                </a:r>
                <a:r>
                  <a:rPr lang="en-US"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d</m:t>
                        </m:r>
                        <m:r>
                          <a:rPr lang="en-US">
                            <a:latin typeface="Cambria Math" panose="02040503050406030204" pitchFamily="18" charset="0"/>
                            <a:ea typeface="Cambria Math" panose="02040503050406030204" pitchFamily="18" charset="0"/>
                          </a:rPr>
                          <m:t>_</m:t>
                        </m:r>
                        <m:r>
                          <m:rPr>
                            <m:sty m:val="p"/>
                          </m:rPr>
                          <a:rPr lang="en-US">
                            <a:latin typeface="Cambria Math" panose="02040503050406030204" pitchFamily="18" charset="0"/>
                            <a:ea typeface="Cambria Math" panose="02040503050406030204" pitchFamily="18" charset="0"/>
                          </a:rPr>
                          <m:t>C</m:t>
                        </m:r>
                      </m:sub>
                    </m:sSub>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d</m:t>
                        </m:r>
                        <m:r>
                          <a:rPr lang="en-US" b="0" i="0" smtClean="0">
                            <a:solidFill>
                              <a:srgbClr val="000000"/>
                            </a:solidFill>
                            <a:latin typeface="Cambria Math" panose="02040503050406030204" pitchFamily="18" charset="0"/>
                            <a:ea typeface="Cambria Math" panose="02040503050406030204" pitchFamily="18" charset="0"/>
                          </a:rPr>
                          <m:t>_</m:t>
                        </m:r>
                        <m:r>
                          <m:rPr>
                            <m:sty m:val="p"/>
                          </m:rPr>
                          <a:rPr lang="en-US" b="0" i="0" smtClean="0">
                            <a:solidFill>
                              <a:srgbClr val="000000"/>
                            </a:solidFill>
                            <a:latin typeface="Cambria Math" panose="02040503050406030204" pitchFamily="18" charset="0"/>
                            <a:ea typeface="Cambria Math" panose="02040503050406030204" pitchFamily="18" charset="0"/>
                          </a:rPr>
                          <m:t>C</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i="0">
                            <a:solidFill>
                              <a:srgbClr val="000000"/>
                            </a:solidFill>
                            <a:latin typeface="Cambria Math" panose="02040503050406030204" pitchFamily="18" charset="0"/>
                            <a:ea typeface="Cambria Math" panose="02040503050406030204" pitchFamily="18" charset="0"/>
                          </a:rPr>
                          <m:t>b</m:t>
                        </m:r>
                      </m:e>
                      <m:sub>
                        <m:r>
                          <m:rPr>
                            <m:sty m:val="p"/>
                          </m:rPr>
                          <a:rPr lang="en-US" b="0" i="0" smtClean="0">
                            <a:solidFill>
                              <a:srgbClr val="000000"/>
                            </a:solidFill>
                            <a:latin typeface="Cambria Math" panose="02040503050406030204" pitchFamily="18" charset="0"/>
                            <a:ea typeface="Cambria Math" panose="02040503050406030204" pitchFamily="18" charset="0"/>
                          </a:rPr>
                          <m:t>d</m:t>
                        </m:r>
                        <m:r>
                          <a:rPr lang="en-US" b="0" i="0" smtClean="0">
                            <a:solidFill>
                              <a:srgbClr val="000000"/>
                            </a:solidFill>
                            <a:latin typeface="Cambria Math" panose="02040503050406030204" pitchFamily="18" charset="0"/>
                            <a:ea typeface="Cambria Math" panose="02040503050406030204" pitchFamily="18" charset="0"/>
                          </a:rPr>
                          <m:t>_</m:t>
                        </m:r>
                        <m:r>
                          <m:rPr>
                            <m:sty m:val="p"/>
                          </m:rPr>
                          <a:rPr lang="en-US" b="0" i="0" smtClean="0">
                            <a:solidFill>
                              <a:srgbClr val="000000"/>
                            </a:solidFill>
                            <a:latin typeface="Cambria Math" panose="02040503050406030204" pitchFamily="18" charset="0"/>
                            <a:ea typeface="Cambria Math" panose="02040503050406030204" pitchFamily="18" charset="0"/>
                          </a:rPr>
                          <m:t>C</m:t>
                        </m:r>
                      </m:sub>
                    </m:sSub>
                    <m:r>
                      <a:rPr lang="en-US" b="0" i="1" smtClean="0">
                        <a:solidFill>
                          <a:srgbClr val="000000"/>
                        </a:solidFill>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ea typeface="Cambria Math" panose="02040503050406030204" pitchFamily="18" charset="0"/>
                      </a:rPr>
                      <m:t>1+</m:t>
                    </m:r>
                    <m:r>
                      <m:rPr>
                        <m:sty m:val="p"/>
                      </m:rPr>
                      <a:rPr lang="en-US">
                        <a:solidFill>
                          <a:srgbClr val="000000"/>
                        </a:solidFill>
                        <a:latin typeface="Cambria Math" panose="02040503050406030204" pitchFamily="18" charset="0"/>
                        <a:ea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1.58.</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r>
                          <a:rPr lang="en-US">
                            <a:latin typeface="Cambria Math" panose="02040503050406030204" pitchFamily="18" charset="0"/>
                            <a:ea typeface="Cambria Math" panose="02040503050406030204" pitchFamily="18" charset="0"/>
                          </a:rPr>
                          <m:t>_</m:t>
                        </m:r>
                        <m:r>
                          <m:rPr>
                            <m:sty m:val="p"/>
                          </m:rPr>
                          <a:rPr lang="en-US">
                            <a:latin typeface="Cambria Math" panose="02040503050406030204" pitchFamily="18" charset="0"/>
                            <a:ea typeface="Cambria Math" panose="02040503050406030204" pitchFamily="18" charset="0"/>
                          </a:rPr>
                          <m:t>C</m:t>
                        </m:r>
                      </m:sub>
                    </m:sSub>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r>
                          <m:rPr>
                            <m:sty m:val="p"/>
                          </m:rPr>
                          <a:rPr lang="en-US" i="0">
                            <a:latin typeface="Cambria Math" panose="02040503050406030204" pitchFamily="18" charset="0"/>
                            <a:ea typeface="Cambria Math" panose="02040503050406030204" pitchFamily="18" charset="0"/>
                          </a:rPr>
                          <m:t>y</m:t>
                        </m:r>
                      </m:e>
                      <m:sub>
                        <m:r>
                          <m:rPr>
                            <m:sty m:val="p"/>
                          </m:rPr>
                          <a:rPr lang="en-US" b="0" i="0" smtClean="0">
                            <a:latin typeface="Cambria Math" panose="02040503050406030204" pitchFamily="18" charset="0"/>
                            <a:ea typeface="Cambria Math" panose="02040503050406030204" pitchFamily="18" charset="0"/>
                          </a:rPr>
                          <m:t>d</m:t>
                        </m:r>
                        <m:r>
                          <a:rPr lang="en-US" b="0" i="0" smtClean="0">
                            <a:latin typeface="Cambria Math" panose="02040503050406030204" pitchFamily="18" charset="0"/>
                            <a:ea typeface="Cambria Math" panose="02040503050406030204" pitchFamily="18" charset="0"/>
                          </a:rPr>
                          <m:t>_</m:t>
                        </m:r>
                        <m:r>
                          <m:rPr>
                            <m:sty m:val="p"/>
                          </m:rPr>
                          <a:rPr lang="en-US" b="0" i="0" smtClean="0">
                            <a:latin typeface="Cambria Math" panose="02040503050406030204" pitchFamily="18" charset="0"/>
                            <a:ea typeface="Cambria Math" panose="02040503050406030204" pitchFamily="18" charset="0"/>
                          </a:rPr>
                          <m:t>C</m:t>
                        </m:r>
                      </m:sub>
                    </m:sSub>
                    <m:r>
                      <a:rPr lang="en-US" i="1">
                        <a:latin typeface="Cambria Math" panose="02040503050406030204" pitchFamily="18" charset="0"/>
                        <a:ea typeface="Cambria Math" panose="02040503050406030204" pitchFamily="18" charset="0"/>
                      </a:rPr>
                      <m:t>=1− 1.0−</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1.58=−</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1.58.</m:t>
                    </m:r>
                    <m:r>
                      <a:rPr lang="en-US">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r>
                          <a:rPr lang="en-US">
                            <a:latin typeface="Cambria Math" panose="02040503050406030204" pitchFamily="18" charset="0"/>
                            <a:ea typeface="Cambria Math" panose="02040503050406030204" pitchFamily="18" charset="0"/>
                          </a:rPr>
                          <m:t>_</m:t>
                        </m:r>
                        <m:r>
                          <m:rPr>
                            <m:sty m:val="p"/>
                          </m:rPr>
                          <a:rPr lang="en-US">
                            <a:latin typeface="Cambria Math" panose="02040503050406030204" pitchFamily="18" charset="0"/>
                            <a:ea typeface="Cambria Math" panose="02040503050406030204" pitchFamily="18" charset="0"/>
                          </a:rPr>
                          <m:t>C</m:t>
                        </m:r>
                      </m:sub>
                    </m:sSub>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1.58.</m:t>
                    </m:r>
                  </m:oMath>
                </a14:m>
                <a:endParaRPr lang="en-US" dirty="0">
                  <a:latin typeface="Cambria Math" panose="02040503050406030204" pitchFamily="18" charset="0"/>
                  <a:ea typeface="Cambria Math" panose="02040503050406030204" pitchFamily="18" charset="0"/>
                </a:endParaRPr>
              </a:p>
              <a:p>
                <a:pPr lvl="2">
                  <a:spcAft>
                    <a:spcPts val="600"/>
                  </a:spcAft>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C</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C</m:t>
                          </m:r>
                        </m:sub>
                      </m:sSub>
                      <m:r>
                        <a:rPr lang="en-US">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m:t>
                              </m:r>
                            </m:sub>
                          </m:sSub>
                        </m:num>
                        <m:den>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m:rPr>
                                  <m:sty m:val="p"/>
                                </m:rPr>
                                <a:rPr lang="en-US" b="0" i="0" smtClean="0">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C</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m:t>
                          </m:r>
                          <m:r>
                            <a:rPr lang="en-US" b="0" i="1" smtClean="0">
                              <a:latin typeface="Cambria Math" panose="02040503050406030204" pitchFamily="18" charset="0"/>
                            </a:rPr>
                            <m:t>0</m:t>
                          </m:r>
                          <m:r>
                            <a:rPr lang="en-US" i="1">
                              <a:latin typeface="Cambria Math" panose="02040503050406030204" pitchFamily="18" charset="0"/>
                            </a:rPr>
                            <m:t> Ω</m:t>
                          </m:r>
                        </m:num>
                        <m:den>
                          <m:r>
                            <a:rPr lang="en-US" i="1">
                              <a:latin typeface="Cambria Math" panose="02040503050406030204" pitchFamily="18" charset="0"/>
                            </a:rPr>
                            <m:t>−</m:t>
                          </m:r>
                          <m:r>
                            <m:rPr>
                              <m:sty m:val="p"/>
                            </m:rPr>
                            <a:rPr lang="en-US">
                              <a:latin typeface="Cambria Math" panose="02040503050406030204" pitchFamily="18" charset="0"/>
                            </a:rPr>
                            <m:t>j</m:t>
                          </m:r>
                          <m:r>
                            <a:rPr lang="en-US" i="1">
                              <a:latin typeface="Cambria Math" panose="02040503050406030204" pitchFamily="18" charset="0"/>
                            </a:rPr>
                            <m:t>1.58</m:t>
                          </m:r>
                        </m:den>
                      </m:f>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j</m:t>
                          </m:r>
                          <m:r>
                            <a:rPr lang="en-US">
                              <a:latin typeface="Cambria Math" panose="02040503050406030204" pitchFamily="18" charset="0"/>
                            </a:rPr>
                            <m:t>50 Ω</m:t>
                          </m:r>
                        </m:num>
                        <m:den>
                          <m:r>
                            <a:rPr lang="en-US">
                              <a:latin typeface="Cambria Math" panose="02040503050406030204" pitchFamily="18" charset="0"/>
                            </a:rPr>
                            <m:t>1.58</m:t>
                          </m:r>
                        </m:den>
                      </m:f>
                      <m:r>
                        <a:rPr lang="en-US">
                          <a:latin typeface="Cambria Math" panose="02040503050406030204" pitchFamily="18" charset="0"/>
                        </a:rPr>
                        <m:t>=</m:t>
                      </m:r>
                      <m:r>
                        <m:rPr>
                          <m:sty m:val="p"/>
                        </m:rPr>
                        <a:rPr lang="en-US">
                          <a:latin typeface="Cambria Math" panose="02040503050406030204" pitchFamily="18" charset="0"/>
                        </a:rPr>
                        <m:t>j</m:t>
                      </m:r>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oMath>
                  </m:oMathPara>
                </a14:m>
                <a:endParaRPr lang="en-US" dirty="0">
                  <a:latin typeface="Cambria Math" panose="02040503050406030204" pitchFamily="18" charset="0"/>
                  <a:ea typeface="Cambria Math" panose="02040503050406030204" pitchFamily="18" charset="0"/>
                </a:endParaRPr>
              </a:p>
              <a:p>
                <a:pPr lvl="2">
                  <a:spcAft>
                    <a:spcPts val="600"/>
                  </a:spcAft>
                </a:pPr>
                <a14:m>
                  <m:oMath xmlns:m="http://schemas.openxmlformats.org/officeDocument/2006/math">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Shunt</m:t>
                        </m:r>
                        <m:r>
                          <a:rPr lang="en-US" b="0" i="0" smtClean="0">
                            <a:latin typeface="Cambria Math" panose="02040503050406030204" pitchFamily="18" charset="0"/>
                          </a:rPr>
                          <m:t> </m:t>
                        </m:r>
                        <m:r>
                          <m:rPr>
                            <m:sty m:val="p"/>
                          </m:rPr>
                          <a:rPr lang="en-US" b="0" i="0" smtClean="0">
                            <a:latin typeface="Cambria Math" panose="02040503050406030204" pitchFamily="18" charset="0"/>
                          </a:rPr>
                          <m:t>Inductor</m:t>
                        </m:r>
                      </m:e>
                    </m:d>
                    <m:sSub>
                      <m:sSubPr>
                        <m:ctrlPr>
                          <a:rPr lang="en-US" i="1">
                            <a:latin typeface="Cambria Math" panose="02040503050406030204" pitchFamily="18" charset="0"/>
                          </a:rPr>
                        </m:ctrlPr>
                      </m:sSubPr>
                      <m:e>
                        <m:r>
                          <a:rPr lang="en-US" b="0" i="0" smtClean="0">
                            <a:latin typeface="Cambria Math" panose="02040503050406030204" pitchFamily="18" charset="0"/>
                          </a:rPr>
                          <m:t> </m:t>
                        </m:r>
                        <m:r>
                          <m:rPr>
                            <m:sty m:val="p"/>
                          </m:rPr>
                          <a:rPr lang="en-US">
                            <a:latin typeface="Cambria Math" panose="02040503050406030204" pitchFamily="18" charset="0"/>
                          </a:rPr>
                          <m:t>Z</m:t>
                        </m:r>
                      </m:e>
                      <m:sub>
                        <m:r>
                          <m:rPr>
                            <m:sty m:val="p"/>
                          </m:rPr>
                          <a:rPr lang="en-US" b="0" i="0" smtClean="0">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C</m:t>
                        </m:r>
                      </m:sub>
                    </m:sSub>
                    <m:r>
                      <a:rPr lang="en-US" i="1">
                        <a:latin typeface="Cambria Math" panose="02040503050406030204" pitchFamily="18" charset="0"/>
                      </a:rPr>
                      <m:t>=</m:t>
                    </m:r>
                    <m:r>
                      <m:rPr>
                        <m:sty m:val="p"/>
                      </m:rPr>
                      <a:rPr lang="en-US">
                        <a:latin typeface="Cambria Math" panose="02040503050406030204" pitchFamily="18" charset="0"/>
                      </a:rPr>
                      <m:t>j</m:t>
                    </m:r>
                    <m:r>
                      <a:rPr lang="en-US">
                        <a:latin typeface="Cambria Math" panose="02040503050406030204" pitchFamily="18" charset="0"/>
                      </a:rPr>
                      <m:t>2</m:t>
                    </m:r>
                    <m:r>
                      <m:rPr>
                        <m:sty m:val="p"/>
                      </m:rPr>
                      <a:rPr lang="en-US">
                        <a:latin typeface="Cambria Math" panose="02040503050406030204" pitchFamily="18" charset="0"/>
                      </a:rPr>
                      <m:t>πfL</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j</m:t>
                    </m:r>
                    <m:r>
                      <a:rPr lang="en-US">
                        <a:latin typeface="Cambria Math" panose="02040503050406030204" pitchFamily="18" charset="0"/>
                      </a:rPr>
                      <m:t>2</m:t>
                    </m:r>
                    <m:r>
                      <m:rPr>
                        <m:sty m:val="p"/>
                      </m:rPr>
                      <a:rPr lang="en-US">
                        <a:latin typeface="Cambria Math" panose="02040503050406030204" pitchFamily="18" charset="0"/>
                      </a:rPr>
                      <m:t>πfL</m:t>
                    </m:r>
                    <m:r>
                      <a:rPr lang="en-US">
                        <a:latin typeface="Cambria Math" panose="02040503050406030204" pitchFamily="18" charset="0"/>
                      </a:rPr>
                      <m:t>=</m:t>
                    </m:r>
                    <m:r>
                      <m:rPr>
                        <m:sty m:val="p"/>
                      </m:rPr>
                      <a:rPr lang="en-US">
                        <a:latin typeface="Cambria Math" panose="02040503050406030204" pitchFamily="18" charset="0"/>
                      </a:rPr>
                      <m:t>j</m:t>
                    </m:r>
                    <m:r>
                      <a:rPr lang="en-US" b="0" i="0" smtClean="0">
                        <a:latin typeface="Cambria Math" panose="02040503050406030204" pitchFamily="18" charset="0"/>
                      </a:rPr>
                      <m:t>31.6</m:t>
                    </m:r>
                    <m:r>
                      <a:rPr lang="en-US">
                        <a:latin typeface="Cambria Math" panose="02040503050406030204" pitchFamily="18" charset="0"/>
                      </a:rPr>
                      <m:t> Ω.</m:t>
                    </m:r>
                  </m:oMath>
                </a14:m>
                <a:r>
                  <a:rPr lang="en-US" dirty="0">
                    <a:latin typeface="Cambria Math" panose="02040503050406030204" pitchFamily="18" charset="0"/>
                    <a:ea typeface="Cambria Math" panose="02040503050406030204" pitchFamily="18" charset="0"/>
                  </a:rPr>
                  <a:t> </a:t>
                </a:r>
              </a:p>
              <a:p>
                <a:pPr lvl="2">
                  <a:spcAft>
                    <a:spcPts val="600"/>
                  </a:spcAft>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L</m:t>
                      </m:r>
                      <m:r>
                        <a:rPr lang="en-US">
                          <a:latin typeface="Cambria Math" panose="02040503050406030204" pitchFamily="18" charset="0"/>
                        </a:rPr>
                        <m:t>=</m:t>
                      </m:r>
                      <m:f>
                        <m:fPr>
                          <m:ctrlPr>
                            <a:rPr lang="en-US" i="1">
                              <a:latin typeface="Cambria Math" panose="02040503050406030204" pitchFamily="18" charset="0"/>
                            </a:rPr>
                          </m:ctrlPr>
                        </m:fPr>
                        <m:num>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num>
                        <m:den>
                          <m:r>
                            <a:rPr lang="en-US">
                              <a:latin typeface="Cambria Math" panose="02040503050406030204" pitchFamily="18" charset="0"/>
                            </a:rPr>
                            <m:t>2</m:t>
                          </m:r>
                          <m:r>
                            <m:rPr>
                              <m:sty m:val="p"/>
                            </m:rPr>
                            <a:rPr lang="en-US">
                              <a:latin typeface="Cambria Math" panose="02040503050406030204" pitchFamily="18" charset="0"/>
                            </a:rPr>
                            <m:t>πf</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num>
                        <m:den>
                          <m:r>
                            <a:rPr lang="en-US">
                              <a:latin typeface="Cambria Math" panose="02040503050406030204" pitchFamily="18" charset="0"/>
                            </a:rPr>
                            <m:t>2</m:t>
                          </m:r>
                          <m:r>
                            <m:rPr>
                              <m:sty m:val="p"/>
                            </m:rPr>
                            <a:rPr lang="en-US">
                              <a:latin typeface="Cambria Math" panose="02040503050406030204" pitchFamily="18" charset="0"/>
                            </a:rPr>
                            <m:t>π</m:t>
                          </m:r>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0</m:t>
                              </m:r>
                              <m:r>
                                <a:rPr lang="en-US" i="1">
                                  <a:latin typeface="Cambria Math" panose="02040503050406030204" pitchFamily="18" charset="0"/>
                                </a:rPr>
                                <m:t>0 </m:t>
                              </m:r>
                              <m:r>
                                <m:rPr>
                                  <m:sty m:val="p"/>
                                </m:rPr>
                                <a:rPr lang="en-US">
                                  <a:latin typeface="Cambria Math" panose="02040503050406030204" pitchFamily="18" charset="0"/>
                                </a:rPr>
                                <m:t>MHz</m:t>
                              </m:r>
                            </m:e>
                          </m:d>
                        </m:den>
                      </m:f>
                      <m:r>
                        <a:rPr lang="en-US" i="1">
                          <a:latin typeface="Cambria Math" panose="02040503050406030204" pitchFamily="18" charset="0"/>
                        </a:rPr>
                        <m:t>=</m:t>
                      </m:r>
                      <m:r>
                        <a:rPr lang="en-US" b="0" i="1" smtClean="0">
                          <a:latin typeface="Cambria Math" panose="02040503050406030204" pitchFamily="18" charset="0"/>
                        </a:rPr>
                        <m:t>50.3</m:t>
                      </m:r>
                      <m:r>
                        <a:rPr lang="en-US" i="1">
                          <a:latin typeface="Cambria Math" panose="02040503050406030204" pitchFamily="18" charset="0"/>
                        </a:rPr>
                        <m:t> </m:t>
                      </m:r>
                      <m:r>
                        <m:rPr>
                          <m:sty m:val="p"/>
                        </m:rPr>
                        <a:rPr lang="en-US">
                          <a:latin typeface="Cambria Math" panose="02040503050406030204" pitchFamily="18" charset="0"/>
                        </a:rPr>
                        <m:t>n</m:t>
                      </m:r>
                      <m:r>
                        <m:rPr>
                          <m:sty m:val="p"/>
                        </m:rPr>
                        <a:rPr lang="en-US" b="0" i="0" smtClean="0">
                          <a:latin typeface="Cambria Math" panose="02040503050406030204" pitchFamily="18" charset="0"/>
                        </a:rPr>
                        <m:t>H</m:t>
                      </m:r>
                      <m:r>
                        <a:rPr lang="en-US" i="1">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pPr lvl="2">
                  <a:spcAft>
                    <a:spcPts val="600"/>
                  </a:spcAft>
                </a:pPr>
                <a14:m>
                  <m:oMathPara xmlns:m="http://schemas.openxmlformats.org/officeDocument/2006/math">
                    <m:oMathParaPr>
                      <m:jc m:val="left"/>
                    </m:oMathParaPr>
                    <m:oMath xmlns:m="http://schemas.openxmlformats.org/officeDocument/2006/math">
                      <m:r>
                        <m:rPr>
                          <m:sty m:val="p"/>
                        </m:rPr>
                        <a:rPr lang="en-US" smtClean="0">
                          <a:latin typeface="Cambria Math" panose="02040503050406030204" pitchFamily="18" charset="0"/>
                        </a:rPr>
                        <m:t>L</m:t>
                      </m:r>
                      <m:r>
                        <a:rPr lang="en-US" smtClean="0">
                          <a:latin typeface="Cambria Math" panose="02040503050406030204" pitchFamily="18" charset="0"/>
                        </a:rPr>
                        <m:t>=</m:t>
                      </m:r>
                      <m:r>
                        <a:rPr lang="en-US" i="1">
                          <a:latin typeface="Cambria Math" panose="02040503050406030204" pitchFamily="18" charset="0"/>
                        </a:rPr>
                        <m:t>50</m:t>
                      </m:r>
                      <m:r>
                        <a:rPr lang="en-US" i="1" smtClean="0">
                          <a:latin typeface="Cambria Math" panose="02040503050406030204" pitchFamily="18" charset="0"/>
                        </a:rPr>
                        <m:t>.3</m:t>
                      </m:r>
                      <m:r>
                        <a:rPr lang="en-US" i="1">
                          <a:latin typeface="Cambria Math" panose="02040503050406030204" pitchFamily="18" charset="0"/>
                        </a:rPr>
                        <m:t> </m:t>
                      </m:r>
                      <m:r>
                        <m:rPr>
                          <m:sty m:val="p"/>
                        </m:rPr>
                        <a:rPr lang="en-US">
                          <a:latin typeface="Cambria Math" panose="02040503050406030204" pitchFamily="18" charset="0"/>
                        </a:rPr>
                        <m:t>n</m:t>
                      </m:r>
                      <m:r>
                        <m:rPr>
                          <m:sty m:val="p"/>
                        </m:rPr>
                        <a:rPr lang="en-US" b="0" i="0" smtClean="0">
                          <a:latin typeface="Cambria Math" panose="02040503050406030204" pitchFamily="18" charset="0"/>
                        </a:rPr>
                        <m:t>H</m:t>
                      </m:r>
                      <m:r>
                        <a:rPr lang="en-US" i="1">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pPr lvl="1">
                  <a:spcAft>
                    <a:spcPts val="600"/>
                  </a:spcAft>
                </a:pPr>
                <a:r>
                  <a:rPr lang="en-US" b="1" dirty="0">
                    <a:latin typeface="Cambria Math" panose="02040503050406030204" pitchFamily="18" charset="0"/>
                    <a:ea typeface="Cambria Math" panose="02040503050406030204" pitchFamily="18" charset="0"/>
                  </a:rPr>
                  <a:t>Point D</a:t>
                </a:r>
                <a:r>
                  <a:rPr lang="en-US"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i="0">
                            <a:latin typeface="Cambria Math" panose="02040503050406030204" pitchFamily="18" charset="0"/>
                            <a:ea typeface="Cambria Math" panose="02040503050406030204" pitchFamily="18" charset="0"/>
                          </a:rPr>
                          <m:t>y</m:t>
                        </m:r>
                      </m:e>
                      <m:sub>
                        <m:r>
                          <m:rPr>
                            <m:sty m:val="p"/>
                          </m:rPr>
                          <a:rPr lang="en-US" i="0">
                            <a:latin typeface="Cambria Math" panose="02040503050406030204" pitchFamily="18" charset="0"/>
                            <a:ea typeface="Cambria Math" panose="02040503050406030204" pitchFamily="18" charset="0"/>
                          </a:rPr>
                          <m:t>d</m:t>
                        </m:r>
                        <m:r>
                          <a:rPr lang="en-US" i="0">
                            <a:latin typeface="Cambria Math" panose="02040503050406030204" pitchFamily="18" charset="0"/>
                            <a:ea typeface="Cambria Math" panose="02040503050406030204" pitchFamily="18" charset="0"/>
                          </a:rPr>
                          <m:t>_</m:t>
                        </m:r>
                        <m:r>
                          <m:rPr>
                            <m:sty m:val="p"/>
                          </m:rPr>
                          <a:rPr lang="en-US" b="0" i="0" smtClean="0">
                            <a:latin typeface="Cambria Math" panose="02040503050406030204" pitchFamily="18" charset="0"/>
                            <a:ea typeface="Cambria Math" panose="02040503050406030204" pitchFamily="18" charset="0"/>
                          </a:rPr>
                          <m:t>D</m:t>
                        </m:r>
                      </m:sub>
                    </m:sSub>
                    <m:r>
                      <a:rPr lang="en-US" i="1">
                        <a:solidFill>
                          <a:srgbClr val="000000"/>
                        </a:solidFill>
                        <a:latin typeface="Cambria Math" panose="02040503050406030204" pitchFamily="18" charset="0"/>
                        <a:ea typeface="Cambria Math" panose="02040503050406030204" pitchFamily="18" charset="0"/>
                      </a:rPr>
                      <m:t>=</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g</m:t>
                        </m:r>
                      </m:e>
                      <m:sub>
                        <m:r>
                          <m:rPr>
                            <m:sty m:val="p"/>
                          </m:rPr>
                          <a:rPr lang="en-US">
                            <a:solidFill>
                              <a:srgbClr val="000000"/>
                            </a:solidFill>
                            <a:latin typeface="Cambria Math" panose="02040503050406030204" pitchFamily="18" charset="0"/>
                            <a:ea typeface="Cambria Math" panose="02040503050406030204" pitchFamily="18" charset="0"/>
                          </a:rPr>
                          <m:t>d</m:t>
                        </m:r>
                        <m:r>
                          <a:rPr lang="en-US">
                            <a:solidFill>
                              <a:srgbClr val="000000"/>
                            </a:solidFill>
                            <a:latin typeface="Cambria Math" panose="02040503050406030204" pitchFamily="18" charset="0"/>
                            <a:ea typeface="Cambria Math" panose="02040503050406030204" pitchFamily="18" charset="0"/>
                          </a:rPr>
                          <m:t>_</m:t>
                        </m:r>
                        <m:r>
                          <m:rPr>
                            <m:sty m:val="p"/>
                          </m:rPr>
                          <a:rPr lang="en-US" b="0" i="0" smtClean="0">
                            <a:solidFill>
                              <a:srgbClr val="000000"/>
                            </a:solidFill>
                            <a:latin typeface="Cambria Math" panose="02040503050406030204" pitchFamily="18" charset="0"/>
                            <a:ea typeface="Cambria Math" panose="02040503050406030204" pitchFamily="18" charset="0"/>
                          </a:rPr>
                          <m:t>D</m:t>
                        </m:r>
                      </m:sub>
                    </m:sSub>
                    <m:r>
                      <a:rPr lang="en-US">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b</m:t>
                        </m:r>
                      </m:e>
                      <m:sub>
                        <m:r>
                          <m:rPr>
                            <m:sty m:val="p"/>
                          </m:rPr>
                          <a:rPr lang="en-US">
                            <a:solidFill>
                              <a:srgbClr val="000000"/>
                            </a:solidFill>
                            <a:latin typeface="Cambria Math" panose="02040503050406030204" pitchFamily="18" charset="0"/>
                            <a:ea typeface="Cambria Math" panose="02040503050406030204" pitchFamily="18" charset="0"/>
                          </a:rPr>
                          <m:t>d</m:t>
                        </m:r>
                        <m:r>
                          <a:rPr lang="en-US">
                            <a:solidFill>
                              <a:srgbClr val="000000"/>
                            </a:solidFill>
                            <a:latin typeface="Cambria Math" panose="02040503050406030204" pitchFamily="18" charset="0"/>
                            <a:ea typeface="Cambria Math" panose="02040503050406030204" pitchFamily="18" charset="0"/>
                          </a:rPr>
                          <m:t>_</m:t>
                        </m:r>
                        <m:r>
                          <m:rPr>
                            <m:sty m:val="p"/>
                          </m:rPr>
                          <a:rPr lang="en-US" b="0" i="0" smtClean="0">
                            <a:solidFill>
                              <a:srgbClr val="000000"/>
                            </a:solidFill>
                            <a:latin typeface="Cambria Math" panose="02040503050406030204" pitchFamily="18" charset="0"/>
                            <a:ea typeface="Cambria Math" panose="02040503050406030204" pitchFamily="18" charset="0"/>
                          </a:rPr>
                          <m:t>D</m:t>
                        </m:r>
                      </m:sub>
                    </m:sSub>
                    <m:r>
                      <a:rPr lang="en-US" i="1">
                        <a:solidFill>
                          <a:srgbClr val="000000"/>
                        </a:solidFill>
                        <a:latin typeface="Cambria Math" panose="02040503050406030204" pitchFamily="18" charset="0"/>
                        <a:ea typeface="Cambria Math" panose="02040503050406030204" pitchFamily="18" charset="0"/>
                      </a:rPr>
                      <m:t>=1</m:t>
                    </m:r>
                    <m:r>
                      <a:rPr lang="en-US" b="0" i="0" smtClean="0">
                        <a:solidFill>
                          <a:srgbClr val="000000"/>
                        </a:solidFill>
                        <a:latin typeface="Cambria Math" panose="02040503050406030204" pitchFamily="18" charset="0"/>
                        <a:ea typeface="Cambria Math" panose="02040503050406030204" pitchFamily="18" charset="0"/>
                      </a:rPr>
                      <m:t>−</m:t>
                    </m:r>
                    <m:r>
                      <m:rPr>
                        <m:sty m:val="p"/>
                      </m:rPr>
                      <a:rPr lang="en-US">
                        <a:solidFill>
                          <a:srgbClr val="000000"/>
                        </a:solidFill>
                        <a:latin typeface="Cambria Math" panose="02040503050406030204" pitchFamily="18" charset="0"/>
                        <a:ea typeface="Cambria Math" panose="02040503050406030204" pitchFamily="18" charset="0"/>
                      </a:rPr>
                      <m:t>j</m:t>
                    </m:r>
                    <m:r>
                      <a:rPr lang="en-US" i="1">
                        <a:solidFill>
                          <a:srgbClr val="000000"/>
                        </a:solidFill>
                        <a:latin typeface="Cambria Math" panose="02040503050406030204" pitchFamily="18" charset="0"/>
                        <a:ea typeface="Cambria Math" panose="02040503050406030204" pitchFamily="18" charset="0"/>
                      </a:rPr>
                      <m:t>1.58.</m:t>
                    </m:r>
                    <m:r>
                      <a:rPr lang="en-US" i="1">
                        <a:latin typeface="Cambria Math" panose="02040503050406030204" pitchFamily="18" charset="0"/>
                        <a:ea typeface="Cambria Math" panose="02040503050406030204" pitchFamily="18" charset="0"/>
                      </a:rPr>
                      <m:t>  </m:t>
                    </m:r>
                  </m:oMath>
                </a14:m>
                <a:endParaRPr lang="en-US" i="1" dirty="0">
                  <a:latin typeface="Cambria Math" panose="02040503050406030204" pitchFamily="18" charset="0"/>
                  <a:ea typeface="Cambria Math" panose="02040503050406030204" pitchFamily="18" charset="0"/>
                </a:endParaRPr>
              </a:p>
              <a:p>
                <a:pPr lvl="2">
                  <a:spcAft>
                    <a:spcPts val="600"/>
                  </a:spcAft>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r>
                            <a:rPr lang="en-US">
                              <a:latin typeface="Cambria Math" panose="02040503050406030204" pitchFamily="18" charset="0"/>
                              <a:ea typeface="Cambria Math" panose="02040503050406030204" pitchFamily="18" charset="0"/>
                            </a:rPr>
                            <m:t>_</m:t>
                          </m:r>
                          <m:r>
                            <m:rPr>
                              <m:sty m:val="p"/>
                            </m:rPr>
                            <a:rPr lang="en-US">
                              <a:latin typeface="Cambria Math" panose="02040503050406030204" pitchFamily="18" charset="0"/>
                              <a:ea typeface="Cambria Math" panose="02040503050406030204" pitchFamily="18" charset="0"/>
                            </a:rPr>
                            <m:t>D</m:t>
                          </m:r>
                        </m:sub>
                      </m:sSub>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r>
                            <m:rPr>
                              <m:sty m:val="p"/>
                            </m:rPr>
                            <a:rPr lang="en-US" i="0">
                              <a:latin typeface="Cambria Math" panose="02040503050406030204" pitchFamily="18" charset="0"/>
                              <a:ea typeface="Cambria Math" panose="02040503050406030204" pitchFamily="18" charset="0"/>
                            </a:rPr>
                            <m:t>y</m:t>
                          </m:r>
                        </m:e>
                        <m:sub>
                          <m:sSub>
                            <m:sSubPr>
                              <m:ctrlPr>
                                <a:rPr lang="en-US" i="1">
                                  <a:latin typeface="Cambria Math" panose="02040503050406030204" pitchFamily="18" charset="0"/>
                                  <a:ea typeface="Cambria Math" panose="02040503050406030204" pitchFamily="18" charset="0"/>
                                </a:rPr>
                              </m:ctrlPr>
                            </m:sSubPr>
                            <m:e>
                              <m:r>
                                <m:rPr>
                                  <m:sty m:val="p"/>
                                </m:rPr>
                                <a:rPr lang="en-US" i="0">
                                  <a:latin typeface="Cambria Math" panose="02040503050406030204" pitchFamily="18" charset="0"/>
                                  <a:ea typeface="Cambria Math" panose="02040503050406030204" pitchFamily="18" charset="0"/>
                                </a:rPr>
                                <m:t>d</m:t>
                              </m:r>
                            </m:e>
                            <m:sub>
                              <m:r>
                                <m:rPr>
                                  <m:sty m:val="p"/>
                                </m:rPr>
                                <a:rPr lang="en-US" b="0" i="0" smtClean="0">
                                  <a:latin typeface="Cambria Math" panose="02040503050406030204" pitchFamily="18" charset="0"/>
                                  <a:ea typeface="Cambria Math" panose="02040503050406030204" pitchFamily="18" charset="0"/>
                                </a:rPr>
                                <m:t>D</m:t>
                              </m:r>
                            </m:sub>
                          </m:sSub>
                        </m:sub>
                      </m:sSub>
                      <m:r>
                        <a:rPr lang="en-US" i="1">
                          <a:latin typeface="Cambria Math" panose="02040503050406030204" pitchFamily="18" charset="0"/>
                          <a:ea typeface="Cambria Math" panose="02040503050406030204" pitchFamily="18" charset="0"/>
                        </a:rPr>
                        <m:t>=1− 1.0+</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1.58=</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1.58.</m:t>
                      </m:r>
                      <m:r>
                        <a:rPr lang="en-US" b="0" i="1" smtClean="0">
                          <a:latin typeface="Cambria Math" panose="02040503050406030204" pitchFamily="18" charset="0"/>
                          <a:ea typeface="Cambria Math" panose="02040503050406030204" pitchFamily="18" charset="0"/>
                        </a:rPr>
                        <m:t>  </m:t>
                      </m:r>
                    </m:oMath>
                  </m:oMathPara>
                </a14:m>
                <a:endParaRPr lang="en-US" b="0" i="1" dirty="0">
                  <a:latin typeface="Cambria Math" panose="02040503050406030204" pitchFamily="18" charset="0"/>
                  <a:ea typeface="Cambria Math" panose="02040503050406030204" pitchFamily="18" charset="0"/>
                </a:endParaRPr>
              </a:p>
              <a:p>
                <a:pPr lvl="2">
                  <a:spcAft>
                    <a:spcPts val="600"/>
                  </a:spcAft>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a:latin typeface="Cambria Math" panose="02040503050406030204" pitchFamily="18" charset="0"/>
                              <a:ea typeface="Cambria Math" panose="02040503050406030204" pitchFamily="18" charset="0"/>
                            </a:rPr>
                            <m:t>s</m:t>
                          </m:r>
                          <m:r>
                            <a:rPr lang="en-US">
                              <a:latin typeface="Cambria Math" panose="02040503050406030204" pitchFamily="18" charset="0"/>
                              <a:ea typeface="Cambria Math" panose="02040503050406030204" pitchFamily="18" charset="0"/>
                            </a:rPr>
                            <m:t>_</m:t>
                          </m:r>
                          <m:r>
                            <m:rPr>
                              <m:sty m:val="p"/>
                            </m:rPr>
                            <a:rPr lang="en-US">
                              <a:latin typeface="Cambria Math" panose="02040503050406030204" pitchFamily="18" charset="0"/>
                              <a:ea typeface="Cambria Math" panose="02040503050406030204" pitchFamily="18" charset="0"/>
                            </a:rPr>
                            <m:t>D</m:t>
                          </m:r>
                        </m:sub>
                      </m:sSub>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j</m:t>
                      </m:r>
                      <m:r>
                        <a:rPr lang="en-US" i="1">
                          <a:latin typeface="Cambria Math" panose="02040503050406030204" pitchFamily="18" charset="0"/>
                          <a:ea typeface="Cambria Math" panose="02040503050406030204" pitchFamily="18" charset="0"/>
                        </a:rPr>
                        <m:t>1.58.</m:t>
                      </m:r>
                    </m:oMath>
                  </m:oMathPara>
                </a14:m>
                <a:endParaRPr lang="en-US" dirty="0">
                  <a:latin typeface="Cambria Math" panose="02040503050406030204" pitchFamily="18" charset="0"/>
                  <a:ea typeface="Cambria Math" panose="02040503050406030204" pitchFamily="18" charset="0"/>
                </a:endParaRPr>
              </a:p>
              <a:p>
                <a:pPr lvl="2">
                  <a:spcAft>
                    <a:spcPts val="600"/>
                  </a:spcAft>
                </a:pP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D</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D</m:t>
                        </m:r>
                      </m:sub>
                    </m:sSub>
                    <m:r>
                      <a:rPr lang="en-US">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m:t>
                            </m:r>
                          </m:sub>
                        </m:sSub>
                      </m:num>
                      <m:den>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m:rPr>
                                <m:sty m:val="p"/>
                              </m:rPr>
                              <a:rPr lang="en-US" i="0">
                                <a:latin typeface="Cambria Math" panose="02040503050406030204" pitchFamily="18" charset="0"/>
                              </a:rPr>
                              <m:t>s</m:t>
                            </m:r>
                            <m:r>
                              <a:rPr lang="en-US" i="0">
                                <a:latin typeface="Cambria Math" panose="02040503050406030204" pitchFamily="18" charset="0"/>
                              </a:rPr>
                              <m:t>_</m:t>
                            </m:r>
                            <m:r>
                              <m:rPr>
                                <m:sty m:val="p"/>
                              </m:rPr>
                              <a:rPr lang="en-US" b="0" i="0" smtClean="0">
                                <a:latin typeface="Cambria Math" panose="02040503050406030204" pitchFamily="18" charset="0"/>
                              </a:rPr>
                              <m:t>D</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m:t>
                        </m:r>
                        <m:r>
                          <a:rPr lang="en-US" b="0" i="1" smtClean="0">
                            <a:latin typeface="Cambria Math" panose="02040503050406030204" pitchFamily="18" charset="0"/>
                          </a:rPr>
                          <m:t>0</m:t>
                        </m:r>
                        <m:r>
                          <a:rPr lang="en-US" i="1">
                            <a:latin typeface="Cambria Math" panose="02040503050406030204" pitchFamily="18" charset="0"/>
                          </a:rPr>
                          <m:t> Ω</m:t>
                        </m:r>
                      </m:num>
                      <m:den>
                        <m:r>
                          <m:rPr>
                            <m:sty m:val="p"/>
                          </m:rPr>
                          <a:rPr lang="en-US">
                            <a:latin typeface="Cambria Math" panose="02040503050406030204" pitchFamily="18" charset="0"/>
                          </a:rPr>
                          <m:t>j</m:t>
                        </m:r>
                        <m:r>
                          <a:rPr lang="en-US" i="1">
                            <a:latin typeface="Cambria Math" panose="02040503050406030204" pitchFamily="18" charset="0"/>
                          </a:rPr>
                          <m:t>1.58</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m:rPr>
                            <m:sty m:val="p"/>
                          </m:rPr>
                          <a:rPr lang="en-US">
                            <a:latin typeface="Cambria Math" panose="02040503050406030204" pitchFamily="18" charset="0"/>
                          </a:rPr>
                          <m:t>j</m:t>
                        </m:r>
                        <m:r>
                          <a:rPr lang="en-US">
                            <a:latin typeface="Cambria Math" panose="02040503050406030204" pitchFamily="18" charset="0"/>
                          </a:rPr>
                          <m:t>50 Ω</m:t>
                        </m:r>
                      </m:num>
                      <m:den>
                        <m:r>
                          <a:rPr lang="en-US">
                            <a:latin typeface="Cambria Math" panose="02040503050406030204" pitchFamily="18" charset="0"/>
                          </a:rPr>
                          <m:t>1.58</m:t>
                        </m:r>
                      </m:den>
                    </m:f>
                    <m:r>
                      <a:rPr lang="en-US">
                        <a:latin typeface="Cambria Math" panose="02040503050406030204" pitchFamily="18" charset="0"/>
                      </a:rPr>
                      <m:t>=</m:t>
                    </m:r>
                    <m:r>
                      <a:rPr lang="en-US" i="1">
                        <a:latin typeface="Cambria Math" panose="02040503050406030204" pitchFamily="18" charset="0"/>
                      </a:rPr>
                      <m:t>−</m:t>
                    </m:r>
                    <m:r>
                      <m:rPr>
                        <m:sty m:val="p"/>
                      </m:rPr>
                      <a:rPr lang="en-US">
                        <a:latin typeface="Cambria Math" panose="02040503050406030204" pitchFamily="18" charset="0"/>
                      </a:rPr>
                      <m:t>j</m:t>
                    </m:r>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oMath>
                </a14:m>
                <a:r>
                  <a:rPr lang="en-US" dirty="0"/>
                  <a:t> </a:t>
                </a:r>
              </a:p>
              <a:p>
                <a:pPr lvl="2">
                  <a:spcAft>
                    <a:spcPts val="600"/>
                  </a:spcAft>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d>
                            <m:dPr>
                              <m:ctrlPr>
                                <a:rPr lang="en-US" i="1">
                                  <a:latin typeface="Cambria Math" panose="02040503050406030204" pitchFamily="18" charset="0"/>
                                </a:rPr>
                              </m:ctrlPr>
                            </m:dPr>
                            <m:e>
                              <m:r>
                                <m:rPr>
                                  <m:sty m:val="p"/>
                                </m:rPr>
                                <a:rPr lang="en-US">
                                  <a:latin typeface="Cambria Math" panose="02040503050406030204" pitchFamily="18" charset="0"/>
                                </a:rPr>
                                <m:t>Shunt</m:t>
                              </m:r>
                              <m:r>
                                <a:rPr lang="en-US">
                                  <a:latin typeface="Cambria Math" panose="02040503050406030204" pitchFamily="18" charset="0"/>
                                </a:rPr>
                                <m:t> </m:t>
                              </m:r>
                              <m:r>
                                <m:rPr>
                                  <m:sty m:val="p"/>
                                </m:rPr>
                                <a:rPr lang="en-US" b="0" i="0" smtClean="0">
                                  <a:latin typeface="Cambria Math" panose="02040503050406030204" pitchFamily="18" charset="0"/>
                                </a:rPr>
                                <m:t>capacit</m:t>
                              </m:r>
                              <m:r>
                                <m:rPr>
                                  <m:sty m:val="p"/>
                                </m:rPr>
                                <a:rPr lang="en-US">
                                  <a:latin typeface="Cambria Math" panose="02040503050406030204" pitchFamily="18" charset="0"/>
                                </a:rPr>
                                <m:t>or</m:t>
                              </m:r>
                            </m:e>
                          </m:d>
                          <m:r>
                            <a:rPr lang="en-US" b="0" i="0" smtClean="0">
                              <a:latin typeface="Cambria Math" panose="02040503050406030204" pitchFamily="18" charset="0"/>
                            </a:rPr>
                            <m:t> </m:t>
                          </m:r>
                          <m:r>
                            <m:rPr>
                              <m:sty m:val="p"/>
                            </m:rPr>
                            <a:rPr lang="en-US">
                              <a:latin typeface="Cambria Math" panose="02040503050406030204" pitchFamily="18" charset="0"/>
                            </a:rPr>
                            <m:t>Z</m:t>
                          </m:r>
                        </m:e>
                        <m:sub>
                          <m:r>
                            <m:rPr>
                              <m:sty m:val="p"/>
                            </m:rPr>
                            <a:rPr lang="en-US" b="0" i="0" smtClean="0">
                              <a:latin typeface="Cambria Math" panose="02040503050406030204" pitchFamily="18" charset="0"/>
                            </a:rPr>
                            <m:t>s</m:t>
                          </m:r>
                          <m:r>
                            <a:rPr lang="en-US" b="0" i="0" smtClean="0">
                              <a:latin typeface="Cambria Math" panose="02040503050406030204" pitchFamily="18" charset="0"/>
                            </a:rPr>
                            <m:t>_</m:t>
                          </m:r>
                          <m:r>
                            <m:rPr>
                              <m:sty m:val="p"/>
                            </m:rPr>
                            <a:rPr lang="en-US" b="0" i="0" smtClean="0">
                              <a:latin typeface="Cambria Math" panose="02040503050406030204" pitchFamily="18" charset="0"/>
                            </a:rPr>
                            <m:t>D</m:t>
                          </m:r>
                        </m:sub>
                      </m:sSub>
                      <m:r>
                        <a:rPr lang="en-US" i="1">
                          <a:latin typeface="Cambria Math" panose="02040503050406030204" pitchFamily="18" charset="0"/>
                        </a:rPr>
                        <m:t>=</m:t>
                      </m:r>
                      <m:f>
                        <m:fPr>
                          <m:type m:val="lin"/>
                          <m:ctrlPr>
                            <a:rPr lang="en-US" i="1">
                              <a:latin typeface="Cambria Math" panose="02040503050406030204" pitchFamily="18" charset="0"/>
                            </a:rPr>
                          </m:ctrlPr>
                        </m:fPr>
                        <m:num>
                          <m:r>
                            <a:rPr lang="en-US" i="1">
                              <a:latin typeface="Cambria Math" panose="02040503050406030204" pitchFamily="18" charset="0"/>
                            </a:rPr>
                            <m:t>1</m:t>
                          </m:r>
                        </m:num>
                        <m:den>
                          <m:d>
                            <m:dPr>
                              <m:ctrlPr>
                                <a:rPr lang="en-US" i="1">
                                  <a:latin typeface="Cambria Math" panose="02040503050406030204" pitchFamily="18" charset="0"/>
                                </a:rPr>
                              </m:ctrlPr>
                            </m:dPr>
                            <m:e>
                              <m:r>
                                <m:rPr>
                                  <m:sty m:val="p"/>
                                </m:rPr>
                                <a:rPr lang="en-US">
                                  <a:latin typeface="Cambria Math" panose="02040503050406030204" pitchFamily="18" charset="0"/>
                                </a:rPr>
                                <m:t>j</m:t>
                              </m:r>
                              <m:r>
                                <a:rPr lang="en-US">
                                  <a:latin typeface="Cambria Math" panose="02040503050406030204" pitchFamily="18" charset="0"/>
                                </a:rPr>
                                <m:t>2</m:t>
                              </m:r>
                              <m:r>
                                <m:rPr>
                                  <m:sty m:val="p"/>
                                </m:rPr>
                                <a:rPr lang="en-US">
                                  <a:latin typeface="Cambria Math" panose="02040503050406030204" pitchFamily="18" charset="0"/>
                                </a:rPr>
                                <m:t>πfC</m:t>
                              </m:r>
                            </m:e>
                          </m:d>
                        </m:den>
                      </m:f>
                      <m:r>
                        <a:rPr lang="en-US">
                          <a:latin typeface="Cambria Math" panose="02040503050406030204" pitchFamily="18" charset="0"/>
                        </a:rPr>
                        <m:t>=</m:t>
                      </m:r>
                      <m:f>
                        <m:fPr>
                          <m:type m:val="lin"/>
                          <m:ctrlPr>
                            <a:rPr lang="en-US" i="1">
                              <a:latin typeface="Cambria Math" panose="02040503050406030204" pitchFamily="18" charset="0"/>
                            </a:rPr>
                          </m:ctrlPr>
                        </m:fPr>
                        <m:num>
                          <m:r>
                            <a:rPr lang="en-US" i="1">
                              <a:latin typeface="Cambria Math" panose="02040503050406030204" pitchFamily="18" charset="0"/>
                            </a:rPr>
                            <m:t>−</m:t>
                          </m:r>
                          <m:r>
                            <m:rPr>
                              <m:sty m:val="p"/>
                            </m:rPr>
                            <a:rPr lang="en-US">
                              <a:latin typeface="Cambria Math" panose="02040503050406030204" pitchFamily="18" charset="0"/>
                            </a:rPr>
                            <m:t>j</m:t>
                          </m:r>
                        </m:num>
                        <m:den>
                          <m:d>
                            <m:dPr>
                              <m:ctrlPr>
                                <a:rPr lang="en-US" i="1">
                                  <a:latin typeface="Cambria Math" panose="02040503050406030204" pitchFamily="18" charset="0"/>
                                </a:rPr>
                              </m:ctrlPr>
                            </m:dPr>
                            <m:e>
                              <m:r>
                                <a:rPr lang="en-US">
                                  <a:latin typeface="Cambria Math" panose="02040503050406030204" pitchFamily="18" charset="0"/>
                                </a:rPr>
                                <m:t>2</m:t>
                              </m:r>
                              <m:r>
                                <m:rPr>
                                  <m:sty m:val="p"/>
                                </m:rPr>
                                <a:rPr lang="en-US">
                                  <a:latin typeface="Cambria Math" panose="02040503050406030204" pitchFamily="18" charset="0"/>
                                </a:rPr>
                                <m:t>πfC</m:t>
                              </m:r>
                            </m:e>
                          </m:d>
                          <m:r>
                            <a:rPr lang="en-US" b="0" i="1" smtClean="0">
                              <a:latin typeface="Cambria Math" panose="02040503050406030204" pitchFamily="18" charset="0"/>
                            </a:rPr>
                            <m:t>.</m:t>
                          </m:r>
                        </m:den>
                      </m:f>
                    </m:oMath>
                  </m:oMathPara>
                </a14:m>
                <a:endParaRPr lang="en-US" dirty="0">
                  <a:latin typeface="Cambria Math" panose="02040503050406030204" pitchFamily="18" charset="0"/>
                  <a:ea typeface="Cambria Math" panose="02040503050406030204" pitchFamily="18" charset="0"/>
                </a:endParaRPr>
              </a:p>
              <a:p>
                <a:pPr lvl="2">
                  <a:spcAft>
                    <a:spcPts val="600"/>
                  </a:spcAft>
                </a:pPr>
                <a14:m>
                  <m:oMathPara xmlns:m="http://schemas.openxmlformats.org/officeDocument/2006/math">
                    <m:oMathParaPr>
                      <m:jc m:val="left"/>
                    </m:oMathParaPr>
                    <m:oMath xmlns:m="http://schemas.openxmlformats.org/officeDocument/2006/math">
                      <m:f>
                        <m:fPr>
                          <m:type m:val="lin"/>
                          <m:ctrlPr>
                            <a:rPr lang="en-US" i="1">
                              <a:latin typeface="Cambria Math" panose="02040503050406030204" pitchFamily="18" charset="0"/>
                            </a:rPr>
                          </m:ctrlPr>
                        </m:fPr>
                        <m:num>
                          <m:r>
                            <a:rPr lang="en-US" i="1">
                              <a:latin typeface="Cambria Math" panose="02040503050406030204" pitchFamily="18" charset="0"/>
                            </a:rPr>
                            <m:t>−</m:t>
                          </m:r>
                          <m:r>
                            <m:rPr>
                              <m:sty m:val="p"/>
                            </m:rPr>
                            <a:rPr lang="en-US">
                              <a:latin typeface="Cambria Math" panose="02040503050406030204" pitchFamily="18" charset="0"/>
                            </a:rPr>
                            <m:t>j</m:t>
                          </m:r>
                        </m:num>
                        <m:den>
                          <m:d>
                            <m:dPr>
                              <m:ctrlPr>
                                <a:rPr lang="en-US" i="1">
                                  <a:latin typeface="Cambria Math" panose="02040503050406030204" pitchFamily="18" charset="0"/>
                                </a:rPr>
                              </m:ctrlPr>
                            </m:dPr>
                            <m:e>
                              <m:r>
                                <a:rPr lang="en-US">
                                  <a:latin typeface="Cambria Math" panose="02040503050406030204" pitchFamily="18" charset="0"/>
                                </a:rPr>
                                <m:t>2</m:t>
                              </m:r>
                              <m:r>
                                <m:rPr>
                                  <m:sty m:val="p"/>
                                </m:rPr>
                                <a:rPr lang="en-US">
                                  <a:latin typeface="Cambria Math" panose="02040503050406030204" pitchFamily="18" charset="0"/>
                                </a:rPr>
                                <m:t>πfC</m:t>
                              </m:r>
                            </m:e>
                          </m:d>
                        </m:den>
                      </m:f>
                      <m:r>
                        <a:rPr lang="en-US" i="1">
                          <a:latin typeface="Cambria Math" panose="02040503050406030204" pitchFamily="18" charset="0"/>
                        </a:rPr>
                        <m:t>=−</m:t>
                      </m:r>
                      <m:r>
                        <m:rPr>
                          <m:sty m:val="p"/>
                        </m:rPr>
                        <a:rPr lang="en-US">
                          <a:latin typeface="Cambria Math" panose="02040503050406030204" pitchFamily="18" charset="0"/>
                        </a:rPr>
                        <m:t>j</m:t>
                      </m:r>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oMath>
                  </m:oMathPara>
                </a14:m>
                <a:endParaRPr lang="en-US" dirty="0">
                  <a:latin typeface="Cambria Math" panose="02040503050406030204" pitchFamily="18" charset="0"/>
                  <a:ea typeface="Cambria Math" panose="02040503050406030204" pitchFamily="18" charset="0"/>
                </a:endParaRPr>
              </a:p>
              <a:p>
                <a:pPr lvl="2">
                  <a:spcAft>
                    <a:spcPts val="1200"/>
                  </a:spcAft>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C</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a:latin typeface="Cambria Math" panose="02040503050406030204" pitchFamily="18" charset="0"/>
                            </a:rPr>
                            <m:t>2</m:t>
                          </m:r>
                          <m:r>
                            <m:rPr>
                              <m:sty m:val="p"/>
                            </m:rPr>
                            <a:rPr lang="en-US">
                              <a:latin typeface="Cambria Math" panose="02040503050406030204" pitchFamily="18" charset="0"/>
                            </a:rPr>
                            <m:t>πf</m:t>
                          </m:r>
                          <m:d>
                            <m:dPr>
                              <m:ctrlPr>
                                <a:rPr lang="en-US" i="1">
                                  <a:latin typeface="Cambria Math" panose="02040503050406030204" pitchFamily="18" charset="0"/>
                                </a:rPr>
                              </m:ctrlPr>
                            </m:dPr>
                            <m:e>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e>
                          </m:d>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a:latin typeface="Cambria Math" panose="02040503050406030204" pitchFamily="18" charset="0"/>
                            </a:rPr>
                            <m:t>2</m:t>
                          </m:r>
                          <m:r>
                            <m:rPr>
                              <m:sty m:val="p"/>
                            </m:rPr>
                            <a:rPr lang="en-US">
                              <a:latin typeface="Cambria Math" panose="02040503050406030204" pitchFamily="18" charset="0"/>
                            </a:rPr>
                            <m:t>π</m:t>
                          </m:r>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0</m:t>
                              </m:r>
                              <m:r>
                                <a:rPr lang="en-US" i="1">
                                  <a:latin typeface="Cambria Math" panose="02040503050406030204" pitchFamily="18" charset="0"/>
                                </a:rPr>
                                <m:t>0 </m:t>
                              </m:r>
                              <m:r>
                                <m:rPr>
                                  <m:sty m:val="p"/>
                                </m:rPr>
                                <a:rPr lang="en-US">
                                  <a:latin typeface="Cambria Math" panose="02040503050406030204" pitchFamily="18" charset="0"/>
                                </a:rPr>
                                <m:t>MHz</m:t>
                              </m:r>
                            </m:e>
                          </m:d>
                          <m:d>
                            <m:dPr>
                              <m:ctrlPr>
                                <a:rPr lang="en-US" i="1">
                                  <a:latin typeface="Cambria Math" panose="02040503050406030204" pitchFamily="18" charset="0"/>
                                </a:rPr>
                              </m:ctrlPr>
                            </m:dPr>
                            <m:e>
                              <m:r>
                                <a:rPr lang="en-US" b="0" i="0" smtClean="0">
                                  <a:latin typeface="Cambria Math" panose="02040503050406030204" pitchFamily="18" charset="0"/>
                                </a:rPr>
                                <m:t>31</m:t>
                              </m:r>
                              <m:r>
                                <a:rPr lang="en-US">
                                  <a:latin typeface="Cambria Math" panose="02040503050406030204" pitchFamily="18" charset="0"/>
                                </a:rPr>
                                <m:t>.</m:t>
                              </m:r>
                              <m:r>
                                <a:rPr lang="en-US" b="0" i="0" smtClean="0">
                                  <a:latin typeface="Cambria Math" panose="02040503050406030204" pitchFamily="18" charset="0"/>
                                </a:rPr>
                                <m:t>6</m:t>
                              </m:r>
                              <m:r>
                                <a:rPr lang="en-US">
                                  <a:latin typeface="Cambria Math" panose="02040503050406030204" pitchFamily="18" charset="0"/>
                                </a:rPr>
                                <m:t> Ω</m:t>
                              </m:r>
                            </m:e>
                          </m:d>
                        </m:den>
                      </m:f>
                      <m:r>
                        <a:rPr lang="en-US" i="1">
                          <a:latin typeface="Cambria Math" panose="02040503050406030204" pitchFamily="18" charset="0"/>
                        </a:rPr>
                        <m:t>=</m:t>
                      </m:r>
                      <m:r>
                        <a:rPr lang="en-US" b="0" i="1" smtClean="0">
                          <a:latin typeface="Cambria Math" panose="02040503050406030204" pitchFamily="18" charset="0"/>
                        </a:rPr>
                        <m:t>5</m:t>
                      </m:r>
                      <m:r>
                        <a:rPr lang="en-US" i="1">
                          <a:latin typeface="Cambria Math" panose="02040503050406030204" pitchFamily="18" charset="0"/>
                        </a:rPr>
                        <m:t>0.</m:t>
                      </m:r>
                      <m:r>
                        <a:rPr lang="en-US" b="0" i="1" smtClean="0">
                          <a:latin typeface="Cambria Math" panose="02040503050406030204" pitchFamily="18" charset="0"/>
                        </a:rPr>
                        <m:t>4</m:t>
                      </m:r>
                      <m:r>
                        <a:rPr lang="en-US" i="1">
                          <a:latin typeface="Cambria Math" panose="02040503050406030204" pitchFamily="18" charset="0"/>
                        </a:rPr>
                        <m:t> </m:t>
                      </m:r>
                      <m:r>
                        <m:rPr>
                          <m:sty m:val="p"/>
                        </m:rPr>
                        <a:rPr lang="en-US">
                          <a:latin typeface="Cambria Math" panose="02040503050406030204" pitchFamily="18" charset="0"/>
                        </a:rPr>
                        <m:t>pf</m:t>
                      </m:r>
                      <m:r>
                        <a:rPr lang="en-US" i="1">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a:p>
                <a:pPr lvl="2"/>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C</m:t>
                      </m:r>
                      <m:r>
                        <a:rPr lang="en-US">
                          <a:latin typeface="Cambria Math" panose="02040503050406030204" pitchFamily="18" charset="0"/>
                        </a:rPr>
                        <m:t>=</m:t>
                      </m:r>
                      <m:r>
                        <a:rPr lang="en-US" i="1">
                          <a:latin typeface="Cambria Math" panose="02040503050406030204" pitchFamily="18" charset="0"/>
                        </a:rPr>
                        <m:t>50</m:t>
                      </m:r>
                      <m:r>
                        <a:rPr lang="en-US" i="1" smtClean="0">
                          <a:latin typeface="Cambria Math" panose="02040503050406030204" pitchFamily="18" charset="0"/>
                        </a:rPr>
                        <m:t>.</m:t>
                      </m:r>
                      <m:r>
                        <a:rPr lang="en-US" b="0" i="1" smtClean="0">
                          <a:latin typeface="Cambria Math" panose="02040503050406030204" pitchFamily="18" charset="0"/>
                        </a:rPr>
                        <m:t>4</m:t>
                      </m:r>
                      <m:r>
                        <a:rPr lang="en-US" i="1">
                          <a:latin typeface="Cambria Math" panose="02040503050406030204" pitchFamily="18" charset="0"/>
                        </a:rPr>
                        <m:t> </m:t>
                      </m:r>
                      <m:r>
                        <m:rPr>
                          <m:sty m:val="p"/>
                        </m:rPr>
                        <a:rPr lang="en-US">
                          <a:latin typeface="Cambria Math" panose="02040503050406030204" pitchFamily="18" charset="0"/>
                        </a:rPr>
                        <m:t>pf</m:t>
                      </m:r>
                      <m:r>
                        <a:rPr lang="en-US" i="1">
                          <a:latin typeface="Cambria Math" panose="02040503050406030204" pitchFamily="18" charset="0"/>
                        </a:rPr>
                        <m:t>.</m:t>
                      </m:r>
                    </m:oMath>
                  </m:oMathPara>
                </a14:m>
                <a:endParaRPr lang="en-US" dirty="0">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07005" y="507528"/>
                <a:ext cx="12003932" cy="6239913"/>
              </a:xfrm>
              <a:prstGeom prst="rect">
                <a:avLst/>
              </a:prstGeom>
              <a:blipFill>
                <a:blip r:embed="rId2"/>
                <a:stretch>
                  <a:fillRect l="-152" t="-194"/>
                </a:stretch>
              </a:blipFill>
            </p:spPr>
            <p:txBody>
              <a:bodyPr/>
              <a:lstStyle/>
              <a:p>
                <a:r>
                  <a:rPr lang="en-US">
                    <a:noFill/>
                  </a:rPr>
                  <a:t> </a:t>
                </a:r>
              </a:p>
            </p:txBody>
          </p:sp>
        </mc:Fallback>
      </mc:AlternateContent>
      <p:sp>
        <p:nvSpPr>
          <p:cNvPr id="3" name="TextBox 2"/>
          <p:cNvSpPr txBox="1"/>
          <p:nvPr/>
        </p:nvSpPr>
        <p:spPr>
          <a:xfrm>
            <a:off x="9310689" y="4495802"/>
            <a:ext cx="261610" cy="230832"/>
          </a:xfrm>
          <a:prstGeom prst="rect">
            <a:avLst/>
          </a:prstGeom>
          <a:noFill/>
        </p:spPr>
        <p:txBody>
          <a:bodyPr wrap="none" rtlCol="0">
            <a:spAutoFit/>
          </a:bodyPr>
          <a:lstStyle/>
          <a:p>
            <a:r>
              <a:rPr lang="en-US" sz="900" i="1" dirty="0">
                <a:solidFill>
                  <a:schemeClr val="bg1"/>
                </a:solidFill>
                <a:latin typeface="Cambria Math" panose="02040503050406030204" pitchFamily="18" charset="0"/>
                <a:ea typeface="Cambria Math" panose="02040503050406030204" pitchFamily="18" charset="0"/>
              </a:rPr>
              <a:t>D</a:t>
            </a:r>
          </a:p>
        </p:txBody>
      </p:sp>
      <p:sp>
        <p:nvSpPr>
          <p:cNvPr id="7" name="Oval 6"/>
          <p:cNvSpPr/>
          <p:nvPr/>
        </p:nvSpPr>
        <p:spPr bwMode="auto">
          <a:xfrm>
            <a:off x="9448467" y="4672016"/>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8" name="Oval 7"/>
          <p:cNvSpPr/>
          <p:nvPr/>
        </p:nvSpPr>
        <p:spPr bwMode="auto">
          <a:xfrm>
            <a:off x="9446082" y="2969392"/>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grpSp>
        <p:nvGrpSpPr>
          <p:cNvPr id="9" name="Group 8"/>
          <p:cNvGrpSpPr/>
          <p:nvPr/>
        </p:nvGrpSpPr>
        <p:grpSpPr>
          <a:xfrm>
            <a:off x="6318510" y="1411644"/>
            <a:ext cx="5670524" cy="4747127"/>
            <a:chOff x="6274340" y="1546164"/>
            <a:chExt cx="5670524" cy="4747127"/>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340" y="1546164"/>
              <a:ext cx="5670524" cy="4747127"/>
            </a:xfrm>
            <a:prstGeom prst="rect">
              <a:avLst/>
            </a:prstGeom>
          </p:spPr>
        </p:pic>
        <p:sp>
          <p:nvSpPr>
            <p:cNvPr id="11" name="TextBox 10"/>
            <p:cNvSpPr txBox="1"/>
            <p:nvPr/>
          </p:nvSpPr>
          <p:spPr>
            <a:xfrm>
              <a:off x="9093822" y="4736459"/>
              <a:ext cx="261610" cy="230832"/>
            </a:xfrm>
            <a:prstGeom prst="rect">
              <a:avLst/>
            </a:prstGeom>
            <a:noFill/>
          </p:spPr>
          <p:txBody>
            <a:bodyPr wrap="none" rtlCol="0">
              <a:spAutoFit/>
            </a:bodyPr>
            <a:lstStyle/>
            <a:p>
              <a:r>
                <a:rPr lang="en-US" sz="900" i="1" dirty="0">
                  <a:solidFill>
                    <a:schemeClr val="bg1"/>
                  </a:solidFill>
                  <a:latin typeface="Cambria Math" panose="02040503050406030204" pitchFamily="18" charset="0"/>
                  <a:ea typeface="Cambria Math" panose="02040503050406030204" pitchFamily="18" charset="0"/>
                </a:rPr>
                <a:t>D</a:t>
              </a:r>
            </a:p>
          </p:txBody>
        </p:sp>
        <p:sp>
          <p:nvSpPr>
            <p:cNvPr id="12" name="Oval 11"/>
            <p:cNvSpPr/>
            <p:nvPr/>
          </p:nvSpPr>
          <p:spPr bwMode="auto">
            <a:xfrm>
              <a:off x="9224627" y="4919666"/>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sp>
          <p:nvSpPr>
            <p:cNvPr id="13" name="Oval 12"/>
            <p:cNvSpPr/>
            <p:nvPr/>
          </p:nvSpPr>
          <p:spPr bwMode="auto">
            <a:xfrm>
              <a:off x="9227006" y="3067023"/>
              <a:ext cx="50006" cy="50006"/>
            </a:xfrm>
            <a:prstGeom prst="ellipse">
              <a:avLst/>
            </a:prstGeom>
            <a:solidFill>
              <a:srgbClr val="66FFFF"/>
            </a:solidFill>
            <a:ln>
              <a:noFill/>
              <a:headEnd type="none" w="med" len="med"/>
              <a:tailEnd type="none" w="med" len="med"/>
            </a:ln>
          </p:spPr>
          <p:style>
            <a:lnRef idx="0">
              <a:schemeClr val="accent2"/>
            </a:lnRef>
            <a:fillRef idx="1001">
              <a:schemeClr val="lt1"/>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a:solidFill>
                  <a:srgbClr val="FFFFFF"/>
                </a:solidFill>
                <a:effectLst>
                  <a:outerShdw blurRad="38100" dist="38100" dir="2700000" algn="tl">
                    <a:srgbClr val="000000">
                      <a:alpha val="43137"/>
                    </a:srgbClr>
                  </a:outerShdw>
                </a:effectLst>
                <a:latin typeface="Cambria Math" panose="02040503050406030204" pitchFamily="18" charset="0"/>
              </a:endParaRPr>
            </a:p>
          </p:txBody>
        </p:sp>
      </p:grpSp>
    </p:spTree>
    <p:extLst>
      <p:ext uri="{BB962C8B-B14F-4D97-AF65-F5344CB8AC3E}">
        <p14:creationId xmlns:p14="http://schemas.microsoft.com/office/powerpoint/2010/main" val="142926323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3188044" y="-24714"/>
            <a:ext cx="5609967" cy="553998"/>
          </a:xfrm>
        </p:spPr>
        <p:txBody>
          <a:bodyPr/>
          <a:lstStyle/>
          <a:p>
            <a:pPr algn="ctr"/>
            <a:r>
              <a:rPr lang="en-US" sz="4000" dirty="0"/>
              <a:t>Smith Charts (Continued)</a:t>
            </a:r>
          </a:p>
        </p:txBody>
      </p:sp>
      <mc:AlternateContent xmlns:mc="http://schemas.openxmlformats.org/markup-compatibility/2006" xmlns:a14="http://schemas.microsoft.com/office/drawing/2010/main">
        <mc:Choice Requires="a14">
          <p:sp>
            <p:nvSpPr>
              <p:cNvPr id="4" name="Rectangle 3"/>
              <p:cNvSpPr/>
              <p:nvPr/>
            </p:nvSpPr>
            <p:spPr>
              <a:xfrm>
                <a:off x="956018" y="579398"/>
                <a:ext cx="10285852" cy="6580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i</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num>
                            <m:den>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r</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jx</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m:t>
                          </m:r>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Smith</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Chart</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graphically</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represents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these</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relationships</m:t>
                      </m:r>
                      <m: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956018" y="579398"/>
                <a:ext cx="10285852" cy="65806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nvGraphicFramePr>
            <p:xfrm>
              <a:off x="168463" y="1380851"/>
              <a:ext cx="6994314" cy="1818640"/>
            </p:xfrm>
            <a:graphic>
              <a:graphicData uri="http://schemas.openxmlformats.org/drawingml/2006/table">
                <a:tbl>
                  <a:tblPr firstRow="1" bandRow="1">
                    <a:tableStyleId>{5C22544A-7EE6-4342-B048-85BDC9FD1C3A}</a:tableStyleId>
                  </a:tblPr>
                  <a:tblGrid>
                    <a:gridCol w="878307">
                      <a:extLst>
                        <a:ext uri="{9D8B030D-6E8A-4147-A177-3AD203B41FA5}">
                          <a16:colId xmlns:a16="http://schemas.microsoft.com/office/drawing/2014/main" val="20000"/>
                        </a:ext>
                      </a:extLst>
                    </a:gridCol>
                    <a:gridCol w="3602456">
                      <a:extLst>
                        <a:ext uri="{9D8B030D-6E8A-4147-A177-3AD203B41FA5}">
                          <a16:colId xmlns:a16="http://schemas.microsoft.com/office/drawing/2014/main" val="20001"/>
                        </a:ext>
                      </a:extLst>
                    </a:gridCol>
                    <a:gridCol w="2513551">
                      <a:extLst>
                        <a:ext uri="{9D8B030D-6E8A-4147-A177-3AD203B41FA5}">
                          <a16:colId xmlns:a16="http://schemas.microsoft.com/office/drawing/2014/main" val="20002"/>
                        </a:ext>
                      </a:extLst>
                    </a:gridCol>
                  </a:tblGrid>
                  <a:tr h="0">
                    <a:tc>
                      <a:txBody>
                        <a:bodyPr/>
                        <a:lstStyle/>
                        <a:p>
                          <a:pPr algn="ctr"/>
                          <a:r>
                            <a:rPr lang="en-US" sz="1600" b="0" dirty="0">
                              <a:solidFill>
                                <a:schemeClr val="bg1"/>
                              </a:solidFill>
                              <a:latin typeface="Cambria Math" panose="02040503050406030204" pitchFamily="18" charset="0"/>
                              <a:ea typeface="Cambria Math" panose="02040503050406030204" pitchFamily="18" charset="0"/>
                            </a:rPr>
                            <a:t>Point</a:t>
                          </a:r>
                        </a:p>
                      </a:txBody>
                      <a:tcPr/>
                    </a:tc>
                    <a:tc>
                      <a:txBody>
                        <a:bodyPr/>
                        <a:lstStyle/>
                        <a:p>
                          <a:pPr algn="ctr"/>
                          <a14:m>
                            <m:oMath xmlns:m="http://schemas.openxmlformats.org/officeDocument/2006/math">
                              <m:r>
                                <m:rPr>
                                  <m:sty m:val="p"/>
                                </m:rPr>
                                <a:rPr lang="el-GR" sz="1600" i="1" smtClean="0">
                                  <a:solidFill>
                                    <a:srgbClr val="000000"/>
                                  </a:solidFill>
                                  <a:latin typeface="Cambria Math" panose="02040503050406030204" pitchFamily="18" charset="0"/>
                                  <a:ea typeface="Cambria Math" panose="02040503050406030204" pitchFamily="18" charset="0"/>
                                </a:rPr>
                                <m:t>Γ</m:t>
                              </m:r>
                            </m:oMath>
                          </a14:m>
                          <a:r>
                            <a:rPr lang="en-US" sz="1600" dirty="0">
                              <a:latin typeface="Cambria Math" panose="02040503050406030204" pitchFamily="18" charset="0"/>
                              <a:ea typeface="Cambria Math" panose="02040503050406030204" pitchFamily="18" charset="0"/>
                            </a:rPr>
                            <a:t> </a:t>
                          </a:r>
                          <a:r>
                            <a:rPr lang="en-US" sz="1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1600" b="1" i="0" smtClean="0">
                                  <a:solidFill>
                                    <a:srgbClr val="000000"/>
                                  </a:solidFill>
                                  <a:latin typeface="Cambria Math" panose="02040503050406030204" pitchFamily="18" charset="0"/>
                                  <a:ea typeface="Cambria Math" panose="02040503050406030204" pitchFamily="18" charset="0"/>
                                </a:rPr>
                                <m:t> </m:t>
                              </m:r>
                              <m:sSub>
                                <m:sSubPr>
                                  <m:ctrlPr>
                                    <a:rPr lang="en-US" sz="1600" i="1" smtClean="0">
                                      <a:solidFill>
                                        <a:srgbClr val="000000"/>
                                      </a:solidFill>
                                      <a:latin typeface="Cambria Math" panose="02040503050406030204" pitchFamily="18" charset="0"/>
                                      <a:ea typeface="Cambria Math" panose="02040503050406030204" pitchFamily="18" charset="0"/>
                                    </a:rPr>
                                  </m:ctrlPr>
                                </m:sSubPr>
                                <m:e>
                                  <m:r>
                                    <m:rPr>
                                      <m:sty m:val="p"/>
                                    </m:rPr>
                                    <a:rPr lang="el-GR" sz="1600" i="1">
                                      <a:solidFill>
                                        <a:srgbClr val="000000"/>
                                      </a:solidFill>
                                      <a:latin typeface="Cambria Math" panose="02040503050406030204" pitchFamily="18" charset="0"/>
                                      <a:ea typeface="Cambria Math" panose="02040503050406030204" pitchFamily="18" charset="0"/>
                                    </a:rPr>
                                    <m:t>Γ</m:t>
                                  </m:r>
                                </m:e>
                                <m:sub>
                                  <m:r>
                                    <m:rPr>
                                      <m:sty m:val="p"/>
                                    </m:rPr>
                                    <a:rPr lang="en-US" sz="1600">
                                      <a:solidFill>
                                        <a:srgbClr val="000000"/>
                                      </a:solidFill>
                                      <a:latin typeface="Cambria Math" panose="02040503050406030204" pitchFamily="18" charset="0"/>
                                      <a:ea typeface="Cambria Math" panose="02040503050406030204" pitchFamily="18" charset="0"/>
                                    </a:rPr>
                                    <m:t>r</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a:solidFill>
                                        <a:srgbClr val="000000"/>
                                      </a:solidFill>
                                      <a:latin typeface="Cambria Math" panose="02040503050406030204" pitchFamily="18" charset="0"/>
                                      <a:ea typeface="Cambria Math" panose="02040503050406030204" pitchFamily="18" charset="0"/>
                                    </a:rPr>
                                  </m:ctrlPr>
                                </m:sSubPr>
                                <m:e>
                                  <m:r>
                                    <m:rPr>
                                      <m:sty m:val="p"/>
                                    </m:rPr>
                                    <a:rPr lang="en-US" sz="1600">
                                      <a:solidFill>
                                        <a:srgbClr val="000000"/>
                                      </a:solidFill>
                                      <a:latin typeface="Cambria Math" panose="02040503050406030204" pitchFamily="18" charset="0"/>
                                      <a:ea typeface="Cambria Math" panose="02040503050406030204" pitchFamily="18" charset="0"/>
                                    </a:rPr>
                                    <m:t>j</m:t>
                                  </m:r>
                                  <m:r>
                                    <m:rPr>
                                      <m:sty m:val="p"/>
                                    </m:rPr>
                                    <a:rPr lang="el-GR" sz="1600" i="1">
                                      <a:solidFill>
                                        <a:srgbClr val="000000"/>
                                      </a:solidFill>
                                      <a:latin typeface="Cambria Math" panose="02040503050406030204" pitchFamily="18" charset="0"/>
                                      <a:ea typeface="Cambria Math" panose="02040503050406030204" pitchFamily="18" charset="0"/>
                                    </a:rPr>
                                    <m:t>Γ</m:t>
                                  </m:r>
                                </m:e>
                                <m:sub>
                                  <m:r>
                                    <m:rPr>
                                      <m:sty m:val="p"/>
                                    </m:rPr>
                                    <a:rPr lang="en-US" sz="1600">
                                      <a:solidFill>
                                        <a:srgbClr val="000000"/>
                                      </a:solidFill>
                                      <a:latin typeface="Cambria Math" panose="02040503050406030204" pitchFamily="18" charset="0"/>
                                      <a:ea typeface="Cambria Math" panose="02040503050406030204" pitchFamily="18" charset="0"/>
                                    </a:rPr>
                                    <m:t>i</m:t>
                                  </m:r>
                                </m:sub>
                              </m:sSub>
                            </m:oMath>
                          </a14:m>
                          <a:endParaRPr lang="en-US" sz="1600" dirty="0">
                            <a:latin typeface="Cambria Math" panose="02040503050406030204" pitchFamily="18" charset="0"/>
                            <a:ea typeface="Cambria Math" panose="020405030504060302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solidFill>
                                          <a:srgbClr val="000000"/>
                                        </a:solidFill>
                                        <a:latin typeface="Cambria Math" panose="02040503050406030204" pitchFamily="18" charset="0"/>
                                        <a:ea typeface="Cambria Math" panose="02040503050406030204" pitchFamily="18" charset="0"/>
                                      </a:rPr>
                                    </m:ctrlPr>
                                  </m:sSubPr>
                                  <m:e>
                                    <m:r>
                                      <m:rPr>
                                        <m:sty m:val="p"/>
                                      </m:rPr>
                                      <a:rPr lang="en-US" sz="1400">
                                        <a:solidFill>
                                          <a:srgbClr val="000000"/>
                                        </a:solidFill>
                                        <a:latin typeface="Cambria Math" panose="02040503050406030204" pitchFamily="18" charset="0"/>
                                        <a:ea typeface="Cambria Math" panose="02040503050406030204" pitchFamily="18" charset="0"/>
                                      </a:rPr>
                                      <m:t>z</m:t>
                                    </m:r>
                                  </m:e>
                                  <m:sub>
                                    <m:r>
                                      <m:rPr>
                                        <m:sty m:val="p"/>
                                      </m:rPr>
                                      <a:rPr lang="en-US" sz="1400">
                                        <a:solidFill>
                                          <a:srgbClr val="000000"/>
                                        </a:solidFill>
                                        <a:latin typeface="Cambria Math" panose="02040503050406030204" pitchFamily="18" charset="0"/>
                                        <a:ea typeface="Cambria Math" panose="02040503050406030204" pitchFamily="18" charset="0"/>
                                      </a:rPr>
                                      <m:t>L</m:t>
                                    </m:r>
                                  </m:sub>
                                </m:sSub>
                                <m:r>
                                  <a:rPr lang="en-US" sz="1400" b="1" i="1" smtClean="0">
                                    <a:solidFill>
                                      <a:srgbClr val="000000"/>
                                    </a:solidFill>
                                    <a:latin typeface="Cambria Math" panose="02040503050406030204" pitchFamily="18" charset="0"/>
                                    <a:ea typeface="Cambria Math" panose="02040503050406030204" pitchFamily="18" charset="0"/>
                                  </a:rPr>
                                  <m:t>=</m:t>
                                </m:r>
                                <m:sSub>
                                  <m:sSubPr>
                                    <m:ctrlPr>
                                      <a:rPr lang="en-US" sz="1600" i="1" smtClean="0">
                                        <a:solidFill>
                                          <a:srgbClr val="000000"/>
                                        </a:solidFill>
                                        <a:latin typeface="Cambria Math" panose="02040503050406030204" pitchFamily="18" charset="0"/>
                                        <a:ea typeface="Cambria Math" panose="02040503050406030204" pitchFamily="18" charset="0"/>
                                      </a:rPr>
                                    </m:ctrlPr>
                                  </m:sSubPr>
                                  <m:e>
                                    <m:r>
                                      <m:rPr>
                                        <m:sty m:val="p"/>
                                      </m:rPr>
                                      <a:rPr lang="en-US" sz="1600">
                                        <a:solidFill>
                                          <a:srgbClr val="000000"/>
                                        </a:solidFill>
                                        <a:latin typeface="Cambria Math" panose="02040503050406030204" pitchFamily="18" charset="0"/>
                                        <a:ea typeface="Cambria Math" panose="02040503050406030204" pitchFamily="18" charset="0"/>
                                      </a:rPr>
                                      <m:t>r</m:t>
                                    </m:r>
                                  </m:e>
                                  <m:sub>
                                    <m:r>
                                      <m:rPr>
                                        <m:sty m:val="p"/>
                                      </m:rPr>
                                      <a:rPr lang="en-US" sz="1600">
                                        <a:solidFill>
                                          <a:srgbClr val="000000"/>
                                        </a:solidFill>
                                        <a:latin typeface="Cambria Math" panose="02040503050406030204" pitchFamily="18" charset="0"/>
                                        <a:ea typeface="Cambria Math" panose="02040503050406030204" pitchFamily="18" charset="0"/>
                                      </a:rPr>
                                      <m:t>L</m:t>
                                    </m:r>
                                  </m:sub>
                                </m:sSub>
                                <m:r>
                                  <a:rPr lang="en-US" sz="1600">
                                    <a:solidFill>
                                      <a:srgbClr val="000000"/>
                                    </a:solidFill>
                                    <a:latin typeface="Cambria Math" panose="02040503050406030204" pitchFamily="18" charset="0"/>
                                    <a:ea typeface="Cambria Math" panose="02040503050406030204" pitchFamily="18" charset="0"/>
                                  </a:rPr>
                                  <m:t>+</m:t>
                                </m:r>
                                <m:sSub>
                                  <m:sSubPr>
                                    <m:ctrlPr>
                                      <a:rPr lang="en-US" sz="1600" i="1">
                                        <a:solidFill>
                                          <a:srgbClr val="000000"/>
                                        </a:solidFill>
                                        <a:latin typeface="Cambria Math" panose="02040503050406030204" pitchFamily="18" charset="0"/>
                                        <a:ea typeface="Cambria Math" panose="02040503050406030204" pitchFamily="18" charset="0"/>
                                      </a:rPr>
                                    </m:ctrlPr>
                                  </m:sSubPr>
                                  <m:e>
                                    <m:r>
                                      <m:rPr>
                                        <m:sty m:val="p"/>
                                      </m:rPr>
                                      <a:rPr lang="en-US" sz="1600">
                                        <a:solidFill>
                                          <a:srgbClr val="000000"/>
                                        </a:solidFill>
                                        <a:latin typeface="Cambria Math" panose="02040503050406030204" pitchFamily="18" charset="0"/>
                                        <a:ea typeface="Cambria Math" panose="02040503050406030204" pitchFamily="18" charset="0"/>
                                      </a:rPr>
                                      <m:t>jx</m:t>
                                    </m:r>
                                  </m:e>
                                  <m:sub>
                                    <m:r>
                                      <m:rPr>
                                        <m:sty m:val="p"/>
                                      </m:rPr>
                                      <a:rPr lang="en-US" sz="1600">
                                        <a:solidFill>
                                          <a:srgbClr val="000000"/>
                                        </a:solidFill>
                                        <a:latin typeface="Cambria Math" panose="02040503050406030204" pitchFamily="18" charset="0"/>
                                        <a:ea typeface="Cambria Math" panose="02040503050406030204" pitchFamily="18" charset="0"/>
                                      </a:rPr>
                                      <m:t>L</m:t>
                                    </m:r>
                                  </m:sub>
                                </m:sSub>
                              </m:oMath>
                            </m:oMathPara>
                          </a14:m>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0"/>
                      </a:ext>
                    </a:extLst>
                  </a:tr>
                  <a:tr h="370840">
                    <a:tc>
                      <a:txBody>
                        <a:bodyPr/>
                        <a:lstStyle/>
                        <a:p>
                          <a:pPr algn="ctr"/>
                          <a:r>
                            <a:rPr lang="en-US" sz="1600" dirty="0">
                              <a:latin typeface="Cambria Math" panose="02040503050406030204" pitchFamily="18" charset="0"/>
                              <a:ea typeface="Cambria Math" panose="02040503050406030204" pitchFamily="18" charset="0"/>
                            </a:rPr>
                            <a:t>A</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1"/>
                      </a:ext>
                    </a:extLst>
                  </a:tr>
                  <a:tr h="370840">
                    <a:tc>
                      <a:txBody>
                        <a:bodyPr/>
                        <a:lstStyle/>
                        <a:p>
                          <a:pPr algn="ctr"/>
                          <a:r>
                            <a:rPr lang="en-US" sz="1600" dirty="0">
                              <a:latin typeface="Cambria Math" panose="02040503050406030204" pitchFamily="18" charset="0"/>
                              <a:ea typeface="Cambria Math" panose="02040503050406030204" pitchFamily="18" charset="0"/>
                            </a:rPr>
                            <a:t>B</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sz="1600" dirty="0">
                              <a:latin typeface="Cambria Math" panose="02040503050406030204" pitchFamily="18" charset="0"/>
                              <a:ea typeface="Cambria Math" panose="02040503050406030204" pitchFamily="18" charset="0"/>
                            </a:rPr>
                            <a:t>C</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3"/>
                      </a:ext>
                    </a:extLst>
                  </a:tr>
                  <a:tr h="370840">
                    <a:tc>
                      <a:txBody>
                        <a:bodyPr/>
                        <a:lstStyle/>
                        <a:p>
                          <a:pPr algn="ctr"/>
                          <a:r>
                            <a:rPr lang="en-US" sz="1600" dirty="0">
                              <a:latin typeface="Cambria Math" panose="02040503050406030204" pitchFamily="18" charset="0"/>
                              <a:ea typeface="Cambria Math" panose="02040503050406030204" pitchFamily="18" charset="0"/>
                            </a:rPr>
                            <a:t>D</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96422204"/>
                  </p:ext>
                </p:extLst>
              </p:nvPr>
            </p:nvGraphicFramePr>
            <p:xfrm>
              <a:off x="168463" y="1380851"/>
              <a:ext cx="6994314" cy="1818640"/>
            </p:xfrm>
            <a:graphic>
              <a:graphicData uri="http://schemas.openxmlformats.org/drawingml/2006/table">
                <a:tbl>
                  <a:tblPr firstRow="1" bandRow="1">
                    <a:tableStyleId>{5C22544A-7EE6-4342-B048-85BDC9FD1C3A}</a:tableStyleId>
                  </a:tblPr>
                  <a:tblGrid>
                    <a:gridCol w="878307">
                      <a:extLst>
                        <a:ext uri="{9D8B030D-6E8A-4147-A177-3AD203B41FA5}">
                          <a16:colId xmlns:a16="http://schemas.microsoft.com/office/drawing/2014/main" val="20000"/>
                        </a:ext>
                      </a:extLst>
                    </a:gridCol>
                    <a:gridCol w="3602456">
                      <a:extLst>
                        <a:ext uri="{9D8B030D-6E8A-4147-A177-3AD203B41FA5}">
                          <a16:colId xmlns:a16="http://schemas.microsoft.com/office/drawing/2014/main" val="20001"/>
                        </a:ext>
                      </a:extLst>
                    </a:gridCol>
                    <a:gridCol w="2513551">
                      <a:extLst>
                        <a:ext uri="{9D8B030D-6E8A-4147-A177-3AD203B41FA5}">
                          <a16:colId xmlns:a16="http://schemas.microsoft.com/office/drawing/2014/main" val="20002"/>
                        </a:ext>
                      </a:extLst>
                    </a:gridCol>
                  </a:tblGrid>
                  <a:tr h="335280">
                    <a:tc>
                      <a:txBody>
                        <a:bodyPr/>
                        <a:lstStyle/>
                        <a:p>
                          <a:pPr algn="ctr"/>
                          <a:r>
                            <a:rPr lang="en-US" sz="1600" b="0" dirty="0">
                              <a:solidFill>
                                <a:schemeClr val="bg1"/>
                              </a:solidFill>
                              <a:latin typeface="Cambria Math" panose="02040503050406030204" pitchFamily="18" charset="0"/>
                              <a:ea typeface="Cambria Math" panose="02040503050406030204" pitchFamily="18" charset="0"/>
                            </a:rPr>
                            <a:t>Point</a:t>
                          </a:r>
                        </a:p>
                      </a:txBody>
                      <a:tcPr/>
                    </a:tc>
                    <a:tc>
                      <a:txBody>
                        <a:bodyPr/>
                        <a:lstStyle/>
                        <a:p>
                          <a:endParaRPr lang="en-US"/>
                        </a:p>
                      </a:txBody>
                      <a:tcPr>
                        <a:blipFill>
                          <a:blip r:embed="rId3"/>
                          <a:stretch>
                            <a:fillRect l="-24535" t="-5455" r="-70728" b="-454545"/>
                          </a:stretch>
                        </a:blipFill>
                      </a:tcPr>
                    </a:tc>
                    <a:tc>
                      <a:txBody>
                        <a:bodyPr/>
                        <a:lstStyle/>
                        <a:p>
                          <a:endParaRPr lang="en-US"/>
                        </a:p>
                      </a:txBody>
                      <a:tcPr>
                        <a:blipFill>
                          <a:blip r:embed="rId3"/>
                          <a:stretch>
                            <a:fillRect l="-178208" t="-5455" r="-1211" b="-454545"/>
                          </a:stretch>
                        </a:blipFill>
                      </a:tcPr>
                    </a:tc>
                    <a:extLst>
                      <a:ext uri="{0D108BD9-81ED-4DB2-BD59-A6C34878D82A}">
                        <a16:rowId xmlns:a16="http://schemas.microsoft.com/office/drawing/2014/main" val="10000"/>
                      </a:ext>
                    </a:extLst>
                  </a:tr>
                  <a:tr h="370840">
                    <a:tc>
                      <a:txBody>
                        <a:bodyPr/>
                        <a:lstStyle/>
                        <a:p>
                          <a:pPr algn="ctr"/>
                          <a:r>
                            <a:rPr lang="en-US" sz="1600" dirty="0">
                              <a:latin typeface="Cambria Math" panose="02040503050406030204" pitchFamily="18" charset="0"/>
                              <a:ea typeface="Cambria Math" panose="02040503050406030204" pitchFamily="18" charset="0"/>
                            </a:rPr>
                            <a:t>A</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1"/>
                      </a:ext>
                    </a:extLst>
                  </a:tr>
                  <a:tr h="370840">
                    <a:tc>
                      <a:txBody>
                        <a:bodyPr/>
                        <a:lstStyle/>
                        <a:p>
                          <a:pPr algn="ctr"/>
                          <a:r>
                            <a:rPr lang="en-US" sz="1600" dirty="0">
                              <a:latin typeface="Cambria Math" panose="02040503050406030204" pitchFamily="18" charset="0"/>
                              <a:ea typeface="Cambria Math" panose="02040503050406030204" pitchFamily="18" charset="0"/>
                            </a:rPr>
                            <a:t>B</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sz="1600" dirty="0">
                              <a:latin typeface="Cambria Math" panose="02040503050406030204" pitchFamily="18" charset="0"/>
                              <a:ea typeface="Cambria Math" panose="02040503050406030204" pitchFamily="18" charset="0"/>
                            </a:rPr>
                            <a:t>C</a:t>
                          </a:r>
                        </a:p>
                      </a:txBody>
                      <a:tcPr/>
                    </a:tc>
                    <a:tc>
                      <a:txBody>
                        <a:bodyPr/>
                        <a:lstStyle/>
                        <a:p>
                          <a:pPr marL="0" marR="0" indent="0" algn="ctr" defTabSz="914363" rtl="0" eaLnBrk="1" fontAlgn="auto" latinLnBrk="0" hangingPunct="1">
                            <a:lnSpc>
                              <a:spcPct val="100000"/>
                            </a:lnSpc>
                            <a:spcBef>
                              <a:spcPts val="0"/>
                            </a:spcBef>
                            <a:spcAft>
                              <a:spcPts val="0"/>
                            </a:spcAft>
                            <a:buClrTx/>
                            <a:buSzTx/>
                            <a:buFontTx/>
                            <a:buNone/>
                            <a:tabLst/>
                            <a:defRPr/>
                          </a:pP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3"/>
                      </a:ext>
                    </a:extLst>
                  </a:tr>
                  <a:tr h="370840">
                    <a:tc>
                      <a:txBody>
                        <a:bodyPr/>
                        <a:lstStyle/>
                        <a:p>
                          <a:pPr algn="ctr"/>
                          <a:r>
                            <a:rPr lang="en-US" sz="1600" dirty="0">
                              <a:latin typeface="Cambria Math" panose="02040503050406030204" pitchFamily="18" charset="0"/>
                              <a:ea typeface="Cambria Math" panose="02040503050406030204" pitchFamily="18" charset="0"/>
                            </a:rPr>
                            <a:t>D</a:t>
                          </a: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tc>
                      <a:txBody>
                        <a:bodyPr/>
                        <a:lstStyle/>
                        <a:p>
                          <a:pPr algn="ctr"/>
                          <a:endParaRPr lang="en-US" sz="16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4"/>
                      </a:ext>
                    </a:extLst>
                  </a:tr>
                </a:tbl>
              </a:graphicData>
            </a:graphic>
          </p:graphicFrame>
        </mc:Fallback>
      </mc:AlternateContent>
      <p:grpSp>
        <p:nvGrpSpPr>
          <p:cNvPr id="18" name="Group 17"/>
          <p:cNvGrpSpPr/>
          <p:nvPr/>
        </p:nvGrpSpPr>
        <p:grpSpPr>
          <a:xfrm>
            <a:off x="7355430" y="1589373"/>
            <a:ext cx="4783332" cy="4765589"/>
            <a:chOff x="7092778" y="1861751"/>
            <a:chExt cx="4783332" cy="4765589"/>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2778" y="1861751"/>
              <a:ext cx="4783332" cy="4765589"/>
            </a:xfrm>
            <a:prstGeom prst="rect">
              <a:avLst/>
            </a:prstGeom>
          </p:spPr>
        </p:pic>
        <p:sp>
          <p:nvSpPr>
            <p:cNvPr id="8" name="Oval 7"/>
            <p:cNvSpPr/>
            <p:nvPr/>
          </p:nvSpPr>
          <p:spPr bwMode="auto">
            <a:xfrm>
              <a:off x="7175338" y="4385768"/>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9" name="Oval 8"/>
            <p:cNvSpPr/>
            <p:nvPr/>
          </p:nvSpPr>
          <p:spPr bwMode="auto">
            <a:xfrm>
              <a:off x="9214036" y="4385765"/>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0" name="Oval 9"/>
            <p:cNvSpPr/>
            <p:nvPr/>
          </p:nvSpPr>
          <p:spPr bwMode="auto">
            <a:xfrm>
              <a:off x="11241870" y="4385765"/>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1" name="Oval 10"/>
            <p:cNvSpPr/>
            <p:nvPr/>
          </p:nvSpPr>
          <p:spPr bwMode="auto">
            <a:xfrm>
              <a:off x="10264644" y="5721118"/>
              <a:ext cx="109957" cy="102585"/>
            </a:xfrm>
            <a:prstGeom prst="ellipse">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vert="horz" wrap="square" lIns="91436" tIns="45718" rIns="91436" bIns="45718" numCol="1" rtlCol="0" anchor="ctr" anchorCtr="0" compatLnSpc="1">
              <a:prstTxWarp prst="textNoShape">
                <a:avLst/>
              </a:prstTxWarp>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23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mbria Math" panose="02040503050406030204" pitchFamily="18" charset="0"/>
                <a:ea typeface="+mn-ea"/>
                <a:cs typeface="+mn-cs"/>
              </a:endParaRPr>
            </a:p>
          </p:txBody>
        </p:sp>
        <p:sp>
          <p:nvSpPr>
            <p:cNvPr id="13" name="TextBox 12"/>
            <p:cNvSpPr txBox="1"/>
            <p:nvPr/>
          </p:nvSpPr>
          <p:spPr>
            <a:xfrm>
              <a:off x="9266541" y="4147221"/>
              <a:ext cx="250105" cy="2821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a:t>
              </a:r>
            </a:p>
          </p:txBody>
        </p:sp>
        <p:sp>
          <p:nvSpPr>
            <p:cNvPr id="15" name="TextBox 14"/>
            <p:cNvSpPr txBox="1"/>
            <p:nvPr/>
          </p:nvSpPr>
          <p:spPr>
            <a:xfrm>
              <a:off x="10004889" y="5480777"/>
              <a:ext cx="3369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D</a:t>
              </a:r>
            </a:p>
          </p:txBody>
        </p:sp>
        <p:sp>
          <p:nvSpPr>
            <p:cNvPr id="16" name="TextBox 15"/>
            <p:cNvSpPr txBox="1"/>
            <p:nvPr/>
          </p:nvSpPr>
          <p:spPr>
            <a:xfrm>
              <a:off x="7206895" y="4119018"/>
              <a:ext cx="3257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B</a:t>
              </a:r>
            </a:p>
          </p:txBody>
        </p:sp>
        <p:sp>
          <p:nvSpPr>
            <p:cNvPr id="17" name="TextBox 16"/>
            <p:cNvSpPr txBox="1"/>
            <p:nvPr/>
          </p:nvSpPr>
          <p:spPr>
            <a:xfrm>
              <a:off x="11277268" y="4103608"/>
              <a:ext cx="3145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C</a:t>
              </a:r>
            </a:p>
          </p:txBody>
        </p:sp>
      </p:grpSp>
      <mc:AlternateContent xmlns:mc="http://schemas.openxmlformats.org/markup-compatibility/2006" xmlns:a14="http://schemas.microsoft.com/office/drawing/2010/main">
        <mc:Choice Requires="a14">
          <p:sp>
            <p:nvSpPr>
              <p:cNvPr id="19" name="Rectangle 18"/>
              <p:cNvSpPr/>
              <p:nvPr/>
            </p:nvSpPr>
            <p:spPr>
              <a:xfrm>
                <a:off x="168463" y="3389865"/>
                <a:ext cx="6994314" cy="341747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Given a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z</m:t>
                        </m:r>
                      </m:e>
                      <m:sub>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L</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value, how do you determine </a:t>
                </a:r>
                <a14:m>
                  <m:oMath xmlns:m="http://schemas.openxmlformats.org/officeDocument/2006/math">
                    <m:d>
                      <m:dPr>
                        <m:begChr m:val="|"/>
                        <m:endChr m:val="|"/>
                        <m:ctrlPr>
                          <a:rPr kumimoji="0" lang="el-GR"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on a Smith Chart?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By using length ratios. Using a ruler, measure length </a:t>
                </a:r>
                <a14:m>
                  <m:oMath xmlns:m="http://schemas.openxmlformats.org/officeDocument/2006/math">
                    <m:acc>
                      <m:accPr>
                        <m:chr m:val="̅"/>
                        <m:ctrlPr>
                          <a:rPr kumimoji="0" lang="en-US" sz="1800" b="0" i="1"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AC</m:t>
                        </m:r>
                      </m:e>
                    </m:acc>
                  </m:oMath>
                </a14:m>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 along with length </a:t>
                </a:r>
                <a14:m>
                  <m:oMath xmlns:m="http://schemas.openxmlformats.org/officeDocument/2006/math">
                    <m:acc>
                      <m:accPr>
                        <m:chr m:val="̅"/>
                        <m:ctrlPr>
                          <a:rPr kumimoji="0" lang="en-US" sz="1800" b="0" i="1"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A</m:t>
                        </m:r>
                        <m:r>
                          <m:rPr>
                            <m:sty m:val="p"/>
                          </m:rP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D</m:t>
                        </m:r>
                      </m:e>
                    </m:acc>
                    <m: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 </m:t>
                    </m:r>
                    <m:r>
                      <m:rPr>
                        <m:sty m:val="p"/>
                      </m:rP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Then</m:t>
                    </m:r>
                    <m: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 </m:t>
                    </m:r>
                  </m:oMath>
                </a14:m>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determine </a:t>
                </a:r>
                <a14:m>
                  <m:oMath xmlns:m="http://schemas.openxmlformats.org/officeDocument/2006/math">
                    <m:d>
                      <m:dPr>
                        <m:begChr m:val="|"/>
                        <m:endChr m:val="|"/>
                        <m:ctrlPr>
                          <a:rPr kumimoji="0" lang="el-GR" sz="1800" b="0" i="1"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Γ</m:t>
                        </m:r>
                      </m:e>
                    </m:d>
                  </m:oMath>
                </a14:m>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 as the ratio of </a:t>
                </a:r>
                <a14:m>
                  <m:oMath xmlns:m="http://schemas.openxmlformats.org/officeDocument/2006/math">
                    <m:f>
                      <m:fPr>
                        <m:type m:val="lin"/>
                        <m:ctrlPr>
                          <a:rPr kumimoji="0" lang="en-US" sz="1800" b="0" i="1"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fPr>
                      <m:num>
                        <m:acc>
                          <m:accPr>
                            <m:chr m:val="̅"/>
                            <m:ctrlPr>
                              <a:rPr kumimoji="0" lang="en-US" sz="1800" b="0" i="1"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AD</m:t>
                            </m:r>
                          </m:e>
                        </m:acc>
                      </m:num>
                      <m:den>
                        <m:acc>
                          <m:accPr>
                            <m:chr m:val="̅"/>
                            <m:ctrlPr>
                              <a:rPr kumimoji="0" lang="en-US" sz="1800" b="0" i="1"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accPr>
                          <m:e>
                            <m:r>
                              <m:rPr>
                                <m:sty m:val="p"/>
                              </m:rP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AC</m:t>
                            </m:r>
                          </m:e>
                        </m:acc>
                        <m: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m:t>
                        </m:r>
                      </m:den>
                    </m:f>
                  </m:oMath>
                </a14:m>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 This </a:t>
                </a:r>
                <a:r>
                  <a:rPr kumimoji="0" lang="en-US" sz="1800" b="0" i="0" u="none" strike="noStrike" kern="1200" cap="none" spc="0" normalizeH="0" baseline="0" noProof="0" dirty="0" err="1">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ratiometric</a:t>
                </a:r>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 measurement approach gives the correct ratio independent upon the size of the Smith Chart. Actual Smith Charts have a distance scale along the bottom to help with </a:t>
                </a:r>
                <a14:m>
                  <m:oMath xmlns:m="http://schemas.openxmlformats.org/officeDocument/2006/math">
                    <m:d>
                      <m:dPr>
                        <m:begChr m:val="|"/>
                        <m:endChr m:val="|"/>
                        <m:ctrlPr>
                          <a:rPr kumimoji="0" lang="el-GR" sz="1800" b="0" i="1"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ctrlPr>
                      </m:dPr>
                      <m:e>
                        <m:r>
                          <m:rPr>
                            <m:sty m:val="p"/>
                          </m:rPr>
                          <a:rPr kumimoji="0" lang="el-GR" sz="1800" b="0" i="1"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Γ</m:t>
                        </m:r>
                      </m:e>
                    </m:d>
                    <m:r>
                      <a:rPr kumimoji="0" lang="en-US" sz="1800" b="0" i="0" u="none" strike="noStrike" kern="1200" cap="none" spc="0" normalizeH="0" baseline="0" noProof="0" smtClean="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How do you determine </a:t>
                </a: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ctrlPr>
                      </m:sSubPr>
                      <m:e>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θ</m:t>
                        </m:r>
                      </m:e>
                      <m:sub>
                        <m:r>
                          <m:rPr>
                            <m:sty m:val="p"/>
                          </m:rPr>
                          <a:rPr kumimoji="0" lang="en-US" sz="1800" b="0" i="0"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r</m:t>
                        </m:r>
                      </m:sub>
                    </m:sSub>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associated with </a:t>
                </a:r>
                <a14:m>
                  <m:oMath xmlns:m="http://schemas.openxmlformats.org/officeDocument/2006/math">
                    <m:r>
                      <m:rPr>
                        <m:sty m:val="p"/>
                      </m:rPr>
                      <a:rPr kumimoji="0" lang="el-GR"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Γ</m:t>
                    </m:r>
                  </m:oMath>
                </a14:m>
                <a:r>
                  <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on a Smith Chart?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Actual Smith Charts have a reflection coefficient angle scale (</a:t>
                </a:r>
                <a:r>
                  <a:rPr kumimoji="0" lang="el-GR"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θ</a:t>
                </a:r>
                <a:r>
                  <a:rPr kumimoji="0" lang="en-US" sz="1800" b="0" i="0" u="none" strike="noStrike" kern="1200" cap="none" spc="0" normalizeH="0" baseline="-2500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r</a:t>
                </a:r>
                <a:r>
                  <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a:t>) along the perimeter</a:t>
                </a:r>
                <a14:m>
                  <m:oMath xmlns:m="http://schemas.openxmlformats.org/officeDocument/2006/math">
                    <m:r>
                      <a:rPr kumimoji="0" lang="en-US" sz="1800" b="0" i="0" u="none" strike="noStrike" kern="1200" cap="none" spc="0" normalizeH="0" baseline="0" noProof="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rPr>
                      <m:t>.</m:t>
                    </m:r>
                  </m:oMath>
                </a14:m>
                <a:endParaRPr kumimoji="0" lang="en-US" sz="1800" b="0" i="0" u="none" strike="noStrike" kern="1200" cap="none" spc="0" normalizeH="0" baseline="0" noProof="0" dirty="0">
                  <a:ln>
                    <a:noFill/>
                  </a:ln>
                  <a:solidFill>
                    <a:srgbClr val="050595">
                      <a:lumMod val="60000"/>
                      <a:lumOff val="40000"/>
                    </a:srgbClr>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19" name="Rectangle 18"/>
              <p:cNvSpPr>
                <a:spLocks noRot="1" noChangeAspect="1" noMove="1" noResize="1" noEditPoints="1" noAdjustHandles="1" noChangeArrowheads="1" noChangeShapeType="1" noTextEdit="1"/>
              </p:cNvSpPr>
              <p:nvPr/>
            </p:nvSpPr>
            <p:spPr>
              <a:xfrm>
                <a:off x="168463" y="3389865"/>
                <a:ext cx="6994314" cy="3417474"/>
              </a:xfrm>
              <a:prstGeom prst="rect">
                <a:avLst/>
              </a:prstGeom>
              <a:blipFill>
                <a:blip r:embed="rId5"/>
                <a:stretch>
                  <a:fillRect l="-433" t="-351" r="-346" b="-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E08DFA2-70C0-4D99-9984-25EFF2B0AAD3}"/>
                  </a:ext>
                </a:extLst>
              </p:cNvPr>
              <p:cNvSpPr txBox="1"/>
              <p:nvPr/>
            </p:nvSpPr>
            <p:spPr>
              <a:xfrm>
                <a:off x="2155110" y="1706836"/>
                <a:ext cx="490050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0 + j0 ↔ 0</a:t>
                </a:r>
                <a14:m>
                  <m:oMath xmlns:m="http://schemas.openxmlformats.org/officeDocument/2006/math">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1 + j0 (matched)</a:t>
                </a:r>
                <a:endParaRPr kumimoji="0" lang="en-US" sz="1600" b="0" i="0" u="none" strike="noStrike" kern="1200" cap="none" spc="0" normalizeH="0" baseline="0" noProof="0" dirty="0">
                  <a:ln>
                    <a:noFill/>
                  </a:ln>
                  <a:solidFill>
                    <a:srgbClr val="FFFFFF"/>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6" name="TextBox 5">
                <a:extLst>
                  <a:ext uri="{FF2B5EF4-FFF2-40B4-BE49-F238E27FC236}">
                    <a16:creationId xmlns:a16="http://schemas.microsoft.com/office/drawing/2014/main" id="{BE08DFA2-70C0-4D99-9984-25EFF2B0AAD3}"/>
                  </a:ext>
                </a:extLst>
              </p:cNvPr>
              <p:cNvSpPr txBox="1">
                <a:spLocks noRot="1" noChangeAspect="1" noMove="1" noResize="1" noEditPoints="1" noAdjustHandles="1" noChangeArrowheads="1" noChangeShapeType="1" noTextEdit="1"/>
              </p:cNvSpPr>
              <p:nvPr/>
            </p:nvSpPr>
            <p:spPr>
              <a:xfrm>
                <a:off x="2155110" y="1706836"/>
                <a:ext cx="4900509" cy="338554"/>
              </a:xfrm>
              <a:prstGeom prst="rect">
                <a:avLst/>
              </a:prstGeom>
              <a:blipFill>
                <a:blip r:embed="rId6"/>
                <a:stretch>
                  <a:fillRect l="-747" t="-7143"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382066C-742B-49DE-ACA2-7D79FDB33DD0}"/>
                  </a:ext>
                </a:extLst>
              </p:cNvPr>
              <p:cNvSpPr txBox="1"/>
              <p:nvPr/>
            </p:nvSpPr>
            <p:spPr>
              <a:xfrm>
                <a:off x="1977997" y="2091201"/>
                <a:ext cx="50159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 + j0 ↔ 1</a:t>
                </a:r>
                <a14:m>
                  <m:oMath xmlns:m="http://schemas.openxmlformats.org/officeDocument/2006/math">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ctrlPr>
                      </m:dPr>
                      <m:e>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−180°</m:t>
                        </m:r>
                      </m:e>
                    </m:d>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0 + j0 (short)</a:t>
                </a:r>
              </a:p>
            </p:txBody>
          </p:sp>
        </mc:Choice>
        <mc:Fallback xmlns="">
          <p:sp>
            <p:nvSpPr>
              <p:cNvPr id="20" name="TextBox 19">
                <a:extLst>
                  <a:ext uri="{FF2B5EF4-FFF2-40B4-BE49-F238E27FC236}">
                    <a16:creationId xmlns:a16="http://schemas.microsoft.com/office/drawing/2014/main" id="{E382066C-742B-49DE-ACA2-7D79FDB33DD0}"/>
                  </a:ext>
                </a:extLst>
              </p:cNvPr>
              <p:cNvSpPr txBox="1">
                <a:spLocks noRot="1" noChangeAspect="1" noMove="1" noResize="1" noEditPoints="1" noAdjustHandles="1" noChangeArrowheads="1" noChangeShapeType="1" noTextEdit="1"/>
              </p:cNvSpPr>
              <p:nvPr/>
            </p:nvSpPr>
            <p:spPr>
              <a:xfrm>
                <a:off x="1977997" y="2091201"/>
                <a:ext cx="5015929" cy="338554"/>
              </a:xfrm>
              <a:prstGeom prst="rect">
                <a:avLst/>
              </a:prstGeom>
              <a:blipFill>
                <a:blip r:embed="rId7"/>
                <a:stretch>
                  <a:fillRect l="-608" t="-7143"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4582BE4-04BA-440F-A4BD-350F5D1DED2D}"/>
                  </a:ext>
                </a:extLst>
              </p:cNvPr>
              <p:cNvSpPr txBox="1"/>
              <p:nvPr/>
            </p:nvSpPr>
            <p:spPr>
              <a:xfrm>
                <a:off x="2134517" y="2463712"/>
                <a:ext cx="50159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1 + j0 ↔ 1</a:t>
                </a:r>
                <a14:m>
                  <m:oMath xmlns:m="http://schemas.openxmlformats.org/officeDocument/2006/math">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0</m:t>
                    </m:r>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a14:m>
                <a:r>
                  <a:rPr kumimoji="0" lang="en-US" sz="16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 j0 (open)</a:t>
                </a:r>
              </a:p>
            </p:txBody>
          </p:sp>
        </mc:Choice>
        <mc:Fallback xmlns="">
          <p:sp>
            <p:nvSpPr>
              <p:cNvPr id="21" name="TextBox 20">
                <a:extLst>
                  <a:ext uri="{FF2B5EF4-FFF2-40B4-BE49-F238E27FC236}">
                    <a16:creationId xmlns:a16="http://schemas.microsoft.com/office/drawing/2014/main" id="{D4582BE4-04BA-440F-A4BD-350F5D1DED2D}"/>
                  </a:ext>
                </a:extLst>
              </p:cNvPr>
              <p:cNvSpPr txBox="1">
                <a:spLocks noRot="1" noChangeAspect="1" noMove="1" noResize="1" noEditPoints="1" noAdjustHandles="1" noChangeArrowheads="1" noChangeShapeType="1" noTextEdit="1"/>
              </p:cNvSpPr>
              <p:nvPr/>
            </p:nvSpPr>
            <p:spPr>
              <a:xfrm>
                <a:off x="2134517" y="2463712"/>
                <a:ext cx="5015929" cy="338554"/>
              </a:xfrm>
              <a:prstGeom prst="rect">
                <a:avLst/>
              </a:prstGeom>
              <a:blipFill>
                <a:blip r:embed="rId8"/>
                <a:stretch>
                  <a:fillRect l="-608" t="-7143"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C32728E-65C3-4B55-8F00-E98FE078DB7A}"/>
                  </a:ext>
                </a:extLst>
              </p:cNvPr>
              <p:cNvSpPr txBox="1"/>
              <p:nvPr/>
            </p:nvSpPr>
            <p:spPr>
              <a:xfrm>
                <a:off x="1505890" y="2852699"/>
                <a:ext cx="5753214" cy="338554"/>
              </a:xfrm>
              <a:prstGeom prst="rect">
                <a:avLst/>
              </a:prstGeom>
              <a:noFill/>
            </p:spPr>
            <p:txBody>
              <a:bodyPr wrap="square" rtlCol="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mbria" panose="02040503050406030204"/>
                    <a:ea typeface="+mn-ea"/>
                    <a:cs typeface="+mn-cs"/>
                  </a:rPr>
                  <a:t>0.52 – j0.64 ↔ 0.825</a:t>
                </a:r>
                <a14:m>
                  <m:oMath xmlns:m="http://schemas.openxmlformats.org/officeDocument/2006/math">
                    <m:r>
                      <a:rPr kumimoji="0" lang="en-US" sz="16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−50.9°</m:t>
                        </m:r>
                      </m:e>
                    </m:d>
                  </m:oMath>
                </a14:m>
                <a:r>
                  <a:rPr kumimoji="0" lang="en-US" sz="1600" b="0" i="0" u="none" strike="noStrike" kern="1200" cap="none" spc="0" normalizeH="0" baseline="0" noProof="0" dirty="0">
                    <a:ln>
                      <a:noFill/>
                    </a:ln>
                    <a:solidFill>
                      <a:srgbClr val="000000"/>
                    </a:solidFill>
                    <a:effectLst/>
                    <a:uLnTx/>
                    <a:uFillTx/>
                    <a:latin typeface="Cambria" panose="02040503050406030204"/>
                    <a:ea typeface="+mn-ea"/>
                    <a:cs typeface="+mn-cs"/>
                  </a:rPr>
                  <a:t>                       0.5 – j2 (capacitive)</a:t>
                </a:r>
              </a:p>
            </p:txBody>
          </p:sp>
        </mc:Choice>
        <mc:Fallback xmlns="">
          <p:sp>
            <p:nvSpPr>
              <p:cNvPr id="22" name="TextBox 21">
                <a:extLst>
                  <a:ext uri="{FF2B5EF4-FFF2-40B4-BE49-F238E27FC236}">
                    <a16:creationId xmlns:a16="http://schemas.microsoft.com/office/drawing/2014/main" id="{AC32728E-65C3-4B55-8F00-E98FE078DB7A}"/>
                  </a:ext>
                </a:extLst>
              </p:cNvPr>
              <p:cNvSpPr txBox="1">
                <a:spLocks noRot="1" noChangeAspect="1" noMove="1" noResize="1" noEditPoints="1" noAdjustHandles="1" noChangeArrowheads="1" noChangeShapeType="1" noTextEdit="1"/>
              </p:cNvSpPr>
              <p:nvPr/>
            </p:nvSpPr>
            <p:spPr>
              <a:xfrm>
                <a:off x="1505890" y="2852699"/>
                <a:ext cx="5753214" cy="338554"/>
              </a:xfrm>
              <a:prstGeom prst="rect">
                <a:avLst/>
              </a:prstGeom>
              <a:blipFill>
                <a:blip r:embed="rId9"/>
                <a:stretch>
                  <a:fillRect l="-530" t="-5455" b="-23636"/>
                </a:stretch>
              </a:blipFill>
            </p:spPr>
            <p:txBody>
              <a:bodyPr/>
              <a:lstStyle/>
              <a:p>
                <a:r>
                  <a:rPr lang="en-US">
                    <a:noFill/>
                  </a:rPr>
                  <a:t> </a:t>
                </a:r>
              </a:p>
            </p:txBody>
          </p:sp>
        </mc:Fallback>
      </mc:AlternateContent>
    </p:spTree>
    <p:extLst>
      <p:ext uri="{BB962C8B-B14F-4D97-AF65-F5344CB8AC3E}">
        <p14:creationId xmlns:p14="http://schemas.microsoft.com/office/powerpoint/2010/main" val="1657031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anim calcmode="lin" valueType="num">
                                      <p:cBhvr additive="base">
                                        <p:cTn id="31"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xEl>
                                              <p:pRg st="2" end="2"/>
                                            </p:txEl>
                                          </p:spTgt>
                                        </p:tgtEl>
                                        <p:attrNameLst>
                                          <p:attrName>style.visibility</p:attrName>
                                        </p:attrNameLst>
                                      </p:cBhvr>
                                      <p:to>
                                        <p:strVal val="visible"/>
                                      </p:to>
                                    </p:set>
                                    <p:anim calcmode="lin" valueType="num">
                                      <p:cBhvr additive="base">
                                        <p:cTn id="37"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
                                            <p:txEl>
                                              <p:pRg st="4" end="4"/>
                                            </p:txEl>
                                          </p:spTgt>
                                        </p:tgtEl>
                                        <p:attrNameLst>
                                          <p:attrName>style.visibility</p:attrName>
                                        </p:attrNameLst>
                                      </p:cBhvr>
                                      <p:to>
                                        <p:strVal val="visible"/>
                                      </p:to>
                                    </p:set>
                                    <p:anim calcmode="lin" valueType="num">
                                      <p:cBhvr additive="base">
                                        <p:cTn id="43"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9">
                                            <p:txEl>
                                              <p:pRg st="6" end="6"/>
                                            </p:txEl>
                                          </p:spTgt>
                                        </p:tgtEl>
                                        <p:attrNameLst>
                                          <p:attrName>style.visibility</p:attrName>
                                        </p:attrNameLst>
                                      </p:cBhvr>
                                      <p:to>
                                        <p:strVal val="visible"/>
                                      </p:to>
                                    </p:set>
                                    <p:anim calcmode="lin" valueType="num">
                                      <p:cBhvr additive="base">
                                        <p:cTn id="49"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21" grpId="0"/>
      <p:bldP spid="2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ven and Odd Functions (Symmetry)"/>
          <p:cNvSpPr>
            <a:spLocks noGrp="1"/>
          </p:cNvSpPr>
          <p:nvPr>
            <p:ph type="title"/>
          </p:nvPr>
        </p:nvSpPr>
        <p:spPr>
          <a:xfrm>
            <a:off x="1595716" y="0"/>
            <a:ext cx="8481047" cy="553998"/>
          </a:xfrm>
        </p:spPr>
        <p:txBody>
          <a:bodyPr/>
          <a:lstStyle/>
          <a:p>
            <a:pPr algn="ctr"/>
            <a:r>
              <a:rPr lang="en-US" sz="4000" dirty="0"/>
              <a:t>Transient Response Simulator</a:t>
            </a:r>
          </a:p>
        </p:txBody>
      </p:sp>
      <p:sp>
        <p:nvSpPr>
          <p:cNvPr id="5" name="Rectangle 4"/>
          <p:cNvSpPr/>
          <p:nvPr/>
        </p:nvSpPr>
        <p:spPr>
          <a:xfrm>
            <a:off x="121938" y="669236"/>
            <a:ext cx="11819485"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Go to web </a:t>
            </a:r>
            <a:r>
              <a:rPr lang="en-US" u="sng" dirty="0">
                <a:latin typeface="Cambria Math" panose="02040503050406030204" pitchFamily="18" charset="0"/>
                <a:ea typeface="Cambria Math" panose="02040503050406030204" pitchFamily="18" charset="0"/>
                <a:hlinkClick r:id="rId3"/>
              </a:rPr>
              <a:t>Fundamentals of Applied Electromagnetics</a:t>
            </a:r>
            <a:r>
              <a:rPr lang="en-US" dirty="0">
                <a:latin typeface="Cambria Math" panose="02040503050406030204" pitchFamily="18" charset="0"/>
                <a:ea typeface="Cambria Math" panose="02040503050406030204" pitchFamily="18" charset="0"/>
              </a:rPr>
              <a:t>  to run or download Interactive Modules available for the </a:t>
            </a:r>
            <a:r>
              <a:rPr lang="en-US" dirty="0" err="1">
                <a:latin typeface="Cambria Math" panose="02040503050406030204" pitchFamily="18" charset="0"/>
                <a:ea typeface="Cambria Math" panose="02040503050406030204" pitchFamily="18" charset="0"/>
              </a:rPr>
              <a:t>Ulaby</a:t>
            </a:r>
            <a:r>
              <a:rPr lang="en-US" dirty="0">
                <a:latin typeface="Cambria Math" panose="02040503050406030204" pitchFamily="18" charset="0"/>
                <a:ea typeface="Cambria Math" panose="02040503050406030204" pitchFamily="18" charset="0"/>
              </a:rPr>
              <a:t> – “Fundamentals of Applied Electromagnetics” text. </a:t>
            </a:r>
            <a:r>
              <a:rPr lang="en-US" dirty="0">
                <a:solidFill>
                  <a:srgbClr val="000000"/>
                </a:solidFill>
                <a:latin typeface="Cambria Math" panose="02040503050406030204" pitchFamily="18" charset="0"/>
                <a:ea typeface="Cambria Math" panose="02040503050406030204" pitchFamily="18" charset="0"/>
              </a:rPr>
              <a:t>Run T-Line Simulator mod2-10_webstart.jnlp from Chapter 2 for this activity.</a:t>
            </a:r>
          </a:p>
          <a:p>
            <a:pPr marL="285750" indent="-285750">
              <a:buFont typeface="Arial" panose="020B0604020202020204" pitchFamily="34" charset="0"/>
              <a:buChar char="•"/>
            </a:pPr>
            <a:endParaRPr lang="en-US" dirty="0">
              <a:solidFill>
                <a:srgbClr val="000000"/>
              </a:solidFill>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dirty="0">
                <a:latin typeface="Cambria Math" panose="02040503050406030204" pitchFamily="18" charset="0"/>
                <a:ea typeface="Cambria Math" panose="02040503050406030204" pitchFamily="18" charset="0"/>
              </a:rPr>
              <a:t>The Transient Response simulator provides transient response versus time waveforms for different line and load parameters. </a:t>
            </a:r>
            <a:r>
              <a:rPr lang="en-US" dirty="0">
                <a:latin typeface="Cambria Math" panose="02040503050406030204" pitchFamily="18" charset="0"/>
                <a:ea typeface="Cambria Math" panose="02040503050406030204" pitchFamily="18" charset="0"/>
                <a:hlinkClick r:id="rId4"/>
              </a:rPr>
              <a:t>Transient Response mod2_10</a:t>
            </a:r>
            <a:r>
              <a:rPr lang="en-US" dirty="0">
                <a:latin typeface="Cambria Math" panose="02040503050406030204" pitchFamily="18" charset="0"/>
                <a:ea typeface="Cambria Math" panose="02040503050406030204" pitchFamily="18" charset="0"/>
              </a:rPr>
              <a:t>.</a:t>
            </a:r>
          </a:p>
        </p:txBody>
      </p:sp>
      <p:pic>
        <p:nvPicPr>
          <p:cNvPr id="4" name="Picture 3">
            <a:extLst>
              <a:ext uri="{FF2B5EF4-FFF2-40B4-BE49-F238E27FC236}">
                <a16:creationId xmlns:a16="http://schemas.microsoft.com/office/drawing/2014/main" id="{7E0D0F7C-6044-4819-BF32-B69AB99D32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873" y="3061566"/>
            <a:ext cx="6060127" cy="3735859"/>
          </a:xfrm>
          <a:prstGeom prst="rect">
            <a:avLst/>
          </a:prstGeom>
        </p:spPr>
      </p:pic>
      <p:pic>
        <p:nvPicPr>
          <p:cNvPr id="8" name="Picture 7">
            <a:extLst>
              <a:ext uri="{FF2B5EF4-FFF2-40B4-BE49-F238E27FC236}">
                <a16:creationId xmlns:a16="http://schemas.microsoft.com/office/drawing/2014/main" id="{82FD32D8-8EE3-4B2F-A56F-65A554D1B3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1401" y="3056400"/>
            <a:ext cx="5694726" cy="3735859"/>
          </a:xfrm>
          <a:prstGeom prst="rect">
            <a:avLst/>
          </a:prstGeom>
        </p:spPr>
      </p:pic>
    </p:spTree>
    <p:extLst>
      <p:ext uri="{BB962C8B-B14F-4D97-AF65-F5344CB8AC3E}">
        <p14:creationId xmlns:p14="http://schemas.microsoft.com/office/powerpoint/2010/main" val="1193140518"/>
      </p:ext>
    </p:extLst>
  </p:cSld>
  <p:clrMapOvr>
    <a:masterClrMapping/>
  </p:clrMapOvr>
  <p:transition>
    <p:fade/>
  </p:transition>
</p:sld>
</file>

<file path=ppt/theme/theme1.xml><?xml version="1.0" encoding="utf-8"?>
<a:theme xmlns:a="http://schemas.openxmlformats.org/drawingml/2006/main" name="SoftwareDevelopment">
  <a:themeElements>
    <a:clrScheme name="BYU-Idaho">
      <a:dk1>
        <a:srgbClr val="283D5E"/>
      </a:dk1>
      <a:lt1>
        <a:srgbClr val="FFFFFF"/>
      </a:lt1>
      <a:dk2>
        <a:srgbClr val="466BA6"/>
      </a:dk2>
      <a:lt2>
        <a:srgbClr val="000000"/>
      </a:lt2>
      <a:accent1>
        <a:srgbClr val="CACFD1"/>
      </a:accent1>
      <a:accent2>
        <a:srgbClr val="A8B1B4"/>
      </a:accent2>
      <a:accent3>
        <a:srgbClr val="95ADD3"/>
      </a:accent3>
      <a:accent4>
        <a:srgbClr val="DADADA"/>
      </a:accent4>
      <a:accent5>
        <a:srgbClr val="E1E4E5"/>
      </a:accent5>
      <a:accent6>
        <a:srgbClr val="B7BBBD"/>
      </a:accent6>
      <a:hlink>
        <a:srgbClr val="CACFD1"/>
      </a:hlink>
      <a:folHlink>
        <a:srgbClr val="CACFD1"/>
      </a:folHlink>
    </a:clrScheme>
    <a:fontScheme name="BYU-Idaho">
      <a:majorFont>
        <a:latin typeface="Galliard BT"/>
        <a:ea typeface=""/>
        <a:cs typeface=""/>
      </a:majorFont>
      <a:minorFont>
        <a:latin typeface="Galliard B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1_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4.xml><?xml version="1.0" encoding="utf-8"?>
<a:theme xmlns:a="http://schemas.openxmlformats.org/drawingml/2006/main" name="2_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5.xml><?xml version="1.0" encoding="utf-8"?>
<a:theme xmlns:a="http://schemas.openxmlformats.org/drawingml/2006/main" name="4_Blue Segoe 4-3 template-template_April-17-2007">
  <a:themeElements>
    <a:clrScheme name="Custom 14">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3030F8"/>
      </a:hlink>
      <a:folHlink>
        <a:srgbClr val="7575FA"/>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6.xml><?xml version="1.0" encoding="utf-8"?>
<a:theme xmlns:a="http://schemas.openxmlformats.org/drawingml/2006/main" name="6_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Custom 10">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00000"/>
      </a:hlink>
      <a:folHlink>
        <a:srgbClr val="3F3F3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21100</TotalTime>
  <Words>7522</Words>
  <Application>Microsoft Office PowerPoint</Application>
  <PresentationFormat>Widescreen</PresentationFormat>
  <Paragraphs>1022</Paragraphs>
  <Slides>58</Slides>
  <Notes>6</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58</vt:i4>
      </vt:variant>
    </vt:vector>
  </HeadingPairs>
  <TitlesOfParts>
    <vt:vector size="70" baseType="lpstr">
      <vt:lpstr>Calibri</vt:lpstr>
      <vt:lpstr>Arial</vt:lpstr>
      <vt:lpstr>Cambria Math</vt:lpstr>
      <vt:lpstr>Cambria</vt:lpstr>
      <vt:lpstr>Wingdings</vt:lpstr>
      <vt:lpstr>Courier New</vt:lpstr>
      <vt:lpstr>SoftwareDevelopment</vt:lpstr>
      <vt:lpstr>Blue Segoe 4-3 template-template_April-17-2007</vt:lpstr>
      <vt:lpstr>1_Blue Segoe 4-3 template-template_April-17-2007</vt:lpstr>
      <vt:lpstr>2_Blue Segoe 4-3 template-template_April-17-2007</vt:lpstr>
      <vt:lpstr>4_Blue Segoe 4-3 template-template_April-17-2007</vt:lpstr>
      <vt:lpstr>6_Blue Segoe 4-3 template-template_April-17-2007</vt:lpstr>
      <vt:lpstr>ECEN 390 Electromagnetics</vt:lpstr>
      <vt:lpstr>Impedance Matching</vt:lpstr>
      <vt:lpstr>Voltage Reflection Coefficients Plane</vt:lpstr>
      <vt:lpstr>Smith Charts (Continued)</vt:lpstr>
      <vt:lpstr>Smith Charts (Continued)</vt:lpstr>
      <vt:lpstr>Smith Charts (Continued)</vt:lpstr>
      <vt:lpstr>Smith Charts (Continued)</vt:lpstr>
      <vt:lpstr>Smith Charts (Continued)</vt:lpstr>
      <vt:lpstr>Smith Charts (Continued)</vt:lpstr>
      <vt:lpstr>Smith Chart – WTG and WTL Outer Circles</vt:lpstr>
      <vt:lpstr>Interactive Smith Chart</vt:lpstr>
      <vt:lpstr>Smith Chart Example 1</vt:lpstr>
      <vt:lpstr>Smith Chart Example 2</vt:lpstr>
      <vt:lpstr>Smith Chart –  Angle of Reflection Coefficient</vt:lpstr>
      <vt:lpstr>Smith Chart – Origin and Real Γr Axis </vt:lpstr>
      <vt:lpstr>Smith Chart – Horizontal Scales</vt:lpstr>
      <vt:lpstr>Smith Charts (Continued)</vt:lpstr>
      <vt:lpstr>SWR Circles</vt:lpstr>
      <vt:lpstr>Impedance and Admittance Transformations</vt:lpstr>
      <vt:lpstr>PowerPoint Presentation</vt:lpstr>
      <vt:lpstr>Impedance and Admittance (Continued) </vt:lpstr>
      <vt:lpstr>Impedance and Admittance (Continued)</vt:lpstr>
      <vt:lpstr>Back to Impedance Matching</vt:lpstr>
      <vt:lpstr>Lumped Element Matching</vt:lpstr>
      <vt:lpstr>Lumped Element Matching Using Interactive Smith Chart</vt:lpstr>
      <vt:lpstr>Lumped Element Matching (Continued)</vt:lpstr>
      <vt:lpstr>Lumped Element Matching Using Standard Smith Chart</vt:lpstr>
      <vt:lpstr>Lumped Element Matching Example 2-13: (Continued)</vt:lpstr>
      <vt:lpstr>Lumped Element Matching Example 2-13: (Continued)</vt:lpstr>
      <vt:lpstr>Lumped Element Matching Example 2-13: (Continued)</vt:lpstr>
      <vt:lpstr>Lumped Element Matching Summary</vt:lpstr>
      <vt:lpstr>Transients on Transmission Lines</vt:lpstr>
      <vt:lpstr>Transients on Transmission Lines (Continued)</vt:lpstr>
      <vt:lpstr>Transients on Transmission Lines (Continued)</vt:lpstr>
      <vt:lpstr>Transients on Transmission Lines (Continued)</vt:lpstr>
      <vt:lpstr>Bounce Diagrams</vt:lpstr>
      <vt:lpstr>Transient Response Example</vt:lpstr>
      <vt:lpstr>Transient Response Example (Continued)</vt:lpstr>
      <vt:lpstr>Digital Logic Bounce Diagram</vt:lpstr>
      <vt:lpstr>Digital Logic Bounce Diagram Continued)</vt:lpstr>
      <vt:lpstr>Digital Logic Bounce Diagram Continued)</vt:lpstr>
      <vt:lpstr>Digital Logic Bounce Diagram with Termination Resistor</vt:lpstr>
      <vt:lpstr>Transient Response Measurement</vt:lpstr>
      <vt:lpstr>Transient Response Measurement Example</vt:lpstr>
      <vt:lpstr>Time Domain Reflectometer (TDR) for Cable Testing</vt:lpstr>
      <vt:lpstr>Soil Moisture Measurements Using Permittivity</vt:lpstr>
      <vt:lpstr>Time Domain Reflectometer (TDR) for Soil Moisture Measurements</vt:lpstr>
      <vt:lpstr>TDR for Soil Moisture Measurements (Continued)</vt:lpstr>
      <vt:lpstr>Transmission Line Oscillator</vt:lpstr>
      <vt:lpstr>ECEN 390 – Electromagnetics Topics</vt:lpstr>
      <vt:lpstr>Extra</vt:lpstr>
      <vt:lpstr>Smith Charts (Continued)</vt:lpstr>
      <vt:lpstr>SWR, Voltage Maxima and Minima</vt:lpstr>
      <vt:lpstr>Impedance Matching using Open Circuit Stubs</vt:lpstr>
      <vt:lpstr>SWR, Voltage Maxima and Minima (Continued) </vt:lpstr>
      <vt:lpstr>Lumped Element Matching Example (Continued)</vt:lpstr>
      <vt:lpstr>Smith Charts (Continued)</vt:lpstr>
      <vt:lpstr>Transient Response Simulator</vt:lpstr>
    </vt:vector>
  </TitlesOfParts>
  <Company>Brigham Young University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 and Odd Functions (Symmetry)</dc:title>
  <dc:creator>Swenson, Jody</dc:creator>
  <cp:lastModifiedBy>Swenson, Jody</cp:lastModifiedBy>
  <cp:revision>1041</cp:revision>
  <dcterms:created xsi:type="dcterms:W3CDTF">2017-04-17T22:57:03Z</dcterms:created>
  <dcterms:modified xsi:type="dcterms:W3CDTF">2025-10-07T22:09:43Z</dcterms:modified>
</cp:coreProperties>
</file>