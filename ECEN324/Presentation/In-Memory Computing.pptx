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a421bae6d_7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a421bae6d_7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2d38cd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12d38cd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1f6c2ed4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1f6c2ed4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1f6c2ed4d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1f6c2ed4d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2030260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2030260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7e8af82c2fcbece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7e8af82c2fcbece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a421bae6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a421bae6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12d38cd0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12d38cd0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a063ccc63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a063ccc63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1f6c2ed4d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1f6c2ed4d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a063ccc63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a063ccc63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1f6c2e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1f6c2e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ieeexplore.ieee.org/abstract/document/9957094?casa_token=kuFB08n8TVMAAAAA:-i2bM2EX2W3UsJVOAsTJ85N3HE0V7fZZQeh6P7OAyJva4PwdiWNcImaqpp1yqUqapEhOF2ykgTFiuA" TargetMode="External"/><Relationship Id="rId4" Type="http://schemas.openxmlformats.org/officeDocument/2006/relationships/hyperlink" Target="https://pubs.aip.org/aip/aml/article/1/4/041102/2923573" TargetMode="External"/><Relationship Id="rId5" Type="http://schemas.openxmlformats.org/officeDocument/2006/relationships/hyperlink" Target="https://www.nature.com/articles/s41467-023-40770-4" TargetMode="External"/><Relationship Id="rId6" Type="http://schemas.openxmlformats.org/officeDocument/2006/relationships/hyperlink" Target="https://www.nature.com/articles/s41928-023-01010-1" TargetMode="External"/><Relationship Id="rId7" Type="http://schemas.openxmlformats.org/officeDocument/2006/relationships/hyperlink" Target="https://www.nature.com/articles/s41565-023-01357-8" TargetMode="External"/><Relationship Id="rId8" Type="http://schemas.openxmlformats.org/officeDocument/2006/relationships/hyperlink" Target="https://advanced.onlinelibrary.wiley.com/doi/full/10.1002/adfm.202106547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youtube.com/watch?v=b1F1h1U3vv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In-Memory Computing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Seth Ricks, Ian McMaster, Emily Sammons, Jonas Norwood</a:t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In-memory computing?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problem it is solving?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Methods used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Applications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Test questions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In-Memory Computing?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4368600" cy="3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“IMC … [is] </a:t>
            </a:r>
            <a:r>
              <a:rPr lang="en"/>
              <a:t>where memory is not only storing data but can also directly output computation results.” (Paper from Association of Computer Machinery)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Perform computations directly in memory instead of just storing information. 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Addressing “memory wall” (CPU has grown much faster than memory speeds)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Helps save energy with less data movement.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1468" y="1675863"/>
            <a:ext cx="4508299" cy="23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4541475" y="4138350"/>
            <a:ext cx="40101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</a:rPr>
              <a:t>Sebastian </a:t>
            </a:r>
            <a:r>
              <a:rPr lang="en" sz="1100">
                <a:solidFill>
                  <a:schemeClr val="lt2"/>
                </a:solidFill>
              </a:rPr>
              <a:t>et al</a:t>
            </a:r>
            <a:r>
              <a:rPr lang="en" sz="1100">
                <a:solidFill>
                  <a:schemeClr val="lt2"/>
                </a:solidFill>
              </a:rPr>
              <a:t>., Nature Nanotechnology, 2020</a:t>
            </a:r>
            <a:endParaRPr sz="1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problem is it solving?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47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Von-Neumann computer model relies heavily on memory.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Passing data to and from memory is power and time demanding.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Cpu’s have improved a lot, and memory has improved less.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has made this more </a:t>
            </a:r>
            <a:r>
              <a:rPr lang="en"/>
              <a:t>apparent</a:t>
            </a:r>
            <a:r>
              <a:rPr lang="en"/>
              <a:t> as the AI </a:t>
            </a:r>
            <a:r>
              <a:rPr lang="en"/>
              <a:t>models use lots of memory.</a:t>
            </a:r>
            <a:endParaRPr/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5220175" y="1192200"/>
            <a:ext cx="3530400" cy="3291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ile:Von Neumann architecture.svg - Wikimedia Commons"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271" y="1198055"/>
            <a:ext cx="3538852" cy="328483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7121100" y="4417650"/>
            <a:ext cx="1792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(Figure from Digikey)</a:t>
            </a:r>
            <a:endParaRPr sz="9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PCM Devices - A Method of In-Memory Computing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397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PCM devices use Ohm’s  and K</a:t>
            </a:r>
            <a:r>
              <a:rPr lang="en"/>
              <a:t>irchhoff's</a:t>
            </a:r>
            <a:r>
              <a:rPr lang="en"/>
              <a:t> Laws to do matrix multiplication.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“Moving 64 bits of data from DRAM to CPU consumes 1-2nJ, which is 10,000–2,000,000 times more energy than is dissipated in a PCM device performing a multiplication operation (1-100fJ).” (Le Gallo-Bourdeau)</a:t>
            </a:r>
            <a:endParaRPr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9197" y="1192325"/>
            <a:ext cx="4433099" cy="33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7404600" y="4468275"/>
            <a:ext cx="1792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(Figure from IBM)</a:t>
            </a:r>
            <a:endParaRPr sz="9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Applications						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Neural Network Computations (AI)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AI processes large amounts of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IMC would decrease computation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 Processing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Complex signal chains could travel through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Stochastic Computing*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Benefits from data being closer to computation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(Cryptography, hashing,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Solving Differential Equations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*Probability based computing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(All computation can gain efficiency since there would be less memory transfers)</a:t>
            </a:r>
            <a:endParaRPr/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649" y="65532"/>
            <a:ext cx="6126699" cy="43282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951001" y="4593036"/>
            <a:ext cx="72420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Memory devices and applications for in-memory computing - Nature Nanotechnologies (July 16 2020)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05025" y="341325"/>
            <a:ext cx="8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of In Memory Computing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280500" y="844125"/>
            <a:ext cx="8863500" cy="24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Memory chips are optimized for density instead of logic like previous models.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Coding is optimized for Von - Neumann architecture,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</a:t>
            </a:r>
            <a:r>
              <a:rPr lang="en"/>
              <a:t>xisting</a:t>
            </a:r>
            <a:r>
              <a:rPr lang="en"/>
              <a:t> systems (SAP HANA)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Currently not a full CPU replacement (simple arithmetic vs floating point)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consistency and Cache coherence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Precision of analog computing </a:t>
            </a:r>
            <a:r>
              <a:rPr lang="en"/>
              <a:t> </a:t>
            </a:r>
            <a:endParaRPr/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4250" y="2832061"/>
            <a:ext cx="4056557" cy="169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280500" y="2969950"/>
            <a:ext cx="42915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 sz="1800">
                <a:solidFill>
                  <a:schemeClr val="lt2"/>
                </a:solidFill>
              </a:rPr>
              <a:t>New, faster memory is expensive to manufacture, ReRam,  MRam, etc. </a:t>
            </a:r>
            <a:endParaRPr sz="18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 sz="1800">
                <a:solidFill>
                  <a:schemeClr val="lt2"/>
                </a:solidFill>
              </a:rPr>
              <a:t>PIM introduces new side channels for attacks</a:t>
            </a:r>
            <a:r>
              <a:rPr lang="en">
                <a:solidFill>
                  <a:schemeClr val="lt2"/>
                </a:solidFill>
              </a:rPr>
              <a:t> 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Overview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https://www.nature.com/articles/s41565-020-0655-z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Currently being researched for AI applications: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A Heterogeneous and Programmable Compute-In-Memory Accelerator Architecture for Analog-AI Using Dense 2-D Mesh | IEEE Journals &amp; Magazine | IEEE Xplore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Using the IBM analog in-memory hardware acceleration kit for neural network training and inference | APL Machine Learning | AIP Publishing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Hardware-aware training for large-scale and diverse deep learning inference workloads using in-memory computing-based accelerators | Nature Communications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A 64-core mixed-signal in-memory compute chip based on phase-change memory for deep neural network inference | Nature Electronics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 u="sng">
                <a:solidFill>
                  <a:schemeClr val="hlink"/>
                </a:solidFill>
                <a:hlinkClick r:id="rId7"/>
              </a:rPr>
              <a:t>In-memory factorization of holographic perceptual representations | Nature Nanotechnology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Memory Computation With Phase Change Memory: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 u="sng">
                <a:solidFill>
                  <a:schemeClr val="hlink"/>
                </a:solidFill>
                <a:hlinkClick r:id="rId8"/>
              </a:rPr>
              <a:t>Projected Mushroom Type Phase‐Change Memory - Ghazi Sarwat - 2021 - Advanced Functional Materials - Wiley Online Library</a:t>
            </a:r>
            <a:endParaRPr/>
          </a:p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Questions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Why is In-Memory Computing</a:t>
            </a:r>
            <a:r>
              <a:rPr lang="en"/>
              <a:t> being explored</a:t>
            </a:r>
            <a:r>
              <a:rPr lang="en"/>
              <a:t>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To reduce the number of transistors used in memory.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To reduce the time and power spent moving data between the CPU and memory.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To save space on the motherboard by removing cache.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To make register-to-register transfers faster.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2.)	True / False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DRAM to CPU transfers can consume 10,000–2,000,000 times more energy than what is dissipated by other solutions doing the matrix multiplication operation in memory.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Questions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3.)	True / False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Memory has improved at the same rate as CPU’s.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4.)	</a:t>
            </a:r>
            <a:r>
              <a:rPr lang="en"/>
              <a:t>Select All That Could Benefit From In Memory Computing: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Artificial Intelligence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Memory Applications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Solving Differential Equations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 of the above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Citations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Y. Ma, Y. Du, L. Du, J. Lin, and Z. Wang, “In-memory computing: The next-generation AI computing paradigm,” in </a:t>
            </a:r>
            <a:r>
              <a:rPr i="1" lang="en" sz="1500">
                <a:solidFill>
                  <a:schemeClr val="dk1"/>
                </a:solidFill>
              </a:rPr>
              <a:t>Proc. ACM Great Lakes Symp. VLSI (GLSVLSI ’20)</a:t>
            </a:r>
            <a:r>
              <a:rPr lang="en" sz="1500">
                <a:solidFill>
                  <a:schemeClr val="dk1"/>
                </a:solidFill>
              </a:rPr>
              <a:t>, Virtual Event, China, Sep. 2020. doi: 10.1145/3386263.3407588.</a:t>
            </a:r>
            <a:endParaRPr sz="15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500">
                <a:solidFill>
                  <a:schemeClr val="dk1"/>
                </a:solidFill>
              </a:rPr>
              <a:t>Tian, P. H., Yousefijamarani, Z., &amp; Alameldeen, A. (2025, October 9). </a:t>
            </a:r>
            <a:r>
              <a:rPr i="1" lang="en" sz="1500">
                <a:solidFill>
                  <a:schemeClr val="dk1"/>
                </a:solidFill>
              </a:rPr>
              <a:t>DL-PIM: Improving data locality in processing-in-memory systems</a:t>
            </a:r>
            <a:r>
              <a:rPr lang="en" sz="1500">
                <a:solidFill>
                  <a:schemeClr val="dk1"/>
                </a:solidFill>
              </a:rPr>
              <a:t>. arXiv.org. https://arxiv.org/abs/2510.07719?utm_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Kaur, R., Asad, A., &amp; Mohammadi, F. (2024, July 16). </a:t>
            </a:r>
            <a:r>
              <a:rPr i="1" lang="en" sz="1500">
                <a:solidFill>
                  <a:schemeClr val="dk1"/>
                </a:solidFill>
              </a:rPr>
              <a:t>A comprehensive review of processing-in-memory architectures for deep neural networks</a:t>
            </a:r>
            <a:r>
              <a:rPr lang="en" sz="1500">
                <a:solidFill>
                  <a:schemeClr val="dk1"/>
                </a:solidFill>
              </a:rPr>
              <a:t>. MDPI. https://www.mdpi.com/2073-431X/13/7/174 </a:t>
            </a:r>
            <a:endParaRPr sz="15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500">
                <a:solidFill>
                  <a:schemeClr val="dk1"/>
                </a:solidFill>
              </a:rPr>
              <a:t>Chen, W., Qi, Z., Akhtar, Z., &amp; Siddique, K. (2022, November 9). </a:t>
            </a:r>
            <a:r>
              <a:rPr i="1" lang="en" sz="1500">
                <a:solidFill>
                  <a:schemeClr val="dk1"/>
                </a:solidFill>
              </a:rPr>
              <a:t>Resistive-RAM-based in-memory computing for neural network: A Review</a:t>
            </a:r>
            <a:r>
              <a:rPr lang="en" sz="1500">
                <a:solidFill>
                  <a:schemeClr val="dk1"/>
                </a:solidFill>
              </a:rPr>
              <a:t>. MDPI. https://www.mdpi.com/2079-9292/11/22/3667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Citations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M. Le Gallo, “The hardware behind analog AI,” IBM Research Blog, Nov. 20, 2021. [Online]. Available: https://research.ibm.com/blog/the-hardware-behind-analog-ai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IBM Technology, “What is In-Memory Computing?,” YouTube, [Online]. Available: https://www.youtube.com/watch?v=BTnr8z-ePR4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Asianometry, “</a:t>
            </a:r>
            <a:r>
              <a:rPr lang="en"/>
              <a:t>AI’s Hardware Problem</a:t>
            </a:r>
            <a:r>
              <a:rPr lang="en"/>
              <a:t>,” YouTube, [Online]. Available: https://www.youtube.com/watch?v=5tmGKTNW8DQ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Veritasium, “Future Computers Will Be Radically Different (Analog Computing),” YouTube, [Online]. Available: https://www.youtube.com/watch?v=GVsUOuSjvcg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Forbes, “Efficient AI Inference With Analog Processing In Memory,” YouTube, [Online]. Available: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https://www.youtube.com/watch?v=b1F1h1U3vvs</a:t>
            </a:r>
            <a:endParaRPr/>
          </a:p>
        </p:txBody>
      </p:sp>
      <p:sp>
        <p:nvSpPr>
          <p:cNvPr id="149" name="Google Shape;1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