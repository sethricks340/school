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25"/>
  </p:notesMasterIdLst>
  <p:handoutMasterIdLst>
    <p:handoutMasterId r:id="rId26"/>
  </p:handoutMasterIdLst>
  <p:sldIdLst>
    <p:sldId id="329" r:id="rId2"/>
    <p:sldId id="359" r:id="rId3"/>
    <p:sldId id="360" r:id="rId4"/>
    <p:sldId id="361" r:id="rId5"/>
    <p:sldId id="362" r:id="rId6"/>
    <p:sldId id="363" r:id="rId7"/>
    <p:sldId id="333" r:id="rId8"/>
    <p:sldId id="334" r:id="rId9"/>
    <p:sldId id="364" r:id="rId10"/>
    <p:sldId id="365" r:id="rId11"/>
    <p:sldId id="366" r:id="rId12"/>
    <p:sldId id="367" r:id="rId13"/>
    <p:sldId id="369" r:id="rId14"/>
    <p:sldId id="335" r:id="rId15"/>
    <p:sldId id="339" r:id="rId16"/>
    <p:sldId id="336" r:id="rId17"/>
    <p:sldId id="354" r:id="rId18"/>
    <p:sldId id="340" r:id="rId19"/>
    <p:sldId id="341" r:id="rId20"/>
    <p:sldId id="337" r:id="rId21"/>
    <p:sldId id="342" r:id="rId22"/>
    <p:sldId id="343" r:id="rId23"/>
    <p:sldId id="344" r:id="rId2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Galliard BT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00"/>
    <a:srgbClr val="CC33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93" autoAdjust="0"/>
    <p:restoredTop sz="94660"/>
  </p:normalViewPr>
  <p:slideViewPr>
    <p:cSldViewPr>
      <p:cViewPr varScale="1">
        <p:scale>
          <a:sx n="104" d="100"/>
          <a:sy n="104" d="100"/>
        </p:scale>
        <p:origin x="123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54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0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23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9.wmf"/><Relationship Id="rId9" Type="http://schemas.openxmlformats.org/officeDocument/2006/relationships/image" Target="../media/image1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B18B3C65-2D38-40C4-A8E2-9BF8D7E36BE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29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BCCFE-C26B-4A50-8D5C-480ED105EE09}" type="datetimeFigureOut">
              <a:rPr lang="en-US" smtClean="0"/>
              <a:pPr/>
              <a:t>1/19/2022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EAE2D-EBCA-456E-967C-94C2A50FD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4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charset="0"/>
              </a:rPr>
              <a:t>&amp;&amp;&amp; Need to add more to this lecture – not enough meat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4EAE2D-EBCA-456E-967C-94C2A50FD08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373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ChangeArrowheads="1"/>
          </p:cNvSpPr>
          <p:nvPr/>
        </p:nvSpPr>
        <p:spPr bwMode="auto">
          <a:xfrm>
            <a:off x="2362200" y="381000"/>
            <a:ext cx="6781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eaLnBrk="1" hangingPunct="1"/>
            <a:r>
              <a:rPr lang="en-US" sz="1800">
                <a:latin typeface="Arial" charset="0"/>
              </a:rPr>
              <a:t>Click to edit Master title style</a:t>
            </a:r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0" y="0"/>
            <a:ext cx="9144000" cy="37465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" pitchFamily="18" charset="0"/>
            </a:endParaRPr>
          </a:p>
        </p:txBody>
      </p:sp>
      <p:pic>
        <p:nvPicPr>
          <p:cNvPr id="121860" name="Picture 4" descr="PPTlogo copy"/>
          <p:cNvPicPr>
            <a:picLocks noChangeAspect="1" noChangeArrowheads="1"/>
          </p:cNvPicPr>
          <p:nvPr/>
        </p:nvPicPr>
        <p:blipFill>
          <a:blip r:embed="rId2" cstate="print"/>
          <a:srcRect l="667" t="868" r="601" b="2171"/>
          <a:stretch>
            <a:fillRect/>
          </a:stretch>
        </p:blipFill>
        <p:spPr bwMode="auto">
          <a:xfrm>
            <a:off x="0" y="381000"/>
            <a:ext cx="2347913" cy="1063625"/>
          </a:xfrm>
          <a:prstGeom prst="rect">
            <a:avLst/>
          </a:prstGeom>
          <a:noFill/>
        </p:spPr>
      </p:pic>
      <p:sp>
        <p:nvSpPr>
          <p:cNvPr id="121861" name="Rectangle 5"/>
          <p:cNvSpPr>
            <a:spLocks noChangeArrowheads="1"/>
          </p:cNvSpPr>
          <p:nvPr/>
        </p:nvSpPr>
        <p:spPr bwMode="auto">
          <a:xfrm>
            <a:off x="2352675" y="381000"/>
            <a:ext cx="6791325" cy="10699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862" name="Line 6"/>
          <p:cNvSpPr>
            <a:spLocks noChangeShapeType="1"/>
          </p:cNvSpPr>
          <p:nvPr/>
        </p:nvSpPr>
        <p:spPr bwMode="auto">
          <a:xfrm>
            <a:off x="2343150" y="304800"/>
            <a:ext cx="0" cy="1143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362200" y="381000"/>
            <a:ext cx="6781800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1864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533400" y="1600200"/>
            <a:ext cx="8382000" cy="4343400"/>
          </a:xfrm>
        </p:spPr>
        <p:txBody>
          <a:bodyPr/>
          <a:lstStyle>
            <a:lvl1pPr marL="0" indent="0" algn="ctr">
              <a:buFont typeface="Galliard BT" pitchFamily="18" charset="0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1865" name="Rectangle 9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1866" name="Rectangle 1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21867" name="Rectangle 1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9FEE3DD-F844-42B2-B7BA-D0FF1F4A40D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3971C9-6FFA-4169-AE09-3F3D9D8B33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8F069-F73F-4499-969C-32ACB4BF617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46CCE8-9724-49DC-89CB-2F6411941C7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931A6E-C955-49A5-A8BB-B6E7B1BE52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C13422-4AF5-496A-B88A-498D3651ADD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651D66-67DB-416B-91BB-C20C3C25A4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9E0B22-13E5-4BFD-9AFA-FD509898EF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739A6F-3567-480A-8114-B5D07257A07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F4840F-8920-4E4D-A597-B156C5310B3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2300" y="457200"/>
            <a:ext cx="2171700" cy="5668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362700" cy="5668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531E2-8E01-452C-9E60-57BAB575DF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ChangeArrowheads="1"/>
          </p:cNvSpPr>
          <p:nvPr/>
        </p:nvSpPr>
        <p:spPr bwMode="auto">
          <a:xfrm>
            <a:off x="2362200" y="381000"/>
            <a:ext cx="6781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 anchorCtr="1"/>
          <a:lstStyle/>
          <a:p>
            <a:pPr algn="ctr" eaLnBrk="1" hangingPunct="1"/>
            <a:r>
              <a:rPr lang="en-US" sz="3600">
                <a:solidFill>
                  <a:schemeClr val="tx2"/>
                </a:solidFill>
              </a:rPr>
              <a:t>Click to edit Master title style</a:t>
            </a:r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auto">
          <a:xfrm>
            <a:off x="0" y="0"/>
            <a:ext cx="9144000" cy="37465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sz="2400">
              <a:latin typeface="Times" pitchFamily="18" charset="0"/>
            </a:endParaRPr>
          </a:p>
        </p:txBody>
      </p:sp>
      <p:pic>
        <p:nvPicPr>
          <p:cNvPr id="120836" name="Picture 4" descr="PPTlogo copy"/>
          <p:cNvPicPr>
            <a:picLocks noChangeAspect="1" noChangeArrowheads="1"/>
          </p:cNvPicPr>
          <p:nvPr/>
        </p:nvPicPr>
        <p:blipFill>
          <a:blip r:embed="rId14" cstate="print"/>
          <a:srcRect l="667" t="868" r="601" b="2171"/>
          <a:stretch>
            <a:fillRect/>
          </a:stretch>
        </p:blipFill>
        <p:spPr bwMode="auto">
          <a:xfrm>
            <a:off x="0" y="381000"/>
            <a:ext cx="2347913" cy="1063625"/>
          </a:xfrm>
          <a:prstGeom prst="rect">
            <a:avLst/>
          </a:prstGeom>
          <a:noFill/>
        </p:spPr>
      </p:pic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2352675" y="381000"/>
            <a:ext cx="6791325" cy="10699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2343150" y="304800"/>
            <a:ext cx="0" cy="1143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2438400" y="457200"/>
            <a:ext cx="6705600" cy="96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2084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0841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0842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20843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charset="0"/>
              </a:defRPr>
            </a:lvl1pPr>
          </a:lstStyle>
          <a:p>
            <a:fld id="{396BEF9C-CD48-4B87-A9AB-E8682DB08AB3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Galliard BT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Galliard BT" pitchFamily="18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Arial" charset="0"/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media7.m4a"/><Relationship Id="rId2" Type="http://schemas.microsoft.com/office/2007/relationships/media" Target="../media/media7.m4a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media8.m4a"/><Relationship Id="rId2" Type="http://schemas.microsoft.com/office/2007/relationships/media" Target="../media/media8.m4a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image" Target="../media/image4.png"/><Relationship Id="rId3" Type="http://schemas.microsoft.com/office/2007/relationships/media" Target="../media/media9.m4a"/><Relationship Id="rId7" Type="http://schemas.openxmlformats.org/officeDocument/2006/relationships/oleObject" Target="../embeddings/oleObject1.bin"/><Relationship Id="rId12" Type="http://schemas.openxmlformats.org/officeDocument/2006/relationships/image" Target="../media/image15.wmf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11" Type="http://schemas.openxmlformats.org/officeDocument/2006/relationships/oleObject" Target="../embeddings/oleObject3.bin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4.wmf"/><Relationship Id="rId4" Type="http://schemas.openxmlformats.org/officeDocument/2006/relationships/audio" Target="../media/media9.m4a"/><Relationship Id="rId9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audio" Target="../media/media10.m4a"/><Relationship Id="rId7" Type="http://schemas.openxmlformats.org/officeDocument/2006/relationships/oleObject" Target="../embeddings/oleObject5.bin"/><Relationship Id="rId2" Type="http://schemas.microsoft.com/office/2007/relationships/media" Target="../media/media10.m4a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image" Target="../media/image4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9.wmf"/><Relationship Id="rId4" Type="http://schemas.openxmlformats.org/officeDocument/2006/relationships/slideLayout" Target="../slideLayouts/slideLayout2.xml"/><Relationship Id="rId9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media11.m4a"/><Relationship Id="rId7" Type="http://schemas.openxmlformats.org/officeDocument/2006/relationships/image" Target="../media/image4.png"/><Relationship Id="rId2" Type="http://schemas.microsoft.com/office/2007/relationships/media" Target="../media/media11.m4a"/><Relationship Id="rId1" Type="http://schemas.openxmlformats.org/officeDocument/2006/relationships/tags" Target="../tags/tag4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media12.m4a"/><Relationship Id="rId2" Type="http://schemas.microsoft.com/office/2007/relationships/media" Target="../media/media12.m4a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26.wmf"/><Relationship Id="rId3" Type="http://schemas.microsoft.com/office/2007/relationships/media" Target="../media/media13.m4a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12.bin"/><Relationship Id="rId2" Type="http://schemas.openxmlformats.org/officeDocument/2006/relationships/tags" Target="../tags/tag6.xml"/><Relationship Id="rId16" Type="http://schemas.openxmlformats.org/officeDocument/2006/relationships/image" Target="../media/image25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7.png"/><Relationship Id="rId11" Type="http://schemas.openxmlformats.org/officeDocument/2006/relationships/oleObject" Target="../embeddings/oleObject9.bin"/><Relationship Id="rId5" Type="http://schemas.openxmlformats.org/officeDocument/2006/relationships/slideLayout" Target="../slideLayouts/slideLayout6.xml"/><Relationship Id="rId15" Type="http://schemas.openxmlformats.org/officeDocument/2006/relationships/oleObject" Target="../embeddings/oleObject11.bin"/><Relationship Id="rId10" Type="http://schemas.openxmlformats.org/officeDocument/2006/relationships/image" Target="../media/image22.wmf"/><Relationship Id="rId19" Type="http://schemas.openxmlformats.org/officeDocument/2006/relationships/image" Target="../media/image4.png"/><Relationship Id="rId4" Type="http://schemas.openxmlformats.org/officeDocument/2006/relationships/audio" Target="../media/media13.m4a"/><Relationship Id="rId9" Type="http://schemas.openxmlformats.org/officeDocument/2006/relationships/oleObject" Target="../embeddings/oleObject8.bin"/><Relationship Id="rId14" Type="http://schemas.openxmlformats.org/officeDocument/2006/relationships/image" Target="../media/image24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24.wmf"/><Relationship Id="rId18" Type="http://schemas.openxmlformats.org/officeDocument/2006/relationships/image" Target="../media/image30.wmf"/><Relationship Id="rId3" Type="http://schemas.microsoft.com/office/2007/relationships/media" Target="../media/media14.m4a"/><Relationship Id="rId7" Type="http://schemas.openxmlformats.org/officeDocument/2006/relationships/image" Target="../media/image28.wmf"/><Relationship Id="rId12" Type="http://schemas.openxmlformats.org/officeDocument/2006/relationships/oleObject" Target="../embeddings/oleObject16.bin"/><Relationship Id="rId17" Type="http://schemas.openxmlformats.org/officeDocument/2006/relationships/oleObject" Target="../embeddings/oleObject18.bin"/><Relationship Id="rId2" Type="http://schemas.openxmlformats.org/officeDocument/2006/relationships/tags" Target="../tags/tag7.xml"/><Relationship Id="rId16" Type="http://schemas.openxmlformats.org/officeDocument/2006/relationships/image" Target="../media/image31.png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3.wmf"/><Relationship Id="rId5" Type="http://schemas.openxmlformats.org/officeDocument/2006/relationships/slideLayout" Target="../slideLayouts/slideLayout6.xml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15.bin"/><Relationship Id="rId19" Type="http://schemas.openxmlformats.org/officeDocument/2006/relationships/image" Target="../media/image4.png"/><Relationship Id="rId4" Type="http://schemas.openxmlformats.org/officeDocument/2006/relationships/audio" Target="../media/media14.m4a"/><Relationship Id="rId9" Type="http://schemas.openxmlformats.org/officeDocument/2006/relationships/image" Target="../media/image29.wmf"/><Relationship Id="rId14" Type="http://schemas.openxmlformats.org/officeDocument/2006/relationships/oleObject" Target="../embeddings/oleObject1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microsoft.com/office/2007/relationships/media" Target="../media/media15.m4a"/><Relationship Id="rId7" Type="http://schemas.openxmlformats.org/officeDocument/2006/relationships/image" Target="../media/image32.wmf"/><Relationship Id="rId12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35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34.png"/><Relationship Id="rId4" Type="http://schemas.openxmlformats.org/officeDocument/2006/relationships/audio" Target="../media/media15.m4a"/><Relationship Id="rId9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6.m4a"/><Relationship Id="rId7" Type="http://schemas.openxmlformats.org/officeDocument/2006/relationships/image" Target="../media/image4.png"/><Relationship Id="rId2" Type="http://schemas.microsoft.com/office/2007/relationships/media" Target="../media/media16.m4a"/><Relationship Id="rId1" Type="http://schemas.openxmlformats.org/officeDocument/2006/relationships/vmlDrawing" Target="../drawings/vmlDrawing6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1.bin"/><Relationship Id="rId4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28.bin"/><Relationship Id="rId3" Type="http://schemas.microsoft.com/office/2007/relationships/media" Target="../media/media17.m4a"/><Relationship Id="rId21" Type="http://schemas.openxmlformats.org/officeDocument/2006/relationships/image" Target="../media/image43.wmf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25.bin"/><Relationship Id="rId17" Type="http://schemas.openxmlformats.org/officeDocument/2006/relationships/image" Target="../media/image41.wmf"/><Relationship Id="rId2" Type="http://schemas.openxmlformats.org/officeDocument/2006/relationships/tags" Target="../tags/tag9.xml"/><Relationship Id="rId16" Type="http://schemas.openxmlformats.org/officeDocument/2006/relationships/oleObject" Target="../embeddings/oleObject27.bin"/><Relationship Id="rId20" Type="http://schemas.openxmlformats.org/officeDocument/2006/relationships/oleObject" Target="../embeddings/oleObject29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38.wmf"/><Relationship Id="rId24" Type="http://schemas.openxmlformats.org/officeDocument/2006/relationships/image" Target="../media/image4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40.wmf"/><Relationship Id="rId23" Type="http://schemas.openxmlformats.org/officeDocument/2006/relationships/image" Target="../media/image19.wmf"/><Relationship Id="rId10" Type="http://schemas.openxmlformats.org/officeDocument/2006/relationships/oleObject" Target="../embeddings/oleObject24.bin"/><Relationship Id="rId19" Type="http://schemas.openxmlformats.org/officeDocument/2006/relationships/image" Target="../media/image42.wmf"/><Relationship Id="rId4" Type="http://schemas.openxmlformats.org/officeDocument/2006/relationships/audio" Target="../media/media17.m4a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26.bin"/><Relationship Id="rId22" Type="http://schemas.openxmlformats.org/officeDocument/2006/relationships/oleObject" Target="../embeddings/oleObject30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microsoft.com/office/2007/relationships/media" Target="../media/media18.m4a"/><Relationship Id="rId7" Type="http://schemas.openxmlformats.org/officeDocument/2006/relationships/image" Target="../media/image44.wmf"/><Relationship Id="rId2" Type="http://schemas.openxmlformats.org/officeDocument/2006/relationships/tags" Target="../tags/tag10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1.bin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.png"/><Relationship Id="rId4" Type="http://schemas.openxmlformats.org/officeDocument/2006/relationships/audio" Target="../media/media18.m4a"/><Relationship Id="rId9" Type="http://schemas.openxmlformats.org/officeDocument/2006/relationships/image" Target="../media/image4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2"/>
          <p:cNvSpPr txBox="1">
            <a:spLocks noChangeArrowheads="1"/>
          </p:cNvSpPr>
          <p:nvPr/>
        </p:nvSpPr>
        <p:spPr bwMode="auto">
          <a:xfrm>
            <a:off x="457200" y="1981200"/>
            <a:ext cx="70866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sz="4800">
                <a:solidFill>
                  <a:srgbClr val="FFFFFF"/>
                </a:solidFill>
              </a:rPr>
              <a:t>ECEN </a:t>
            </a:r>
            <a:r>
              <a:rPr lang="en-US" sz="4800" dirty="0">
                <a:solidFill>
                  <a:srgbClr val="FFFFFF"/>
                </a:solidFill>
              </a:rPr>
              <a:t>3</a:t>
            </a:r>
            <a:r>
              <a:rPr lang="en-US" sz="4800">
                <a:solidFill>
                  <a:srgbClr val="FFFFFF"/>
                </a:solidFill>
              </a:rPr>
              <a:t>61</a:t>
            </a:r>
            <a:endParaRPr lang="en-US" sz="4800" dirty="0">
              <a:solidFill>
                <a:srgbClr val="FFFFFF"/>
              </a:solidFill>
            </a:endParaRPr>
          </a:p>
          <a:p>
            <a:pPr eaLnBrk="1" hangingPunct="1"/>
            <a:r>
              <a:rPr lang="en-US" sz="4800" dirty="0">
                <a:solidFill>
                  <a:srgbClr val="FFFFFF"/>
                </a:solidFill>
              </a:rPr>
              <a:t>Real-Time and Embedded Systems</a:t>
            </a: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1905000" y="4572000"/>
            <a:ext cx="58674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63550" indent="-463550"/>
            <a:r>
              <a:rPr lang="en-US" sz="3200" dirty="0">
                <a:latin typeface="Arial" charset="0"/>
              </a:rPr>
              <a:t>IOT - Information - Sampling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BC12FE7E-D982-4DB8-A1CE-83A0B579879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307"/>
    </mc:Choice>
    <mc:Fallback>
      <p:transition spd="slow" advTm="333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794" name="Picture 2" descr="Marine Science- Ocean Waves - Marybelle&amp;#39;s Marine Science Site">
            <a:extLst>
              <a:ext uri="{FF2B5EF4-FFF2-40B4-BE49-F238E27FC236}">
                <a16:creationId xmlns:a16="http://schemas.microsoft.com/office/drawing/2014/main" id="{8EA6B887-E9D7-4B1F-B60B-34BB31809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895600"/>
            <a:ext cx="4391025" cy="286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7C684E-B813-427C-A57E-0261023C3780}"/>
              </a:ext>
            </a:extLst>
          </p:cNvPr>
          <p:cNvSpPr txBox="1"/>
          <p:nvPr/>
        </p:nvSpPr>
        <p:spPr>
          <a:xfrm>
            <a:off x="4038600" y="685800"/>
            <a:ext cx="2674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Wave in Distance</a:t>
            </a:r>
          </a:p>
        </p:txBody>
      </p:sp>
      <p:pic>
        <p:nvPicPr>
          <p:cNvPr id="3" name="Audio 2">
            <a:hlinkClick r:id="" action="ppaction://media"/>
            <a:extLst>
              <a:ext uri="{FF2B5EF4-FFF2-40B4-BE49-F238E27FC236}">
                <a16:creationId xmlns:a16="http://schemas.microsoft.com/office/drawing/2014/main" id="{9D3B1C9A-AF07-4F6F-BE1E-A5D653F916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478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692"/>
    </mc:Choice>
    <mc:Fallback>
      <p:transition spd="slow" advTm="246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14F123-B38F-44B3-BB5A-721B52366100}"/>
              </a:ext>
            </a:extLst>
          </p:cNvPr>
          <p:cNvSpPr/>
          <p:nvPr/>
        </p:nvSpPr>
        <p:spPr bwMode="auto">
          <a:xfrm>
            <a:off x="3352800" y="1828800"/>
            <a:ext cx="4800600" cy="3886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Galliard BT" pitchFamily="18" charset="0"/>
              </a:rPr>
              <a:t>height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7C684E-B813-427C-A57E-0261023C3780}"/>
              </a:ext>
            </a:extLst>
          </p:cNvPr>
          <p:cNvSpPr txBox="1"/>
          <p:nvPr/>
        </p:nvSpPr>
        <p:spPr>
          <a:xfrm>
            <a:off x="4038600" y="685800"/>
            <a:ext cx="2148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Wave in Time</a:t>
            </a:r>
          </a:p>
        </p:txBody>
      </p:sp>
      <p:pic>
        <p:nvPicPr>
          <p:cNvPr id="290818" name="Picture 2" descr="Mānoa: New Pacific Islands Ocean Observing System wave buoy deployed in  Maui | University of Hawaii News">
            <a:extLst>
              <a:ext uri="{FF2B5EF4-FFF2-40B4-BE49-F238E27FC236}">
                <a16:creationId xmlns:a16="http://schemas.microsoft.com/office/drawing/2014/main" id="{CB41D6D6-F16A-46A4-AF15-33ECA8B86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90800"/>
            <a:ext cx="1730375" cy="2309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820" name="Picture 4">
            <a:extLst>
              <a:ext uri="{FF2B5EF4-FFF2-40B4-BE49-F238E27FC236}">
                <a16:creationId xmlns:a16="http://schemas.microsoft.com/office/drawing/2014/main" id="{DC4FCD96-8E19-4495-A1AD-7D8201F1A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981200"/>
            <a:ext cx="43688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A25B74-4F95-400D-A7F8-D2F0EB4FDF2A}"/>
              </a:ext>
            </a:extLst>
          </p:cNvPr>
          <p:cNvSpPr txBox="1"/>
          <p:nvPr/>
        </p:nvSpPr>
        <p:spPr>
          <a:xfrm>
            <a:off x="7174885" y="3853190"/>
            <a:ext cx="8515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AC5D8C26-AF50-4C0B-AB3A-EC508F6689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74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6225"/>
    </mc:Choice>
    <mc:Fallback>
      <p:transition spd="slow" advTm="2622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029C2-1B3B-447D-A602-4174CDE362D6}"/>
              </a:ext>
            </a:extLst>
          </p:cNvPr>
          <p:cNvSpPr txBox="1"/>
          <p:nvPr/>
        </p:nvSpPr>
        <p:spPr>
          <a:xfrm>
            <a:off x="2971800" y="609600"/>
            <a:ext cx="549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Storing Information in the Computer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E18A3-5768-4AE0-B3EE-3063D1EE7F8D}"/>
              </a:ext>
            </a:extLst>
          </p:cNvPr>
          <p:cNvSpPr/>
          <p:nvPr/>
        </p:nvSpPr>
        <p:spPr bwMode="auto">
          <a:xfrm>
            <a:off x="510419" y="2061029"/>
            <a:ext cx="5029200" cy="3886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Galliard BT" pitchFamily="18" charset="0"/>
              </a:rPr>
              <a:t>height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FACDB-83C1-4231-B37C-45182243A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81" y="2057400"/>
            <a:ext cx="4576838" cy="343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BF111-B021-438F-AFEC-7A74B9FD7FC8}"/>
              </a:ext>
            </a:extLst>
          </p:cNvPr>
          <p:cNvSpPr txBox="1"/>
          <p:nvPr/>
        </p:nvSpPr>
        <p:spPr>
          <a:xfrm>
            <a:off x="4520556" y="4085419"/>
            <a:ext cx="892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8BDCE-509A-4BC6-96DE-EE8266E366F8}"/>
              </a:ext>
            </a:extLst>
          </p:cNvPr>
          <p:cNvSpPr txBox="1"/>
          <p:nvPr/>
        </p:nvSpPr>
        <p:spPr>
          <a:xfrm>
            <a:off x="6172200" y="2743200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we store this in the computer?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005DFCC9-1BCD-4C6C-8B65-785D211B4A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410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4212"/>
    </mc:Choice>
    <mc:Fallback>
      <p:transition spd="slow" advTm="342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029C2-1B3B-447D-A602-4174CDE362D6}"/>
              </a:ext>
            </a:extLst>
          </p:cNvPr>
          <p:cNvSpPr txBox="1"/>
          <p:nvPr/>
        </p:nvSpPr>
        <p:spPr>
          <a:xfrm>
            <a:off x="2971800" y="609600"/>
            <a:ext cx="549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Storing Information in the Computer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E18A3-5768-4AE0-B3EE-3063D1EE7F8D}"/>
              </a:ext>
            </a:extLst>
          </p:cNvPr>
          <p:cNvSpPr/>
          <p:nvPr/>
        </p:nvSpPr>
        <p:spPr bwMode="auto">
          <a:xfrm>
            <a:off x="510419" y="2061029"/>
            <a:ext cx="5029200" cy="3886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Galliard BT" pitchFamily="18" charset="0"/>
              </a:rPr>
              <a:t>height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FACDB-83C1-4231-B37C-45182243A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81" y="2057400"/>
            <a:ext cx="4576838" cy="343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BF111-B021-438F-AFEC-7A74B9FD7FC8}"/>
              </a:ext>
            </a:extLst>
          </p:cNvPr>
          <p:cNvSpPr txBox="1"/>
          <p:nvPr/>
        </p:nvSpPr>
        <p:spPr>
          <a:xfrm>
            <a:off x="4520556" y="4085419"/>
            <a:ext cx="892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8BDCE-509A-4BC6-96DE-EE8266E366F8}"/>
              </a:ext>
            </a:extLst>
          </p:cNvPr>
          <p:cNvSpPr txBox="1"/>
          <p:nvPr/>
        </p:nvSpPr>
        <p:spPr>
          <a:xfrm>
            <a:off x="5991981" y="3081216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I want to analyze the information?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EA7947A0-6210-48FD-9961-6F0F54F1DC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04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585"/>
    </mc:Choice>
    <mc:Fallback>
      <p:transition spd="slow" advTm="35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2029C2-1B3B-447D-A602-4174CDE362D6}"/>
              </a:ext>
            </a:extLst>
          </p:cNvPr>
          <p:cNvSpPr txBox="1"/>
          <p:nvPr/>
        </p:nvSpPr>
        <p:spPr>
          <a:xfrm>
            <a:off x="2971800" y="609600"/>
            <a:ext cx="5497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Storing Information in the Computer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E18A3-5768-4AE0-B3EE-3063D1EE7F8D}"/>
              </a:ext>
            </a:extLst>
          </p:cNvPr>
          <p:cNvSpPr/>
          <p:nvPr/>
        </p:nvSpPr>
        <p:spPr bwMode="auto">
          <a:xfrm>
            <a:off x="510419" y="2061029"/>
            <a:ext cx="5029200" cy="3886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Galliard BT" pitchFamily="18" charset="0"/>
              </a:rPr>
              <a:t>height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6AFACDB-83C1-4231-B37C-45182243A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81" y="2057400"/>
            <a:ext cx="4576838" cy="3432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8BF111-B021-438F-AFEC-7A74B9FD7FC8}"/>
              </a:ext>
            </a:extLst>
          </p:cNvPr>
          <p:cNvSpPr txBox="1"/>
          <p:nvPr/>
        </p:nvSpPr>
        <p:spPr>
          <a:xfrm>
            <a:off x="4520556" y="4085419"/>
            <a:ext cx="892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time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8BDCE-509A-4BC6-96DE-EE8266E366F8}"/>
              </a:ext>
            </a:extLst>
          </p:cNvPr>
          <p:cNvSpPr txBox="1"/>
          <p:nvPr/>
        </p:nvSpPr>
        <p:spPr>
          <a:xfrm>
            <a:off x="5991981" y="3081216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wave[] = 0, 3, 5, 7, 8, 9, 8, 7, 5, 3, 0, …</a:t>
            </a:r>
          </a:p>
        </p:txBody>
      </p: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A199FEEB-D013-419A-8E85-5D780843FF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3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8562"/>
    </mc:Choice>
    <mc:Fallback>
      <p:transition spd="slow" advTm="185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152400"/>
            <a:ext cx="5943600" cy="1371600"/>
          </a:xfrm>
        </p:spPr>
        <p:txBody>
          <a:bodyPr/>
          <a:lstStyle/>
          <a:p>
            <a:r>
              <a:rPr lang="en-US" altLang="en-US" sz="3200" dirty="0"/>
              <a:t>Sampling x(t)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19250"/>
            <a:ext cx="8178800" cy="4171950"/>
          </a:xfrm>
        </p:spPr>
        <p:txBody>
          <a:bodyPr/>
          <a:lstStyle/>
          <a:p>
            <a:r>
              <a:rPr lang="en-US" altLang="en-US" dirty="0"/>
              <a:t>What is sampling?</a:t>
            </a:r>
          </a:p>
          <a:p>
            <a:r>
              <a:rPr lang="en-US" altLang="en-US" dirty="0"/>
              <a:t>Sampling Process</a:t>
            </a:r>
          </a:p>
          <a:p>
            <a:pPr lvl="2"/>
            <a:r>
              <a:rPr lang="en-US" altLang="en-US" dirty="0"/>
              <a:t>Convert x(t) to numbers x[n]</a:t>
            </a:r>
          </a:p>
          <a:p>
            <a:pPr lvl="2"/>
            <a:r>
              <a:rPr lang="en-US" altLang="en-US" dirty="0"/>
              <a:t>“n” is an integer; x[n] is a sequence of values</a:t>
            </a:r>
          </a:p>
          <a:p>
            <a:pPr lvl="2"/>
            <a:r>
              <a:rPr lang="en-US" altLang="en-US" dirty="0"/>
              <a:t>Think of “n” as the storage address in memory</a:t>
            </a:r>
          </a:p>
          <a:p>
            <a:r>
              <a:rPr lang="en-US" altLang="en-US" dirty="0"/>
              <a:t>Uniform Sampling at t = </a:t>
            </a:r>
            <a:r>
              <a:rPr lang="en-US" altLang="en-US" dirty="0" err="1"/>
              <a:t>nT</a:t>
            </a:r>
            <a:r>
              <a:rPr lang="en-US" altLang="en-US" baseline="-25000" dirty="0" err="1"/>
              <a:t>s</a:t>
            </a:r>
            <a:endParaRPr lang="en-US" altLang="en-US" dirty="0"/>
          </a:p>
          <a:p>
            <a:pPr lvl="2"/>
            <a:r>
              <a:rPr lang="en-US" altLang="en-US" dirty="0"/>
              <a:t>ideal:  x[n] = x(</a:t>
            </a:r>
            <a:r>
              <a:rPr lang="en-US" altLang="en-US" dirty="0" err="1"/>
              <a:t>nT</a:t>
            </a:r>
            <a:r>
              <a:rPr lang="en-US" altLang="en-US" baseline="-25000" dirty="0" err="1"/>
              <a:t>s</a:t>
            </a:r>
            <a:r>
              <a:rPr lang="en-US" altLang="en-US" dirty="0"/>
              <a:t>)</a:t>
            </a:r>
          </a:p>
        </p:txBody>
      </p:sp>
      <p:grpSp>
        <p:nvGrpSpPr>
          <p:cNvPr id="274436" name="Group 4"/>
          <p:cNvGrpSpPr>
            <a:grpSpLocks/>
          </p:cNvGrpSpPr>
          <p:nvPr/>
        </p:nvGrpSpPr>
        <p:grpSpPr bwMode="auto">
          <a:xfrm>
            <a:off x="2971800" y="5257800"/>
            <a:ext cx="3048000" cy="914400"/>
            <a:chOff x="1872" y="3264"/>
            <a:chExt cx="1920" cy="576"/>
          </a:xfrm>
        </p:grpSpPr>
        <p:sp>
          <p:nvSpPr>
            <p:cNvPr id="274437" name="Rectangle 5"/>
            <p:cNvSpPr>
              <a:spLocks noChangeArrowheads="1"/>
            </p:cNvSpPr>
            <p:nvPr/>
          </p:nvSpPr>
          <p:spPr bwMode="auto">
            <a:xfrm>
              <a:off x="2496" y="3264"/>
              <a:ext cx="672" cy="576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1600" b="1" i="1" dirty="0">
                  <a:solidFill>
                    <a:schemeClr val="tx2"/>
                  </a:solidFill>
                  <a:latin typeface="Times" pitchFamily="18" charset="0"/>
                </a:rPr>
                <a:t>A-to-D</a:t>
              </a:r>
              <a:endParaRPr lang="en-US" altLang="en-US" sz="1600" i="1" dirty="0">
                <a:solidFill>
                  <a:schemeClr val="tx2"/>
                </a:solidFill>
                <a:latin typeface="Times" pitchFamily="18" charset="0"/>
              </a:endParaRPr>
            </a:p>
          </p:txBody>
        </p:sp>
        <p:sp>
          <p:nvSpPr>
            <p:cNvPr id="274438" name="Line 6"/>
            <p:cNvSpPr>
              <a:spLocks noChangeShapeType="1"/>
            </p:cNvSpPr>
            <p:nvPr/>
          </p:nvSpPr>
          <p:spPr bwMode="auto">
            <a:xfrm>
              <a:off x="3168" y="3552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439" name="Line 7"/>
            <p:cNvSpPr>
              <a:spLocks noChangeShapeType="1"/>
            </p:cNvSpPr>
            <p:nvPr/>
          </p:nvSpPr>
          <p:spPr bwMode="auto">
            <a:xfrm>
              <a:off x="1872" y="3552"/>
              <a:ext cx="62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4440" name="Text Box 8"/>
            <p:cNvSpPr txBox="1">
              <a:spLocks noChangeArrowheads="1"/>
            </p:cNvSpPr>
            <p:nvPr/>
          </p:nvSpPr>
          <p:spPr bwMode="auto">
            <a:xfrm>
              <a:off x="1872" y="3264"/>
              <a:ext cx="39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 i="1">
                  <a:latin typeface="Times" pitchFamily="18" charset="0"/>
                </a:rPr>
                <a:t>x(t)</a:t>
              </a:r>
              <a:endParaRPr lang="en-US" altLang="en-US" sz="2400" i="1">
                <a:latin typeface="Times" pitchFamily="18" charset="0"/>
              </a:endParaRPr>
            </a:p>
          </p:txBody>
        </p:sp>
        <p:sp>
          <p:nvSpPr>
            <p:cNvPr id="274441" name="Rectangle 9"/>
            <p:cNvSpPr>
              <a:spLocks noChangeArrowheads="1"/>
            </p:cNvSpPr>
            <p:nvPr/>
          </p:nvSpPr>
          <p:spPr bwMode="auto">
            <a:xfrm>
              <a:off x="3264" y="3264"/>
              <a:ext cx="44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400" b="1" i="1">
                  <a:solidFill>
                    <a:schemeClr val="accent1"/>
                  </a:solidFill>
                  <a:latin typeface="Times" pitchFamily="18" charset="0"/>
                </a:rPr>
                <a:t>x[n]</a:t>
              </a:r>
              <a:endParaRPr lang="en-US" altLang="en-US" sz="2400" b="1" i="1">
                <a:latin typeface="Times" pitchFamily="18" charset="0"/>
              </a:endParaRPr>
            </a:p>
          </p:txBody>
        </p:sp>
      </p:grp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E111B40-879C-4B45-BB19-944078AA53F1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4994"/>
    </mc:Choice>
    <mc:Fallback>
      <p:transition spd="slow" advTm="849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7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7443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228600"/>
            <a:ext cx="5943600" cy="1371600"/>
          </a:xfrm>
        </p:spPr>
        <p:txBody>
          <a:bodyPr/>
          <a:lstStyle/>
          <a:p>
            <a:r>
              <a:rPr lang="en-US" altLang="en-US" sz="3200" dirty="0"/>
              <a:t>Sampling Rate, </a:t>
            </a:r>
            <a:r>
              <a:rPr lang="en-US" altLang="en-US" sz="3200" dirty="0" err="1"/>
              <a:t>f</a:t>
            </a:r>
            <a:r>
              <a:rPr lang="en-US" altLang="en-US" sz="3200" baseline="-25000" dirty="0" err="1"/>
              <a:t>s</a:t>
            </a:r>
            <a:endParaRPr lang="en-US" altLang="en-US" sz="3200" baseline="-25000" dirty="0"/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534400" cy="3352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Sampling Rate (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dirty="0"/>
              <a:t>)?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dirty="0"/>
              <a:t> =1/T</a:t>
            </a:r>
            <a:r>
              <a:rPr lang="en-US" altLang="en-US" baseline="-25000" dirty="0"/>
              <a:t>s 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Number of Samples per Second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</a:t>
            </a:r>
            <a:r>
              <a:rPr lang="en-US" altLang="en-US" baseline="-25000" dirty="0"/>
              <a:t>s </a:t>
            </a:r>
            <a:r>
              <a:rPr lang="en-US" altLang="en-US" dirty="0"/>
              <a:t>= 125 </a:t>
            </a:r>
            <a:r>
              <a:rPr lang="en-US" altLang="en-US" dirty="0" err="1"/>
              <a:t>microsec</a:t>
            </a:r>
            <a:r>
              <a:rPr lang="en-US" altLang="en-US" dirty="0"/>
              <a:t> </a:t>
            </a:r>
            <a:r>
              <a:rPr lang="en-US" altLang="en-US" dirty="0">
                <a:sym typeface="Wingdings" pitchFamily="2" charset="2"/>
              </a:rPr>
              <a:t></a:t>
            </a:r>
            <a:r>
              <a:rPr lang="en-US" altLang="en-US" dirty="0"/>
              <a:t>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dirty="0"/>
              <a:t> = 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Units are Hertz:  8000 Hz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Uniform Sampling at  t = </a:t>
            </a:r>
            <a:r>
              <a:rPr lang="en-US" altLang="en-US" dirty="0" err="1"/>
              <a:t>nT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= n/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ideal:  x[n] = x(</a:t>
            </a:r>
            <a:r>
              <a:rPr lang="en-US" altLang="en-US" dirty="0" err="1"/>
              <a:t>nT</a:t>
            </a:r>
            <a:r>
              <a:rPr lang="en-US" altLang="en-US" baseline="-25000" dirty="0" err="1"/>
              <a:t>s</a:t>
            </a:r>
            <a:r>
              <a:rPr lang="en-US" altLang="en-US" dirty="0"/>
              <a:t>)=x(n/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dirty="0"/>
              <a:t>)</a:t>
            </a: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3962400" y="5334000"/>
            <a:ext cx="1066800" cy="914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1800" b="1" i="1" dirty="0">
                <a:solidFill>
                  <a:schemeClr val="tx2"/>
                </a:solidFill>
                <a:latin typeface="Times" pitchFamily="18" charset="0"/>
              </a:rPr>
              <a:t>A-to-D</a:t>
            </a:r>
            <a:endParaRPr lang="en-US" altLang="en-US" sz="1800" i="1" dirty="0">
              <a:solidFill>
                <a:schemeClr val="tx2"/>
              </a:solidFill>
              <a:latin typeface="Times" pitchFamily="18" charset="0"/>
            </a:endParaRPr>
          </a:p>
        </p:txBody>
      </p:sp>
      <p:sp>
        <p:nvSpPr>
          <p:cNvPr id="275461" name="Line 5"/>
          <p:cNvSpPr>
            <a:spLocks noChangeShapeType="1"/>
          </p:cNvSpPr>
          <p:nvPr/>
        </p:nvSpPr>
        <p:spPr bwMode="auto">
          <a:xfrm>
            <a:off x="5029200" y="57912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5462" name="Line 6"/>
          <p:cNvSpPr>
            <a:spLocks noChangeShapeType="1"/>
          </p:cNvSpPr>
          <p:nvPr/>
        </p:nvSpPr>
        <p:spPr bwMode="auto">
          <a:xfrm>
            <a:off x="2971800" y="57912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5463" name="Text Box 7"/>
          <p:cNvSpPr txBox="1">
            <a:spLocks noChangeArrowheads="1"/>
          </p:cNvSpPr>
          <p:nvPr/>
        </p:nvSpPr>
        <p:spPr bwMode="auto">
          <a:xfrm>
            <a:off x="2971800" y="5334000"/>
            <a:ext cx="6238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 i="1">
                <a:latin typeface="Times" pitchFamily="18" charset="0"/>
              </a:rPr>
              <a:t>x(t)</a:t>
            </a:r>
            <a:endParaRPr lang="en-US" altLang="en-US" sz="2400" i="1">
              <a:latin typeface="Times" pitchFamily="18" charset="0"/>
            </a:endParaRPr>
          </a:p>
        </p:txBody>
      </p:sp>
      <p:sp>
        <p:nvSpPr>
          <p:cNvPr id="275464" name="Rectangle 8"/>
          <p:cNvSpPr>
            <a:spLocks noChangeArrowheads="1"/>
          </p:cNvSpPr>
          <p:nvPr/>
        </p:nvSpPr>
        <p:spPr bwMode="auto">
          <a:xfrm>
            <a:off x="5181600" y="5181600"/>
            <a:ext cx="2193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3200" b="1" i="1">
                <a:solidFill>
                  <a:schemeClr val="accent1"/>
                </a:solidFill>
                <a:latin typeface="Times" pitchFamily="18" charset="0"/>
              </a:rPr>
              <a:t>x[n]=</a:t>
            </a:r>
            <a:r>
              <a:rPr lang="en-US" altLang="en-US" sz="3200" b="1" i="1">
                <a:latin typeface="Times" pitchFamily="18" charset="0"/>
              </a:rPr>
              <a:t>x(nT</a:t>
            </a:r>
            <a:r>
              <a:rPr lang="en-US" altLang="en-US" sz="4000" b="1" i="1" baseline="-25000">
                <a:latin typeface="Times" pitchFamily="18" charset="0"/>
              </a:rPr>
              <a:t>s</a:t>
            </a:r>
            <a:r>
              <a:rPr lang="en-US" altLang="en-US" sz="3200" b="1" i="1">
                <a:latin typeface="Times" pitchFamily="18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1600" y="2895600"/>
            <a:ext cx="28248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/>
              <a:t>8000 samples/sec</a:t>
            </a:r>
            <a:endParaRPr lang="en-US" dirty="0"/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24866B54-EC32-45CE-93D8-AE890718130B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649"/>
    </mc:Choice>
    <mc:Fallback>
      <p:transition spd="slow" advTm="376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75459" grpId="0" build="p" bldLvl="2" autoUpdateAnimBg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62D-D966-4537-817A-A4CAE960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Example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B07994F-29A2-483E-87E8-F533FDC56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837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62D-D966-4537-817A-A4CAE960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Example</a:t>
            </a:r>
          </a:p>
        </p:txBody>
      </p:sp>
      <p:pic>
        <p:nvPicPr>
          <p:cNvPr id="13313" name="Picture 1">
            <a:extLst>
              <a:ext uri="{FF2B5EF4-FFF2-40B4-BE49-F238E27FC236}">
                <a16:creationId xmlns:a16="http://schemas.microsoft.com/office/drawing/2014/main" id="{D3462BF7-C0F8-423E-B30D-036270DA4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98120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91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62D-D966-4537-817A-A4CAE960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Example</a:t>
            </a:r>
          </a:p>
        </p:txBody>
      </p:sp>
      <p:pic>
        <p:nvPicPr>
          <p:cNvPr id="14337" name="Picture 1">
            <a:extLst>
              <a:ext uri="{FF2B5EF4-FFF2-40B4-BE49-F238E27FC236}">
                <a16:creationId xmlns:a16="http://schemas.microsoft.com/office/drawing/2014/main" id="{9DA47B14-FCAB-4360-8C5E-0F3560196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13360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159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62D-D966-4537-817A-A4CAE960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Example</a:t>
            </a:r>
          </a:p>
        </p:txBody>
      </p:sp>
      <p:pic>
        <p:nvPicPr>
          <p:cNvPr id="15361" name="Picture 1">
            <a:extLst>
              <a:ext uri="{FF2B5EF4-FFF2-40B4-BE49-F238E27FC236}">
                <a16:creationId xmlns:a16="http://schemas.microsoft.com/office/drawing/2014/main" id="{C1097199-BFC3-4B07-AF29-197911B6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CFF9AB-45CE-4975-903F-480714CEB0DE}"/>
              </a:ext>
            </a:extLst>
          </p:cNvPr>
          <p:cNvSpPr txBox="1"/>
          <p:nvPr/>
        </p:nvSpPr>
        <p:spPr>
          <a:xfrm>
            <a:off x="1701104" y="6131252"/>
            <a:ext cx="48013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x[n] = {0.4, 0.8, 1.2, 1.5, 1.96}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FB225F-83B5-4B84-8355-840D4C873963}"/>
              </a:ext>
            </a:extLst>
          </p:cNvPr>
          <p:cNvSpPr txBox="1"/>
          <p:nvPr/>
        </p:nvSpPr>
        <p:spPr>
          <a:xfrm>
            <a:off x="6553200" y="2514600"/>
            <a:ext cx="1828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does the data look like?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D678BA-69CE-42F2-8793-37B5E814125C}"/>
              </a:ext>
            </a:extLst>
          </p:cNvPr>
          <p:cNvSpPr txBox="1"/>
          <p:nvPr/>
        </p:nvSpPr>
        <p:spPr>
          <a:xfrm>
            <a:off x="1701104" y="6131252"/>
            <a:ext cx="5110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x[n] = {204, 408, 612, 1536, 2007}</a:t>
            </a:r>
          </a:p>
        </p:txBody>
      </p:sp>
    </p:spTree>
    <p:extLst>
      <p:ext uri="{BB962C8B-B14F-4D97-AF65-F5344CB8AC3E}">
        <p14:creationId xmlns:p14="http://schemas.microsoft.com/office/powerpoint/2010/main" val="140470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2F62D-D966-4537-817A-A4CAE9604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Example</a:t>
            </a:r>
          </a:p>
        </p:txBody>
      </p:sp>
      <p:pic>
        <p:nvPicPr>
          <p:cNvPr id="15361" name="Picture 1">
            <a:extLst>
              <a:ext uri="{FF2B5EF4-FFF2-40B4-BE49-F238E27FC236}">
                <a16:creationId xmlns:a16="http://schemas.microsoft.com/office/drawing/2014/main" id="{C1097199-BFC3-4B07-AF29-197911B6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99345"/>
            <a:ext cx="5334000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FB225F-83B5-4B84-8355-840D4C873963}"/>
              </a:ext>
            </a:extLst>
          </p:cNvPr>
          <p:cNvSpPr txBox="1"/>
          <p:nvPr/>
        </p:nvSpPr>
        <p:spPr>
          <a:xfrm>
            <a:off x="6553200" y="2514600"/>
            <a:ext cx="1828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does time look like?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27F206D1-AC92-4512-8609-E2330975E223}"/>
              </a:ext>
            </a:extLst>
          </p:cNvPr>
          <p:cNvSpPr/>
          <p:nvPr/>
        </p:nvSpPr>
        <p:spPr bwMode="auto">
          <a:xfrm rot="16200000">
            <a:off x="3531813" y="5665413"/>
            <a:ext cx="327773" cy="838200"/>
          </a:xfrm>
          <a:prstGeom prst="leftBrac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lliard BT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0FEAAA-595C-4203-A41F-F093CABD44F6}"/>
              </a:ext>
            </a:extLst>
          </p:cNvPr>
          <p:cNvSpPr txBox="1"/>
          <p:nvPr/>
        </p:nvSpPr>
        <p:spPr>
          <a:xfrm>
            <a:off x="2895600" y="6281554"/>
            <a:ext cx="19001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0.1 seconds</a:t>
            </a:r>
          </a:p>
        </p:txBody>
      </p:sp>
    </p:spTree>
    <p:extLst>
      <p:ext uri="{BB962C8B-B14F-4D97-AF65-F5344CB8AC3E}">
        <p14:creationId xmlns:p14="http://schemas.microsoft.com/office/powerpoint/2010/main" val="3813655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82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447800" y="1600200"/>
            <a:ext cx="5486400" cy="5111353"/>
          </a:xfrm>
          <a:prstGeom prst="rect">
            <a:avLst/>
          </a:prstGeom>
          <a:noFill/>
        </p:spPr>
      </p:pic>
      <p:graphicFrame>
        <p:nvGraphicFramePr>
          <p:cNvPr id="276483" name="Object 3"/>
          <p:cNvGraphicFramePr>
            <a:graphicFrameLocks noChangeAspect="1"/>
          </p:cNvGraphicFramePr>
          <p:nvPr/>
        </p:nvGraphicFramePr>
        <p:xfrm>
          <a:off x="433387" y="3841750"/>
          <a:ext cx="14763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7" imgW="660400" imgH="190500" progId="Equation.3">
                  <p:embed/>
                </p:oleObj>
              </mc:Choice>
              <mc:Fallback>
                <p:oleObj name="Equation" r:id="rId7" imgW="660400" imgH="1905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7" y="3841750"/>
                        <a:ext cx="1476375" cy="4254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484" name="Object 4"/>
          <p:cNvGraphicFramePr>
            <a:graphicFrameLocks noChangeAspect="1"/>
          </p:cNvGraphicFramePr>
          <p:nvPr/>
        </p:nvGraphicFramePr>
        <p:xfrm>
          <a:off x="438150" y="5518150"/>
          <a:ext cx="16192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9" imgW="723900" imgH="190500" progId="Equation.3">
                  <p:embed/>
                </p:oleObj>
              </mc:Choice>
              <mc:Fallback>
                <p:oleObj name="Equation" r:id="rId9" imgW="723900" imgH="1905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" y="5518150"/>
                        <a:ext cx="1619250" cy="42545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5" name="Oval 5"/>
          <p:cNvSpPr>
            <a:spLocks noChangeArrowheads="1"/>
          </p:cNvSpPr>
          <p:nvPr/>
        </p:nvSpPr>
        <p:spPr bwMode="auto">
          <a:xfrm>
            <a:off x="5334000" y="3276600"/>
            <a:ext cx="1219200" cy="4572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76486" name="Oval 6"/>
          <p:cNvSpPr>
            <a:spLocks noChangeArrowheads="1"/>
          </p:cNvSpPr>
          <p:nvPr/>
        </p:nvSpPr>
        <p:spPr bwMode="auto">
          <a:xfrm>
            <a:off x="5334000" y="4953000"/>
            <a:ext cx="1219200" cy="4572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76487" name="Object 7"/>
          <p:cNvGraphicFramePr>
            <a:graphicFrameLocks noChangeAspect="1"/>
          </p:cNvGraphicFramePr>
          <p:nvPr/>
        </p:nvGraphicFramePr>
        <p:xfrm>
          <a:off x="304800" y="2058987"/>
          <a:ext cx="1589087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Equation" r:id="rId11" imgW="711000" imgH="203040" progId="Equation.3">
                  <p:embed/>
                </p:oleObj>
              </mc:Choice>
              <mc:Fallback>
                <p:oleObj name="Equation" r:id="rId11" imgW="711000" imgH="2030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58987"/>
                        <a:ext cx="1589087" cy="45561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 w="2857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2743200" y="609600"/>
            <a:ext cx="5943600" cy="13716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Sampling Example</a:t>
            </a:r>
            <a:endParaRPr kumimoji="0" lang="en-US" altLang="en-US" sz="3200" b="0" i="0" u="none" strike="noStrike" kern="0" cap="none" spc="0" normalizeH="0" baseline="-2500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62800" y="1905000"/>
            <a:ext cx="175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How many samples/period do we get?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831068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/>
              <a:t>f</a:t>
            </a:r>
            <a:r>
              <a:rPr lang="en-US" sz="1800" baseline="-25000" dirty="0" err="1"/>
              <a:t>s</a:t>
            </a:r>
            <a:r>
              <a:rPr lang="en-US" sz="1800" dirty="0"/>
              <a:t>/f = </a:t>
            </a:r>
            <a:r>
              <a:rPr lang="en-US" sz="1800" dirty="0" err="1"/>
              <a:t>samp</a:t>
            </a:r>
            <a:r>
              <a:rPr lang="en-US" sz="1800" dirty="0"/>
              <a:t>/period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050268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20 </a:t>
            </a:r>
            <a:r>
              <a:rPr lang="en-US" sz="1800" dirty="0" err="1"/>
              <a:t>samp</a:t>
            </a:r>
            <a:r>
              <a:rPr lang="en-US" sz="1800" dirty="0"/>
              <a:t>/period</a:t>
            </a:r>
          </a:p>
        </p:txBody>
      </p:sp>
      <p:cxnSp>
        <p:nvCxnSpPr>
          <p:cNvPr id="14" name="Straight Arrow Connector 13"/>
          <p:cNvCxnSpPr>
            <a:stCxn id="12" idx="1"/>
            <a:endCxn id="276482" idx="3"/>
          </p:cNvCxnSpPr>
          <p:nvPr/>
        </p:nvCxnSpPr>
        <p:spPr bwMode="auto">
          <a:xfrm rot="10800000">
            <a:off x="6934200" y="4155878"/>
            <a:ext cx="381000" cy="790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315201" y="56388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5 </a:t>
            </a:r>
            <a:r>
              <a:rPr lang="en-US" sz="1800" dirty="0" err="1"/>
              <a:t>samp</a:t>
            </a:r>
            <a:r>
              <a:rPr lang="en-US" sz="1800" dirty="0"/>
              <a:t>/period</a:t>
            </a: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 bwMode="auto">
          <a:xfrm rot="10800000">
            <a:off x="6934201" y="5744410"/>
            <a:ext cx="381000" cy="790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D6E665E-0BB1-4E14-91C4-1CFF2BB9F57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839"/>
    </mc:Choice>
    <mc:Fallback>
      <p:transition spd="slow" advTm="2008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6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5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76485" grpId="0" animBg="1"/>
      <p:bldP spid="276486" grpId="0" animBg="1"/>
      <p:bldP spid="9" grpId="0"/>
      <p:bldP spid="11" grpId="0"/>
      <p:bldP spid="12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Digital Frequency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98638"/>
            <a:ext cx="8229600" cy="4525962"/>
          </a:xfrm>
        </p:spPr>
        <p:txBody>
          <a:bodyPr/>
          <a:lstStyle/>
          <a:p>
            <a:r>
              <a:rPr lang="en-US" altLang="en-US" dirty="0"/>
              <a:t>       varies from </a:t>
            </a:r>
            <a:r>
              <a:rPr lang="en-US" altLang="en-US" b="1" dirty="0">
                <a:solidFill>
                  <a:srgbClr val="00CC66"/>
                </a:solidFill>
              </a:rPr>
              <a:t>0</a:t>
            </a:r>
            <a:r>
              <a:rPr lang="en-US" altLang="en-US" dirty="0"/>
              <a:t> to </a:t>
            </a:r>
            <a:r>
              <a:rPr lang="en-US" altLang="en-US" b="1" dirty="0">
                <a:solidFill>
                  <a:srgbClr val="00CC66"/>
                </a:solidFill>
              </a:rPr>
              <a:t>2</a:t>
            </a:r>
            <a:r>
              <a:rPr lang="en-US" altLang="en-US" b="1" dirty="0">
                <a:solidFill>
                  <a:srgbClr val="00CC66"/>
                </a:solidFill>
                <a:latin typeface="Symbol" pitchFamily="18" charset="2"/>
              </a:rPr>
              <a:t>p</a:t>
            </a:r>
            <a:r>
              <a:rPr lang="en-US" altLang="en-US" dirty="0"/>
              <a:t>, as f varies from 0 to the sampling frequency</a:t>
            </a:r>
          </a:p>
          <a:p>
            <a:r>
              <a:rPr lang="en-US" altLang="en-US" dirty="0"/>
              <a:t>Units are radians, </a:t>
            </a:r>
            <a:r>
              <a:rPr lang="en-US" altLang="en-US" b="1" u="sng" dirty="0">
                <a:solidFill>
                  <a:srgbClr val="00CC66"/>
                </a:solidFill>
              </a:rPr>
              <a:t>not</a:t>
            </a:r>
            <a:r>
              <a:rPr lang="en-US" altLang="en-US" dirty="0"/>
              <a:t>  </a:t>
            </a:r>
            <a:r>
              <a:rPr lang="en-US" altLang="en-US" dirty="0" err="1"/>
              <a:t>rad</a:t>
            </a:r>
            <a:r>
              <a:rPr lang="en-US" altLang="en-US" dirty="0"/>
              <a:t>/sec</a:t>
            </a:r>
          </a:p>
          <a:p>
            <a:pPr lvl="1"/>
            <a:r>
              <a:rPr lang="en-US" altLang="en-US" dirty="0"/>
              <a:t>Digital Frequency is </a:t>
            </a:r>
            <a:r>
              <a:rPr lang="en-US" altLang="en-US" u="sng" dirty="0"/>
              <a:t>Normalized</a:t>
            </a:r>
          </a:p>
        </p:txBody>
      </p:sp>
      <p:graphicFrame>
        <p:nvGraphicFramePr>
          <p:cNvPr id="280580" name="Object 4"/>
          <p:cNvGraphicFramePr>
            <a:graphicFrameLocks noChangeAspect="1"/>
          </p:cNvGraphicFramePr>
          <p:nvPr/>
        </p:nvGraphicFramePr>
        <p:xfrm>
          <a:off x="2525712" y="4267200"/>
          <a:ext cx="3417888" cy="155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952200" imgH="431640" progId="Equation.3">
                  <p:embed/>
                </p:oleObj>
              </mc:Choice>
              <mc:Fallback>
                <p:oleObj name="Equation" r:id="rId5" imgW="9522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712" y="4267200"/>
                        <a:ext cx="3417888" cy="1550987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1" name="Object 5"/>
          <p:cNvGraphicFramePr>
            <a:graphicFrameLocks noChangeAspect="1"/>
          </p:cNvGraphicFramePr>
          <p:nvPr/>
        </p:nvGraphicFramePr>
        <p:xfrm>
          <a:off x="7620000" y="533400"/>
          <a:ext cx="5461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Equation" r:id="rId7" imgW="152280" imgH="190440" progId="Equation.3">
                  <p:embed/>
                </p:oleObj>
              </mc:Choice>
              <mc:Fallback>
                <p:oleObj name="Equation" r:id="rId7" imgW="152280" imgH="1904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533400"/>
                        <a:ext cx="5461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0582" name="Object 6"/>
          <p:cNvGraphicFramePr>
            <a:graphicFrameLocks noChangeAspect="1"/>
          </p:cNvGraphicFramePr>
          <p:nvPr/>
        </p:nvGraphicFramePr>
        <p:xfrm>
          <a:off x="977900" y="1600200"/>
          <a:ext cx="5461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Equation" r:id="rId9" imgW="152280" imgH="190440" progId="Equation.3">
                  <p:embed/>
                </p:oleObj>
              </mc:Choice>
              <mc:Fallback>
                <p:oleObj name="Equation" r:id="rId9" imgW="152280" imgH="1904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7900" y="1600200"/>
                        <a:ext cx="546100" cy="6826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E8A3B827-03FE-4641-8A63-1FD342DF94DA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172"/>
    </mc:Choice>
    <mc:Fallback>
      <p:transition spd="slow" advTm="301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228600"/>
            <a:ext cx="5867400" cy="1371600"/>
          </a:xfrm>
        </p:spPr>
        <p:txBody>
          <a:bodyPr/>
          <a:lstStyle/>
          <a:p>
            <a:r>
              <a:rPr lang="en-US" altLang="en-US" sz="3200" dirty="0"/>
              <a:t>Sampling Theorem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5867400" cy="4171950"/>
          </a:xfrm>
        </p:spPr>
        <p:txBody>
          <a:bodyPr/>
          <a:lstStyle/>
          <a:p>
            <a:r>
              <a:rPr lang="en-US" altLang="en-US" sz="2800" dirty="0"/>
              <a:t>So, how often should we sample?</a:t>
            </a:r>
          </a:p>
          <a:p>
            <a:pPr lvl="1"/>
            <a:r>
              <a:rPr lang="en-US" altLang="en-US" sz="2400" dirty="0"/>
              <a:t>Depends on the frequency of the signal</a:t>
            </a:r>
          </a:p>
          <a:p>
            <a:pPr lvl="1"/>
            <a:r>
              <a:rPr lang="en-US" altLang="en-US" sz="2400" dirty="0"/>
              <a:t>Answered by Shannon/</a:t>
            </a:r>
            <a:r>
              <a:rPr lang="en-US" altLang="en-US" sz="2400" dirty="0" err="1"/>
              <a:t>Nyquist</a:t>
            </a:r>
            <a:r>
              <a:rPr lang="en-US" altLang="en-US" sz="2400" dirty="0"/>
              <a:t> Theorem</a:t>
            </a:r>
          </a:p>
          <a:p>
            <a:pPr lvl="1"/>
            <a:r>
              <a:rPr lang="en-US" altLang="en-US" sz="2400" dirty="0"/>
              <a:t>Also depends on </a:t>
            </a:r>
            <a:r>
              <a:rPr lang="en-US" altLang="en-US" sz="2400" u="sng" dirty="0"/>
              <a:t>reconstruction</a:t>
            </a:r>
            <a:r>
              <a:rPr lang="en-US" altLang="en-US" sz="2400" dirty="0"/>
              <a:t> needs</a:t>
            </a:r>
          </a:p>
        </p:txBody>
      </p:sp>
      <p:pic>
        <p:nvPicPr>
          <p:cNvPr id="27750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4495800"/>
            <a:ext cx="8382000" cy="1736064"/>
          </a:xfrm>
          <a:prstGeom prst="rect">
            <a:avLst/>
          </a:prstGeom>
          <a:noFill/>
        </p:spPr>
      </p:pic>
      <p:sp>
        <p:nvSpPr>
          <p:cNvPr id="277509" name="Oval 5"/>
          <p:cNvSpPr>
            <a:spLocks noChangeArrowheads="1"/>
          </p:cNvSpPr>
          <p:nvPr/>
        </p:nvSpPr>
        <p:spPr bwMode="auto">
          <a:xfrm>
            <a:off x="4495800" y="5562600"/>
            <a:ext cx="914400" cy="533400"/>
          </a:xfrm>
          <a:prstGeom prst="ellips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23317" y="1524000"/>
            <a:ext cx="2944484" cy="2743200"/>
          </a:xfrm>
          <a:prstGeom prst="rect">
            <a:avLst/>
          </a:prstGeom>
          <a:noFill/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3A4A3AE7-3E73-44B2-ABA2-74A037E94BE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603"/>
    </mc:Choice>
    <mc:Fallback>
      <p:transition spd="slow" advTm="526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7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7750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228600"/>
            <a:ext cx="6096000" cy="1371600"/>
          </a:xfrm>
        </p:spPr>
        <p:txBody>
          <a:bodyPr/>
          <a:lstStyle/>
          <a:p>
            <a:r>
              <a:rPr lang="en-US" altLang="en-US" sz="3200" dirty="0"/>
              <a:t>Digital Sound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229600" cy="3886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i="1" dirty="0">
                <a:latin typeface="Times New Roman" pitchFamily="18" charset="0"/>
              </a:rPr>
              <a:t>x(t) </a:t>
            </a:r>
            <a:r>
              <a:rPr lang="en-US" altLang="en-US" sz="2800" dirty="0"/>
              <a:t>is a Black Eye Pea song (or Mormon Tabernacle Choir </a:t>
            </a:r>
            <a:r>
              <a:rPr lang="en-US" altLang="en-US" sz="2800" dirty="0">
                <a:sym typeface="Wingdings" pitchFamily="2" charset="2"/>
              </a:rPr>
              <a:t></a:t>
            </a:r>
            <a:r>
              <a:rPr lang="en-US" altLang="en-US" sz="28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How fast should we sample it?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Audio CD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CD rate is 44,100 samples per second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16-bits/sample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Stereo - uses 2 channels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Number of bytes for 1 minute of the song?</a:t>
            </a:r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2 * (16/8) * 60 * 44100 = 10.584 Mbytes</a:t>
            </a:r>
          </a:p>
          <a:p>
            <a:pPr>
              <a:lnSpc>
                <a:spcPct val="90000"/>
              </a:lnSpc>
            </a:pPr>
            <a:r>
              <a:rPr lang="en-US" altLang="en-US" sz="2800" dirty="0"/>
              <a:t>What happens if we don’t sample at ≥ 2f</a:t>
            </a:r>
            <a:r>
              <a:rPr lang="en-US" altLang="en-US" sz="2800" baseline="-25000" dirty="0"/>
              <a:t>max</a:t>
            </a:r>
            <a:r>
              <a:rPr lang="en-US" altLang="en-US" sz="2800" dirty="0"/>
              <a:t>?</a:t>
            </a:r>
          </a:p>
        </p:txBody>
      </p: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1341703-7D18-485C-B381-813416171FB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8021"/>
    </mc:Choice>
    <mc:Fallback>
      <p:transition spd="slow" advTm="980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5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95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5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5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5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95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95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95939" grpId="0" uiExpand="1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228600"/>
            <a:ext cx="5791200" cy="1371600"/>
          </a:xfrm>
        </p:spPr>
        <p:txBody>
          <a:bodyPr/>
          <a:lstStyle/>
          <a:p>
            <a:r>
              <a:rPr lang="en-US" altLang="en-US" sz="3200" dirty="0"/>
              <a:t>Spectrum of a Digital Signal</a:t>
            </a:r>
          </a:p>
        </p:txBody>
      </p:sp>
      <p:pic>
        <p:nvPicPr>
          <p:cNvPr id="281603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38200" y="2286000"/>
            <a:ext cx="7467600" cy="2272978"/>
          </a:xfrm>
          <a:prstGeom prst="rect">
            <a:avLst/>
          </a:prstGeom>
          <a:noFill/>
        </p:spPr>
      </p:pic>
      <p:graphicFrame>
        <p:nvGraphicFramePr>
          <p:cNvPr id="281604" name="Object 4"/>
          <p:cNvGraphicFramePr>
            <a:graphicFrameLocks noChangeAspect="1"/>
          </p:cNvGraphicFramePr>
          <p:nvPr/>
        </p:nvGraphicFramePr>
        <p:xfrm>
          <a:off x="357187" y="4822324"/>
          <a:ext cx="1466850" cy="940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7" imgW="672840" imgH="431640" progId="Equation.3">
                  <p:embed/>
                </p:oleObj>
              </mc:Choice>
              <mc:Fallback>
                <p:oleObj name="Equation" r:id="rId7" imgW="67284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" y="4822324"/>
                        <a:ext cx="1466850" cy="94035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5" name="Object 5"/>
          <p:cNvGraphicFramePr>
            <a:graphicFrameLocks noChangeAspect="1"/>
          </p:cNvGraphicFramePr>
          <p:nvPr/>
        </p:nvGraphicFramePr>
        <p:xfrm>
          <a:off x="376237" y="6067475"/>
          <a:ext cx="1262062" cy="4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9" imgW="672840" imgH="228600" progId="Equation.3">
                  <p:embed/>
                </p:oleObj>
              </mc:Choice>
              <mc:Fallback>
                <p:oleObj name="Equation" r:id="rId9" imgW="67284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" y="6067475"/>
                        <a:ext cx="1262062" cy="4286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6" name="Object 6"/>
          <p:cNvGraphicFramePr>
            <a:graphicFrameLocks noChangeAspect="1"/>
          </p:cNvGraphicFramePr>
          <p:nvPr/>
        </p:nvGraphicFramePr>
        <p:xfrm>
          <a:off x="8301037" y="6096000"/>
          <a:ext cx="3857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8" name="Equation" r:id="rId11" imgW="139700" imgH="165100" progId="">
                  <p:embed/>
                </p:oleObj>
              </mc:Choice>
              <mc:Fallback>
                <p:oleObj name="Equation" r:id="rId11" imgW="139700" imgH="16510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1037" y="6096000"/>
                        <a:ext cx="385763" cy="4572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1607" name="Group 7"/>
          <p:cNvGrpSpPr>
            <a:grpSpLocks/>
          </p:cNvGrpSpPr>
          <p:nvPr/>
        </p:nvGrpSpPr>
        <p:grpSpPr bwMode="auto">
          <a:xfrm>
            <a:off x="1366837" y="4630736"/>
            <a:ext cx="7010400" cy="1617660"/>
            <a:chOff x="816" y="1045"/>
            <a:chExt cx="4416" cy="1019"/>
          </a:xfrm>
        </p:grpSpPr>
        <p:graphicFrame>
          <p:nvGraphicFramePr>
            <p:cNvPr id="281608" name="Object 8"/>
            <p:cNvGraphicFramePr>
              <a:graphicFrameLocks noChangeAspect="1"/>
            </p:cNvGraphicFramePr>
            <p:nvPr/>
          </p:nvGraphicFramePr>
          <p:xfrm>
            <a:off x="3792" y="1054"/>
            <a:ext cx="355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9" name="Equation" r:id="rId13" imgW="241300" imgH="190500" progId="Equation.3">
                    <p:embed/>
                  </p:oleObj>
                </mc:Choice>
                <mc:Fallback>
                  <p:oleObj name="Equation" r:id="rId13" imgW="241300" imgH="1905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54"/>
                          <a:ext cx="355" cy="280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1609" name="Object 9"/>
            <p:cNvGraphicFramePr>
              <a:graphicFrameLocks noChangeAspect="1"/>
            </p:cNvGraphicFramePr>
            <p:nvPr/>
          </p:nvGraphicFramePr>
          <p:xfrm>
            <a:off x="2036" y="1045"/>
            <a:ext cx="41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20" name="Equation" r:id="rId15" imgW="279400" imgH="203200" progId="Equation.3">
                    <p:embed/>
                  </p:oleObj>
                </mc:Choice>
                <mc:Fallback>
                  <p:oleObj name="Equation" r:id="rId15" imgW="279400" imgH="2032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6" y="1045"/>
                          <a:ext cx="411" cy="299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1610" name="Line 10"/>
            <p:cNvSpPr>
              <a:spLocks noChangeShapeType="1"/>
            </p:cNvSpPr>
            <p:nvPr/>
          </p:nvSpPr>
          <p:spPr bwMode="auto">
            <a:xfrm>
              <a:off x="816" y="1920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11" name="Line 11"/>
            <p:cNvSpPr>
              <a:spLocks noChangeShapeType="1"/>
            </p:cNvSpPr>
            <p:nvPr/>
          </p:nvSpPr>
          <p:spPr bwMode="auto">
            <a:xfrm flipV="1">
              <a:off x="3120" y="120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12" name="Line 12"/>
            <p:cNvSpPr>
              <a:spLocks noChangeShapeType="1"/>
            </p:cNvSpPr>
            <p:nvPr/>
          </p:nvSpPr>
          <p:spPr bwMode="auto">
            <a:xfrm flipV="1">
              <a:off x="3984" y="1392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1613" name="Line 13"/>
            <p:cNvSpPr>
              <a:spLocks noChangeShapeType="1"/>
            </p:cNvSpPr>
            <p:nvPr/>
          </p:nvSpPr>
          <p:spPr bwMode="auto">
            <a:xfrm flipV="1">
              <a:off x="2256" y="1392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1614" name="Rectangle 14"/>
          <p:cNvSpPr>
            <a:spLocks noChangeArrowheads="1"/>
          </p:cNvSpPr>
          <p:nvPr/>
        </p:nvSpPr>
        <p:spPr bwMode="auto">
          <a:xfrm>
            <a:off x="5842000" y="6019800"/>
            <a:ext cx="1087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>
                <a:solidFill>
                  <a:srgbClr val="00CC66"/>
                </a:solidFill>
                <a:latin typeface="Times New Roman" pitchFamily="18" charset="0"/>
              </a:rPr>
              <a:t>2</a:t>
            </a:r>
            <a:r>
              <a:rPr lang="en-US" altLang="en-US" sz="2400" b="1">
                <a:solidFill>
                  <a:srgbClr val="00CC66"/>
                </a:solidFill>
                <a:latin typeface="Symbol" pitchFamily="18" charset="2"/>
              </a:rPr>
              <a:t>p(0.1)</a:t>
            </a:r>
          </a:p>
        </p:txBody>
      </p:sp>
      <p:sp>
        <p:nvSpPr>
          <p:cNvPr id="281615" name="Rectangle 15"/>
          <p:cNvSpPr>
            <a:spLocks noChangeArrowheads="1"/>
          </p:cNvSpPr>
          <p:nvPr/>
        </p:nvSpPr>
        <p:spPr bwMode="auto">
          <a:xfrm>
            <a:off x="3195637" y="6019800"/>
            <a:ext cx="8842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>
                <a:solidFill>
                  <a:srgbClr val="00CC66"/>
                </a:solidFill>
                <a:latin typeface="Times New Roman" pitchFamily="18" charset="0"/>
              </a:rPr>
              <a:t>–0.2</a:t>
            </a:r>
            <a:r>
              <a:rPr lang="en-US" altLang="en-US" sz="2400" b="1">
                <a:solidFill>
                  <a:srgbClr val="00CC66"/>
                </a:solidFill>
                <a:latin typeface="Symbol" pitchFamily="18" charset="2"/>
              </a:rPr>
              <a:t>p</a:t>
            </a:r>
          </a:p>
        </p:txBody>
      </p:sp>
      <p:graphicFrame>
        <p:nvGraphicFramePr>
          <p:cNvPr id="281616" name="Object 16"/>
          <p:cNvGraphicFramePr>
            <a:graphicFrameLocks noChangeAspect="1"/>
          </p:cNvGraphicFramePr>
          <p:nvPr/>
        </p:nvGraphicFramePr>
        <p:xfrm>
          <a:off x="1981200" y="1600200"/>
          <a:ext cx="51816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1" name="Equation" r:id="rId17" imgW="2197080" imgH="203040" progId="Equation.3">
                  <p:embed/>
                </p:oleObj>
              </mc:Choice>
              <mc:Fallback>
                <p:oleObj name="Equation" r:id="rId17" imgW="2197080" imgH="203040" progId="Equation.3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1600200"/>
                        <a:ext cx="5181600" cy="4794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72400" y="1600200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does this mean?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rot="10800000">
            <a:off x="7239000" y="1828800"/>
            <a:ext cx="457200" cy="158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77A26428-C4BE-4F5D-A5F4-42B6D3DE32A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757"/>
    </mc:Choice>
    <mc:Fallback>
      <p:transition spd="slow" advTm="427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81614" grpId="0" autoUpdateAnimBg="0"/>
      <p:bldP spid="2816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04800"/>
            <a:ext cx="5867400" cy="1143000"/>
          </a:xfrm>
        </p:spPr>
        <p:txBody>
          <a:bodyPr/>
          <a:lstStyle/>
          <a:p>
            <a:r>
              <a:rPr lang="en-US" altLang="en-US" sz="2800" dirty="0"/>
              <a:t>Another Digital Spectrum</a:t>
            </a:r>
            <a:br>
              <a:rPr lang="en-US" altLang="en-US" sz="2800" dirty="0"/>
            </a:br>
            <a:r>
              <a:rPr lang="en-US" altLang="en-US" sz="2800" dirty="0"/>
              <a:t>What does this mean?</a:t>
            </a:r>
          </a:p>
        </p:txBody>
      </p:sp>
      <p:graphicFrame>
        <p:nvGraphicFramePr>
          <p:cNvPr id="282627" name="Object 3"/>
          <p:cNvGraphicFramePr>
            <a:graphicFrameLocks noChangeAspect="1"/>
          </p:cNvGraphicFramePr>
          <p:nvPr/>
        </p:nvGraphicFramePr>
        <p:xfrm>
          <a:off x="187325" y="4763568"/>
          <a:ext cx="1412875" cy="875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Equation" r:id="rId6" imgW="635000" imgH="393700" progId="Equation.3">
                  <p:embed/>
                </p:oleObj>
              </mc:Choice>
              <mc:Fallback>
                <p:oleObj name="Equation" r:id="rId6" imgW="635000" imgH="3937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" y="4763568"/>
                        <a:ext cx="1412875" cy="875232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28" name="Object 4"/>
          <p:cNvGraphicFramePr>
            <a:graphicFrameLocks noChangeAspect="1"/>
          </p:cNvGraphicFramePr>
          <p:nvPr/>
        </p:nvGraphicFramePr>
        <p:xfrm>
          <a:off x="228600" y="6094226"/>
          <a:ext cx="1166812" cy="306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Equation" r:id="rId8" imgW="723900" imgH="190500" progId="Equation.3">
                  <p:embed/>
                </p:oleObj>
              </mc:Choice>
              <mc:Fallback>
                <p:oleObj name="Equation" r:id="rId8" imgW="723900" imgH="1905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6094226"/>
                        <a:ext cx="1166812" cy="306574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2629" name="Group 5"/>
          <p:cNvGrpSpPr>
            <a:grpSpLocks/>
          </p:cNvGrpSpPr>
          <p:nvPr/>
        </p:nvGrpSpPr>
        <p:grpSpPr bwMode="auto">
          <a:xfrm>
            <a:off x="1295400" y="4602163"/>
            <a:ext cx="7319963" cy="1754187"/>
            <a:chOff x="816" y="1151"/>
            <a:chExt cx="4611" cy="1105"/>
          </a:xfrm>
        </p:grpSpPr>
        <p:graphicFrame>
          <p:nvGraphicFramePr>
            <p:cNvPr id="282630" name="Object 6"/>
            <p:cNvGraphicFramePr>
              <a:graphicFrameLocks noChangeAspect="1"/>
            </p:cNvGraphicFramePr>
            <p:nvPr/>
          </p:nvGraphicFramePr>
          <p:xfrm>
            <a:off x="5184" y="1968"/>
            <a:ext cx="243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2" name="Equation" r:id="rId10" imgW="139700" imgH="165100" progId="Equation.3">
                    <p:embed/>
                  </p:oleObj>
                </mc:Choice>
                <mc:Fallback>
                  <p:oleObj name="Equation" r:id="rId10" imgW="139700" imgH="16510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968"/>
                          <a:ext cx="243" cy="288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2631" name="Object 7"/>
            <p:cNvGraphicFramePr>
              <a:graphicFrameLocks noChangeAspect="1"/>
            </p:cNvGraphicFramePr>
            <p:nvPr/>
          </p:nvGraphicFramePr>
          <p:xfrm>
            <a:off x="4128" y="1160"/>
            <a:ext cx="355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3" name="Equation" r:id="rId12" imgW="241300" imgH="190500" progId="Equation.3">
                    <p:embed/>
                  </p:oleObj>
                </mc:Choice>
                <mc:Fallback>
                  <p:oleObj name="Equation" r:id="rId12" imgW="241300" imgH="19050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160"/>
                          <a:ext cx="355" cy="280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2632" name="Object 8"/>
            <p:cNvGraphicFramePr>
              <a:graphicFrameLocks noChangeAspect="1"/>
            </p:cNvGraphicFramePr>
            <p:nvPr/>
          </p:nvGraphicFramePr>
          <p:xfrm>
            <a:off x="1700" y="1151"/>
            <a:ext cx="411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4" name="Equation" r:id="rId14" imgW="279400" imgH="203200" progId="Equation.3">
                    <p:embed/>
                  </p:oleObj>
                </mc:Choice>
                <mc:Fallback>
                  <p:oleObj name="Equation" r:id="rId14" imgW="279400" imgH="2032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0" y="1151"/>
                          <a:ext cx="411" cy="299"/>
                        </a:xfrm>
                        <a:prstGeom prst="rect">
                          <a:avLst/>
                        </a:prstGeom>
                        <a:solidFill>
                          <a:schemeClr val="tx1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571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2633" name="Line 9"/>
            <p:cNvSpPr>
              <a:spLocks noChangeShapeType="1"/>
            </p:cNvSpPr>
            <p:nvPr/>
          </p:nvSpPr>
          <p:spPr bwMode="auto">
            <a:xfrm>
              <a:off x="816" y="1920"/>
              <a:ext cx="4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34" name="Line 10"/>
            <p:cNvSpPr>
              <a:spLocks noChangeShapeType="1"/>
            </p:cNvSpPr>
            <p:nvPr/>
          </p:nvSpPr>
          <p:spPr bwMode="auto">
            <a:xfrm flipV="1">
              <a:off x="3120" y="1200"/>
              <a:ext cx="0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35" name="Line 11"/>
            <p:cNvSpPr>
              <a:spLocks noChangeShapeType="1"/>
            </p:cNvSpPr>
            <p:nvPr/>
          </p:nvSpPr>
          <p:spPr bwMode="auto">
            <a:xfrm flipV="1">
              <a:off x="4320" y="1392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36" name="Line 12"/>
            <p:cNvSpPr>
              <a:spLocks noChangeShapeType="1"/>
            </p:cNvSpPr>
            <p:nvPr/>
          </p:nvSpPr>
          <p:spPr bwMode="auto">
            <a:xfrm flipV="1">
              <a:off x="1920" y="1392"/>
              <a:ext cx="0" cy="52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2637" name="Rectangle 13"/>
          <p:cNvSpPr>
            <a:spLocks noChangeArrowheads="1"/>
          </p:cNvSpPr>
          <p:nvPr/>
        </p:nvSpPr>
        <p:spPr bwMode="auto">
          <a:xfrm>
            <a:off x="6456363" y="5822950"/>
            <a:ext cx="858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>
                <a:solidFill>
                  <a:srgbClr val="00CC66"/>
                </a:solidFill>
                <a:latin typeface="Times New Roman" pitchFamily="18" charset="0"/>
              </a:rPr>
              <a:t>2</a:t>
            </a:r>
            <a:r>
              <a:rPr lang="en-US" altLang="en-US" sz="2400" b="1">
                <a:solidFill>
                  <a:srgbClr val="00CC66"/>
                </a:solidFill>
                <a:latin typeface="Symbol" pitchFamily="18" charset="2"/>
              </a:rPr>
              <a:t>p(1)</a:t>
            </a:r>
          </a:p>
        </p:txBody>
      </p:sp>
      <p:sp>
        <p:nvSpPr>
          <p:cNvPr id="282638" name="Rectangle 14"/>
          <p:cNvSpPr>
            <a:spLocks noChangeArrowheads="1"/>
          </p:cNvSpPr>
          <p:nvPr/>
        </p:nvSpPr>
        <p:spPr bwMode="auto">
          <a:xfrm>
            <a:off x="2697163" y="5822950"/>
            <a:ext cx="6556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>
                <a:solidFill>
                  <a:srgbClr val="00CC66"/>
                </a:solidFill>
                <a:latin typeface="Times New Roman" pitchFamily="18" charset="0"/>
              </a:rPr>
              <a:t>–2</a:t>
            </a:r>
            <a:r>
              <a:rPr lang="en-US" altLang="en-US" sz="2400" b="1">
                <a:solidFill>
                  <a:srgbClr val="00CC66"/>
                </a:solidFill>
                <a:latin typeface="Symbol" pitchFamily="18" charset="2"/>
              </a:rPr>
              <a:t>p</a:t>
            </a:r>
          </a:p>
        </p:txBody>
      </p:sp>
      <p:pic>
        <p:nvPicPr>
          <p:cNvPr id="282639" name="Picture 15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685800" y="2133600"/>
            <a:ext cx="7772400" cy="2306111"/>
          </a:xfrm>
          <a:prstGeom prst="rect">
            <a:avLst/>
          </a:prstGeom>
          <a:noFill/>
        </p:spPr>
      </p:pic>
      <p:grpSp>
        <p:nvGrpSpPr>
          <p:cNvPr id="282640" name="Group 16"/>
          <p:cNvGrpSpPr>
            <a:grpSpLocks/>
          </p:cNvGrpSpPr>
          <p:nvPr/>
        </p:nvGrpSpPr>
        <p:grpSpPr bwMode="auto">
          <a:xfrm>
            <a:off x="4953000" y="4506913"/>
            <a:ext cx="403225" cy="1316037"/>
            <a:chOff x="3120" y="1091"/>
            <a:chExt cx="254" cy="829"/>
          </a:xfrm>
        </p:grpSpPr>
        <p:sp>
          <p:nvSpPr>
            <p:cNvPr id="282641" name="Line 17"/>
            <p:cNvSpPr>
              <a:spLocks noChangeShapeType="1"/>
            </p:cNvSpPr>
            <p:nvPr/>
          </p:nvSpPr>
          <p:spPr bwMode="auto">
            <a:xfrm flipV="1">
              <a:off x="3120" y="1344"/>
              <a:ext cx="0" cy="576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2642" name="Text Box 18"/>
            <p:cNvSpPr txBox="1">
              <a:spLocks noChangeArrowheads="1"/>
            </p:cNvSpPr>
            <p:nvPr/>
          </p:nvSpPr>
          <p:spPr bwMode="auto">
            <a:xfrm>
              <a:off x="3158" y="1091"/>
              <a:ext cx="216" cy="3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rgbClr val="FF0000"/>
                  </a:solidFill>
                  <a:latin typeface="Arial" charset="0"/>
                </a:rPr>
                <a:t>?</a:t>
              </a:r>
              <a:endParaRPr lang="en-US" altLang="en-US" sz="2400" i="1">
                <a:latin typeface="Times" pitchFamily="18" charset="0"/>
              </a:endParaRPr>
            </a:p>
          </p:txBody>
        </p:sp>
      </p:grpSp>
      <p:sp>
        <p:nvSpPr>
          <p:cNvPr id="282643" name="Text Box 19"/>
          <p:cNvSpPr txBox="1">
            <a:spLocks noChangeArrowheads="1"/>
          </p:cNvSpPr>
          <p:nvPr/>
        </p:nvSpPr>
        <p:spPr bwMode="auto">
          <a:xfrm>
            <a:off x="1905000" y="6248400"/>
            <a:ext cx="3625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en-US" sz="2400" b="1" i="1" dirty="0">
                <a:latin typeface="Times New Roman" pitchFamily="18" charset="0"/>
              </a:rPr>
              <a:t>x</a:t>
            </a:r>
            <a:r>
              <a:rPr lang="en-US" altLang="en-US" sz="2400" dirty="0">
                <a:latin typeface="Times New Roman" pitchFamily="18" charset="0"/>
              </a:rPr>
              <a:t>[</a:t>
            </a:r>
            <a:r>
              <a:rPr lang="en-US" altLang="en-US" sz="2400" b="1" i="1" dirty="0">
                <a:latin typeface="Times New Roman" pitchFamily="18" charset="0"/>
              </a:rPr>
              <a:t>n</a:t>
            </a:r>
            <a:r>
              <a:rPr lang="en-US" altLang="en-US" sz="2400" dirty="0">
                <a:latin typeface="Times New Roman" pitchFamily="18" charset="0"/>
              </a:rPr>
              <a:t>]</a:t>
            </a:r>
            <a:r>
              <a:rPr lang="en-US" altLang="en-US" sz="2400" i="1" dirty="0">
                <a:latin typeface="Arial" charset="0"/>
              </a:rPr>
              <a:t> is zero frequency???</a:t>
            </a:r>
            <a:endParaRPr lang="en-US" altLang="en-US" sz="2400" i="1" dirty="0">
              <a:latin typeface="Times" pitchFamily="18" charset="0"/>
            </a:endParaRPr>
          </a:p>
        </p:txBody>
      </p:sp>
      <p:graphicFrame>
        <p:nvGraphicFramePr>
          <p:cNvPr id="282644" name="Object 20"/>
          <p:cNvGraphicFramePr>
            <a:graphicFrameLocks noChangeAspect="1"/>
          </p:cNvGraphicFramePr>
          <p:nvPr/>
        </p:nvGraphicFramePr>
        <p:xfrm>
          <a:off x="2160587" y="1577975"/>
          <a:ext cx="5002213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Equation" r:id="rId17" imgW="2120760" imgH="203040" progId="Equation.3">
                  <p:embed/>
                </p:oleObj>
              </mc:Choice>
              <mc:Fallback>
                <p:oleObj name="Equation" r:id="rId17" imgW="2120760" imgH="2030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587" y="1577975"/>
                        <a:ext cx="5002213" cy="4794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07AFA496-2FD1-48B8-A908-898BA6EF6E3C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211"/>
    </mc:Choice>
    <mc:Fallback>
      <p:transition spd="slow" advTm="6521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82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2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8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282637" grpId="0" autoUpdateAnimBg="0"/>
      <p:bldP spid="282638" grpId="0" autoUpdateAnimBg="0"/>
      <p:bldP spid="2826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43200" y="381000"/>
            <a:ext cx="6096000" cy="1143000"/>
          </a:xfrm>
        </p:spPr>
        <p:txBody>
          <a:bodyPr/>
          <a:lstStyle/>
          <a:p>
            <a:r>
              <a:rPr lang="en-US" altLang="en-US" sz="3200" dirty="0"/>
              <a:t>Reconstruction? </a:t>
            </a:r>
          </a:p>
        </p:txBody>
      </p:sp>
      <p:graphicFrame>
        <p:nvGraphicFramePr>
          <p:cNvPr id="278531" name="Object 3"/>
          <p:cNvGraphicFramePr>
            <a:graphicFrameLocks noChangeAspect="1"/>
          </p:cNvGraphicFramePr>
          <p:nvPr/>
        </p:nvGraphicFramePr>
        <p:xfrm>
          <a:off x="2743200" y="4572000"/>
          <a:ext cx="3352800" cy="60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6" imgW="1130040" imgH="203040" progId="Equation.3">
                  <p:embed/>
                </p:oleObj>
              </mc:Choice>
              <mc:Fallback>
                <p:oleObj name="Equation" r:id="rId6" imgW="113004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572000"/>
                        <a:ext cx="3352800" cy="60304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8532" name="Object 4"/>
          <p:cNvGraphicFramePr>
            <a:graphicFrameLocks noChangeAspect="1"/>
          </p:cNvGraphicFramePr>
          <p:nvPr/>
        </p:nvGraphicFramePr>
        <p:xfrm>
          <a:off x="685800" y="5295900"/>
          <a:ext cx="7739063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8" imgW="3251160" imgH="431640" progId="Equation.3">
                  <p:embed/>
                </p:oleObj>
              </mc:Choice>
              <mc:Fallback>
                <p:oleObj name="Equation" r:id="rId8" imgW="325116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5295900"/>
                        <a:ext cx="7739063" cy="10287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3" name="Text Box 5"/>
          <p:cNvSpPr txBox="1">
            <a:spLocks noChangeArrowheads="1"/>
          </p:cNvSpPr>
          <p:nvPr/>
        </p:nvSpPr>
        <p:spPr bwMode="auto">
          <a:xfrm>
            <a:off x="381000" y="1600200"/>
            <a:ext cx="7593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Arial" charset="0"/>
              </a:rPr>
              <a:t>Given the samples, draw a sinusoid through the values</a:t>
            </a:r>
          </a:p>
        </p:txBody>
      </p:sp>
      <p:pic>
        <p:nvPicPr>
          <p:cNvPr id="278534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62000" y="2325688"/>
            <a:ext cx="7620000" cy="1960562"/>
          </a:xfrm>
          <a:prstGeom prst="rect">
            <a:avLst/>
          </a:prstGeom>
          <a:noFill/>
        </p:spPr>
      </p:pic>
      <p:pic>
        <p:nvPicPr>
          <p:cNvPr id="278535" name="Picture 7" descr="Alias-Ex-Time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762000" y="2209800"/>
            <a:ext cx="7620000" cy="2173288"/>
          </a:xfrm>
          <a:prstGeom prst="rect">
            <a:avLst/>
          </a:prstGeom>
          <a:noFill/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A0691CD-B354-4635-ACA1-0BABC1FDEB08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855"/>
    </mc:Choice>
    <mc:Fallback>
      <p:transition spd="slow" advTm="5485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27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7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Periodic Spectrum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458200" cy="4171950"/>
          </a:xfrm>
        </p:spPr>
        <p:txBody>
          <a:bodyPr/>
          <a:lstStyle/>
          <a:p>
            <a:r>
              <a:rPr lang="en-US" altLang="en-US" dirty="0"/>
              <a:t>Spectrum of x[n] has more than one line for each sinusoid</a:t>
            </a:r>
          </a:p>
          <a:p>
            <a:pPr lvl="1"/>
            <a:r>
              <a:rPr lang="en-US" altLang="en-US" dirty="0"/>
              <a:t>Called </a:t>
            </a:r>
            <a:r>
              <a:rPr lang="en-US" altLang="en-US" b="1" u="sng" dirty="0">
                <a:solidFill>
                  <a:srgbClr val="00CC66"/>
                </a:solidFill>
              </a:rPr>
              <a:t>Aliasing</a:t>
            </a:r>
          </a:p>
          <a:p>
            <a:pPr lvl="1">
              <a:buFont typeface="Arial" charset="0"/>
              <a:buNone/>
            </a:pPr>
            <a:endParaRPr lang="en-US" altLang="en-US" dirty="0"/>
          </a:p>
          <a:p>
            <a:pPr>
              <a:lnSpc>
                <a:spcPct val="80000"/>
              </a:lnSpc>
            </a:pPr>
            <a:r>
              <a:rPr lang="en-US" altLang="en-US" u="sng" dirty="0"/>
              <a:t>Spectrum</a:t>
            </a:r>
            <a:r>
              <a:rPr lang="en-US" altLang="en-US" dirty="0"/>
              <a:t> is periodic with period = </a:t>
            </a:r>
            <a:r>
              <a:rPr lang="en-US" altLang="en-US" b="1" dirty="0"/>
              <a:t>2</a:t>
            </a:r>
            <a:r>
              <a:rPr lang="en-US" altLang="en-US" b="1" dirty="0">
                <a:latin typeface="Symbol" pitchFamily="18" charset="2"/>
              </a:rPr>
              <a:t>p</a:t>
            </a:r>
          </a:p>
          <a:p>
            <a:pPr lvl="1">
              <a:lnSpc>
                <a:spcPct val="70000"/>
              </a:lnSpc>
            </a:pPr>
            <a:r>
              <a:rPr lang="en-US" altLang="en-US" dirty="0"/>
              <a:t>Because </a:t>
            </a:r>
          </a:p>
        </p:txBody>
      </p:sp>
      <p:graphicFrame>
        <p:nvGraphicFramePr>
          <p:cNvPr id="283652" name="Object 4"/>
          <p:cNvGraphicFramePr>
            <a:graphicFrameLocks noChangeAspect="1"/>
          </p:cNvGraphicFramePr>
          <p:nvPr/>
        </p:nvGraphicFramePr>
        <p:xfrm>
          <a:off x="762000" y="4940559"/>
          <a:ext cx="7620000" cy="622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5" imgW="2336800" imgH="190500" progId="Equation.3">
                  <p:embed/>
                </p:oleObj>
              </mc:Choice>
              <mc:Fallback>
                <p:oleObj name="Equation" r:id="rId5" imgW="2336800" imgH="1905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940559"/>
                        <a:ext cx="7620000" cy="622041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36AB9E6C-9FB1-4DB6-9EA1-9588A2DAC083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432"/>
    </mc:Choice>
    <mc:Fallback>
      <p:transition spd="slow" advTm="5743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0" y="228600"/>
            <a:ext cx="5638800" cy="1371600"/>
          </a:xfrm>
        </p:spPr>
        <p:txBody>
          <a:bodyPr/>
          <a:lstStyle/>
          <a:p>
            <a:r>
              <a:rPr lang="en-US" altLang="en-US" sz="3200" dirty="0"/>
              <a:t>Aliasing Derivation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178800" cy="990600"/>
          </a:xfrm>
        </p:spPr>
        <p:txBody>
          <a:bodyPr/>
          <a:lstStyle/>
          <a:p>
            <a:r>
              <a:rPr lang="en-US" altLang="en-US" dirty="0"/>
              <a:t>Other Frequencies give the same</a:t>
            </a:r>
          </a:p>
          <a:p>
            <a:endParaRPr lang="en-US" altLang="en-US" dirty="0"/>
          </a:p>
        </p:txBody>
      </p:sp>
      <p:graphicFrame>
        <p:nvGraphicFramePr>
          <p:cNvPr id="284676" name="Object 4"/>
          <p:cNvGraphicFramePr>
            <a:graphicFrameLocks noChangeAspect="1"/>
          </p:cNvGraphicFramePr>
          <p:nvPr/>
        </p:nvGraphicFramePr>
        <p:xfrm>
          <a:off x="6781800" y="1541463"/>
          <a:ext cx="5000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Equation" r:id="rId6" imgW="139700" imgH="165100" progId="Equation.3">
                  <p:embed/>
                </p:oleObj>
              </mc:Choice>
              <mc:Fallback>
                <p:oleObj name="Equation" r:id="rId6" imgW="139700" imgH="1651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541463"/>
                        <a:ext cx="5000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2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7" name="Object 5"/>
          <p:cNvGraphicFramePr>
            <a:graphicFrameLocks noChangeAspect="1"/>
          </p:cNvGraphicFramePr>
          <p:nvPr/>
        </p:nvGraphicFramePr>
        <p:xfrm>
          <a:off x="838200" y="2282825"/>
          <a:ext cx="65103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8" imgW="2781000" imgH="228600" progId="Equation.3">
                  <p:embed/>
                </p:oleObj>
              </mc:Choice>
              <mc:Fallback>
                <p:oleObj name="Equation" r:id="rId8" imgW="278100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282825"/>
                        <a:ext cx="6510338" cy="5365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8" name="Object 6"/>
          <p:cNvGraphicFramePr>
            <a:graphicFrameLocks noChangeAspect="1"/>
          </p:cNvGraphicFramePr>
          <p:nvPr/>
        </p:nvGraphicFramePr>
        <p:xfrm>
          <a:off x="838200" y="2816225"/>
          <a:ext cx="51450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10" imgW="2197080" imgH="253800" progId="Equation.3">
                  <p:embed/>
                </p:oleObj>
              </mc:Choice>
              <mc:Fallback>
                <p:oleObj name="Equation" r:id="rId10" imgW="2197080" imgH="2538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816225"/>
                        <a:ext cx="5145088" cy="5969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79" name="Object 7"/>
          <p:cNvGraphicFramePr>
            <a:graphicFrameLocks noChangeAspect="1"/>
          </p:cNvGraphicFramePr>
          <p:nvPr/>
        </p:nvGraphicFramePr>
        <p:xfrm>
          <a:off x="838200" y="3379787"/>
          <a:ext cx="674846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12" imgW="2882880" imgH="228600" progId="Equation.3">
                  <p:embed/>
                </p:oleObj>
              </mc:Choice>
              <mc:Fallback>
                <p:oleObj name="Equation" r:id="rId12" imgW="2882880" imgH="2286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379787"/>
                        <a:ext cx="6748463" cy="53657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0" name="Object 8"/>
          <p:cNvGraphicFramePr>
            <a:graphicFrameLocks noChangeAspect="1"/>
          </p:cNvGraphicFramePr>
          <p:nvPr/>
        </p:nvGraphicFramePr>
        <p:xfrm>
          <a:off x="838200" y="3913187"/>
          <a:ext cx="538003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14" imgW="2298600" imgH="253800" progId="Equation.3">
                  <p:embed/>
                </p:oleObj>
              </mc:Choice>
              <mc:Fallback>
                <p:oleObj name="Equation" r:id="rId14" imgW="2298600" imgH="2538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913187"/>
                        <a:ext cx="5380038" cy="5969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1" name="Object 9"/>
          <p:cNvGraphicFramePr>
            <a:graphicFrameLocks noChangeAspect="1"/>
          </p:cNvGraphicFramePr>
          <p:nvPr/>
        </p:nvGraphicFramePr>
        <p:xfrm>
          <a:off x="838200" y="4476750"/>
          <a:ext cx="767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16" imgW="3276360" imgH="215640" progId="Equation.3">
                  <p:embed/>
                </p:oleObj>
              </mc:Choice>
              <mc:Fallback>
                <p:oleObj name="Equation" r:id="rId16" imgW="3276360" imgH="215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476750"/>
                        <a:ext cx="7670800" cy="5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2" name="Object 10"/>
          <p:cNvGraphicFramePr>
            <a:graphicFrameLocks noChangeAspect="1"/>
          </p:cNvGraphicFramePr>
          <p:nvPr/>
        </p:nvGraphicFramePr>
        <p:xfrm>
          <a:off x="1384300" y="5589587"/>
          <a:ext cx="23495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Equation" r:id="rId18" imgW="1002960" imgH="215640" progId="Equation.3">
                  <p:embed/>
                </p:oleObj>
              </mc:Choice>
              <mc:Fallback>
                <p:oleObj name="Equation" r:id="rId18" imgW="100296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300" y="5589587"/>
                        <a:ext cx="2349500" cy="50641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3" name="Object 11"/>
          <p:cNvGraphicFramePr>
            <a:graphicFrameLocks noChangeAspect="1"/>
          </p:cNvGraphicFramePr>
          <p:nvPr/>
        </p:nvGraphicFramePr>
        <p:xfrm>
          <a:off x="4248834" y="5646736"/>
          <a:ext cx="3645804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8" name="Equation" r:id="rId20" imgW="1650960" imgH="203040" progId="Equation.3">
                  <p:embed/>
                </p:oleObj>
              </mc:Choice>
              <mc:Fallback>
                <p:oleObj name="Equation" r:id="rId20" imgW="165096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834" y="5646736"/>
                        <a:ext cx="3645804" cy="4492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4684" name="Object 12"/>
          <p:cNvGraphicFramePr>
            <a:graphicFrameLocks noChangeAspect="1"/>
          </p:cNvGraphicFramePr>
          <p:nvPr/>
        </p:nvGraphicFramePr>
        <p:xfrm>
          <a:off x="6769100" y="1524000"/>
          <a:ext cx="5461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22" imgW="152280" imgH="190440" progId="Equation.3">
                  <p:embed/>
                </p:oleObj>
              </mc:Choice>
              <mc:Fallback>
                <p:oleObj name="Equation" r:id="rId22" imgW="152280" imgH="19044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9100" y="1524000"/>
                        <a:ext cx="546100" cy="682625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379EED91-36CC-4D71-A462-3592CA31069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53"/>
    </mc:Choice>
    <mc:Fallback>
      <p:transition spd="slow" advTm="825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4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4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4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4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4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2438400" y="5257800"/>
            <a:ext cx="3505200" cy="1143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alliard BT" pitchFamily="18" charset="0"/>
            </a:endParaRPr>
          </a:p>
        </p:txBody>
      </p:sp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Aliasing Summary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Adding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or 2f</a:t>
            </a:r>
            <a:r>
              <a:rPr lang="en-US" altLang="en-US" baseline="-25000" dirty="0"/>
              <a:t>s </a:t>
            </a:r>
            <a:r>
              <a:rPr lang="en-US" altLang="en-US" dirty="0"/>
              <a:t>or –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dirty="0"/>
              <a:t> to the Freq of x(t) gives exactly the same x[n]</a:t>
            </a:r>
          </a:p>
          <a:p>
            <a:pPr lvl="1"/>
            <a:r>
              <a:rPr lang="en-US" altLang="en-US" dirty="0"/>
              <a:t>The samples, x[n] = x(n/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) are </a:t>
            </a:r>
            <a:r>
              <a:rPr lang="en-US" altLang="en-US" u="sng" dirty="0"/>
              <a:t>exactly</a:t>
            </a:r>
            <a:r>
              <a:rPr lang="en-US" altLang="en-US" dirty="0"/>
              <a:t> the same value</a:t>
            </a:r>
          </a:p>
          <a:p>
            <a:r>
              <a:rPr lang="en-US" altLang="en-US" dirty="0"/>
              <a:t>Given x[n], we can’t distinguish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o</a:t>
            </a:r>
            <a:r>
              <a:rPr lang="en-US" altLang="en-US" baseline="-25000" dirty="0"/>
              <a:t> </a:t>
            </a:r>
            <a:r>
              <a:rPr lang="en-US" altLang="en-US" dirty="0"/>
              <a:t>from (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o</a:t>
            </a:r>
            <a:r>
              <a:rPr lang="en-US" altLang="en-US" baseline="-25000" dirty="0"/>
              <a:t> </a:t>
            </a:r>
            <a:r>
              <a:rPr lang="en-US" altLang="en-US" dirty="0"/>
              <a:t>+</a:t>
            </a:r>
            <a:r>
              <a:rPr lang="en-US" altLang="en-US" baseline="-25000" dirty="0"/>
              <a:t>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s</a:t>
            </a:r>
            <a:r>
              <a:rPr lang="en-US" altLang="en-US" baseline="-25000" dirty="0"/>
              <a:t> </a:t>
            </a:r>
            <a:r>
              <a:rPr lang="en-US" altLang="en-US" dirty="0"/>
              <a:t>) or (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o</a:t>
            </a:r>
            <a:r>
              <a:rPr lang="en-US" altLang="en-US" baseline="-25000" dirty="0"/>
              <a:t> </a:t>
            </a:r>
            <a:r>
              <a:rPr lang="en-US" altLang="en-US" dirty="0"/>
              <a:t>+ 2f</a:t>
            </a:r>
            <a:r>
              <a:rPr lang="en-US" altLang="en-US" baseline="-25000" dirty="0"/>
              <a:t>s 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Normalized Radian Frequency</a:t>
            </a:r>
          </a:p>
          <a:p>
            <a:endParaRPr lang="en-US" alt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285700" name="Object 4"/>
          <p:cNvGraphicFramePr>
            <a:graphicFrameLocks noChangeAspect="1"/>
          </p:cNvGraphicFramePr>
          <p:nvPr/>
        </p:nvGraphicFramePr>
        <p:xfrm>
          <a:off x="2438400" y="5295422"/>
          <a:ext cx="2438400" cy="1105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6" imgW="952200" imgH="431640" progId="Equation.3">
                  <p:embed/>
                </p:oleObj>
              </mc:Choice>
              <mc:Fallback>
                <p:oleObj name="Equation" r:id="rId6" imgW="9522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295422"/>
                        <a:ext cx="2438400" cy="110537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99CC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5701" name="Object 5"/>
          <p:cNvGraphicFramePr>
            <a:graphicFrameLocks noChangeAspect="1"/>
          </p:cNvGraphicFramePr>
          <p:nvPr/>
        </p:nvGraphicFramePr>
        <p:xfrm>
          <a:off x="4876800" y="5562600"/>
          <a:ext cx="1023429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8" imgW="380880" imgH="177480" progId="Equation.3">
                  <p:embed/>
                </p:oleObj>
              </mc:Choice>
              <mc:Fallback>
                <p:oleObj name="Equation" r:id="rId8" imgW="380880" imgH="177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562600"/>
                        <a:ext cx="1023429" cy="477838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762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D72A5EBF-6CCC-455A-9130-CE6F7DB897F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943"/>
    </mc:Choice>
    <mc:Fallback>
      <p:transition spd="slow" advTm="129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.2|16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|2.7|1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2.6|1.9|7.5|2.3|5.4|7.9|1.5|35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0.1|3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28.2|1.8|5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32.8|1.7|1.2|0.9|0.6|1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48.6|1.4|1|0.6|0.9|0.6|1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2|43.9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.1|1|0.7|0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1.2"/>
</p:tagLst>
</file>

<file path=ppt/theme/theme1.xml><?xml version="1.0" encoding="utf-8"?>
<a:theme xmlns:a="http://schemas.openxmlformats.org/drawingml/2006/main" name="James' Default">
  <a:themeElements>
    <a:clrScheme name="James' Default 15">
      <a:dk1>
        <a:srgbClr val="003366"/>
      </a:dk1>
      <a:lt1>
        <a:srgbClr val="FFFFFF"/>
      </a:lt1>
      <a:dk2>
        <a:srgbClr val="466BA6"/>
      </a:dk2>
      <a:lt2>
        <a:srgbClr val="000000"/>
      </a:lt2>
      <a:accent1>
        <a:srgbClr val="CACFD1"/>
      </a:accent1>
      <a:accent2>
        <a:srgbClr val="CACFD1"/>
      </a:accent2>
      <a:accent3>
        <a:srgbClr val="B0BAD0"/>
      </a:accent3>
      <a:accent4>
        <a:srgbClr val="DADADA"/>
      </a:accent4>
      <a:accent5>
        <a:srgbClr val="E1E4E5"/>
      </a:accent5>
      <a:accent6>
        <a:srgbClr val="B7BBBD"/>
      </a:accent6>
      <a:hlink>
        <a:srgbClr val="FFFFCC"/>
      </a:hlink>
      <a:folHlink>
        <a:srgbClr val="FFCC99"/>
      </a:folHlink>
    </a:clrScheme>
    <a:fontScheme name="James' Default">
      <a:majorFont>
        <a:latin typeface="Galliard BT"/>
        <a:ea typeface=""/>
        <a:cs typeface=""/>
      </a:majorFont>
      <a:minorFont>
        <a:latin typeface="Galliard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lliard BT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lliard BT" pitchFamily="18" charset="0"/>
          </a:defRPr>
        </a:defPPr>
      </a:lstStyle>
    </a:lnDef>
  </a:objectDefaults>
  <a:extraClrSchemeLst>
    <a:extraClrScheme>
      <a:clrScheme name="James' 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mes' 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mes' 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mes' 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mes' 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ames' 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13">
        <a:dk1>
          <a:srgbClr val="003366"/>
        </a:dk1>
        <a:lt1>
          <a:srgbClr val="FFFFFF"/>
        </a:lt1>
        <a:dk2>
          <a:srgbClr val="466BA6"/>
        </a:dk2>
        <a:lt2>
          <a:srgbClr val="000000"/>
        </a:lt2>
        <a:accent1>
          <a:srgbClr val="CACFD1"/>
        </a:accent1>
        <a:accent2>
          <a:srgbClr val="CACFD1"/>
        </a:accent2>
        <a:accent3>
          <a:srgbClr val="B0BAD0"/>
        </a:accent3>
        <a:accent4>
          <a:srgbClr val="DADADA"/>
        </a:accent4>
        <a:accent5>
          <a:srgbClr val="E1E4E5"/>
        </a:accent5>
        <a:accent6>
          <a:srgbClr val="B7BBBD"/>
        </a:accent6>
        <a:hlink>
          <a:srgbClr val="0000FF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14">
        <a:dk1>
          <a:srgbClr val="003366"/>
        </a:dk1>
        <a:lt1>
          <a:srgbClr val="FFFFFF"/>
        </a:lt1>
        <a:dk2>
          <a:srgbClr val="466BA6"/>
        </a:dk2>
        <a:lt2>
          <a:srgbClr val="000000"/>
        </a:lt2>
        <a:accent1>
          <a:srgbClr val="CACFD1"/>
        </a:accent1>
        <a:accent2>
          <a:srgbClr val="CACFD1"/>
        </a:accent2>
        <a:accent3>
          <a:srgbClr val="B0BAD0"/>
        </a:accent3>
        <a:accent4>
          <a:srgbClr val="DADADA"/>
        </a:accent4>
        <a:accent5>
          <a:srgbClr val="E1E4E5"/>
        </a:accent5>
        <a:accent6>
          <a:srgbClr val="B7BBBD"/>
        </a:accent6>
        <a:hlink>
          <a:srgbClr val="FFFFCC"/>
        </a:hlink>
        <a:folHlink>
          <a:srgbClr val="99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ames' Default 15">
        <a:dk1>
          <a:srgbClr val="003366"/>
        </a:dk1>
        <a:lt1>
          <a:srgbClr val="FFFFFF"/>
        </a:lt1>
        <a:dk2>
          <a:srgbClr val="466BA6"/>
        </a:dk2>
        <a:lt2>
          <a:srgbClr val="000000"/>
        </a:lt2>
        <a:accent1>
          <a:srgbClr val="CACFD1"/>
        </a:accent1>
        <a:accent2>
          <a:srgbClr val="CACFD1"/>
        </a:accent2>
        <a:accent3>
          <a:srgbClr val="B0BAD0"/>
        </a:accent3>
        <a:accent4>
          <a:srgbClr val="DADADA"/>
        </a:accent4>
        <a:accent5>
          <a:srgbClr val="E1E4E5"/>
        </a:accent5>
        <a:accent6>
          <a:srgbClr val="B7BBBD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2958</TotalTime>
  <Words>617</Words>
  <Application>Microsoft Office PowerPoint</Application>
  <PresentationFormat>On-screen Show (4:3)</PresentationFormat>
  <Paragraphs>102</Paragraphs>
  <Slides>23</Slides>
  <Notes>1</Notes>
  <HiddenSlides>0</HiddenSlides>
  <MMClips>18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Galliard BT</vt:lpstr>
      <vt:lpstr>Symbol</vt:lpstr>
      <vt:lpstr>Times</vt:lpstr>
      <vt:lpstr>Times New Roman</vt:lpstr>
      <vt:lpstr>James' Default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Sampling x(t)</vt:lpstr>
      <vt:lpstr>Sampling Rate, fs</vt:lpstr>
      <vt:lpstr>Sampling Example</vt:lpstr>
      <vt:lpstr>Sampling Example</vt:lpstr>
      <vt:lpstr>Sampling Example</vt:lpstr>
      <vt:lpstr>Sampling Example</vt:lpstr>
      <vt:lpstr>Sampling Example</vt:lpstr>
      <vt:lpstr>PowerPoint Presentation</vt:lpstr>
      <vt:lpstr>Digital Frequency</vt:lpstr>
      <vt:lpstr>Sampling Theorem</vt:lpstr>
      <vt:lpstr>Digital Sound</vt:lpstr>
      <vt:lpstr>Spectrum of a Digital Signal</vt:lpstr>
      <vt:lpstr>Another Digital Spectrum What does this mean?</vt:lpstr>
      <vt:lpstr>Reconstruction? </vt:lpstr>
      <vt:lpstr>Periodic Spectrum</vt:lpstr>
      <vt:lpstr>Aliasing Derivation</vt:lpstr>
      <vt:lpstr>Aliasing Summary</vt:lpstr>
    </vt:vector>
  </TitlesOfParts>
  <Company>BYU-Idaho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Engineering 360 – Microprocessors and Microcontrollers</dc:title>
  <dc:creator>College of Physical Sciences &amp; Engineering</dc:creator>
  <cp:lastModifiedBy>Grimmett, Richard</cp:lastModifiedBy>
  <cp:revision>114</cp:revision>
  <dcterms:created xsi:type="dcterms:W3CDTF">2004-08-30T22:58:14Z</dcterms:created>
  <dcterms:modified xsi:type="dcterms:W3CDTF">2022-01-20T19:03:09Z</dcterms:modified>
</cp:coreProperties>
</file>