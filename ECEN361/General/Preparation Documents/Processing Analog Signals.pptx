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425" r:id="rId4"/>
    <p:sldId id="426" r:id="rId5"/>
    <p:sldId id="359" r:id="rId6"/>
    <p:sldId id="360" r:id="rId7"/>
    <p:sldId id="417" r:id="rId8"/>
    <p:sldId id="419" r:id="rId9"/>
    <p:sldId id="418" r:id="rId10"/>
    <p:sldId id="421" r:id="rId11"/>
    <p:sldId id="422" r:id="rId12"/>
    <p:sldId id="423" r:id="rId13"/>
    <p:sldId id="416" r:id="rId14"/>
    <p:sldId id="403" r:id="rId15"/>
    <p:sldId id="358" r:id="rId16"/>
    <p:sldId id="427" r:id="rId17"/>
    <p:sldId id="428" r:id="rId18"/>
    <p:sldId id="429" r:id="rId19"/>
    <p:sldId id="430" r:id="rId20"/>
    <p:sldId id="431" r:id="rId21"/>
    <p:sldId id="432" r:id="rId22"/>
    <p:sldId id="433" r:id="rId23"/>
    <p:sldId id="406" r:id="rId24"/>
    <p:sldId id="365" r:id="rId25"/>
    <p:sldId id="390" r:id="rId26"/>
    <p:sldId id="434" r:id="rId27"/>
    <p:sldId id="435" r:id="rId28"/>
    <p:sldId id="436" r:id="rId29"/>
    <p:sldId id="437" r:id="rId30"/>
    <p:sldId id="438" r:id="rId31"/>
    <p:sldId id="439" r:id="rId32"/>
    <p:sldId id="44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8AFA-99FE-48F1-A4B4-CF3D66CB6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77172-23CD-4305-A295-94E55AA91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26085-57B7-44B3-81B2-C7DE1B85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74773-A616-42BF-9FD6-BA69C12B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38907-126E-449B-9C97-4B4D7C5D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7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C1F2-1FAA-4B72-A23C-8BECF3CC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7F4C8-9984-4FCC-B453-10492F581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E7FC1-CA39-4A5C-A945-3A9833D35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C39FB-C4DE-41EF-A5ED-745E45DA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E1795-BD35-43C1-8CB3-F236D3F2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1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8030-3DF9-405A-9B9A-3753F25B6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26405-98C8-4227-ADB9-8EAF554E4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8B68B-ADEE-4B97-BAFC-A8E534957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41907-CB85-40E6-BE93-B9C0DBFE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0B440-086C-4277-899D-23808E43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42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2B9D-43F9-4308-9A51-01691111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822A-7F16-436A-BD17-38788DF755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7E3DE-2BA4-42F1-8745-7802049D7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FC955-6D23-4A20-B495-2B81C8CE3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BEC27-829C-4CB1-981A-E818E5F69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8A0C0-B83E-44F8-9EAD-8CE5465E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7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EA8D-F13A-42E8-967C-A2D0524E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18AA2-65AB-4CB1-B06B-E5D467DA2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D7096-A5A7-4EF1-A8A7-715A77A93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B0D95-8AF1-4A3B-9A06-3BE36DF10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897E6-D655-4C05-871D-325F9A4CC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DF5EC-08C9-41E3-A83D-176083E1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744177-46E7-4EF8-917C-DED9AE63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A0F6A-4854-46EB-B7AB-11A0CDE1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7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9C0FE-2743-4545-84DD-89DCAE1F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81813F-EDA7-41B9-B644-BE8678F2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4736F-A88A-47A9-9F7E-2AF3E2CCF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F5E3D-DC48-4684-A8E5-08B81C99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0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B665C-F7A4-45C0-810B-6D136A1A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A1279-B6FD-4463-BEAF-7CE66F92B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AB578-8358-4312-BE04-FA5CE0EFC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414C9-C528-4124-88A2-3504D8273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7680D-DEC7-42E9-82D4-84ED57AB0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3B4E1-006D-4B13-B1B6-844DC833A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EC034-2824-41BA-92AA-BF63BB823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395C1-7A2A-45FC-8F35-CC5D115E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9A9D9-E143-4B0D-9A14-CB322790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34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9FC0-576A-43B4-A0D2-783BF98E8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8B92C2-77BB-4199-B045-DB1C0D947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D5F61-7951-4BBC-997D-0A3B719A9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F5B79-95CD-45BB-8C30-1C546CA5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C42E5-D266-4B4F-A838-8361BC8B7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27C4F-D715-4716-977A-593E73FA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65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045E-DEE1-4D7D-8C44-28267813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037C9-E3AF-481E-8B31-6BC0DEDBD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0E16C-D86C-4DF1-B432-0DFD32DD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54DE2-E6A9-472F-86A7-796EF042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6B20A-4800-4567-9132-AC6B692FC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45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C47E0-0576-4084-B61F-04D317541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E9E93-B4E0-420B-99E0-88E37074C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4287F-EA79-48B1-8B0B-ACEF43D4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4F2DF-58DD-44F6-AF65-E847C653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22CC3-A5D5-4255-ABC6-95B715A6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2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325291-17EC-4A28-B862-C326C9857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2E7B0-8577-4DB4-A555-6E679B3A6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020AD-4E05-44E9-83BD-CB1B70C50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D1954-B4FE-4D07-BCE4-A458D2DBEDD1}" type="datetimeFigureOut">
              <a:rPr lang="en-US" smtClean="0"/>
              <a:t>1/16/2022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8C2A0-CEF1-43A1-A4CE-C0632A1AE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882C5-3969-4F47-9927-A0ED99B53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3E40A-0CAA-4F96-9FC6-9262B6619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6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5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ED25-7744-489C-B09E-2F6271E8E3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ECEN 361 Embedded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0D5702-131E-4FA3-83A9-C7B566B71A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Analog Signals</a:t>
            </a:r>
          </a:p>
        </p:txBody>
      </p:sp>
    </p:spTree>
    <p:extLst>
      <p:ext uri="{BB962C8B-B14F-4D97-AF65-F5344CB8AC3E}">
        <p14:creationId xmlns:p14="http://schemas.microsoft.com/office/powerpoint/2010/main" val="1249121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429E-CAFF-41A4-805E-48402F70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Analog Signals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90DE3-C665-4162-9492-768739007930}"/>
              </a:ext>
            </a:extLst>
          </p:cNvPr>
          <p:cNvSpPr txBox="1"/>
          <p:nvPr/>
        </p:nvSpPr>
        <p:spPr>
          <a:xfrm>
            <a:off x="1093433" y="1884489"/>
            <a:ext cx="1000513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Some of our interfaces are digital (On/Off).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There is nothing in the real world that is digital.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The world is analog.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We need to understand how to interface with this world.</a:t>
            </a:r>
          </a:p>
        </p:txBody>
      </p:sp>
    </p:spTree>
    <p:extLst>
      <p:ext uri="{BB962C8B-B14F-4D97-AF65-F5344CB8AC3E}">
        <p14:creationId xmlns:p14="http://schemas.microsoft.com/office/powerpoint/2010/main" val="3671976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98104-E547-434D-91E2-D060F822F3AA}"/>
              </a:ext>
            </a:extLst>
          </p:cNvPr>
          <p:cNvSpPr txBox="1"/>
          <p:nvPr/>
        </p:nvSpPr>
        <p:spPr>
          <a:xfrm>
            <a:off x="1279865" y="2274838"/>
            <a:ext cx="365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Why does it look like this? Nature normally appears as a sine wave.</a:t>
            </a:r>
          </a:p>
        </p:txBody>
      </p:sp>
      <p:pic>
        <p:nvPicPr>
          <p:cNvPr id="219138" name="Picture 2" descr="Broomstick pendulum, sinusoidal motion | IOPSpark">
            <a:extLst>
              <a:ext uri="{FF2B5EF4-FFF2-40B4-BE49-F238E27FC236}">
                <a16:creationId xmlns:a16="http://schemas.microsoft.com/office/drawing/2014/main" id="{F877661A-B279-42D5-B449-8048C79A8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691" y="1690688"/>
            <a:ext cx="4663735" cy="383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55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2" name="Picture 2" descr="Physics 272 Laboratory Experiments">
            <a:extLst>
              <a:ext uri="{FF2B5EF4-FFF2-40B4-BE49-F238E27FC236}">
                <a16:creationId xmlns:a16="http://schemas.microsoft.com/office/drawing/2014/main" id="{FFB17AEC-9600-4952-B273-40A3C58C0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450" y="3039781"/>
            <a:ext cx="4792553" cy="2781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98104-E547-434D-91E2-D060F822F3AA}"/>
              </a:ext>
            </a:extLst>
          </p:cNvPr>
          <p:cNvSpPr txBox="1"/>
          <p:nvPr/>
        </p:nvSpPr>
        <p:spPr>
          <a:xfrm>
            <a:off x="514904" y="1816223"/>
            <a:ext cx="47184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Why does it look like this? Nature normally appears as a sine wave.</a:t>
            </a:r>
          </a:p>
        </p:txBody>
      </p:sp>
    </p:spTree>
    <p:extLst>
      <p:ext uri="{BB962C8B-B14F-4D97-AF65-F5344CB8AC3E}">
        <p14:creationId xmlns:p14="http://schemas.microsoft.com/office/powerpoint/2010/main" val="4205040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794" name="Picture 2" descr="Marine Science- Ocean Waves - Marybelle&amp;#39;s Marine Science Site">
            <a:extLst>
              <a:ext uri="{FF2B5EF4-FFF2-40B4-BE49-F238E27FC236}">
                <a16:creationId xmlns:a16="http://schemas.microsoft.com/office/drawing/2014/main" id="{8EA6B887-E9D7-4B1F-B60B-34BB31809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1" y="2895600"/>
            <a:ext cx="4391025" cy="286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7C684E-B813-427C-A57E-0261023C3780}"/>
              </a:ext>
            </a:extLst>
          </p:cNvPr>
          <p:cNvSpPr txBox="1"/>
          <p:nvPr/>
        </p:nvSpPr>
        <p:spPr>
          <a:xfrm>
            <a:off x="1425606" y="1923812"/>
            <a:ext cx="1789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Wave in Distance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182E662-A30B-4843-AD3B-225B2B3CA86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/>
              <a:t>Interfacing to the Outside World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7047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14F123-B38F-44B3-BB5A-721B52366100}"/>
              </a:ext>
            </a:extLst>
          </p:cNvPr>
          <p:cNvSpPr/>
          <p:nvPr/>
        </p:nvSpPr>
        <p:spPr bwMode="auto">
          <a:xfrm>
            <a:off x="4876800" y="1828800"/>
            <a:ext cx="4800600" cy="3886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tx2"/>
                </a:solidFill>
                <a:latin typeface="Galliard BT" pitchFamily="18" charset="0"/>
              </a:rPr>
              <a:t>height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7C684E-B813-427C-A57E-0261023C3780}"/>
              </a:ext>
            </a:extLst>
          </p:cNvPr>
          <p:cNvSpPr txBox="1"/>
          <p:nvPr/>
        </p:nvSpPr>
        <p:spPr>
          <a:xfrm>
            <a:off x="5562601" y="685800"/>
            <a:ext cx="145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Wave in Time</a:t>
            </a:r>
          </a:p>
        </p:txBody>
      </p:sp>
      <p:pic>
        <p:nvPicPr>
          <p:cNvPr id="290818" name="Picture 2" descr="Mānoa: New Pacific Islands Ocean Observing System wave buoy deployed in  Maui | University of Hawaii News">
            <a:extLst>
              <a:ext uri="{FF2B5EF4-FFF2-40B4-BE49-F238E27FC236}">
                <a16:creationId xmlns:a16="http://schemas.microsoft.com/office/drawing/2014/main" id="{CB41D6D6-F16A-46A4-AF15-33ECA8B86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1" y="2590801"/>
            <a:ext cx="1730375" cy="230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820" name="Picture 4">
            <a:extLst>
              <a:ext uri="{FF2B5EF4-FFF2-40B4-BE49-F238E27FC236}">
                <a16:creationId xmlns:a16="http://schemas.microsoft.com/office/drawing/2014/main" id="{DC4FCD96-8E19-4495-A1AD-7D8201F1A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981200"/>
            <a:ext cx="43688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A25B74-4F95-400D-A7F8-D2F0EB4FDF2A}"/>
              </a:ext>
            </a:extLst>
          </p:cNvPr>
          <p:cNvSpPr txBox="1"/>
          <p:nvPr/>
        </p:nvSpPr>
        <p:spPr>
          <a:xfrm>
            <a:off x="8698886" y="385319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123674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pic>
        <p:nvPicPr>
          <p:cNvPr id="214018" name="Picture 2" descr="Mormon no more: Tabernacle Choir renamed in big church shift - Las Vegas  Sun Newspaper">
            <a:extLst>
              <a:ext uri="{FF2B5EF4-FFF2-40B4-BE49-F238E27FC236}">
                <a16:creationId xmlns:a16="http://schemas.microsoft.com/office/drawing/2014/main" id="{7E51BDD0-EC0D-4A98-9071-F6597BC61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438400"/>
            <a:ext cx="497205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125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pic>
        <p:nvPicPr>
          <p:cNvPr id="216066" name="Picture 2" descr="Pitch range produced by vocal cords">
            <a:extLst>
              <a:ext uri="{FF2B5EF4-FFF2-40B4-BE49-F238E27FC236}">
                <a16:creationId xmlns:a16="http://schemas.microsoft.com/office/drawing/2014/main" id="{E78AC3C4-C401-49F2-9248-79ABB0692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1752601"/>
            <a:ext cx="3606800" cy="4867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76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42" name="Picture 2" descr="Supercomputing the Secrets of the Inner Ear">
            <a:extLst>
              <a:ext uri="{FF2B5EF4-FFF2-40B4-BE49-F238E27FC236}">
                <a16:creationId xmlns:a16="http://schemas.microsoft.com/office/drawing/2014/main" id="{AE69E31C-8C17-4141-9B72-92562F7F3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057401"/>
            <a:ext cx="7105650" cy="420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</p:spTree>
    <p:extLst>
      <p:ext uri="{BB962C8B-B14F-4D97-AF65-F5344CB8AC3E}">
        <p14:creationId xmlns:p14="http://schemas.microsoft.com/office/powerpoint/2010/main" val="2613362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E7201-3DB4-4A38-BC07-66932DD27B26}"/>
              </a:ext>
            </a:extLst>
          </p:cNvPr>
          <p:cNvSpPr txBox="1"/>
          <p:nvPr/>
        </p:nvSpPr>
        <p:spPr>
          <a:xfrm>
            <a:off x="2362201" y="1735056"/>
            <a:ext cx="2920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Creating this all Mechanically</a:t>
            </a:r>
          </a:p>
          <a:p>
            <a:endParaRPr lang="en-US" dirty="0"/>
          </a:p>
        </p:txBody>
      </p:sp>
      <p:pic>
        <p:nvPicPr>
          <p:cNvPr id="217090" name="Picture 2" descr="1877 Edison Phonograph - Students | Britannica Kids | Homework Help">
            <a:extLst>
              <a:ext uri="{FF2B5EF4-FFF2-40B4-BE49-F238E27FC236}">
                <a16:creationId xmlns:a16="http://schemas.microsoft.com/office/drawing/2014/main" id="{CE97603C-0B98-4566-BD98-EAEF38337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686853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392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E7201-3DB4-4A38-BC07-66932DD27B26}"/>
              </a:ext>
            </a:extLst>
          </p:cNvPr>
          <p:cNvSpPr txBox="1"/>
          <p:nvPr/>
        </p:nvSpPr>
        <p:spPr>
          <a:xfrm>
            <a:off x="2362201" y="1735056"/>
            <a:ext cx="2931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Creating this all Electronically</a:t>
            </a:r>
          </a:p>
          <a:p>
            <a:endParaRPr lang="en-US" dirty="0"/>
          </a:p>
        </p:txBody>
      </p:sp>
      <p:pic>
        <p:nvPicPr>
          <p:cNvPr id="6" name="Picture 4" descr="Image result for microphone">
            <a:extLst>
              <a:ext uri="{FF2B5EF4-FFF2-40B4-BE49-F238E27FC236}">
                <a16:creationId xmlns:a16="http://schemas.microsoft.com/office/drawing/2014/main" id="{F212EE7D-4BDE-4F5E-9103-B17711C83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689163"/>
            <a:ext cx="1255406" cy="104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116" name="Picture 4" descr="Microphones Guide: How do Mics Work | History of Microphones">
            <a:extLst>
              <a:ext uri="{FF2B5EF4-FFF2-40B4-BE49-F238E27FC236}">
                <a16:creationId xmlns:a16="http://schemas.microsoft.com/office/drawing/2014/main" id="{23032F41-269E-4A65-9DB4-CC32576DC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32" y="2590801"/>
            <a:ext cx="6057900" cy="353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709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E7201-3DB4-4A38-BC07-66932DD27B26}"/>
              </a:ext>
            </a:extLst>
          </p:cNvPr>
          <p:cNvSpPr txBox="1"/>
          <p:nvPr/>
        </p:nvSpPr>
        <p:spPr>
          <a:xfrm>
            <a:off x="2362201" y="1735056"/>
            <a:ext cx="2931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Creating this all Electronically</a:t>
            </a:r>
          </a:p>
          <a:p>
            <a:endParaRPr lang="en-US" dirty="0"/>
          </a:p>
        </p:txBody>
      </p:sp>
      <p:pic>
        <p:nvPicPr>
          <p:cNvPr id="6" name="Picture 4" descr="Image result for microphone">
            <a:extLst>
              <a:ext uri="{FF2B5EF4-FFF2-40B4-BE49-F238E27FC236}">
                <a16:creationId xmlns:a16="http://schemas.microsoft.com/office/drawing/2014/main" id="{F212EE7D-4BDE-4F5E-9103-B17711C83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689163"/>
            <a:ext cx="1255406" cy="104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114" name="Picture 2" descr="Sine Wave With Dc Offset, HD Png Download , Transparent Png Image - PNGitem">
            <a:extLst>
              <a:ext uri="{FF2B5EF4-FFF2-40B4-BE49-F238E27FC236}">
                <a16:creationId xmlns:a16="http://schemas.microsoft.com/office/drawing/2014/main" id="{C24AE9FF-AE5D-478E-961C-2ABF3F4F2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2362200"/>
            <a:ext cx="5924549" cy="416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884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Fur Elise Waveform</a:t>
            </a:r>
          </a:p>
        </p:txBody>
      </p:sp>
      <p:sp>
        <p:nvSpPr>
          <p:cNvPr id="205829" name="AutoShape 5">
            <a:hlinkClick r:id="" action="ppaction://noaction" highlightClick="1">
              <a:snd r:embed="rId2" name="furelise.wav"/>
            </a:hlinkClick>
          </p:cNvPr>
          <p:cNvSpPr>
            <a:spLocks noChangeArrowheads="1"/>
          </p:cNvSpPr>
          <p:nvPr/>
        </p:nvSpPr>
        <p:spPr bwMode="auto">
          <a:xfrm>
            <a:off x="9448800" y="2971800"/>
            <a:ext cx="533400" cy="533400"/>
          </a:xfrm>
          <a:prstGeom prst="actionButtonSou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058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705470"/>
            <a:ext cx="7925760" cy="31537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5878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9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59242" y="2286000"/>
            <a:ext cx="7146758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What does this represent?</a:t>
            </a:r>
          </a:p>
        </p:txBody>
      </p:sp>
      <p:sp>
        <p:nvSpPr>
          <p:cNvPr id="203780" name="Text Box 4"/>
          <p:cNvSpPr txBox="1">
            <a:spLocks noChangeArrowheads="1"/>
          </p:cNvSpPr>
          <p:nvPr/>
        </p:nvSpPr>
        <p:spPr bwMode="auto">
          <a:xfrm rot="16200000">
            <a:off x="382618" y="3351183"/>
            <a:ext cx="40544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en-US" sz="2000" b="1" i="1" u="sng" dirty="0">
                <a:latin typeface="Arial" charset="0"/>
              </a:rPr>
              <a:t>Frequency</a:t>
            </a:r>
            <a:r>
              <a:rPr lang="en-US" altLang="en-US" sz="2000" b="1" i="1" u="sng" dirty="0">
                <a:solidFill>
                  <a:schemeClr val="accent1"/>
                </a:solidFill>
                <a:latin typeface="Arial" charset="0"/>
              </a:rPr>
              <a:t> </a:t>
            </a:r>
            <a:r>
              <a:rPr lang="en-US" altLang="en-US" sz="2000" b="1" i="1" u="sng" dirty="0">
                <a:latin typeface="Arial" charset="0"/>
              </a:rPr>
              <a:t>is the vertical axis</a:t>
            </a:r>
            <a:endParaRPr lang="en-US" altLang="en-US" sz="2000" b="1" dirty="0">
              <a:latin typeface="Arial" charset="0"/>
            </a:endParaRPr>
          </a:p>
        </p:txBody>
      </p:sp>
      <p:sp>
        <p:nvSpPr>
          <p:cNvPr id="203781" name="Text Box 5"/>
          <p:cNvSpPr txBox="1">
            <a:spLocks noChangeArrowheads="1"/>
          </p:cNvSpPr>
          <p:nvPr/>
        </p:nvSpPr>
        <p:spPr bwMode="auto">
          <a:xfrm>
            <a:off x="3870325" y="5695951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altLang="en-US" i="1" u="sng">
              <a:latin typeface="Arial" charset="0"/>
            </a:endParaRPr>
          </a:p>
        </p:txBody>
      </p:sp>
      <p:sp>
        <p:nvSpPr>
          <p:cNvPr id="203782" name="Rectangle 6"/>
          <p:cNvSpPr>
            <a:spLocks noChangeArrowheads="1"/>
          </p:cNvSpPr>
          <p:nvPr/>
        </p:nvSpPr>
        <p:spPr bwMode="auto">
          <a:xfrm>
            <a:off x="6838156" y="4901923"/>
            <a:ext cx="33543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1" i="1" u="sng" dirty="0">
                <a:latin typeface="Arial" charset="0"/>
              </a:rPr>
              <a:t>Time is the horizontal axis</a:t>
            </a:r>
          </a:p>
        </p:txBody>
      </p:sp>
      <p:sp>
        <p:nvSpPr>
          <p:cNvPr id="203783" name="Oval 7"/>
          <p:cNvSpPr>
            <a:spLocks noChangeArrowheads="1"/>
          </p:cNvSpPr>
          <p:nvPr/>
        </p:nvSpPr>
        <p:spPr bwMode="auto">
          <a:xfrm>
            <a:off x="7239000" y="2536825"/>
            <a:ext cx="304800" cy="381000"/>
          </a:xfrm>
          <a:prstGeom prst="ellips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84" name="Line 8"/>
          <p:cNvSpPr>
            <a:spLocks noChangeShapeType="1"/>
          </p:cNvSpPr>
          <p:nvPr/>
        </p:nvSpPr>
        <p:spPr bwMode="auto">
          <a:xfrm flipH="1">
            <a:off x="7543800" y="2155825"/>
            <a:ext cx="609600" cy="609600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85" name="Text Box 9"/>
          <p:cNvSpPr txBox="1">
            <a:spLocks noChangeArrowheads="1"/>
          </p:cNvSpPr>
          <p:nvPr/>
        </p:nvSpPr>
        <p:spPr bwMode="auto">
          <a:xfrm>
            <a:off x="7772400" y="1676400"/>
            <a:ext cx="1485900" cy="469900"/>
          </a:xfrm>
          <a:prstGeom prst="rect">
            <a:avLst/>
          </a:prstGeom>
          <a:noFill/>
          <a:ln w="12700">
            <a:solidFill>
              <a:srgbClr val="CC33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 b="1">
                <a:latin typeface="Arial" charset="0"/>
              </a:rPr>
              <a:t>A-440 Hz</a:t>
            </a:r>
          </a:p>
        </p:txBody>
      </p:sp>
      <p:sp>
        <p:nvSpPr>
          <p:cNvPr id="203786" name="Text Box 10"/>
          <p:cNvSpPr txBox="1">
            <a:spLocks noChangeArrowheads="1"/>
          </p:cNvSpPr>
          <p:nvPr/>
        </p:nvSpPr>
        <p:spPr bwMode="auto">
          <a:xfrm>
            <a:off x="3200400" y="5578476"/>
            <a:ext cx="5791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i="1" u="sng" dirty="0">
                <a:latin typeface="Arial" charset="0"/>
              </a:rPr>
              <a:t>This is a Time-Frequency Diagram – One form of a Spectrum Diagram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3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3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3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0" grpId="0" build="p" autoUpdateAnimBg="0"/>
      <p:bldP spid="203782" grpId="0" build="p" autoUpdateAnimBg="0"/>
      <p:bldP spid="203783" grpId="0" animBg="1"/>
      <p:bldP spid="203784" grpId="0" animBg="1"/>
      <p:bldP spid="203785" grpId="0" animBg="1"/>
      <p:bldP spid="20378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419600" y="228600"/>
            <a:ext cx="5791200" cy="1371600"/>
          </a:xfrm>
        </p:spPr>
        <p:txBody>
          <a:bodyPr/>
          <a:lstStyle/>
          <a:p>
            <a:r>
              <a:rPr lang="en-US" sz="3200" dirty="0"/>
              <a:t>Sinusoidal Signals</a:t>
            </a:r>
          </a:p>
        </p:txBody>
      </p:sp>
      <p:sp>
        <p:nvSpPr>
          <p:cNvPr id="162819" name="Rectangle 3"/>
          <p:cNvSpPr>
            <a:spLocks noChangeArrowheads="1"/>
          </p:cNvSpPr>
          <p:nvPr/>
        </p:nvSpPr>
        <p:spPr bwMode="auto">
          <a:xfrm>
            <a:off x="980983" y="1711911"/>
            <a:ext cx="3810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Galliard BT" pitchFamily="18" charset="0"/>
              <a:buChar char="•"/>
            </a:pPr>
            <a:r>
              <a:rPr lang="en-US" sz="3200" dirty="0"/>
              <a:t>Tuning Fork – Very Periodic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Galliard BT" pitchFamily="18" charset="0"/>
              <a:buChar char="•"/>
            </a:pPr>
            <a:endParaRPr lang="en-US" sz="32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Galliard BT" pitchFamily="18" charset="0"/>
              <a:buChar char="•"/>
            </a:pPr>
            <a:r>
              <a:rPr lang="en-US" sz="3200" dirty="0"/>
              <a:t>Bat Signal – </a:t>
            </a:r>
            <a:r>
              <a:rPr lang="en-US" sz="3200" dirty="0" err="1"/>
              <a:t>Kinda</a:t>
            </a:r>
            <a:r>
              <a:rPr lang="en-US" sz="3200" dirty="0"/>
              <a:t> Periodic in Vowel Region</a:t>
            </a: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SzPct val="75000"/>
              <a:buFont typeface="Arial" charset="0"/>
              <a:buChar char="•"/>
            </a:pPr>
            <a:endParaRPr lang="en-US" sz="2400" dirty="0"/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SzPct val="75000"/>
              <a:buFont typeface="Arial" charset="0"/>
              <a:buChar char="•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endParaRPr lang="en-US" dirty="0"/>
          </a:p>
        </p:txBody>
      </p:sp>
      <p:pic>
        <p:nvPicPr>
          <p:cNvPr id="1628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3429000"/>
            <a:ext cx="4700437" cy="2002038"/>
          </a:xfrm>
          <a:prstGeom prst="rect">
            <a:avLst/>
          </a:prstGeom>
          <a:noFill/>
        </p:spPr>
      </p:pic>
      <p:pic>
        <p:nvPicPr>
          <p:cNvPr id="16282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2622" y="1600200"/>
            <a:ext cx="4813102" cy="16223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8AC-9188-4DD0-95D1-5DCDDA88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this mathematically?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F8E48-A1E5-48AB-8FF6-43F350929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1490071"/>
            <a:ext cx="9372600" cy="500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344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8AC-9188-4DD0-95D1-5DCDDA88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this mathematically?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85F09-9B06-46F3-B619-71A2CCDD2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43446"/>
            <a:ext cx="10439400" cy="398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47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8AC-9188-4DD0-95D1-5DCDDA88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this mathematically?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CB77B4-E925-4F96-A86A-120FAB31B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933985"/>
            <a:ext cx="9372600" cy="411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22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8AC-9188-4DD0-95D1-5DCDDA88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this mathematically?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8354D-BAE8-4AC6-9EFA-CA49C2E36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1" y="1680437"/>
            <a:ext cx="9572624" cy="44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04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8AC-9188-4DD0-95D1-5DCDDA88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this mathematically?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8D1E6-61C0-4EDA-A411-4F9FB6F1C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1638"/>
            <a:ext cx="10191750" cy="46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28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8AC-9188-4DD0-95D1-5DCDDA88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this mathematically?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36F09-19EF-4E52-84AE-733B3BA76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76" y="1690688"/>
            <a:ext cx="9304199" cy="41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09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8AC-9188-4DD0-95D1-5DCDDA88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represent this mathematically?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942B5F-9B70-487C-9F58-97827ADB7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1460"/>
            <a:ext cx="9741763" cy="433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05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419600" y="228600"/>
            <a:ext cx="5791200" cy="1371600"/>
          </a:xfrm>
        </p:spPr>
        <p:txBody>
          <a:bodyPr/>
          <a:lstStyle/>
          <a:p>
            <a:r>
              <a:rPr lang="en-US" sz="3200" dirty="0"/>
              <a:t>Sinusoidal Signals</a:t>
            </a:r>
          </a:p>
        </p:txBody>
      </p:sp>
      <p:sp>
        <p:nvSpPr>
          <p:cNvPr id="162819" name="Rectangle 3"/>
          <p:cNvSpPr>
            <a:spLocks noChangeArrowheads="1"/>
          </p:cNvSpPr>
          <p:nvPr/>
        </p:nvSpPr>
        <p:spPr bwMode="auto">
          <a:xfrm>
            <a:off x="1828800" y="1676400"/>
            <a:ext cx="4267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Galliard BT" pitchFamily="18" charset="0"/>
              <a:buChar char="•"/>
            </a:pPr>
            <a:r>
              <a:rPr lang="en-US" dirty="0"/>
              <a:t>Tuning Fork – Periodic Signal</a:t>
            </a: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SzPct val="75000"/>
              <a:buFont typeface="Arial" charset="0"/>
              <a:buChar char="•"/>
            </a:pPr>
            <a:endParaRPr lang="en-US" sz="2400" dirty="0"/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SzPct val="75000"/>
              <a:buFont typeface="Arial" charset="0"/>
              <a:buChar char="•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</a:pPr>
            <a:endParaRPr lang="en-US" dirty="0"/>
          </a:p>
        </p:txBody>
      </p:sp>
      <p:pic>
        <p:nvPicPr>
          <p:cNvPr id="16282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743200"/>
            <a:ext cx="3390900" cy="1143000"/>
          </a:xfrm>
          <a:prstGeom prst="rect">
            <a:avLst/>
          </a:prstGeom>
          <a:noFill/>
        </p:spPr>
      </p:pic>
      <p:sp>
        <p:nvSpPr>
          <p:cNvPr id="162822" name="Rectangle 6"/>
          <p:cNvSpPr>
            <a:spLocks noChangeArrowheads="1"/>
          </p:cNvSpPr>
          <p:nvPr/>
        </p:nvSpPr>
        <p:spPr bwMode="auto">
          <a:xfrm>
            <a:off x="2057400" y="4800600"/>
            <a:ext cx="8229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Galliard BT" pitchFamily="18" charset="0"/>
              <a:buChar char="•"/>
            </a:pPr>
            <a:r>
              <a:rPr lang="en-US" sz="2400" dirty="0"/>
              <a:t>This is another frequency diagram  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Font typeface="Galliard BT" pitchFamily="18" charset="0"/>
              <a:buChar char="•"/>
            </a:pPr>
            <a:r>
              <a:rPr lang="en-US" sz="2400" dirty="0"/>
              <a:t>Amplitude/Frequency diagram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Font typeface="Galliard BT" pitchFamily="18" charset="0"/>
              <a:buChar char="•"/>
            </a:pPr>
            <a:r>
              <a:rPr lang="en-US" sz="2400" dirty="0"/>
              <a:t>Snapshot in time</a:t>
            </a: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6019801" y="1909762"/>
            <a:ext cx="4422775" cy="2586038"/>
            <a:chOff x="2592" y="1870"/>
            <a:chExt cx="2786" cy="1629"/>
          </a:xfrm>
        </p:grpSpPr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2688" y="1870"/>
              <a:ext cx="0" cy="13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V="1">
              <a:off x="4272" y="2446"/>
              <a:ext cx="0" cy="75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5128" y="3156"/>
              <a:ext cx="25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="1" dirty="0">
                  <a:latin typeface="Symbol" pitchFamily="18" charset="2"/>
                </a:rPr>
                <a:t>w</a:t>
              </a:r>
              <a:endParaRPr lang="en-US" altLang="en-US" sz="2400" dirty="0">
                <a:latin typeface="Arial" charset="0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4072" y="3208"/>
              <a:ext cx="5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="1" dirty="0">
                  <a:latin typeface="Arial" charset="0"/>
                </a:rPr>
                <a:t>880</a:t>
              </a:r>
              <a:r>
                <a:rPr lang="en-US" altLang="en-US" sz="2400" b="1" dirty="0">
                  <a:latin typeface="Symbol" pitchFamily="18" charset="2"/>
                </a:rPr>
                <a:t>p</a:t>
              </a:r>
              <a:endParaRPr lang="en-US" altLang="en-US" sz="2400" b="1" dirty="0">
                <a:latin typeface="Arial" charset="0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2592" y="3208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latin typeface="Arial" charset="0"/>
                </a:rPr>
                <a:t>0</a:t>
              </a:r>
            </a:p>
          </p:txBody>
        </p:sp>
      </p:grpSp>
      <p:cxnSp>
        <p:nvCxnSpPr>
          <p:cNvPr id="19" name="Straight Arrow Connector 18"/>
          <p:cNvCxnSpPr>
            <a:stCxn id="15" idx="0"/>
          </p:cNvCxnSpPr>
          <p:nvPr/>
        </p:nvCxnSpPr>
        <p:spPr bwMode="auto">
          <a:xfrm rot="16200000" flipH="1">
            <a:off x="8239522" y="1991123"/>
            <a:ext cx="4763" cy="40901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5791200" y="2143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Exponential Representation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52600"/>
            <a:ext cx="8305800" cy="1295400"/>
          </a:xfrm>
        </p:spPr>
        <p:txBody>
          <a:bodyPr/>
          <a:lstStyle/>
          <a:p>
            <a:r>
              <a:rPr lang="en-US" altLang="en-US"/>
              <a:t>Cosine = sum of 2 complex exponentials:</a:t>
            </a:r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3276600" y="4419600"/>
            <a:ext cx="5486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1"/>
            <a:r>
              <a:rPr lang="en-US" altLang="en-US" sz="2400" dirty="0">
                <a:latin typeface="Arial" charset="0"/>
              </a:rPr>
              <a:t>One has a positive frequency</a:t>
            </a:r>
          </a:p>
          <a:p>
            <a:pPr lvl="1"/>
            <a:r>
              <a:rPr lang="en-US" altLang="en-US" sz="2400" dirty="0">
                <a:latin typeface="Arial" charset="0"/>
              </a:rPr>
              <a:t>The other has </a:t>
            </a:r>
            <a:r>
              <a:rPr lang="en-US" altLang="en-US" sz="2400" dirty="0">
                <a:solidFill>
                  <a:srgbClr val="FF0000"/>
                </a:solidFill>
                <a:latin typeface="Arial" charset="0"/>
              </a:rPr>
              <a:t>negative</a:t>
            </a:r>
            <a:r>
              <a:rPr lang="en-US" altLang="en-US" sz="2400" dirty="0">
                <a:latin typeface="Arial" charset="0"/>
              </a:rPr>
              <a:t> freq</a:t>
            </a:r>
          </a:p>
          <a:p>
            <a:pPr lvl="1"/>
            <a:r>
              <a:rPr lang="en-US" altLang="en-US" sz="2400" dirty="0">
                <a:latin typeface="Arial" charset="0"/>
              </a:rPr>
              <a:t>Amplitude of each is half as big</a:t>
            </a:r>
          </a:p>
        </p:txBody>
      </p:sp>
      <p:graphicFrame>
        <p:nvGraphicFramePr>
          <p:cNvPr id="1699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002864"/>
              </p:ext>
            </p:extLst>
          </p:nvPr>
        </p:nvGraphicFramePr>
        <p:xfrm>
          <a:off x="2152836" y="2649536"/>
          <a:ext cx="7605713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3" imgW="1688760" imgH="291960" progId="Equation.3">
                  <p:embed/>
                </p:oleObj>
              </mc:Choice>
              <mc:Fallback>
                <p:oleObj name="Equation" r:id="rId3" imgW="1688760" imgH="291960" progId="Equation.3">
                  <p:embed/>
                  <p:pic>
                    <p:nvPicPr>
                      <p:cNvPr id="1699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836" y="2649536"/>
                        <a:ext cx="7605713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1" name="Line 7"/>
          <p:cNvSpPr>
            <a:spLocks noChangeShapeType="1"/>
          </p:cNvSpPr>
          <p:nvPr/>
        </p:nvSpPr>
        <p:spPr bwMode="auto">
          <a:xfrm flipV="1">
            <a:off x="7772400" y="3429000"/>
            <a:ext cx="1524000" cy="15240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9989" name="Line 5"/>
          <p:cNvSpPr>
            <a:spLocks noChangeShapeType="1"/>
          </p:cNvSpPr>
          <p:nvPr/>
        </p:nvSpPr>
        <p:spPr bwMode="auto">
          <a:xfrm flipH="1">
            <a:off x="6172200" y="3429000"/>
            <a:ext cx="533400" cy="9906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8" grpId="0" uiExpand="1" build="p" bldLvl="2" autoUpdateAnimBg="0"/>
      <p:bldP spid="169991" grpId="0" animBg="1"/>
      <p:bldP spid="16998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5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62946"/>
              </p:ext>
            </p:extLst>
          </p:nvPr>
        </p:nvGraphicFramePr>
        <p:xfrm>
          <a:off x="8001000" y="2819400"/>
          <a:ext cx="560388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3" imgW="139680" imgH="228600" progId="Equation.3">
                  <p:embed/>
                </p:oleObj>
              </mc:Choice>
              <mc:Fallback>
                <p:oleObj name="Equation" r:id="rId3" imgW="139680" imgH="228600" progId="Equation.3">
                  <p:embed/>
                  <p:pic>
                    <p:nvPicPr>
                      <p:cNvPr id="1955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2819400"/>
                        <a:ext cx="560388" cy="915988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2 Sided Spectrum Representation</a:t>
            </a:r>
          </a:p>
        </p:txBody>
      </p:sp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3352800" y="5848290"/>
            <a:ext cx="49728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dirty="0">
                <a:latin typeface="Arial" charset="0"/>
              </a:rPr>
              <a:t>Amplitude, Phase &amp; Frequency are shown</a:t>
            </a:r>
          </a:p>
        </p:txBody>
      </p:sp>
      <p:grpSp>
        <p:nvGrpSpPr>
          <p:cNvPr id="195589" name="Group 5"/>
          <p:cNvGrpSpPr>
            <a:grpSpLocks/>
          </p:cNvGrpSpPr>
          <p:nvPr/>
        </p:nvGrpSpPr>
        <p:grpSpPr bwMode="auto">
          <a:xfrm>
            <a:off x="2438400" y="2968626"/>
            <a:ext cx="7620000" cy="2581275"/>
            <a:chOff x="576" y="1870"/>
            <a:chExt cx="4800" cy="1626"/>
          </a:xfrm>
        </p:grpSpPr>
        <p:sp>
          <p:nvSpPr>
            <p:cNvPr id="195590" name="Line 6"/>
            <p:cNvSpPr>
              <a:spLocks noChangeShapeType="1"/>
            </p:cNvSpPr>
            <p:nvPr/>
          </p:nvSpPr>
          <p:spPr bwMode="auto">
            <a:xfrm>
              <a:off x="576" y="3204"/>
              <a:ext cx="46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591" name="Line 7"/>
            <p:cNvSpPr>
              <a:spLocks noChangeShapeType="1"/>
            </p:cNvSpPr>
            <p:nvPr/>
          </p:nvSpPr>
          <p:spPr bwMode="auto">
            <a:xfrm>
              <a:off x="2688" y="1870"/>
              <a:ext cx="0" cy="13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592" name="Line 8"/>
            <p:cNvSpPr>
              <a:spLocks noChangeShapeType="1"/>
            </p:cNvSpPr>
            <p:nvPr/>
          </p:nvSpPr>
          <p:spPr bwMode="auto">
            <a:xfrm flipV="1">
              <a:off x="4272" y="2446"/>
              <a:ext cx="0" cy="75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593" name="Text Box 9"/>
            <p:cNvSpPr txBox="1">
              <a:spLocks noChangeArrowheads="1"/>
            </p:cNvSpPr>
            <p:nvPr/>
          </p:nvSpPr>
          <p:spPr bwMode="auto">
            <a:xfrm>
              <a:off x="5128" y="3156"/>
              <a:ext cx="2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latin typeface="Symbol" pitchFamily="18" charset="2"/>
                </a:rPr>
                <a:t>w</a:t>
              </a:r>
              <a:endParaRPr lang="en-US" altLang="en-US" sz="2400">
                <a:latin typeface="Arial" charset="0"/>
              </a:endParaRPr>
            </a:p>
          </p:txBody>
        </p:sp>
        <p:sp>
          <p:nvSpPr>
            <p:cNvPr id="195594" name="Text Box 10"/>
            <p:cNvSpPr txBox="1">
              <a:spLocks noChangeArrowheads="1"/>
            </p:cNvSpPr>
            <p:nvPr/>
          </p:nvSpPr>
          <p:spPr bwMode="auto">
            <a:xfrm>
              <a:off x="4176" y="3208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latin typeface="Arial" charset="0"/>
                </a:rPr>
                <a:t>7</a:t>
              </a:r>
            </a:p>
          </p:txBody>
        </p:sp>
        <p:sp>
          <p:nvSpPr>
            <p:cNvPr id="195595" name="Text Box 11"/>
            <p:cNvSpPr txBox="1">
              <a:spLocks noChangeArrowheads="1"/>
            </p:cNvSpPr>
            <p:nvPr/>
          </p:nvSpPr>
          <p:spPr bwMode="auto">
            <a:xfrm>
              <a:off x="960" y="3208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latin typeface="Arial" charset="0"/>
                </a:rPr>
                <a:t>-7</a:t>
              </a:r>
            </a:p>
          </p:txBody>
        </p:sp>
        <p:sp>
          <p:nvSpPr>
            <p:cNvPr id="195596" name="Text Box 12"/>
            <p:cNvSpPr txBox="1">
              <a:spLocks noChangeArrowheads="1"/>
            </p:cNvSpPr>
            <p:nvPr/>
          </p:nvSpPr>
          <p:spPr bwMode="auto">
            <a:xfrm>
              <a:off x="2592" y="3208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latin typeface="Arial" charset="0"/>
                </a:rPr>
                <a:t>0</a:t>
              </a:r>
            </a:p>
          </p:txBody>
        </p:sp>
        <p:sp>
          <p:nvSpPr>
            <p:cNvPr id="195597" name="Line 13"/>
            <p:cNvSpPr>
              <a:spLocks noChangeShapeType="1"/>
            </p:cNvSpPr>
            <p:nvPr/>
          </p:nvSpPr>
          <p:spPr bwMode="auto">
            <a:xfrm flipV="1">
              <a:off x="1152" y="2446"/>
              <a:ext cx="0" cy="75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955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440701"/>
              </p:ext>
            </p:extLst>
          </p:nvPr>
        </p:nvGraphicFramePr>
        <p:xfrm>
          <a:off x="3048000" y="2817814"/>
          <a:ext cx="560388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Equation" r:id="rId5" imgW="139680" imgH="228600" progId="Equation.3">
                  <p:embed/>
                </p:oleObj>
              </mc:Choice>
              <mc:Fallback>
                <p:oleObj name="Equation" r:id="rId5" imgW="139680" imgH="228600" progId="Equation.3">
                  <p:embed/>
                  <p:pic>
                    <p:nvPicPr>
                      <p:cNvPr id="1955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817814"/>
                        <a:ext cx="560388" cy="915987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01" name="Object 1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198176"/>
              </p:ext>
            </p:extLst>
          </p:nvPr>
        </p:nvGraphicFramePr>
        <p:xfrm>
          <a:off x="3581400" y="1524000"/>
          <a:ext cx="44196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7" imgW="1688760" imgH="291960" progId="Equation.3">
                  <p:embed/>
                </p:oleObj>
              </mc:Choice>
              <mc:Fallback>
                <p:oleObj name="Equation" r:id="rId7" imgW="1688760" imgH="291960" progId="Equation.3">
                  <p:embed/>
                  <p:pic>
                    <p:nvPicPr>
                      <p:cNvPr id="19560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524000"/>
                        <a:ext cx="44196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600" name="Line 16"/>
          <p:cNvSpPr>
            <a:spLocks noChangeShapeType="1"/>
          </p:cNvSpPr>
          <p:nvPr/>
        </p:nvSpPr>
        <p:spPr bwMode="auto">
          <a:xfrm>
            <a:off x="6096000" y="2057400"/>
            <a:ext cx="2133600" cy="7620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9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/>
      <p:bldP spid="19560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0D4F-3EBE-4943-B909-34990AFF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IQ – Vector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27461B-6FBE-4342-ABC3-7B0DFE59B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510" y="2351611"/>
            <a:ext cx="4746039" cy="384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4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E7201-3DB4-4A38-BC07-66932DD27B26}"/>
              </a:ext>
            </a:extLst>
          </p:cNvPr>
          <p:cNvSpPr txBox="1"/>
          <p:nvPr/>
        </p:nvSpPr>
        <p:spPr>
          <a:xfrm>
            <a:off x="2406589" y="1690688"/>
            <a:ext cx="6897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Creating this all Electronically</a:t>
            </a:r>
          </a:p>
          <a:p>
            <a:endParaRPr lang="en-US" dirty="0"/>
          </a:p>
        </p:txBody>
      </p:sp>
      <p:pic>
        <p:nvPicPr>
          <p:cNvPr id="6" name="Picture 4" descr="Image result for microphone">
            <a:extLst>
              <a:ext uri="{FF2B5EF4-FFF2-40B4-BE49-F238E27FC236}">
                <a16:creationId xmlns:a16="http://schemas.microsoft.com/office/drawing/2014/main" id="{F212EE7D-4BDE-4F5E-9103-B17711C83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721" y="3720264"/>
            <a:ext cx="1255406" cy="104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c 2">
            <a:extLst>
              <a:ext uri="{FF2B5EF4-FFF2-40B4-BE49-F238E27FC236}">
                <a16:creationId xmlns:a16="http://schemas.microsoft.com/office/drawing/2014/main" id="{565CB0C3-05B3-4C86-AAC6-3A571852C9AA}"/>
              </a:ext>
            </a:extLst>
          </p:cNvPr>
          <p:cNvSpPr/>
          <p:nvPr/>
        </p:nvSpPr>
        <p:spPr>
          <a:xfrm rot="2651344">
            <a:off x="1608131" y="3101853"/>
            <a:ext cx="1944209" cy="182880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9F4246-316A-4C79-A7F6-9D091E4391A0}"/>
              </a:ext>
            </a:extLst>
          </p:cNvPr>
          <p:cNvGrpSpPr/>
          <p:nvPr/>
        </p:nvGrpSpPr>
        <p:grpSpPr>
          <a:xfrm>
            <a:off x="2033112" y="3067360"/>
            <a:ext cx="2369189" cy="1846559"/>
            <a:chOff x="1163100" y="3025180"/>
            <a:chExt cx="2369189" cy="1846559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DB43994A-7BC6-419C-B749-6FF6D6258EE3}"/>
                </a:ext>
              </a:extLst>
            </p:cNvPr>
            <p:cNvSpPr/>
            <p:nvPr/>
          </p:nvSpPr>
          <p:spPr>
            <a:xfrm rot="2651344">
              <a:off x="1163100" y="3025180"/>
              <a:ext cx="1944209" cy="18288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6542F78B-5B81-4330-86D6-C2C9D536B335}"/>
                </a:ext>
              </a:extLst>
            </p:cNvPr>
            <p:cNvSpPr/>
            <p:nvPr/>
          </p:nvSpPr>
          <p:spPr>
            <a:xfrm rot="2651344">
              <a:off x="1588080" y="3042939"/>
              <a:ext cx="1944209" cy="18288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73BF625-5190-4A20-872A-959F5E69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500" y="3258719"/>
            <a:ext cx="3953290" cy="172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29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E7201-3DB4-4A38-BC07-66932DD27B26}"/>
              </a:ext>
            </a:extLst>
          </p:cNvPr>
          <p:cNvSpPr txBox="1"/>
          <p:nvPr/>
        </p:nvSpPr>
        <p:spPr>
          <a:xfrm>
            <a:off x="2406589" y="1690688"/>
            <a:ext cx="6897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Creating this all Electronically</a:t>
            </a:r>
          </a:p>
          <a:p>
            <a:endParaRPr lang="en-US" dirty="0"/>
          </a:p>
        </p:txBody>
      </p:sp>
      <p:pic>
        <p:nvPicPr>
          <p:cNvPr id="6" name="Picture 4" descr="Image result for microphone">
            <a:extLst>
              <a:ext uri="{FF2B5EF4-FFF2-40B4-BE49-F238E27FC236}">
                <a16:creationId xmlns:a16="http://schemas.microsoft.com/office/drawing/2014/main" id="{F212EE7D-4BDE-4F5E-9103-B17711C83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721" y="3720264"/>
            <a:ext cx="1255406" cy="104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c 2">
            <a:extLst>
              <a:ext uri="{FF2B5EF4-FFF2-40B4-BE49-F238E27FC236}">
                <a16:creationId xmlns:a16="http://schemas.microsoft.com/office/drawing/2014/main" id="{565CB0C3-05B3-4C86-AAC6-3A571852C9AA}"/>
              </a:ext>
            </a:extLst>
          </p:cNvPr>
          <p:cNvSpPr/>
          <p:nvPr/>
        </p:nvSpPr>
        <p:spPr>
          <a:xfrm rot="2651344">
            <a:off x="1608131" y="3101853"/>
            <a:ext cx="1944209" cy="182880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9F4246-316A-4C79-A7F6-9D091E4391A0}"/>
              </a:ext>
            </a:extLst>
          </p:cNvPr>
          <p:cNvGrpSpPr/>
          <p:nvPr/>
        </p:nvGrpSpPr>
        <p:grpSpPr>
          <a:xfrm>
            <a:off x="2033112" y="3067360"/>
            <a:ext cx="2369189" cy="1846559"/>
            <a:chOff x="1163100" y="3025180"/>
            <a:chExt cx="2369189" cy="1846559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DB43994A-7BC6-419C-B749-6FF6D6258EE3}"/>
                </a:ext>
              </a:extLst>
            </p:cNvPr>
            <p:cNvSpPr/>
            <p:nvPr/>
          </p:nvSpPr>
          <p:spPr>
            <a:xfrm rot="2651344">
              <a:off x="1163100" y="3025180"/>
              <a:ext cx="1944209" cy="18288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6542F78B-5B81-4330-86D6-C2C9D536B335}"/>
                </a:ext>
              </a:extLst>
            </p:cNvPr>
            <p:cNvSpPr/>
            <p:nvPr/>
          </p:nvSpPr>
          <p:spPr>
            <a:xfrm rot="2651344">
              <a:off x="1588080" y="3042939"/>
              <a:ext cx="1944209" cy="18288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73BF625-5190-4A20-872A-959F5E69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500" y="3258719"/>
            <a:ext cx="3953290" cy="17280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8A50B6-BF03-463E-A05F-A84CEFE8C728}"/>
              </a:ext>
            </a:extLst>
          </p:cNvPr>
          <p:cNvSpPr txBox="1"/>
          <p:nvPr/>
        </p:nvSpPr>
        <p:spPr>
          <a:xfrm>
            <a:off x="2260848" y="5550781"/>
            <a:ext cx="6611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How do we relate the two signals?</a:t>
            </a:r>
          </a:p>
        </p:txBody>
      </p:sp>
    </p:spTree>
    <p:extLst>
      <p:ext uri="{BB962C8B-B14F-4D97-AF65-F5344CB8AC3E}">
        <p14:creationId xmlns:p14="http://schemas.microsoft.com/office/powerpoint/2010/main" val="2339079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E7201-3DB4-4A38-BC07-66932DD27B26}"/>
              </a:ext>
            </a:extLst>
          </p:cNvPr>
          <p:cNvSpPr txBox="1"/>
          <p:nvPr/>
        </p:nvSpPr>
        <p:spPr>
          <a:xfrm>
            <a:off x="2406589" y="1690688"/>
            <a:ext cx="6897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Creating this all Electronically</a:t>
            </a:r>
          </a:p>
          <a:p>
            <a:endParaRPr lang="en-US" dirty="0"/>
          </a:p>
        </p:txBody>
      </p:sp>
      <p:pic>
        <p:nvPicPr>
          <p:cNvPr id="6" name="Picture 4" descr="Image result for microphone">
            <a:extLst>
              <a:ext uri="{FF2B5EF4-FFF2-40B4-BE49-F238E27FC236}">
                <a16:creationId xmlns:a16="http://schemas.microsoft.com/office/drawing/2014/main" id="{F212EE7D-4BDE-4F5E-9103-B17711C83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721" y="3720264"/>
            <a:ext cx="1255406" cy="104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c 2">
            <a:extLst>
              <a:ext uri="{FF2B5EF4-FFF2-40B4-BE49-F238E27FC236}">
                <a16:creationId xmlns:a16="http://schemas.microsoft.com/office/drawing/2014/main" id="{565CB0C3-05B3-4C86-AAC6-3A571852C9AA}"/>
              </a:ext>
            </a:extLst>
          </p:cNvPr>
          <p:cNvSpPr/>
          <p:nvPr/>
        </p:nvSpPr>
        <p:spPr>
          <a:xfrm rot="2651344">
            <a:off x="1608131" y="3101853"/>
            <a:ext cx="1944209" cy="182880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9F4246-316A-4C79-A7F6-9D091E4391A0}"/>
              </a:ext>
            </a:extLst>
          </p:cNvPr>
          <p:cNvGrpSpPr/>
          <p:nvPr/>
        </p:nvGrpSpPr>
        <p:grpSpPr>
          <a:xfrm>
            <a:off x="2033112" y="3067360"/>
            <a:ext cx="2369189" cy="1846559"/>
            <a:chOff x="1163100" y="3025180"/>
            <a:chExt cx="2369189" cy="1846559"/>
          </a:xfrm>
        </p:grpSpPr>
        <p:sp>
          <p:nvSpPr>
            <p:cNvPr id="8" name="Arc 7">
              <a:extLst>
                <a:ext uri="{FF2B5EF4-FFF2-40B4-BE49-F238E27FC236}">
                  <a16:creationId xmlns:a16="http://schemas.microsoft.com/office/drawing/2014/main" id="{DB43994A-7BC6-419C-B749-6FF6D6258EE3}"/>
                </a:ext>
              </a:extLst>
            </p:cNvPr>
            <p:cNvSpPr/>
            <p:nvPr/>
          </p:nvSpPr>
          <p:spPr>
            <a:xfrm rot="2651344">
              <a:off x="1163100" y="3025180"/>
              <a:ext cx="1944209" cy="18288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6542F78B-5B81-4330-86D6-C2C9D536B335}"/>
                </a:ext>
              </a:extLst>
            </p:cNvPr>
            <p:cNvSpPr/>
            <p:nvPr/>
          </p:nvSpPr>
          <p:spPr>
            <a:xfrm rot="2651344">
              <a:off x="1588080" y="3042939"/>
              <a:ext cx="1944209" cy="18288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73BF625-5190-4A20-872A-959F5E69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500" y="3258719"/>
            <a:ext cx="3953290" cy="17280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8A50B6-BF03-463E-A05F-A84CEFE8C728}"/>
              </a:ext>
            </a:extLst>
          </p:cNvPr>
          <p:cNvSpPr txBox="1"/>
          <p:nvPr/>
        </p:nvSpPr>
        <p:spPr>
          <a:xfrm>
            <a:off x="2260848" y="5550781"/>
            <a:ext cx="6611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How do we relate the two signals?</a:t>
            </a:r>
          </a:p>
        </p:txBody>
      </p:sp>
    </p:spTree>
    <p:extLst>
      <p:ext uri="{BB962C8B-B14F-4D97-AF65-F5344CB8AC3E}">
        <p14:creationId xmlns:p14="http://schemas.microsoft.com/office/powerpoint/2010/main" val="1731118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E7201-3DB4-4A38-BC07-66932DD27B26}"/>
              </a:ext>
            </a:extLst>
          </p:cNvPr>
          <p:cNvSpPr txBox="1"/>
          <p:nvPr/>
        </p:nvSpPr>
        <p:spPr>
          <a:xfrm>
            <a:off x="2406589" y="1690688"/>
            <a:ext cx="6897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Creating this all Electronically</a:t>
            </a:r>
          </a:p>
          <a:p>
            <a:endParaRPr lang="en-US" dirty="0"/>
          </a:p>
        </p:txBody>
      </p:sp>
      <p:pic>
        <p:nvPicPr>
          <p:cNvPr id="6" name="Picture 4" descr="Image result for microphone">
            <a:extLst>
              <a:ext uri="{FF2B5EF4-FFF2-40B4-BE49-F238E27FC236}">
                <a16:creationId xmlns:a16="http://schemas.microsoft.com/office/drawing/2014/main" id="{F212EE7D-4BDE-4F5E-9103-B17711C83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910" y="3311891"/>
            <a:ext cx="1255406" cy="104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8A50B6-BF03-463E-A05F-A84CEFE8C728}"/>
              </a:ext>
            </a:extLst>
          </p:cNvPr>
          <p:cNvSpPr txBox="1"/>
          <p:nvPr/>
        </p:nvSpPr>
        <p:spPr>
          <a:xfrm>
            <a:off x="2260848" y="5550781"/>
            <a:ext cx="6611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How do we relate the two signals?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61949-0EE0-4381-8BBE-08E1CCF2133A}"/>
              </a:ext>
            </a:extLst>
          </p:cNvPr>
          <p:cNvSpPr txBox="1"/>
          <p:nvPr/>
        </p:nvSpPr>
        <p:spPr>
          <a:xfrm>
            <a:off x="4529830" y="2466572"/>
            <a:ext cx="60945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32629"/>
                </a:solidFill>
                <a:latin typeface="-apple-system"/>
              </a:rPr>
              <a:t>From the spec sheet</a:t>
            </a:r>
          </a:p>
          <a:p>
            <a:endParaRPr lang="en-US" sz="2400" dirty="0">
              <a:solidFill>
                <a:srgbClr val="232629"/>
              </a:solidFill>
              <a:latin typeface="-apple-system"/>
            </a:endParaRPr>
          </a:p>
          <a:p>
            <a:r>
              <a:rPr lang="en-US" sz="2400" b="0" i="0" dirty="0">
                <a:solidFill>
                  <a:srgbClr val="232629"/>
                </a:solidFill>
                <a:effectLst/>
                <a:latin typeface="-apple-system"/>
              </a:rPr>
              <a:t>With 1 Pa RMS of sound (newtons per square </a:t>
            </a:r>
            <a:r>
              <a:rPr lang="en-US" sz="2400" b="0" i="0" dirty="0" err="1">
                <a:solidFill>
                  <a:srgbClr val="232629"/>
                </a:solidFill>
                <a:effectLst/>
                <a:latin typeface="-apple-system"/>
              </a:rPr>
              <a:t>metre</a:t>
            </a:r>
            <a:r>
              <a:rPr lang="en-US" sz="2400" b="0" i="0" dirty="0">
                <a:solidFill>
                  <a:srgbClr val="232629"/>
                </a:solidFill>
                <a:effectLst/>
                <a:latin typeface="-apple-system"/>
              </a:rPr>
              <a:t> or 94 dB sound pressure level, about the level of a person singing loudly) you will get -41 dB voltage out - that's approximately 8.9 mV RMS or .125 </a:t>
            </a:r>
            <a:r>
              <a:rPr lang="en-US" sz="2400" b="0" i="0" dirty="0" err="1">
                <a:solidFill>
                  <a:srgbClr val="232629"/>
                </a:solidFill>
                <a:effectLst/>
                <a:latin typeface="-apple-system"/>
              </a:rPr>
              <a:t>mVolts</a:t>
            </a:r>
            <a:r>
              <a:rPr lang="en-US" sz="2400" b="0" i="0" dirty="0">
                <a:solidFill>
                  <a:srgbClr val="232629"/>
                </a:solidFill>
                <a:effectLst/>
                <a:latin typeface="-apple-system"/>
              </a:rPr>
              <a:t> pk to pk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7962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E7201-3DB4-4A38-BC07-66932DD27B26}"/>
              </a:ext>
            </a:extLst>
          </p:cNvPr>
          <p:cNvSpPr txBox="1"/>
          <p:nvPr/>
        </p:nvSpPr>
        <p:spPr>
          <a:xfrm>
            <a:off x="2406589" y="1690688"/>
            <a:ext cx="6897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Creating this all Electronically</a:t>
            </a:r>
          </a:p>
          <a:p>
            <a:endParaRPr lang="en-US" dirty="0"/>
          </a:p>
        </p:txBody>
      </p:sp>
      <p:pic>
        <p:nvPicPr>
          <p:cNvPr id="6" name="Picture 4" descr="Image result for microphone">
            <a:extLst>
              <a:ext uri="{FF2B5EF4-FFF2-40B4-BE49-F238E27FC236}">
                <a16:creationId xmlns:a16="http://schemas.microsoft.com/office/drawing/2014/main" id="{F212EE7D-4BDE-4F5E-9103-B17711C83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812" y="3196546"/>
            <a:ext cx="1255406" cy="104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8A50B6-BF03-463E-A05F-A84CEFE8C728}"/>
              </a:ext>
            </a:extLst>
          </p:cNvPr>
          <p:cNvSpPr txBox="1"/>
          <p:nvPr/>
        </p:nvSpPr>
        <p:spPr>
          <a:xfrm>
            <a:off x="2260848" y="5550781"/>
            <a:ext cx="6611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How do we relate the two signals?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B1D0B8-2282-4C6B-BBCD-6EE1212DA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588" y="2385147"/>
            <a:ext cx="7779798" cy="316563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59C897-3061-400F-84B2-0529C09B0E40}"/>
              </a:ext>
            </a:extLst>
          </p:cNvPr>
          <p:cNvCxnSpPr>
            <a:cxnSpLocks/>
          </p:cNvCxnSpPr>
          <p:nvPr/>
        </p:nvCxnSpPr>
        <p:spPr>
          <a:xfrm flipH="1">
            <a:off x="10102788" y="1873188"/>
            <a:ext cx="710214" cy="852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5511FB-5C67-42FB-8F90-4636D1BF5A1F}"/>
              </a:ext>
            </a:extLst>
          </p:cNvPr>
          <p:cNvSpPr txBox="1"/>
          <p:nvPr/>
        </p:nvSpPr>
        <p:spPr>
          <a:xfrm>
            <a:off x="10404629" y="1411550"/>
            <a:ext cx="1353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PA = 1 Volt</a:t>
            </a:r>
          </a:p>
        </p:txBody>
      </p:sp>
    </p:spTree>
    <p:extLst>
      <p:ext uri="{BB962C8B-B14F-4D97-AF65-F5344CB8AC3E}">
        <p14:creationId xmlns:p14="http://schemas.microsoft.com/office/powerpoint/2010/main" val="3973811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Interfacing to the Outside World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E7201-3DB4-4A38-BC07-66932DD27B26}"/>
              </a:ext>
            </a:extLst>
          </p:cNvPr>
          <p:cNvSpPr txBox="1"/>
          <p:nvPr/>
        </p:nvSpPr>
        <p:spPr>
          <a:xfrm>
            <a:off x="2406589" y="1690688"/>
            <a:ext cx="6897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Creating this all Electronically</a:t>
            </a:r>
          </a:p>
          <a:p>
            <a:endParaRPr lang="en-US" dirty="0"/>
          </a:p>
        </p:txBody>
      </p:sp>
      <p:pic>
        <p:nvPicPr>
          <p:cNvPr id="6" name="Picture 4" descr="Image result for microphone">
            <a:extLst>
              <a:ext uri="{FF2B5EF4-FFF2-40B4-BE49-F238E27FC236}">
                <a16:creationId xmlns:a16="http://schemas.microsoft.com/office/drawing/2014/main" id="{F212EE7D-4BDE-4F5E-9103-B17711C83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812" y="3196546"/>
            <a:ext cx="1255406" cy="104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8A50B6-BF03-463E-A05F-A84CEFE8C728}"/>
              </a:ext>
            </a:extLst>
          </p:cNvPr>
          <p:cNvSpPr txBox="1"/>
          <p:nvPr/>
        </p:nvSpPr>
        <p:spPr>
          <a:xfrm>
            <a:off x="2260848" y="5550781"/>
            <a:ext cx="6611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How do we relate the two signals?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511FB-5C67-42FB-8F90-4636D1BF5A1F}"/>
              </a:ext>
            </a:extLst>
          </p:cNvPr>
          <p:cNvSpPr txBox="1"/>
          <p:nvPr/>
        </p:nvSpPr>
        <p:spPr>
          <a:xfrm>
            <a:off x="2559729" y="2680321"/>
            <a:ext cx="589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PA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4029E0-7471-48E5-BE0F-E7D2D956DC45}"/>
              </a:ext>
            </a:extLst>
          </p:cNvPr>
          <p:cNvCxnSpPr/>
          <p:nvPr/>
        </p:nvCxnSpPr>
        <p:spPr>
          <a:xfrm>
            <a:off x="3462291" y="2547891"/>
            <a:ext cx="0" cy="24147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A4023F-D54C-4FB3-9EA4-2C4EAFFEA2E8}"/>
              </a:ext>
            </a:extLst>
          </p:cNvPr>
          <p:cNvCxnSpPr/>
          <p:nvPr/>
        </p:nvCxnSpPr>
        <p:spPr>
          <a:xfrm>
            <a:off x="3453414" y="4980373"/>
            <a:ext cx="439444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1ACD42-AE10-4D75-971B-C1202D68979F}"/>
              </a:ext>
            </a:extLst>
          </p:cNvPr>
          <p:cNvCxnSpPr/>
          <p:nvPr/>
        </p:nvCxnSpPr>
        <p:spPr>
          <a:xfrm flipV="1">
            <a:off x="3462291" y="2867487"/>
            <a:ext cx="2521259" cy="20951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6859AD-2942-4396-93D1-FDE3D57BEF57}"/>
              </a:ext>
            </a:extLst>
          </p:cNvPr>
          <p:cNvCxnSpPr/>
          <p:nvPr/>
        </p:nvCxnSpPr>
        <p:spPr>
          <a:xfrm>
            <a:off x="3462291" y="2974019"/>
            <a:ext cx="23929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6469E2-6A14-4C3E-BC07-11BCFC0D6B24}"/>
              </a:ext>
            </a:extLst>
          </p:cNvPr>
          <p:cNvSpPr txBox="1"/>
          <p:nvPr/>
        </p:nvSpPr>
        <p:spPr>
          <a:xfrm>
            <a:off x="5306634" y="5080911"/>
            <a:ext cx="728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Volt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B17591A-C253-4E5C-9F09-7A4E3C8A8D82}"/>
              </a:ext>
            </a:extLst>
          </p:cNvPr>
          <p:cNvCxnSpPr/>
          <p:nvPr/>
        </p:nvCxnSpPr>
        <p:spPr>
          <a:xfrm>
            <a:off x="5855193" y="2974019"/>
            <a:ext cx="0" cy="1988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240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463</Words>
  <Application>Microsoft Office PowerPoint</Application>
  <PresentationFormat>Widescreen</PresentationFormat>
  <Paragraphs>91</Paragraphs>
  <Slides>32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-apple-system</vt:lpstr>
      <vt:lpstr>Arial</vt:lpstr>
      <vt:lpstr>Calibri</vt:lpstr>
      <vt:lpstr>Calibri Light</vt:lpstr>
      <vt:lpstr>Galliard BT</vt:lpstr>
      <vt:lpstr>Symbol</vt:lpstr>
      <vt:lpstr>Office Theme</vt:lpstr>
      <vt:lpstr>Equation</vt:lpstr>
      <vt:lpstr>ECEN 361 Embedded Systems</vt:lpstr>
      <vt:lpstr>Processing Analog Signals</vt:lpstr>
      <vt:lpstr>Interfacing to the Outside World</vt:lpstr>
      <vt:lpstr>Interfacing to the Outside World</vt:lpstr>
      <vt:lpstr>PowerPoint Presentation</vt:lpstr>
      <vt:lpstr>PowerPoint Presentation</vt:lpstr>
      <vt:lpstr>Interfacing to the Outside World</vt:lpstr>
      <vt:lpstr>Interfacing to the Outside World</vt:lpstr>
      <vt:lpstr>Interfacing to the Outside World</vt:lpstr>
      <vt:lpstr>Interfacing to the Outside World</vt:lpstr>
      <vt:lpstr>Interfacing to the Outside World</vt:lpstr>
      <vt:lpstr>Interfacing to the Outside World</vt:lpstr>
      <vt:lpstr>Fur Elise Waveform</vt:lpstr>
      <vt:lpstr>What does this represent?</vt:lpstr>
      <vt:lpstr>Sinusoidal Signals</vt:lpstr>
      <vt:lpstr>How do we represent this mathematically?</vt:lpstr>
      <vt:lpstr>How do we represent this mathematically?</vt:lpstr>
      <vt:lpstr>How do we represent this mathematically?</vt:lpstr>
      <vt:lpstr>How do we represent this mathematically?</vt:lpstr>
      <vt:lpstr>How do we represent this mathematically?</vt:lpstr>
      <vt:lpstr>How do we represent this mathematically?</vt:lpstr>
      <vt:lpstr>How do we represent this mathematically?</vt:lpstr>
      <vt:lpstr>Sinusoidal Signals</vt:lpstr>
      <vt:lpstr>Exponential Representation</vt:lpstr>
      <vt:lpstr>2 Sided Spectrum Representation</vt:lpstr>
      <vt:lpstr>IQ – Vector Diagram</vt:lpstr>
      <vt:lpstr>Interfacing to the Outside World</vt:lpstr>
      <vt:lpstr>Interfacing to the Outside World</vt:lpstr>
      <vt:lpstr>Interfacing to the Outside World</vt:lpstr>
      <vt:lpstr>Interfacing to the Outside World</vt:lpstr>
      <vt:lpstr>Interfacing to the Outside World</vt:lpstr>
      <vt:lpstr>Interfacing to the Outside World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ECEN 361 Embedded Systems</dc:title>
  <dc:creator>Richard Grimmett</dc:creator>
  <cp:lastModifiedBy>Richard Grimmett</cp:lastModifiedBy>
  <cp:revision>14</cp:revision>
  <dcterms:created xsi:type="dcterms:W3CDTF">2022-01-16T22:25:43Z</dcterms:created>
  <dcterms:modified xsi:type="dcterms:W3CDTF">2022-01-17T00:16:11Z</dcterms:modified>
</cp:coreProperties>
</file>